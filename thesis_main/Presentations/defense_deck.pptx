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2F5D50"/>
                </a:solidFill>
                <a:latin typeface="Helvetica Neue"/>
              </a:rPr>
              <a:t>UA&amp;P · BS Data Science · June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4000" b="1">
                <a:solidFill>
                  <a:srgbClr val="1A1A1A"/>
                </a:solidFill>
                <a:latin typeface="Helvetica Neue"/>
              </a:rPr>
              <a:t>Predicting Open-Market Residential Property Values in Metro Cebu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0">
                <a:solidFill>
                  <a:srgbClr val="6B6B66"/>
                </a:solidFill>
                <a:latin typeface="Helvetica Neue"/>
              </a:rPr>
              <a:t>Using Machine Learning and Geospatial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0">
                <a:solidFill>
                  <a:srgbClr val="6B6B66"/>
                </a:solidFill>
                <a:latin typeface="Helvetica Neue"/>
              </a:rPr>
              <a:t>Chris Dominic Estreba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0">
                <a:solidFill>
                  <a:srgbClr val="6B6B66"/>
                </a:solidFill>
                <a:latin typeface="Helvetica Neue"/>
              </a:rPr>
              <a:t>BS Data Science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a Cebu family / a home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Everyone needs a place to live.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Cebu homes / skyline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A home is the biggest purchase most families ever make.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a property listing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You find one. ₱6.5M.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800" b="1">
                <a:solidFill>
                  <a:srgbClr val="2F5D50"/>
                </a:solidFill>
                <a:latin typeface="Helvetica Neue"/>
              </a:rPr>
              <a:t>Is that fair?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a real-estate broker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Ask a broker — you get a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an appraiser at work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Ask an appraiser — you get a different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None of them agree. And none of them says why.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a 'For Sale' sign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Now you're the seller. What is it worth?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an empty house / keys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Too high, it sits for months. Too low, you leave money behind.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one house, five question marks (buyer · seller · broker · bank · LGU)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Everyone guesses — from a different corner.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a tax / zonal schedule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BIR zonal values — built for taxation, not live market prices. And not always updated.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BIR, n.d.; Otsuka et al., 2023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a bank facade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Bank appraisals — tied to lending and collateral risk. A different question than market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a property listings website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Online listings — asking prices, not verified sales. Full of seller strategy and noise.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3400"/>
              </a:spcAft>
            </a:pPr>
            <a:r>
              <a:rPr sz="4000" b="1">
                <a:solidFill>
                  <a:srgbClr val="1A1A1A"/>
                </a:solidFill>
                <a:latin typeface="Helvetica Neue"/>
              </a:rPr>
              <a:t>Each one is useful. But they answer different questions — and they don't line up.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4600" b="1">
                <a:solidFill>
                  <a:srgbClr val="2F5D50"/>
                </a:solidFill>
                <a:latin typeface="Helvetica Neue"/>
              </a:rPr>
              <a:t>The references exist. Nothing connects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300" b="0">
                <a:solidFill>
                  <a:srgbClr val="6B6B66"/>
                </a:solidFill>
                <a:latin typeface="Helvetica Neue"/>
              </a:rPr>
              <a:t>▶ animate the second line on click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000"/>
              </a:spcAft>
            </a:pPr>
            <a:r>
              <a:rPr sz="2200" b="1">
                <a:solidFill>
                  <a:srgbClr val="E7EEEA"/>
                </a:solidFill>
                <a:latin typeface="Helvetica Neue"/>
              </a:rPr>
              <a:t>02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The Market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7200" b="1">
                <a:solidFill>
                  <a:srgbClr val="2F5D50"/>
                </a:solidFill>
                <a:latin typeface="Helvetica Neue"/>
              </a:rPr>
              <a:t>7.3%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1A1A1A"/>
                </a:solidFill>
                <a:latin typeface="Helvetica Neue"/>
              </a:rPr>
              <a:t>Cebu's economy grew in 2024.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Among the fastest-growing provinces in the country.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Driven by IT-BPM and call-center expansion.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And a strong post-pandemic rebound in tourism.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PSA Cebu,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7200" b="1">
                <a:solidFill>
                  <a:srgbClr val="2F5D50"/>
                </a:solidFill>
                <a:latin typeface="Helvetica Neue"/>
              </a:rPr>
              <a:t>11.5%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1A1A1A"/>
                </a:solidFill>
                <a:latin typeface="Helvetica Neue"/>
              </a:rPr>
              <a:t>And home prices followed in 2025.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Metro Cebu's growth — the highest rate outside Metro Manila.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From the BSP residential property price index (RREPI).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Prices moving faster than benchmarks and incomes can adjust.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BSP, 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05840"/>
            <a:ext cx="5577840" cy="484632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9A968C"/>
                </a:solidFill>
                <a:latin typeface="Helvetica Neue"/>
              </a:rPr>
              <a:t>[ photo: CBRT / Cebu–Cordova Expressway / SRP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1005840"/>
            <a:ext cx="4846320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New infrastructure keeps redrawing what counts as ‘near’.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000"/>
              </a:spcAft>
            </a:pPr>
            <a:r>
              <a:rPr sz="2200" b="1">
                <a:solidFill>
                  <a:srgbClr val="E7EEEA"/>
                </a:solidFill>
                <a:latin typeface="Helvetica Neue"/>
              </a:rPr>
              <a:t>03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The Question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THE BUSINESS PROBLEM</a:t>
            </a:r>
          </a:p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No defensible, market-facing price reference for Metro Cebu homes.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THE DATA PROBLEM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1A1A1A"/>
                </a:solidFill>
                <a:latin typeface="Helvetica Neue"/>
              </a:rPr>
              <a:t>Turn a property — and where it sits — into a defensible price per square meter.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Property-level data at scale, drawn from online listings.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Location turned into measurable features — distances, accessibility, neighborhood price.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A model that generalizes honestly, and explains its reasoning.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Predictive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estimate open-market price per square meter across Metro Cebu.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Prescriptive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show where those estimates diverge from official benchmarks.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1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  What value drivers influence price?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2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  Which model deploys best?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3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  Do geospatial features help?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4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  How large is the BIR gap?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THE SOLUTION</a:t>
            </a:r>
          </a:p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A stratified, explainable ML model — delivered as a prototype for triangulation.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ROADMAP — CRISP-DM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2600" b="1">
                <a:solidFill>
                  <a:srgbClr val="2F5D50"/>
                </a:solidFill>
                <a:latin typeface="Helvetica Neue"/>
              </a:rPr>
              <a:t>Business   →   Data   →   Prep   →   Modeling   →   Evaluation   →   Deployment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000"/>
              </a:spcAft>
            </a:pPr>
            <a:r>
              <a:rPr sz="2200" b="1">
                <a:solidFill>
                  <a:srgbClr val="E7EEEA"/>
                </a:solidFill>
                <a:latin typeface="Helvetica Neue"/>
              </a:rPr>
              <a:t>04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The Field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TWO TRADITIONS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Hedonic regression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interpretable, classic.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Machine learning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flexible, higher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Rosen, 1974; Breiman, 2001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WHAT DRIVES PRICE IN THE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Structural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Economic / benchmark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Geospatial / accessibility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Amenity / point-of-interest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INTERNATIONAL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Tree models tend to outperform linear models on tabular property data.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But small samples demand caution.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Grinsztajn et al., 2022; Tanamal et al., 2023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PHILIPPINE &amp; CEBU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ML work is mostly Manila / Pangasinan-centric.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Agosto (2020)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is the only Cebu study — transport accessibility is the primary driver.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Viray, 2023; Ramolete et al., 2023; Agosto, 2020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THE GAP</a:t>
            </a:r>
          </a:p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Nothing property-level, geospatial, and explainable — for Metro Cebu.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OUR BRIDGE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1A1A1A"/>
                </a:solidFill>
                <a:latin typeface="Helvetica Neue"/>
              </a:rPr>
              <a:t>This study builds exactly that.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Property-level — every listing geocoded across the six LGUs.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Open-market — aligned to the IVS Market Value basis.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Geospatial and explainable — with SHAP behind every prediction.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5720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F5D50"/>
                </a:solidFill>
                <a:latin typeface="Helvetica Neue"/>
              </a:rPr>
              <a:t>Why open-market listings?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2011680"/>
            <a:ext cx="27432" cy="283464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1463040"/>
            <a:ext cx="54864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4000" b="1">
                <a:solidFill>
                  <a:srgbClr val="1A1A1A"/>
                </a:solidFill>
                <a:latin typeface="Helvetica Neue"/>
              </a:rPr>
              <a:t>The closest available proxy to IVS Market Value.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200" b="0">
                <a:solidFill>
                  <a:srgbClr val="6B6B66"/>
                </a:solidFill>
                <a:latin typeface="Helvetica Neue"/>
              </a:rPr>
              <a:t>Arm's-length asking evidence — the basis a willing buyer and seller actually meet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IVSC, 2025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45720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2F5D50"/>
                </a:solidFill>
                <a:latin typeface="Helvetica Neue"/>
              </a:rPr>
              <a:t>Why geospatial features?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532120" y="2011680"/>
            <a:ext cx="27432" cy="283464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0" y="1463040"/>
            <a:ext cx="54864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4000" b="1">
                <a:solidFill>
                  <a:srgbClr val="1A1A1A"/>
                </a:solidFill>
                <a:latin typeface="Helvetica Neue"/>
              </a:rPr>
              <a:t>Location is price — so we construct the location signal, not ingest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000"/>
              </a:spcAft>
            </a:pPr>
            <a:r>
              <a:rPr sz="2200" b="1">
                <a:solidFill>
                  <a:srgbClr val="E7EEEA"/>
                </a:solidFill>
                <a:latin typeface="Helvetica Neue"/>
              </a:rPr>
              <a:t>05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The Data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COLLECTION FUNNEL</a:t>
            </a:r>
          </a:p>
        </p:txBody>
      </p:sp>
      <p:pic>
        <p:nvPicPr>
          <p:cNvPr id="3" name="Picture 2" descr="funnel_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048256"/>
            <a:ext cx="6035040" cy="3401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16,561 listings scraped — only </a:t>
            </a:r>
            <a:r>
              <a:rPr sz="2300" b="1">
                <a:solidFill>
                  <a:srgbClr val="33332F"/>
                </a:solidFill>
                <a:latin typeface="Helvetica Neue"/>
              </a:rPr>
              <a:t>3,616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 survived.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Geocoding, the six-LGU and residential filters, a price-per-sqm sanity band, and de-duplication did the cutting.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OnePropertee was dropped entirely — city-centroid geocoding and mis-extracted prices.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STUDY AREA</a:t>
            </a:r>
          </a:p>
        </p:txBody>
      </p:sp>
      <p:pic>
        <p:nvPicPr>
          <p:cNvPr id="3" name="Picture 2" descr="lgu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767" y="1417320"/>
            <a:ext cx="6135984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100" b="0">
                <a:solidFill>
                  <a:srgbClr val="1A1A1A"/>
                </a:solidFill>
                <a:latin typeface="Helvetica Neue"/>
              </a:rPr>
              <a:t>The six LGUs in scope.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WHERE THE LISTINGS SIT</a:t>
            </a:r>
          </a:p>
        </p:txBody>
      </p:sp>
      <p:pic>
        <p:nvPicPr>
          <p:cNvPr id="3" name="Picture 2" descr="properties_by_stra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1385"/>
            <a:ext cx="5212080" cy="3495228"/>
          </a:xfrm>
          <a:prstGeom prst="rect">
            <a:avLst/>
          </a:prstGeom>
        </p:spPr>
      </p:pic>
      <p:pic>
        <p:nvPicPr>
          <p:cNvPr id="4" name="Picture 3" descr="listings_by_lg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72755"/>
            <a:ext cx="5212079" cy="3512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486400"/>
            <a:ext cx="5212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Across the six LGUs.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5486400"/>
            <a:ext cx="5212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Helvetica Neue"/>
              </a:rPr>
              <a:t>Concentrated in Cebu City and the island; thin in the south.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ONE ROW OF THE DATA</a:t>
            </a:r>
          </a:p>
        </p:txBody>
      </p:sp>
      <p:pic>
        <p:nvPicPr>
          <p:cNvPr id="3" name="Picture 2" descr="abt_snapshot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1317"/>
            <a:ext cx="10515600" cy="23868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100" b="0">
                <a:solidFill>
                  <a:srgbClr val="1A1A1A"/>
                </a:solidFill>
                <a:latin typeface="Helvetica Neue"/>
              </a:rPr>
              <a:t>18 of 51 columns — structural, location, distances, MCRAI, benchmarks.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ENGINEERED LOCATION — CBD DISTANCE</a:t>
            </a:r>
          </a:p>
        </p:txBody>
      </p:sp>
      <p:pic>
        <p:nvPicPr>
          <p:cNvPr id="3" name="Picture 2" descr="study_are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767" y="1417320"/>
            <a:ext cx="6135984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100" b="0">
                <a:solidFill>
                  <a:srgbClr val="1A1A1A"/>
                </a:solidFill>
                <a:latin typeface="Helvetica Neue"/>
              </a:rPr>
              <a:t>Shortest-path road distance to 8 polycentric nodes.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Giuliano &amp; Small, 1991; McMillen, 2003; JICA, 2015; Boeing, 2017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6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MCRAI — WHAT IT IS</a:t>
            </a:r>
          </a:p>
          <a:p>
            <a:pPr algn="ctr">
              <a:lnSpc>
                <a:spcPct val="110000"/>
              </a:lnSpc>
              <a:spcAft>
                <a:spcPts val="1800"/>
              </a:spcAft>
            </a:pPr>
            <a:r>
              <a:rPr sz="3200" b="1">
                <a:solidFill>
                  <a:srgbClr val="1A1A1A"/>
                </a:solidFill>
                <a:latin typeface="Helvetica Neue"/>
              </a:rPr>
              <a:t>Metro Cebu Residential Accessibility Index (MCRAI)</a:t>
            </a:r>
          </a:p>
        </p:txBody>
      </p:sp>
      <p:sp>
        <p:nvSpPr>
          <p:cNvPr id="3" name="Rectangle 2"/>
          <p:cNvSpPr/>
          <p:nvPr/>
        </p:nvSpPr>
        <p:spPr>
          <a:xfrm>
            <a:off x="2194560" y="3154680"/>
            <a:ext cx="7772400" cy="91440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>
                <a:solidFill>
                  <a:srgbClr val="1A1A1A"/>
                </a:solidFill>
                <a:latin typeface="Helvetica Neue"/>
              </a:rPr>
              <a:t>MCRAIic = Σ 1 / max(dij, 0.5)²   (β =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0">
                <a:solidFill>
                  <a:srgbClr val="6B6B66"/>
                </a:solidFill>
                <a:latin typeface="Helvetica Neue"/>
              </a:rPr>
              <a:t>Nearer amenities count more — accessibility decays with the square of road-distance.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Hansen, 1959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MCRAI — HOW IT'S BUILT</a:t>
            </a:r>
          </a:p>
        </p:txBody>
      </p:sp>
      <p:pic>
        <p:nvPicPr>
          <p:cNvPr id="3" name="Picture 2" descr="amenitie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641" y="1417320"/>
            <a:ext cx="6140237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100" b="0">
                <a:solidFill>
                  <a:srgbClr val="1A1A1A"/>
                </a:solidFill>
                <a:latin typeface="Helvetica Neue"/>
              </a:rPr>
              <a:t>Eight amenity categories, each with its own radius. The composite keeps only positive-signal categories.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MCRAI — HOW ONE PROPERTY SCORES</a:t>
            </a:r>
          </a:p>
        </p:txBody>
      </p:sp>
      <p:pic>
        <p:nvPicPr>
          <p:cNvPr id="3" name="Picture 2" descr="mcrai_cat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756338"/>
            <a:ext cx="6035040" cy="39854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Each category has its own catchment radius (1–5 km).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Nearer amenities count more — inverse-square decay (β = 2).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Transport enters separately, as road-network distance.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Hansen, 1959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ENGINEERED LOCATION — SPATIAL LAG</a:t>
            </a:r>
          </a:p>
        </p:txBody>
      </p:sp>
      <p:pic>
        <p:nvPicPr>
          <p:cNvPr id="3" name="Picture 2" descr="Master_geocoding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4173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100" b="0">
                <a:solidFill>
                  <a:srgbClr val="1A1A1A"/>
                </a:solidFill>
                <a:latin typeface="Helvetica Neue"/>
              </a:rPr>
              <a:t>Mean price of nearby same-type listings within 500 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Tobler, 1970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PRICE PER SQUARE METER IS SKEWED</a:t>
            </a:r>
          </a:p>
        </p:txBody>
      </p:sp>
      <p:pic>
        <p:nvPicPr>
          <p:cNvPr id="3" name="Picture 2" descr="all_strata_pric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603504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Price per square meter is right-skewed — a few premium units stretch the tail.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Modeled in </a:t>
            </a:r>
            <a:r>
              <a:rPr sz="2300" b="1">
                <a:solidFill>
                  <a:srgbClr val="33332F"/>
                </a:solidFill>
                <a:latin typeface="Helvetica Neue"/>
              </a:rPr>
              <a:t>log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: it tames the skew but keeps a per-unit meaning.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Predictions are back-transformed for the price surface.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PRICE VARIES ACROSS THE MAP</a:t>
            </a:r>
          </a:p>
        </p:txBody>
      </p:sp>
      <p:pic>
        <p:nvPicPr>
          <p:cNvPr id="3" name="Picture 2" descr="price_by_lgu_face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603504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Premium signal sits in the core and island: Cebu City ~₱113,600/sqm, Mandaue ~₱96,100, Lapu-Lapu ~₱92,100.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Talisay, Minglanilla, Consolacion form a lower band (~₱47–57k).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Location can't be assumed uniform — it has to be modeled.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DO WE TRUST THE FEATURES?</a:t>
            </a:r>
          </a:p>
        </p:txBody>
      </p:sp>
      <p:pic>
        <p:nvPicPr>
          <p:cNvPr id="3" name="Picture 2" descr="Houses_featur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8" y="1463039"/>
            <a:ext cx="52251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Several CBD-distance features move together — the southern corridor is geographically nested.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A flag for the linear baseline, not the trees: OLS trimmed the collinear terms (confirmed with VIF).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Random Forest tolerates correlated predictors, so the meaningful nodes stayed.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000"/>
              </a:spcAft>
            </a:pPr>
            <a:r>
              <a:rPr sz="2200" b="1">
                <a:solidFill>
                  <a:srgbClr val="E7EEEA"/>
                </a:solidFill>
                <a:latin typeface="Helvetica Neue"/>
              </a:rPr>
              <a:t>06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Groundwork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THE FINDING THAT CHANGED EVERYTHING</a:t>
            </a:r>
          </a:p>
        </p:txBody>
      </p:sp>
      <p:pic>
        <p:nvPicPr>
          <p:cNvPr id="3" name="Picture 2" descr="all_strata_pric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603504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The condo median runs ≈ </a:t>
            </a:r>
            <a:r>
              <a:rPr sz="2300" b="1">
                <a:solidFill>
                  <a:srgbClr val="33332F"/>
                </a:solidFill>
                <a:latin typeface="Helvetica Neue"/>
              </a:rPr>
              <a:t>5.8×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 the vacant-lot median.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Built area vs land-only are different price logics.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A single pooled model would blur them — so we stratify by type.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CLEANING, HONESTLY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1A1A1A"/>
                </a:solidFill>
                <a:latin typeface="Helvetica Neue"/>
              </a:rPr>
              <a:t>Cleaning kept every decision visible.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Imputed values were flagged, never silently filled.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Structurally-absent fields (beds/baths for lots) left blank, not faked.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Hard duplicates dropped; a price-per-sqm sanity band applied.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A DATA-INTEGRITY STORY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1A1A1A"/>
                </a:solidFill>
                <a:latin typeface="Helvetica Neue"/>
              </a:rPr>
              <a:t>One feature was quietly hijacking the target.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A scale-selector feature dominated the SHAP rankings.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The target had come to mean two different things across scrape batches.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Tracing and fixing it is why the final metrics can be trusted.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000"/>
              </a:spcAft>
            </a:pPr>
            <a:r>
              <a:rPr sz="2200" b="1">
                <a:solidFill>
                  <a:srgbClr val="E7EEEA"/>
                </a:solidFill>
                <a:latin typeface="Helvetica Neue"/>
              </a:rPr>
              <a:t>07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The Build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ONE MODEL ISN'T ENOUGH</a:t>
            </a:r>
          </a:p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sz="3400" b="1">
                <a:solidFill>
                  <a:srgbClr val="1A1A1A"/>
                </a:solidFill>
                <a:latin typeface="Helvetica Neue"/>
              </a:rPr>
              <a:t>A single model would treat condos, houses, and lots as one market — and they differ 5.8×.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SO WE BUILT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Condominium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1,300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Houses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1,223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Vacant Lot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849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Dröes et al., 2019; Usman et al., 2020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FEATURES PER STRATUM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17320"/>
          <a:ext cx="10515598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63373"/>
                <a:gridCol w="1984075"/>
                <a:gridCol w="1984075"/>
                <a:gridCol w="198407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Feature group</a:t>
                      </a:r>
                    </a:p>
                  </a:txBody>
                  <a:tcPr marL="109728" marT="45720" marB="45720" anchor="ctr"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Condo</a:t>
                      </a:r>
                    </a:p>
                  </a:txBody>
                  <a:tcPr marL="109728" marT="45720" marB="45720" anchor="ctr"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Houses</a:t>
                      </a:r>
                    </a:p>
                  </a:txBody>
                  <a:tcPr marL="109728" marT="45720" marB="45720" anchor="ctr"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Lot</a:t>
                      </a:r>
                    </a:p>
                  </a:txBody>
                  <a:tcPr marL="109728" marT="45720" marB="45720" anchor="ctr">
                    <a:solidFill>
                      <a:srgbClr val="2F5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Structural — area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Bedrooms / bathrooms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CBD distances (8 nodes)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MCRAI composite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MCRAI individual categories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 (6)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BIR zonal + spatial lag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Property-type dummies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✓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Total features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21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24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22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THE MODEL LINEUP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OLS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interpretable hedonic baseline.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Random Forest &amp; XGBoost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capture non-linear, interacting effects.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SHAP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explains every prediction, feature by feature.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Rosen, 1974; Breiman, 2001; Chen &amp; Guestrin, 2016; Lundberg &amp; Lee, 2017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HONEST EVALUATION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>
                <a:solidFill>
                  <a:srgbClr val="1A1A1A"/>
                </a:solidFill>
                <a:latin typeface="Helvetica Neue"/>
              </a:rPr>
              <a:t>GroupKFold by location — the honest test.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Listings are grouped by coordinate cluster.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The same spot never appears in both train and test.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4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400" b="0">
                <a:solidFill>
                  <a:srgbClr val="33332F"/>
                </a:solidFill>
                <a:latin typeface="Helvetica Neue"/>
              </a:rPr>
              <a:t>Stricter than a random 80/20 split — it blocks neighborhood memorization.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RANDOM FOREST DEPLOYED (RQ2)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Tree models beat OLS in every stratum.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RF edged XGBoost (19.3 vs 19.8 / 22.7 vs 23.6 / 38.4 vs 40.2 MdAPE).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Deployed for robustness on small samples and simplicity.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000"/>
              </a:spcAft>
            </a:pPr>
            <a:r>
              <a:rPr sz="2200" b="1">
                <a:solidFill>
                  <a:srgbClr val="E7EEEA"/>
                </a:solidFill>
                <a:latin typeface="Helvetica Neue"/>
              </a:rPr>
              <a:t>08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The Appraisal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HEADLINE ACCURACY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920240"/>
          <a:ext cx="1051559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29952"/>
                <a:gridCol w="3092823"/>
                <a:gridCol w="309282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Property type</a:t>
                      </a:r>
                    </a:p>
                  </a:txBody>
                  <a:tcPr marL="109728" marT="45720" marB="45720" anchor="ctr"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Typical error (MdAPE)</a:t>
                      </a:r>
                    </a:p>
                  </a:txBody>
                  <a:tcPr marL="109728" marT="45720" marB="45720" anchor="ctr">
                    <a:solidFill>
                      <a:srgbClr val="2F5D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Within 20% (PE20)</a:t>
                      </a:r>
                    </a:p>
                  </a:txBody>
                  <a:tcPr marL="109728" marT="45720" marB="45720" anchor="ctr">
                    <a:solidFill>
                      <a:srgbClr val="2F5D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Condominium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19.3%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51%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Houses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22.7%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44%</a:t>
                      </a:r>
                    </a:p>
                  </a:txBody>
                  <a:tcPr marL="109728" marT="45720" marB="45720" anchor="ctr">
                    <a:solidFill>
                      <a:srgbClr val="E7EE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Helvetica Neue"/>
                        </a:rPr>
                        <a:t>Vacant Lot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38.4%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2F5D50"/>
                          </a:solidFill>
                          <a:latin typeface="Helvetica Neue"/>
                        </a:rPr>
                        <a:t>26%</a:t>
                      </a:r>
                    </a:p>
                  </a:txBody>
                  <a:tcPr marL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WHAT THAT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MdAPE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half of estimates fall within this error.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PE20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the share landing within 20% (the practical hit-rate).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Reported with MAPE, COD, PRD — but not claiming IAAO compliance.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DO GEOSPATIAL FEATURES HELP? (RQ3)</a:t>
            </a:r>
          </a:p>
        </p:txBody>
      </p:sp>
      <p:pic>
        <p:nvPicPr>
          <p:cNvPr id="3" name="Picture 2" descr="ablation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048256"/>
            <a:ext cx="6035040" cy="3401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Geospatial features improve </a:t>
            </a:r>
            <a:r>
              <a:rPr sz="2300" b="1">
                <a:solidFill>
                  <a:srgbClr val="33332F"/>
                </a:solidFill>
                <a:latin typeface="Helvetica Neue"/>
              </a:rPr>
              <a:t>every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 stratum over structural-only.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Biggest lift where benchmarks are weakest: vacant lots (+13 pts) and condos (+5.7).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For houses, city + BIR zonal already capture most of the location signal.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WHAT DRIVES PRICE — CONDOMINIUMS (RQ1)</a:t>
            </a:r>
          </a:p>
        </p:txBody>
      </p:sp>
      <p:pic>
        <p:nvPicPr>
          <p:cNvPr id="3" name="Picture 2" descr="shap_condo_rf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48943"/>
            <a:ext cx="6035040" cy="40001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Neighborhood price level (spatial lag) leads — condos track their block.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Weight spreads across several nodes — Consolacion, airport, Mactan, CBP.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The signature of a multi-node, polycentric market.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WHAT DRIVES PRICE — HOUSES (RQ1)</a:t>
            </a:r>
          </a:p>
        </p:txBody>
      </p:sp>
      <p:pic>
        <p:nvPicPr>
          <p:cNvPr id="3" name="Picture 2" descr="shap_houses_rf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47663"/>
            <a:ext cx="6035040" cy="40027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Distance to </a:t>
            </a:r>
            <a:r>
              <a:rPr sz="2300" b="1">
                <a:solidFill>
                  <a:srgbClr val="33332F"/>
                </a:solidFill>
                <a:latin typeface="Helvetica Neue"/>
              </a:rPr>
              <a:t>Cebu Business Park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 is the single strongest driver.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Classic bid-rent: detached-house value falls with distance from the core.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Amenities enter only as the bundled MCRAI composite.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WHAT DRIVES PRICE — VACANT LOTS (RQ1)</a:t>
            </a:r>
          </a:p>
        </p:txBody>
      </p:sp>
      <p:pic>
        <p:nvPicPr>
          <p:cNvPr id="3" name="Picture 2" descr="shap_lot_rf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47663"/>
            <a:ext cx="6035040" cy="40027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Distance to Cebu Business Park leads — the steepest bid-rent gradient of the three.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Individual amenities are the second-largest driver — bare land responds to specific nearby access.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Still the weakest stratum: unrecorded parcel attributes (frontage, zoning) cap accuracy.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THE VALUATION GAP (RQ4)</a:t>
            </a:r>
          </a:p>
        </p:txBody>
      </p:sp>
      <p:pic>
        <p:nvPicPr>
          <p:cNvPr id="3" name="Picture 2" descr="valuation_gap_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2048256"/>
            <a:ext cx="6035040" cy="3401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66344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Market prices run ~</a:t>
            </a:r>
            <a:r>
              <a:rPr sz="2300" b="1">
                <a:solidFill>
                  <a:srgbClr val="33332F"/>
                </a:solidFill>
                <a:latin typeface="Helvetica Neue"/>
              </a:rPr>
              <a:t>3×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 the BIR zonal benchmark for vacant lots.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Systematic, not noise — listings beat BIR in nearly every LGU.</a:t>
            </a:r>
          </a:p>
          <a:p>
            <a:pPr algn="l">
              <a:lnSpc>
                <a:spcPct val="132000"/>
              </a:lnSpc>
              <a:spcAft>
                <a:spcPts val="1600"/>
              </a:spcAft>
            </a:pPr>
            <a:r>
              <a:rPr sz="23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300" b="0">
                <a:solidFill>
                  <a:srgbClr val="33332F"/>
                </a:solidFill>
                <a:latin typeface="Helvetica Neue"/>
              </a:rPr>
              <a:t>A signal that benchmarks are stale — not a correction factor to apply.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IS IT GOOD ENOUGH?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A triangulation reference, not a replacement.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Strongest for condos and houses; indicative for lots.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It complements professional judgment — never replaces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000"/>
              </a:spcAft>
            </a:pPr>
            <a:r>
              <a:rPr sz="2200" b="1">
                <a:solidFill>
                  <a:srgbClr val="E7EEEA"/>
                </a:solidFill>
                <a:latin typeface="Helvetica Neue"/>
              </a:rPr>
              <a:t>09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The Walkthrough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MARKET MAP</a:t>
            </a:r>
          </a:p>
        </p:txBody>
      </p:sp>
      <p:pic>
        <p:nvPicPr>
          <p:cNvPr id="3" name="Picture 2" descr="webapp_marke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417320"/>
            <a:ext cx="65836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100" b="0">
                <a:solidFill>
                  <a:srgbClr val="1A1A1A"/>
                </a:solidFill>
                <a:latin typeface="Helvetica Neue"/>
              </a:rPr>
              <a:t>Open-market listings with filters.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PRICE SURFACE</a:t>
            </a:r>
          </a:p>
        </p:txBody>
      </p:sp>
      <p:pic>
        <p:nvPicPr>
          <p:cNvPr id="3" name="Picture 2" descr="webapp_price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417320"/>
            <a:ext cx="65836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100" b="0">
                <a:solidFill>
                  <a:srgbClr val="1A1A1A"/>
                </a:solidFill>
                <a:latin typeface="Helvetica Neue"/>
              </a:rPr>
              <a:t>Predicted ₱/sqm by barangay.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PROPERTY PREDICTOR</a:t>
            </a:r>
          </a:p>
        </p:txBody>
      </p:sp>
      <p:pic>
        <p:nvPicPr>
          <p:cNvPr id="3" name="Picture 2" descr="webapp_predi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417320"/>
            <a:ext cx="65836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100" b="0">
                <a:solidFill>
                  <a:srgbClr val="1A1A1A"/>
                </a:solidFill>
                <a:latin typeface="Helvetica Neue"/>
              </a:rPr>
              <a:t>A live estimate — and its SHAP reasoning.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000"/>
              </a:spcAft>
            </a:pPr>
            <a:r>
              <a:rPr sz="2200" b="1">
                <a:solidFill>
                  <a:srgbClr val="E7EEEA"/>
                </a:solidFill>
                <a:latin typeface="Helvetica Neue"/>
              </a:rPr>
              <a:t>10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5600" b="1">
                <a:solidFill>
                  <a:srgbClr val="FFFFFF"/>
                </a:solidFill>
                <a:latin typeface="Helvetica Neue"/>
              </a:rPr>
              <a:t>The Close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ANSWERS TO THE FOUR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RQ1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Location dominates; drivers differ by type.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RQ2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Random Forest deployed.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RQ3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Geospatial helps, most where benchmarks are weak.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RQ4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The BIR gap is large and systematic.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Methodological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per-type modeling, polycentric distances, the two-stage MCRAI, leak-free CV.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1">
                <a:solidFill>
                  <a:srgbClr val="1A1A1A"/>
                </a:solidFill>
                <a:latin typeface="Helvetica Neue"/>
              </a:rPr>
              <a:t>Practical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 — a reproducible, explainable web prototype.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Asking-price ceiling (not deed-of-sale).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Cross-sectional snapshot.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Vacant-lot data ceiling.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RECOMMENDATIONS — PRACTICE &amp;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Use as triangulation, not a final number.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Recognize secondary subcenters; MCRAI as a template, not a finished index.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RECOMMENDATIONS — FUTURE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Estimate MCRAI parameters from data.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2700" b="1">
                <a:solidFill>
                  <a:srgbClr val="2F5D50"/>
                </a:solidFill>
                <a:latin typeface="Helvetica Neue"/>
              </a:rPr>
              <a:t>▪  </a:t>
            </a:r>
            <a:r>
              <a:rPr sz="2700" b="0">
                <a:solidFill>
                  <a:srgbClr val="1A1A1A"/>
                </a:solidFill>
                <a:latin typeface="Helvetica Neue"/>
              </a:rPr>
              <a:t>Enrich parcel attributes; add a time dimension.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291072"/>
            <a:ext cx="5879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B6B66"/>
                </a:solidFill>
                <a:latin typeface="Helvetica Neue"/>
              </a:rPr>
              <a:t>Udomsap &amp; Abid, 2020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1600"/>
              </a:spcAft>
            </a:pPr>
            <a:r>
              <a:rPr sz="3000" b="0">
                <a:solidFill>
                  <a:srgbClr val="1A1A1A"/>
                </a:solidFill>
                <a:latin typeface="Helvetica Neue"/>
              </a:rPr>
              <a:t>A clearer starting point for the family deciding what a home is worth —</a:t>
            </a:r>
          </a:p>
          <a:p>
            <a:pPr algn="ctr">
              <a:lnSpc>
                <a:spcPct val="114000"/>
              </a:lnSpc>
              <a:spcAft>
                <a:spcPts val="400"/>
              </a:spcAft>
            </a:pPr>
            <a:r>
              <a:rPr sz="4000" b="1">
                <a:solidFill>
                  <a:srgbClr val="2F5D50"/>
                </a:solidFill>
                <a:latin typeface="Helvetica Neue"/>
              </a:rPr>
              <a:t>not the last word on it.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F5D50"/>
                </a:solidFill>
                <a:latin typeface="Helvetica Neue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521208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Agosto, A. (2020). Determinants of Land Values in Cebu City, Philippines.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Bangko Sentral ng Pilipinas. (2025). Residential Real Estate Price Index (RREPI): Q2 2025 Report.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Boeing, G. (2017). OSMnx: New methods for acquiring, constructing, analyzing, and visualizing complex street networks.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Breiman, L. (2001). Random forests.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Bureau of Internal Revenue. (n.d.). Zonal Values Resources and Schedules.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Chen, T., &amp; Guestrin, C. (2016). XGBoost: A scalable tree boosting system. ACM SIGKDD.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Dröes, M. I., Hoesli, M., &amp; Bourassa, S. C. (2019). Heterogeneous households and market segmentation in a hedonic framework. ERES.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Giuliano, G., &amp; Small, K. A. (1991). Subcenters in the Los Angeles region.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Grinsztajn, L., Oyallon, E., &amp; Varoquaux, G. (2022). Why do tree-based models still outperform deep learning on typical tabular data? NeurIPS 35.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Hansen, W. G. (1959). How accessibility shapes land use.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International Valuation Standards Council. (2025). International Valuation Standards (IVS) 2025.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Japan International Cooperation Agency &amp; MCDCB. (2015). The Roadmap Study for Sustainable Urban Development in Metro Cebu.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80160"/>
            <a:ext cx="521208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Lundberg, S. M., &amp; Lee, S.-I. (2017). A unified approach to interpreting model predictions. NeurIPS 30.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McMillen, D. P. (2003). The return of centralization to Chicago.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Otsuka, K., Manasan, R. G., &amp; Piza, S. (2023). Local government unit income and real property tax collection in the Philippines. PIDS.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Philippine Statistics Authority – Central Visayas. (2025). Cebu's economy grows by 7.3 percent in 2024.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Ramolete, G. I. L., Bramaskara, B., Reyes, D. A., &amp; Heinrich, A. (2023). Utilization of machine learning and government-based indicators for property value prediction in the Philippines. The Philippine Statistician.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Rosen, S. (1974). Hedonic prices and implicit markets.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Tanamal, R., Minoque, N., Wiradinata, T., Soekamto, Y., &amp; Ratih, T. (2023). House price prediction model using Random Forest in Surabaya City. TEM Journal.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Tobler, W. R. (1970). A computer movie simulating urban growth in the Detroit region.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Udomsap, A., &amp; Abid, M. (2020). Macroeconomic determinants of housing prices.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Usman, H., Lizam, M., &amp; Adekunle, M. U. (2020). A priori spatial segmentation of commercial property market using hedonic price modelling.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>
                <a:solidFill>
                  <a:srgbClr val="33332F"/>
                </a:solidFill>
                <a:latin typeface="Helvetica Neue"/>
              </a:rPr>
              <a:t>Viray, F. S. (2023). Residential property price forecasting model for Central Pangasinan, Philippines.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1200"/>
              </a:spcAft>
            </a:pPr>
            <a:r>
              <a:rPr sz="5800" b="1">
                <a:solidFill>
                  <a:srgbClr val="FFFFFF"/>
                </a:solidFill>
                <a:latin typeface="Helvetica Neue"/>
              </a:rPr>
              <a:t>Thank you</a:t>
            </a:r>
          </a:p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000" b="0">
                <a:solidFill>
                  <a:srgbClr val="E7EEEA"/>
                </a:solidFill>
                <a:latin typeface="Helvetica Neue"/>
              </a:rPr>
              <a:t>Chris Dominic Estreba ·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