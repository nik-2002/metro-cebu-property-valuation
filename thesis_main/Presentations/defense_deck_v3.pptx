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28800"/>
            <a:ext cx="110578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b="1" sz="1500">
                <a:solidFill>
                  <a:srgbClr val="33455E"/>
                </a:solidFill>
                <a:latin typeface="Arial"/>
              </a:rPr>
              <a:t>University of Asia and the Pacific · BS Data Science · 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1057839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8000"/>
              </a:lnSpc>
            </a:pPr>
            <a:r>
              <a:rPr b="1" sz="3800">
                <a:solidFill>
                  <a:srgbClr val="1E2530"/>
                </a:solidFill>
                <a:latin typeface="Arial"/>
              </a:rPr>
              <a:t>Predicting Open-Market Residential Property Values in Metro Cebu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8647" y="4160520"/>
            <a:ext cx="914400" cy="45720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389120"/>
            <a:ext cx="11057839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100">
                <a:solidFill>
                  <a:srgbClr val="6E7686"/>
                </a:solidFill>
                <a:latin typeface="Arial"/>
              </a:rPr>
              <a:t>Using Machine Learning and Geospatial Features</a:t>
            </a:r>
          </a:p>
          <a:p>
            <a:pPr algn="ctr">
              <a:spcBef>
                <a:spcPts val="1800"/>
              </a:spcBef>
            </a:pPr>
            <a:r>
              <a:rPr sz="1800">
                <a:solidFill>
                  <a:srgbClr val="1E2530"/>
                </a:solidFill>
                <a:latin typeface="Arial"/>
              </a:rPr>
              <a:t>Chris Dominic Estreba</a:t>
            </a:r>
          </a:p>
          <a:p>
            <a:pPr algn="ctr"/>
            <a:r>
              <a:rPr sz="1500">
                <a:solidFill>
                  <a:srgbClr val="6E7686"/>
                </a:solidFill>
                <a:latin typeface="Arial"/>
              </a:rPr>
              <a:t>BS Data Science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01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Introduction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The valuation problem in Metro Cebu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Where this study is set</a:t>
            </a:r>
          </a:p>
        </p:txBody>
      </p:sp>
      <p:pic>
        <p:nvPicPr>
          <p:cNvPr id="6" name="Picture 5" descr="lgu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640" y="1463040"/>
            <a:ext cx="4458815" cy="2990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544567"/>
            <a:ext cx="11064240" cy="19019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Metro Cebu is the country's second-largest urban region; this study focuses on its central core of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six LGUs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Cebu City, Mandaue, Lapu-Lapu, Talisay, Minglanilla, Consolacion.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fast-growing economy</a:t>
            </a:r>
            <a:r>
              <a:rPr b="0" i="0" sz="1800">
                <a:solidFill>
                  <a:srgbClr val="1E2530"/>
                </a:solidFill>
                <a:latin typeface="Arial"/>
              </a:rPr>
              <a:t>: 7.3% growth in 2024, among the fastest outside Metro Manila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(PSA Cebu, 2025)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And 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fast-rising housing market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: 11.5% residential price growth in 2025, the highest rate outside the NCR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(BSP, 2025)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Major infrastructure (CBRT, Cebu–Cordova Expressway, SRP) is redrawing which barangays count as accessible.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46519"/>
            <a:ext cx="11064240" cy="64008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6446519"/>
            <a:ext cx="64008" cy="640080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6446519"/>
            <a:ext cx="10607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Prices are moving faster than the references people use to interpret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4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How a price is decided — four partial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49779"/>
            <a:ext cx="11064240" cy="10607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A family buying, or an owner selling, asks the same question: what is this property worth? There is no single public source — price is pieced together from several partial references, each built to answer a </a:t>
            </a:r>
            <a:r>
              <a:rPr b="1" i="0" sz="2000">
                <a:solidFill>
                  <a:srgbClr val="1E2530"/>
                </a:solidFill>
                <a:latin typeface="Arial"/>
              </a:rPr>
              <a:t>different</a:t>
            </a:r>
            <a:r>
              <a:rPr b="0" i="0" sz="2000">
                <a:solidFill>
                  <a:srgbClr val="1E2530"/>
                </a:solidFill>
                <a:latin typeface="Arial"/>
              </a:rPr>
              <a:t> question.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110483"/>
          <a:ext cx="11064239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61841"/>
                <a:gridCol w="3651199"/>
                <a:gridCol w="3651199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Built for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What it misses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Broker &amp; agent opinion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Local market knowledge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Not standardized or reproducible across people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Bank appraisals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Lending &amp; collateral risk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Conservative; not the seller's market question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BIR zonal values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Taxation &amp; assessment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Not live prices; often not updated </a:t>
                      </a:r>
                      <a:r>
                        <a:rPr b="0" i="1" sz="1350">
                          <a:solidFill>
                            <a:srgbClr val="979FAD"/>
                          </a:solidFill>
                          <a:latin typeface="Arial"/>
                        </a:rPr>
                        <a:t>(BIR, n.d.; Otsuka et al., 2023)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Online listings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Current, property-level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Asking prices — full of seller strategy and noise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268467"/>
            <a:ext cx="11064240" cy="4998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2000"/>
              </a:lnSpc>
            </a:pPr>
            <a:r>
              <a:rPr b="0" i="1" sz="1400">
                <a:solidFill>
                  <a:srgbClr val="6E7686"/>
                </a:solidFill>
                <a:latin typeface="Arial"/>
              </a:rPr>
              <a:t>They serve different purposes, follow different assumptions, and update at different speeds — so they cannot be compared.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5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5279" y="2624327"/>
            <a:ext cx="8187537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32000"/>
              </a:lnSpc>
            </a:pPr>
            <a:r>
              <a:rPr b="0" i="0" sz="2600">
                <a:solidFill>
                  <a:srgbClr val="1E2530"/>
                </a:solidFill>
                <a:latin typeface="Arial"/>
              </a:rPr>
              <a:t>Metro Cebu lacks a transparent, property-level, spatially detailed reference for interpreting residential price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42816"/>
            <a:ext cx="1106424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242816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242816"/>
            <a:ext cx="1060704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This study builds that missing reference layer — a decision-support tool, not a replacement for professional appraisal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6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Research questions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06523"/>
            <a:ext cx="11064240" cy="45399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RQ1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What value drivers significantly influence residential prices in Metro Cebu?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Among Hedonic Regression, Random Forest, and XGBoost, which is most suitable for deployment — balancing accuracy, small-sample robustness, and interpretability?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RQ3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Do geospatial features improve accuracy over a structural-only model, and how does that differ across property types?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RQ4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How large is the valuation gap between model estimates and BIR zonal values across Metro Cebu?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448555"/>
            <a:ext cx="110642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850892"/>
            <a:ext cx="11064240" cy="15956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Six LGUs and eight polycentric CBD nodes;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open-market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segment only for the deployed model.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prototype web application for triangulation; a cross-sectional snapshot, late 2025.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02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Review of Related Literature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What is known, and the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2 · REVIEW OF RELATED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8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obstacle, and two modeling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85771"/>
            <a:ext cx="11064240" cy="7559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International work consistently finds the primary obstacle to valuation in developing markets is </a:t>
            </a:r>
            <a:r>
              <a:rPr b="1" i="0" sz="2000">
                <a:solidFill>
                  <a:srgbClr val="1E2530"/>
                </a:solidFill>
                <a:latin typeface="Arial"/>
              </a:rPr>
              <a:t>data scarcity — not valuer misconduct</a:t>
            </a:r>
            <a:r>
              <a:rPr b="0" i="0" sz="2000">
                <a:solidFill>
                  <a:srgbClr val="1E2530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78252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80587"/>
            <a:ext cx="5303520" cy="32659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Kenya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 census of 427 Nairobi valuers ranked “limited information” the top problem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(Cheloti, 2021)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Nigeria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92.7%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of 300 valuers cited insufficient market evidence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(Ajibola, 2010)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fix is not better judgment but a better, shared evidence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778252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Two modeling traditions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3180587"/>
            <a:ext cx="5303520" cy="32659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Hedonic regression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interpretable, one coefficient per attribute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(Rosen, 1974)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Machine learning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non-linear, interacting effects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(Breiman, 2001)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; tree ensembles win on tabular data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(Grinsztajn et al., 2022)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Regional precedent in Surabaya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(Tanamal et al., 2023)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with small-sample caution.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2 · REVIEW OF RELATED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9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Location dominates — and why we model types separately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33372"/>
            <a:ext cx="11064240" cy="46131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Location is the dominant driver.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Agosto (2020), the only Cebu-specific study, finds transport accessibility the primary driver of land value; accessibility is formalized through gravity indexing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(Hansen, 1959)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since raw distances alone are too fragmented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(Rey-Blanco, 2024)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Separate models per property type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are grounded in evidence: modeling submarkets separately lifted R² from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0.637 to 0.782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(Dröes et al., 2019)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; segmenting before fitting improved fit ~</a:t>
            </a:r>
            <a:r>
              <a:rPr b="1" i="0" sz="1800">
                <a:solidFill>
                  <a:srgbClr val="1E2530"/>
                </a:solidFill>
                <a:latin typeface="Arial"/>
              </a:rPr>
              <a:t>7%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and cut error &gt;</a:t>
            </a:r>
            <a:r>
              <a:rPr b="1" i="0" sz="1800">
                <a:solidFill>
                  <a:srgbClr val="1E2530"/>
                </a:solidFill>
                <a:latin typeface="Arial"/>
              </a:rPr>
              <a:t>10%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(Usman et al., 2020)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Different property types are priced by different logic, so one pooled equation fits all of them worse.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759452"/>
            <a:ext cx="11064240" cy="1152143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759452"/>
            <a:ext cx="64008" cy="1152143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759452"/>
            <a:ext cx="10607040" cy="115214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gap: no published, reproducible, property-level model for Metro Cebu integrates open-market listings, geospatial accessibility, and explainable ML. This study builds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03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Methodology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Data, geospatial features, modeling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11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64240" cy="10607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Sources: </a:t>
            </a:r>
            <a:r>
              <a:rPr b="1" i="0" sz="2000">
                <a:solidFill>
                  <a:srgbClr val="1E2530"/>
                </a:solidFill>
                <a:latin typeface="Arial"/>
              </a:rPr>
              <a:t>Lamudi, FilipinoHomes, DotProperty</a:t>
            </a:r>
            <a:r>
              <a:rPr b="0" i="0" sz="2000">
                <a:solidFill>
                  <a:srgbClr val="1E2530"/>
                </a:solidFill>
                <a:latin typeface="Arial"/>
              </a:rPr>
              <a:t> (open-market listings); </a:t>
            </a:r>
            <a:r>
              <a:rPr b="1" i="0" sz="2000">
                <a:solidFill>
                  <a:srgbClr val="1E2530"/>
                </a:solidFill>
                <a:latin typeface="Arial"/>
              </a:rPr>
              <a:t>BIR zonal values</a:t>
            </a:r>
            <a:r>
              <a:rPr b="0" i="0" sz="2000">
                <a:solidFill>
                  <a:srgbClr val="1E2530"/>
                </a:solidFill>
                <a:latin typeface="Arial"/>
              </a:rPr>
              <a:t> (benchmark); </a:t>
            </a:r>
            <a:r>
              <a:rPr b="1" i="0" sz="2000">
                <a:solidFill>
                  <a:srgbClr val="1E2530"/>
                </a:solidFill>
                <a:latin typeface="Arial"/>
              </a:rPr>
              <a:t>Google Maps &amp; OpenStreetMap</a:t>
            </a:r>
            <a:r>
              <a:rPr b="0" i="0" sz="2000">
                <a:solidFill>
                  <a:srgbClr val="1E2530"/>
                </a:solidFill>
                <a:latin typeface="Arial"/>
              </a:rPr>
              <a:t> (POIs, geocoding); the </a:t>
            </a:r>
            <a:r>
              <a:rPr b="1" i="0" sz="2000">
                <a:solidFill>
                  <a:srgbClr val="1E2530"/>
                </a:solidFill>
                <a:latin typeface="Arial"/>
              </a:rPr>
              <a:t>osmnx</a:t>
            </a:r>
            <a:r>
              <a:rPr b="0" i="0" sz="2000">
                <a:solidFill>
                  <a:srgbClr val="1E2530"/>
                </a:solidFill>
                <a:latin typeface="Arial"/>
              </a:rPr>
              <a:t> road network (node distances). Target: price per square meter.</a:t>
            </a:r>
          </a:p>
        </p:txBody>
      </p:sp>
      <p:pic>
        <p:nvPicPr>
          <p:cNvPr id="7" name="Picture 6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73" y="2523744"/>
            <a:ext cx="10427548" cy="39227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12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Geospatial features — distance, neighborhood, and the target</a:t>
            </a:r>
          </a:p>
        </p:txBody>
      </p:sp>
      <p:pic>
        <p:nvPicPr>
          <p:cNvPr id="6" name="Picture 5" descr="study_are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51462"/>
            <a:ext cx="5974689" cy="40066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Shortest-path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road-network distance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(not straight-line) to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eight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economic nodes — Cebu Business Park, Mandaue, Mactan, SRP, Talisay Tabunok, Consolacion, Naga, and the airport — grounded in polycentric urban economics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(Giuliano &amp; Small, 1991; JICA, 2015)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neighborhood price lag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: the average price of nearby same-type listings within 500 m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(Tobler, 1970)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model predicts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log of price per square meter</a:t>
            </a:r>
            <a:r>
              <a:rPr b="0" i="0" sz="1800">
                <a:solidFill>
                  <a:srgbClr val="1E2530"/>
                </a:solidFill>
                <a:latin typeface="Arial"/>
              </a:rPr>
              <a:t>; predictions are converted back for the price surface.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Road distance captures real travel cost — including the Mactan bridge crossing.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13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MCRAI — measuring access to amenities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9616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The idea, in plain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01952"/>
            <a:ext cx="5303520" cy="45445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For each property, count the nearby amenities in a category (schools, groceries, hospitals, …).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Closer amenities count more — the score fades with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square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of road distance.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Each category has its own reach, because a hospital serves a wider area than a corner store.</a:t>
            </a:r>
          </a:p>
        </p:txBody>
      </p:sp>
      <p:pic>
        <p:nvPicPr>
          <p:cNvPr id="8" name="Picture 7" descr="formula_mcr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82" y="4553712"/>
            <a:ext cx="3854211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13832"/>
            <a:ext cx="5303520" cy="2865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2000"/>
              </a:lnSpc>
            </a:pPr>
            <a:r>
              <a:rPr b="0" i="1" sz="1400">
                <a:solidFill>
                  <a:srgbClr val="6E7686"/>
                </a:solidFill>
                <a:latin typeface="Arial"/>
              </a:rPr>
              <a:t>Distances in km, floored at 0.5 km. </a:t>
            </a:r>
            <a:r>
              <a:rPr b="0" i="1" sz="1400">
                <a:solidFill>
                  <a:srgbClr val="979FAD"/>
                </a:solidFill>
                <a:latin typeface="Arial"/>
              </a:rPr>
              <a:t>(Hansen, 1959)</a:t>
            </a:r>
          </a:p>
        </p:txBody>
      </p:sp>
      <p:pic>
        <p:nvPicPr>
          <p:cNvPr id="10" name="Picture 9" descr="mcrai_catch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203617"/>
            <a:ext cx="5303520" cy="35023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3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14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MCRAI — categories, reach, and how the weights were chosen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63040"/>
          <a:ext cx="5303519" cy="37856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3196"/>
                <a:gridCol w="3500323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Reach (km)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Education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Grocery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Health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Hospitals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Recreation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Security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Tourism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Retail density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303520"/>
            <a:ext cx="5303520" cy="71323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2000"/>
              </a:lnSpc>
            </a:pPr>
            <a:r>
              <a:rPr b="0" i="1" sz="1400">
                <a:solidFill>
                  <a:srgbClr val="6E7686"/>
                </a:solidFill>
                <a:latin typeface="Arial"/>
              </a:rPr>
              <a:t>Each reach is set to the category's catchment, refined for Metro Cebu. Transport is measured separately as road distance to the eight nodes.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499616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Weights from the market, in two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901952"/>
            <a:ext cx="5303520" cy="45445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Stage 1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fit a hedonic regression; each category's coefficient is its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implicit price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(sign = premium or penalty; significance = reliable)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(Rosen, 1974)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Stage 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keep the positive, significant categories and normalize their coefficients to sum to one.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Result: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education 0.447, grocery 0.345, recreation 0.222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; the others stay as standalone features, not in the composite.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199631"/>
            <a:ext cx="11064240" cy="64008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6199631"/>
            <a:ext cx="64008" cy="640080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6199631"/>
            <a:ext cx="10607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regression discovers the weights — we do not impose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04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Data Understanding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Collection and exploratory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4 ·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16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From collection to a clean ABT</a:t>
            </a:r>
          </a:p>
        </p:txBody>
      </p:sp>
      <p:pic>
        <p:nvPicPr>
          <p:cNvPr id="6" name="Picture 5" descr="funnel_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9442"/>
            <a:ext cx="5974689" cy="3690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16,561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listings scraped across three portals;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3,616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survived to the analytics base table.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Filters: geocoding, the six-LGU and residential constraints, a price-per-sqm sanity band, distressed-listing removal, and de-duplication.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OnePropertee was excluded entirely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bad geocoding and mis-extracted prices would have contaminated the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5937" y="4663440"/>
            <a:ext cx="481523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5937" y="4663440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8545" y="4663440"/>
            <a:ext cx="435803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conservative funnel: roughly one in five raw listings is kept.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4 ·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17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What the data shows</a:t>
            </a:r>
          </a:p>
        </p:txBody>
      </p:sp>
      <p:pic>
        <p:nvPicPr>
          <p:cNvPr id="6" name="Picture 5" descr="price_by_lgu_face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58998"/>
            <a:ext cx="5974689" cy="19915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Price per sqm is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right-skewed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(a few premium units) — which is why it is modeled in log.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Sharp geographic spread: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Cebu City ~₱113,600/sqm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Mandaue ~₱96,100, Lapu-Lapu ~₱92,100; a lower band ~₱47,100–56,800 for Talisay, Minglanilla, Consolacion.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Some southern CBD distances move together — an early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collinearity warning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for the linear baseline (handled with VIF).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MCRAI coverage checked before modeling: education and grocery near-complete, security sparsest — zero rates flag thin catchments, not data failure.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05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Data Preparation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Cleaning, and preparing data for the models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5 ·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19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Cleaning, and a data-integrity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82012"/>
            <a:ext cx="11064240" cy="40645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Imputed values were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flagged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never silently filled; structurally-absent fields (beds/baths for vacant lots) were left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unimputed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not faked.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Hard duplicates were dropped and a price-per-square-meter sanity band applied; the modeling subset is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3,372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of the 3,616 assembled rows.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Early models were dominated by one suspicious SHAP feature — the target had quietly come to mean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two different things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across scrape batches.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485131"/>
            <a:ext cx="1106424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485131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485131"/>
            <a:ext cx="1060704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Tracing and fixing that — redefining the target to log price per square meter — is exactly why the final metrics are dependable.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5 ·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20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Preparing the data for modeling</a:t>
            </a:r>
          </a:p>
        </p:txBody>
      </p:sp>
      <p:pic>
        <p:nvPicPr>
          <p:cNvPr id="6" name="Picture 5" descr="featur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547" y="1463040"/>
            <a:ext cx="5731001" cy="2990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544567"/>
            <a:ext cx="11064240" cy="19019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Split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by property type into three datasets;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encode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cities as indicators;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assemble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structural, distance, MCRAI, benchmark, and spatial-lag features.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Every candidate passes four screens: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variance inflation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(drop duplicates),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OLS significance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(keep what moves price),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leave-one-block ablation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and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MCRAI zero rates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result is three tailored feature sets: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21 / 24 / 22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06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Modeling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Stratified models, selection, tuning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22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One model cannot price three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4851"/>
            <a:ext cx="11064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4600">
                <a:solidFill>
                  <a:srgbClr val="33455E"/>
                </a:solidFill>
                <a:latin typeface="Arial"/>
              </a:rPr>
              <a:t>5.8×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b="0" i="0" sz="1800">
                <a:solidFill>
                  <a:srgbClr val="1E2530"/>
                </a:solidFill>
                <a:latin typeface="Arial"/>
              </a:rPr>
              <a:t>The condominium median price per square meter runs about 5.8 times the vacant-lot median.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33572"/>
            <a:ext cx="11064240" cy="30129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Built area and land-only follow fundamentally different price logic; a single pooled model averages them into one blurred equation that fits none well.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So the study fits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three separate models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one per property type — backed by Dröes et al. (2019) and Usman et al. (2020).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60036"/>
            <a:ext cx="11064240" cy="640080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860036"/>
            <a:ext cx="64008" cy="640080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860036"/>
            <a:ext cx="10607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Stratifying is itself an evidence-based finding, not a convenience.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23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three feature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909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Shared core (all three strata)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1427"/>
            <a:ext cx="5303520" cy="416509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Eight road-network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CBD distances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BIR zonal benchmark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+ 500 m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spatial lag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City indicators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(Cebu City = reference).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87909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Per-stratum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281427"/>
            <a:ext cx="5303520" cy="416509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Condos &amp; houses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: structural attributes (area, beds, baths + flags) and the single MCRAI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composite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Houses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add property-type indicators (single-detached, house-and-lot, townhouse).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Vacant lots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: land area only (no beds/baths) +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six individual MCRAI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categories.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750308"/>
            <a:ext cx="11064240" cy="1152143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750308"/>
            <a:ext cx="64008" cy="1152143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750308"/>
            <a:ext cx="10607040" cy="115214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Collinearity shaped the OLS baseline (composite and redundant terms trimmed); the deployed trees tolerate it. The strata differ mainly by what each property type has. Final counts: 21 / 24 / 22.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6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24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Models, selection, and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00299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The lineup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02635"/>
            <a:ext cx="5303520" cy="36438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OLS hedonic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interpretable baseline, HC3 robust errors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(Rosen, 1974)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Random Forest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non-linear, robust on small samples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(Breiman, 2001)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XGBoost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gradient boosting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(Chen &amp; Guestrin, 2016)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;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SHAP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explains every prediction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(Lundberg &amp; Lee, 2017)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400299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Why these, and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802635"/>
            <a:ext cx="5303520" cy="36438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Set aside: SVR (hard to tune, weak interpretability), LASSO/Ridge (subsumed by OLS), deep nets (need &gt;10,000 samples).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Deployed Random Forest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tuned per stratum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(300 trees; max-features 0.7 / 1.0 / 1.0; min-leaf 1 / 2 / 1).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Comparators run at standard settings, so the head-to-head stays fair.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07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Evaluation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Accuracy, model comparison, ablation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7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26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Headline accuracy — all three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86484"/>
            <a:ext cx="11064240" cy="10607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</a:pPr>
            <a:r>
              <a:rPr b="0" i="0" sz="2000">
                <a:solidFill>
                  <a:srgbClr val="1E2530"/>
                </a:solidFill>
                <a:latin typeface="Arial"/>
              </a:rPr>
              <a:t>Estimated under a strict, </a:t>
            </a:r>
            <a:r>
              <a:rPr b="1" i="0" sz="2000">
                <a:solidFill>
                  <a:srgbClr val="1E2530"/>
                </a:solidFill>
                <a:latin typeface="Arial"/>
              </a:rPr>
              <a:t>leak-free protocol</a:t>
            </a:r>
            <a:r>
              <a:rPr b="0" i="0" sz="2000">
                <a:solidFill>
                  <a:srgbClr val="1E2530"/>
                </a:solidFill>
                <a:latin typeface="Arial"/>
              </a:rPr>
              <a:t>: GroupKFold(5) by coordinate cluster — the same location never appears in both train and test folds, so the model cannot memorize a neighborhood.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83763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MdAPE — typical error (lower better)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086099"/>
          <a:ext cx="5303518" cy="16824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72844"/>
                <a:gridCol w="1343558"/>
                <a:gridCol w="1343558"/>
                <a:gridCol w="1343558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OLS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RF †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XGB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Condo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24.5%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19.3%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19.8%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Houses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25.1%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22.7%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23.6%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Lot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44.8%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38.4%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40.2%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2683763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PE20 — share within 20% (higher better)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3086099"/>
          <a:ext cx="5303518" cy="16824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72844"/>
                <a:gridCol w="1343558"/>
                <a:gridCol w="1343558"/>
                <a:gridCol w="1343558"/>
              </a:tblGrid>
              <a:tr h="420624"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OLS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RF †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i="0" sz="1350">
                          <a:solidFill>
                            <a:srgbClr val="FFFFFF"/>
                          </a:solidFill>
                          <a:latin typeface="Arial"/>
                        </a:rPr>
                        <a:t>XGB</a:t>
                      </a:r>
                    </a:p>
                  </a:txBody>
                  <a:tcPr marT="38100" marB="38100">
                    <a:solidFill>
                      <a:srgbClr val="334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Condo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Houses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T="38100" marB="38100">
                    <a:solidFill>
                      <a:srgbClr val="EA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Lot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i="0" sz="1350">
                          <a:solidFill>
                            <a:srgbClr val="1E2530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5006340"/>
            <a:ext cx="11064240" cy="1152143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006340"/>
            <a:ext cx="64008" cy="1152143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5006340"/>
            <a:ext cx="10607040" cy="115214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† Deployed. Both tree models beat OLS in every stratum; Random Forest is best-or-tied and deployed. Condos and houses estimate well; vacant lots remain weakest. (The study does not claim IAAO assessment-grade compliance.)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7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27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Which model performed best? (RQ2)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71003"/>
            <a:ext cx="5974689" cy="336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Under identical leak-free folds,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both tree models beat the OLS baseline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in every stratum.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Random Forest and XGBoost are close; RF edges it on grouped-CV (19.3 vs 19.8 / 22.7 vs 23.6 / 38.4 vs 40.2).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Because the tree models are so close, the fair reading is “RF best-or-tied.”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Random Forest was deployed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robust on small samples, and simpler to maintain.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7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28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Do geospatial features earn their place? (RQ3)</a:t>
            </a:r>
          </a:p>
        </p:txBody>
      </p:sp>
      <p:pic>
        <p:nvPicPr>
          <p:cNvPr id="6" name="Picture 5" descr="ablation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71003"/>
            <a:ext cx="5974689" cy="336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three-tier ablation under identical folds: Structural → + Administrative → + Geospatial.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Geospatial features improve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every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stratum vs structural-only: condo +5.7, houses +4.2, lot +13.0 points.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On top of administrative location (city + BIR zonal): condo +3.7, lot +3.8, houses ≈ −0.7.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They add the most where benchmarks are weakest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vertical condos and bare land.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08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Results and Discussion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Drivers and spatial structure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30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What drives value, and the polycentric structure (RQ1)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69363"/>
            <a:ext cx="11064240" cy="46771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Location dominates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in every stratum — the geospatial block carries most of the SHAP attribution.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Drivers differ by type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: condos track their neighborhood price (spatial lag); houses and lots are driven by distance to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Cebu Business Park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(classic bid-rent); bare land also responds to individual amenity access.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MCRAI is selective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education, grocery, recreation carry positive weight; security, tourism, retail behave as diagnostics, not premiums.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model learned 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polycentric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not monocentric, structure: CBP anchors land and housing, but condo weight spreads across the Mactan/airport corridor and the Mandaue–Consolacion nodes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(Giuliano &amp; Small, 1991; JICA, 2015)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097779"/>
            <a:ext cx="11064240" cy="877824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097779"/>
            <a:ext cx="64008" cy="877824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097779"/>
            <a:ext cx="10607040" cy="8778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Negative MCRAI signs reflect spatial sorting — these uses cluster where congestion deters some buyers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not proof of harm.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8 ·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31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valuation gap (RQ4)</a:t>
            </a:r>
          </a:p>
        </p:txBody>
      </p:sp>
      <p:pic>
        <p:nvPicPr>
          <p:cNvPr id="6" name="Picture 5" descr="valuation_gap_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71003"/>
            <a:ext cx="5974689" cy="336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5937" y="1463040"/>
            <a:ext cx="4815230" cy="49834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On the clean land-to-land comparison, vacant-lot market price runs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~3× the BIR benchmark overall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From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~2.2× in Cebu City to ~4.8× in Mandaue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; listings exceed the benchmark in nearly every LGU.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gap is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large, positive, and systematic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BIR zonal values sit well below the open market.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Read it as 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research signal that benchmarks are stale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not a correction factor to apply.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THE DECISION-SUPPORT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32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The decision-support tool — the applied deliverable</a:t>
            </a:r>
          </a:p>
        </p:txBody>
      </p:sp>
      <p:pic>
        <p:nvPicPr>
          <p:cNvPr id="6" name="Picture 5" descr="webapp_price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977" y="1463040"/>
            <a:ext cx="4784140" cy="2990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544567"/>
            <a:ext cx="11064240" cy="19019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Market Map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open-market listings with filters and market-intelligence summaries.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Price Surface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the predicted price-per-square-meter surface, aggregated by barangay.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Property Predictor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a property-level prediction with its SHAP breakdown; the tool always shows its reasoning.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backend runs the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exact deployed Random Forest models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09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Conclusions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Answers, contributions, limits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9 ·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34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Answers, contributions, and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765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Answers to the research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89987"/>
            <a:ext cx="5303520" cy="42565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RQ1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Location dominates; drivers differ by type (spatial lag for condos; CBP distance for houses and lots; amenities for bare land).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RQ2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Tree models beat OLS everywhere; RF best-or-tied with XGBoost, deployed for robustness and simplicity.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RQ3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Geospatial features materially help, most where benchmarks are weakest.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RQ4</a:t>
            </a:r>
            <a:r>
              <a:rPr b="0" i="0" sz="1800">
                <a:solidFill>
                  <a:srgbClr val="1E2530"/>
                </a:solidFill>
                <a:latin typeface="Arial"/>
              </a:rPr>
              <a:t> — The BIR gap is large, positive, and systematic (~3× on the clean lot comparison).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787651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Contributions &amp;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189987"/>
            <a:ext cx="5303520" cy="42565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Per-type modeling with evidence-based feature selection; a polycentric distance set; a two-stage MCRAI; all results under leak-free grouped CV.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A reproducible, explainable web prototype over the deployed models.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Limits</a:t>
            </a:r>
            <a:r>
              <a:rPr b="0" i="0" sz="1800">
                <a:solidFill>
                  <a:srgbClr val="1E2530"/>
                </a:solidFill>
                <a:latin typeface="Arial"/>
              </a:rPr>
              <a:t>: an asking-price ceiling (listings, not deeds); a cross-sectional snapshot; a vacant-lot data ceiling; thin LGU×type cells.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7" y="2194560"/>
            <a:ext cx="11057839" cy="2377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b="1" sz="4000">
                <a:solidFill>
                  <a:srgbClr val="5B7A99"/>
                </a:solidFill>
                <a:latin typeface="Arial"/>
              </a:rPr>
              <a:t>10</a:t>
            </a:r>
          </a:p>
          <a:p>
            <a:pPr>
              <a:spcBef>
                <a:spcPts val="600"/>
              </a:spcBef>
            </a:pPr>
            <a:r>
              <a:rPr b="1" sz="5000">
                <a:solidFill>
                  <a:srgbClr val="FFFFFF"/>
                </a:solidFill>
                <a:latin typeface="Arial"/>
              </a:rPr>
              <a:t>Recommendations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C5D2DF"/>
                </a:solidFill>
                <a:latin typeface="Arial"/>
              </a:rPr>
              <a:t>Practice, policy, future work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10 ·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36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24812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Practice &amp;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27148"/>
            <a:ext cx="5303520" cy="41193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Read the surface as a </a:t>
            </a:r>
            <a:r>
              <a:rPr b="1" i="0" sz="1800">
                <a:solidFill>
                  <a:srgbClr val="1E2530"/>
                </a:solidFill>
                <a:latin typeface="Arial"/>
              </a:rPr>
              <a:t>triangulation tool</a:t>
            </a:r>
            <a:r>
              <a:rPr b="0" i="0" sz="1800">
                <a:solidFill>
                  <a:srgbClr val="1E2530"/>
                </a:solidFill>
                <a:latin typeface="Arial"/>
              </a:rPr>
              <a:t>, alongside zonal values and comparables — not a final appraisal.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Weight polycentric distance and property type ahead of the amenity composite.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Keep recognizing secondary and corridor subcenters (Mactan, Consolacion, Naga), not just CBP.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Treat the valuation gap as a research signal; validate against transactions before operational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924812"/>
            <a:ext cx="5303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1700">
                <a:solidFill>
                  <a:srgbClr val="33455E"/>
                </a:solidFill>
                <a:latin typeface="Arial"/>
              </a:rPr>
              <a:t>Future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327148"/>
            <a:ext cx="5303520" cy="41193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Put MCRAI on an empirical footing — estimate the decay rate, radii, and weights from data.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Test spatial heterogeneity directly with Geographically Weighted Regression (GWR / MGWR).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Enrich inputs — parcel attributes (frontage, corner-lot), a time dimension, macro indicators </a:t>
            </a:r>
            <a:r>
              <a:rPr b="0" i="1" sz="1800">
                <a:solidFill>
                  <a:srgbClr val="979FAD"/>
                </a:solidFill>
                <a:latin typeface="Arial"/>
              </a:rPr>
              <a:t>(Udomsap &amp; Abid, 2020)</a:t>
            </a:r>
            <a:r>
              <a:rPr b="0" i="0" sz="1800">
                <a:solidFill>
                  <a:srgbClr val="1E2530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1">
                <a:solidFill>
                  <a:srgbClr val="33455E"/>
                </a:solidFill>
                <a:latin typeface="Arial"/>
              </a:rPr>
              <a:t>▪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Triangulate against complementary reference prices, not a single target.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10 ·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37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5279" y="2269236"/>
            <a:ext cx="8187537" cy="1944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32000"/>
              </a:lnSpc>
            </a:pPr>
            <a:r>
              <a:rPr b="0" i="0" sz="2600">
                <a:solidFill>
                  <a:srgbClr val="1E2530"/>
                </a:solidFill>
                <a:latin typeface="Arial"/>
              </a:rPr>
              <a:t>A defensible, reproducible template for local valuation analytics — a clearer starting point for deciding what a home is worth, not the last 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23588"/>
            <a:ext cx="11064240" cy="1152143"/>
          </a:xfrm>
          <a:prstGeom prst="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323588"/>
            <a:ext cx="64008" cy="1152143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323588"/>
            <a:ext cx="10607040" cy="115214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>
              <a:lnSpc>
                <a:spcPct val="116000"/>
              </a:lnSpc>
            </a:pPr>
            <a:r>
              <a:rPr b="1" sz="1200">
                <a:solidFill>
                  <a:srgbClr val="5B7A99"/>
                </a:solidFill>
                <a:latin typeface="Arial"/>
              </a:rPr>
              <a:t>TAKEAWAY   </a:t>
            </a:r>
            <a:r>
              <a:rPr b="0" i="0" sz="1800">
                <a:solidFill>
                  <a:srgbClr val="1E2530"/>
                </a:solidFill>
                <a:latin typeface="Arial"/>
              </a:rPr>
              <a:t>The contribution is a demonstrated workflow — a custom MCRAI, a polycentric distance set, and a Random Forest + SHAP pipeline that can be rebuilt, checked, and adapted for other Philippine secondary cities.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sz="1400">
                <a:solidFill>
                  <a:srgbClr val="33455E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20624"/>
            <a:ext cx="1417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50">
                <a:solidFill>
                  <a:srgbClr val="6E7686"/>
                </a:solidFill>
                <a:latin typeface="Arial"/>
              </a:rPr>
              <a:t>38 /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77824"/>
            <a:ext cx="11057839" cy="16459"/>
          </a:xfrm>
          <a:prstGeom prst="rect">
            <a:avLst/>
          </a:prstGeom>
          <a:solidFill>
            <a:srgbClr val="33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50976"/>
            <a:ext cx="11057839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b="1" i="0" sz="3000">
                <a:solidFill>
                  <a:srgbClr val="1E2530"/>
                </a:solidFill>
                <a:latin typeface="Arial"/>
              </a:rPr>
              <a:t>References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0"/>
            <a:ext cx="11057839" cy="2103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b="1" sz="6000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C5D2DF"/>
                </a:solidFill>
                <a:latin typeface="Arial"/>
              </a:rPr>
              <a:t>Chris Dominic Estreba  ·  BS Data Science, UA&amp;P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