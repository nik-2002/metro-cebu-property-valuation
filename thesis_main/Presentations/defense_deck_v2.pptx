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828800"/>
            <a:ext cx="110578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b="1" sz="1500">
                <a:solidFill>
                  <a:srgbClr val="33455E"/>
                </a:solidFill>
                <a:latin typeface="Arial"/>
              </a:rPr>
              <a:t>University of Asia and the Pacific · BS Data Science · June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11057839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8000"/>
              </a:lnSpc>
            </a:pPr>
            <a:r>
              <a:rPr b="1" sz="3800">
                <a:solidFill>
                  <a:srgbClr val="1E2530"/>
                </a:solidFill>
                <a:latin typeface="Arial"/>
              </a:rPr>
              <a:t>Predicting Open-Market Residential Property Values in Metro Cebu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8647" y="4160520"/>
            <a:ext cx="914400" cy="45720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389120"/>
            <a:ext cx="11057839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100">
                <a:solidFill>
                  <a:srgbClr val="6E7686"/>
                </a:solidFill>
                <a:latin typeface="Arial"/>
              </a:rPr>
              <a:t>Using Machine Learning and Geospatial Features</a:t>
            </a:r>
          </a:p>
          <a:p>
            <a:pPr algn="ctr">
              <a:spcBef>
                <a:spcPts val="1800"/>
              </a:spcBef>
            </a:pPr>
            <a:r>
              <a:rPr sz="1800">
                <a:solidFill>
                  <a:srgbClr val="1E2530"/>
                </a:solidFill>
                <a:latin typeface="Arial"/>
              </a:rPr>
              <a:t>Chris Dominic Estreba</a:t>
            </a:r>
          </a:p>
          <a:p>
            <a:pPr algn="ctr"/>
            <a:r>
              <a:rPr sz="1500">
                <a:solidFill>
                  <a:srgbClr val="6E7686"/>
                </a:solidFill>
                <a:latin typeface="Arial"/>
              </a:rPr>
              <a:t>BS Data Science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55291"/>
            <a:ext cx="11064240" cy="4511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The study follows the CRISP-DM arc, mapped to the thesis chapters.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06395"/>
            <a:ext cx="5303520" cy="40401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1 · Introduction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the valuation problem in Metro Cebu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2 · Review of Related Literature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what is known, and the gap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3 · Methodology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data, geospatial features, modeling design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4 · Data Understanding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collection and exploratory analysis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5 · Data Preparation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cleaning, and preparing data for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2406395"/>
            <a:ext cx="5303520" cy="40401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6 · Modeling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stratified models, selection, tuning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7 · Evaluation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accuracy, model comparison, ablation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8 · Results &amp; Discussion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drivers and spatial structure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9 · Conclusions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answers, contributions, limits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10 · Recommendations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practice, policy,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01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Introduction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The valuation problem in Metro Cebu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4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Where this study is set</a:t>
            </a:r>
          </a:p>
        </p:txBody>
      </p:sp>
      <p:pic>
        <p:nvPicPr>
          <p:cNvPr id="6" name="Picture 5" descr="lgu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640" y="1463040"/>
            <a:ext cx="4458815" cy="29900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544567"/>
            <a:ext cx="11064240" cy="19019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Metro Cebu is the country's second-largest urban region.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This study focuses on its central core: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six local government units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Cebu City, Mandaue, Lapu-Lapu, Talisay, Minglanilla, and Consolacion.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Together they hold the most active transactions and the densest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5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A fast-growing economy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0339"/>
            <a:ext cx="110642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4600">
                <a:solidFill>
                  <a:srgbClr val="33455E"/>
                </a:solidFill>
                <a:latin typeface="Arial"/>
              </a:rPr>
              <a:t>7.3%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b="0" i="0" sz="1800">
                <a:solidFill>
                  <a:srgbClr val="1E2530"/>
                </a:solidFill>
                <a:latin typeface="Arial"/>
              </a:rPr>
              <a:t>Cebu economic growth in 2024 — among the fastest outside Metro Manila.</a:t>
            </a:r>
            <a:r>
              <a:rPr b="0" i="1" sz="1800">
                <a:solidFill>
                  <a:srgbClr val="979FAD"/>
                </a:solidFill>
                <a:latin typeface="Arial"/>
              </a:rPr>
              <a:t> (PSA Cebu,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909059"/>
            <a:ext cx="11064240" cy="25374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Growth is led by the IT-BPM sector and call-center expansion.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Tourism has rebounded strongly since the pandemic.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More jobs and higher incomes mean more demand for housing.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6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And a fast-rising housing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82011"/>
            <a:ext cx="110642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4600">
                <a:solidFill>
                  <a:srgbClr val="33455E"/>
                </a:solidFill>
                <a:latin typeface="Arial"/>
              </a:rPr>
              <a:t>11.5%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b="0" i="0" sz="1800">
                <a:solidFill>
                  <a:srgbClr val="1E2530"/>
                </a:solidFill>
                <a:latin typeface="Arial"/>
              </a:rPr>
              <a:t>Metro Cebu residential price growth in 2025 — the highest rate outside the National Capital Region.</a:t>
            </a:r>
            <a:r>
              <a:rPr b="0" i="1" sz="1800">
                <a:solidFill>
                  <a:srgbClr val="979FAD"/>
                </a:solidFill>
                <a:latin typeface="Arial"/>
              </a:rPr>
              <a:t> (BSP,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570731"/>
            <a:ext cx="11064240" cy="28757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Major infrastructure (CBRT, Cebu–Cordova Expressway, SRP) is redrawing which barangays count as accessible.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Two similar houses can now sit in very different market positions depending on access.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722875"/>
            <a:ext cx="11064240" cy="64008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722875"/>
            <a:ext cx="64008" cy="640080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722875"/>
            <a:ext cx="10607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Prices are moving faster than the references people use to interpret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7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So how is a price decided in Cebu?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36748"/>
            <a:ext cx="11064240" cy="7559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Imagine a family that finds a home, or an owner who wants to sell. Both ask the same question: what is this property actually worth?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92652"/>
            <a:ext cx="11064240" cy="27538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There is no single public source that answers it.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Instead, price is pieced together from several partial references.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Each reference is useful — but each was built to answer a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different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8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Four partial references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830068"/>
          <a:ext cx="11064239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61841"/>
                <a:gridCol w="3651199"/>
                <a:gridCol w="3651199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Built for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What it misses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Broker &amp; agent opinion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Local market knowledge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Not standardized or reproducible across people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Bank appraisals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Lending &amp; collateral risk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Conservative; not the seller's market question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BIR zonal values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Taxation &amp; assessment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Not live prices; often not updated </a:t>
                      </a:r>
                      <a:r>
                        <a:rPr b="0" i="1" sz="1350">
                          <a:solidFill>
                            <a:srgbClr val="979FAD"/>
                          </a:solidFill>
                          <a:latin typeface="Arial"/>
                        </a:rPr>
                        <a:t>(BIR, n.d.; Otsuka et al., 2023)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Online listings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Current, property-level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Asking prices — full of seller strategy and noise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9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Useful, but they don't line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77668"/>
            <a:ext cx="11064240" cy="4511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The references are not useless. The real problem is that they cannot be compared.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28772"/>
            <a:ext cx="11064240" cy="33177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They serve different purposes, follow different assumptions, and update at different speeds.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buyer cannot tell if an asking price is fair; a seller has no anchor; banks and LGUs work from drifting benchmarks.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Metro Cebu has plenty of valuation activity — but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no shared, spatially detailed reference layer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10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55619"/>
            <a:ext cx="11064240" cy="7559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Metro Cebu lacks a transparent, property-level, spatially detailed reference for interpreting residential price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811523"/>
            <a:ext cx="11064240" cy="877824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811523"/>
            <a:ext cx="64008" cy="877824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811523"/>
            <a:ext cx="10607040" cy="8778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This study builds that missing reference layer — a decision-support tool, not a replacement for professional appraisal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11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02051"/>
            <a:ext cx="11064240" cy="37444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RQ1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What value drivers significantly influence residential prices in Metro Cebu?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Among Hedonic Regression, Random Forest, and XGBoost, which is most suitable for deployment — balancing accuracy, small-sample robustness, and interpretability?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RQ3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Do geospatial features improve accuracy over a structural-only model, and how does that differ across property types?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RQ4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How large is the valuation gap between model estimates and BIR zonal values across Metro Cebu?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12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Significance and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73451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Who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75787"/>
            <a:ext cx="5303520" cy="35707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Brokers &amp; appraisers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an inspectable extra evidence layer.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Buyers, sellers, investors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 transparent reference for an asking price.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Banks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market-facing spatial evidence.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LGUs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where benchmarks drift from the market.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2473451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875787"/>
            <a:ext cx="5303520" cy="35707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Six LGUs; eight polycentric CBD nodes.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Open-market segment only for the deployed model.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prototype web application for triangulation.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Cross-sectional snapshot, late 2025.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02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Review of Related Literature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What is known, and the gap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2 · REVIEW OF RELATED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14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core obstacle: data scarcity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25268"/>
            <a:ext cx="11064240" cy="7559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International work consistently finds that </a:t>
            </a:r>
            <a:r>
              <a:rPr b="1" i="0" sz="2000">
                <a:solidFill>
                  <a:srgbClr val="1E2530"/>
                </a:solidFill>
                <a:latin typeface="Arial"/>
              </a:rPr>
              <a:t>data scarcity — not valuer misconduct — is the primary obstacle</a:t>
            </a:r>
            <a:r>
              <a:rPr b="0" i="0" sz="2000">
                <a:solidFill>
                  <a:srgbClr val="1E2530"/>
                </a:solidFill>
                <a:latin typeface="Arial"/>
              </a:rPr>
              <a:t> to accurate valuation in developing markets.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81172"/>
            <a:ext cx="11064240" cy="31653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Kenya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 census of 427 Nairobi valuers ranked “limited information” as the top valuation problem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(Cheloti, 2021)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Nigeria (Lagos)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of 300 valuers surveyed,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92.7%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cited insufficient market evidence as the main challenge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(Ajibola, 2010)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This reframes the Metro Cebu problem: the fix is not better judgment but a better, shared evidence base.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2 · REVIEW OF RELATED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15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Two modeling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74620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Hedonic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76956"/>
            <a:ext cx="5303520" cy="33695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Interpretable; one explicit coefficient per attribute.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classic basis of property valuation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(Rosen, 1974)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Struggles with non-linear effects and correlated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2674620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3076956"/>
            <a:ext cx="5303520" cy="33695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Captures non-linear, interacting effects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(Breiman, 2001)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Tree ensembles tend to win on tabular data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(Grinsztajn et al., 2022)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Regional precedent in Surabaya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(Tanamal et al., 2023)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with small-sample caution.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2 · REVIEW OF RELATED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16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Location is the dominant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64891"/>
            <a:ext cx="11064240" cy="38816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Four feature families recur: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structural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economic / benchmark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geospatial / accessibility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amenity / point-of-interest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Agosto (2020) is the only Cebu-specific study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it finds transport accessibility the primary driver of land value, followed by neighborhood quality.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Accessibility is formalized through gravity indexing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(Hansen, 1959)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; raw distances alone are too fragmented to stand on their own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(Rey-Blanco, 2024)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Philippine ML work is mostly Manila- or Pangasinan-centric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(Viray, 2023; Ramolete et al., 2023)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2 · REVIEW OF RELATED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17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Why model property types separately?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25268"/>
            <a:ext cx="11064240" cy="7559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The decision to build separate models per property type is grounded in direct empirical evidence: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81172"/>
            <a:ext cx="11064240" cy="31653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Dröes, Hoesli &amp; Bourassa (2019)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modeling housing submarkets separately rather than pooling them lifted explanatory power substantially (R² from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0.637 to 0.782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Usman, Lizam &amp; Adekunle (2020), Malaysia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segmenting the market before fitting improved model fit by about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7%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and cut prediction error by over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10%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intuition: different property types are priced by different logic, so one pooled equation averages those logics into a worse fit for all of them.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2 · REVIEW OF RELATED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18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research gap — and the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6291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38627"/>
            <a:ext cx="5303520" cy="13655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No published, reproducible, property-level valuation model for Metro Cebu integrates open-market listings, geospatial accessibility, and explainable 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2336291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This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738627"/>
            <a:ext cx="5303520" cy="370789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Property-level — every listing geocoded across six LGUs.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Open-market — aligned to the IVS Market Value basis.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Geospatial — the location signal is engineered, not ingested.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Explainable — SHAP behind every prediction.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03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Methodology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Data, geospatial features, modeling design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20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Research design and 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08859"/>
            <a:ext cx="11064240" cy="7559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A quantitative, non-experimental design — predictive (estimate price) and prescriptive (surface the benchmark gap).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3064763"/>
          <a:ext cx="11064239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61841"/>
                <a:gridCol w="7302398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Role in the study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Lamudi, FilipinoHomes, DotProperty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Open-market listings — the training data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BIR zonal values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Administrative benchmark — the valuation-gap diagnostic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Google Maps &amp; OpenStreetMap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Points of interest and geocoding for MCRAI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Road network via osmnx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Network distances to economic nodes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222747"/>
            <a:ext cx="11064240" cy="2865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2000"/>
              </a:lnSpc>
            </a:pPr>
            <a:r>
              <a:rPr b="0" i="1" sz="1400">
                <a:solidFill>
                  <a:srgbClr val="6E7686"/>
                </a:solidFill>
                <a:latin typeface="Arial"/>
              </a:rPr>
              <a:t>Target variable: price per square meter. A licensed-broker check validated plausibility.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21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data pipeline</a:t>
            </a:r>
          </a:p>
        </p:txBody>
      </p:sp>
      <p:pic>
        <p:nvPicPr>
          <p:cNvPr id="6" name="Picture 5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3632"/>
            <a:ext cx="11064240" cy="41622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22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Geospatial features — distance to economic centers</a:t>
            </a:r>
          </a:p>
        </p:txBody>
      </p:sp>
      <p:pic>
        <p:nvPicPr>
          <p:cNvPr id="6" name="Picture 5" descr="study_area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51462"/>
            <a:ext cx="5974689" cy="40066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Shortest-path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road-network distance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(not straight-line) to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eight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economic nodes.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Nodes: Cebu Business Park, Mandaue CBD, Mactan CBD, SRP, Talisay Tabunok, Consolacion, Naga City (anchor), and the airport.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Grounded in polycentric urban economics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(Giuliano &amp; Small, 1991; McMillen, 2003; JICA, 2015)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Road distance captures real travel cost — including the Mactan bridge crossing.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23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MCRAI — measuring access to amenities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9616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The idea, in plain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01952"/>
            <a:ext cx="5303520" cy="45445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For each property, count the nearby amenities in a category (schools, groceries, hospitals, …).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Closer amenities count more than far ones — the score fades with 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square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of road distance.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Each category has its own reach (radius), because a hospital serves a wider area than a corner store.</a:t>
            </a:r>
          </a:p>
        </p:txBody>
      </p:sp>
      <p:pic>
        <p:nvPicPr>
          <p:cNvPr id="8" name="Picture 7" descr="formula_mcr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82" y="4828032"/>
            <a:ext cx="3854211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788152"/>
            <a:ext cx="5303520" cy="2865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2000"/>
              </a:lnSpc>
            </a:pPr>
            <a:r>
              <a:rPr b="0" i="1" sz="1400">
                <a:solidFill>
                  <a:srgbClr val="6E7686"/>
                </a:solidFill>
                <a:latin typeface="Arial"/>
              </a:rPr>
              <a:t>Distances in km, floored at 0.5 km. </a:t>
            </a:r>
            <a:r>
              <a:rPr b="0" i="1" sz="1400">
                <a:solidFill>
                  <a:srgbClr val="979FAD"/>
                </a:solidFill>
                <a:latin typeface="Arial"/>
              </a:rPr>
              <a:t>(Hansen, 1959)</a:t>
            </a:r>
          </a:p>
        </p:txBody>
      </p:sp>
      <p:pic>
        <p:nvPicPr>
          <p:cNvPr id="10" name="Picture 9" descr="mcrai_catch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203617"/>
            <a:ext cx="5303520" cy="35023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24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MCRAI — categories and reach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33371"/>
          <a:ext cx="5303519" cy="37856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03196"/>
                <a:gridCol w="3500323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Reach (km)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Education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Grocery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Health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Hospitals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Recreation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Tourism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Retail density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27648" y="1833371"/>
            <a:ext cx="5303520" cy="46131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Eight categories, each at its typical catchment scale.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Each reach is set to the category's catchment and refined for Metro Cebu — wider for hospitals and schools, tighter for everyday retail.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Transport access is measured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separately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as road distance to the eight nodes.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Banking proximity was not kept — none of the residential studies reviewed treat it as a distinct amenity, and it overlaps with the commercial access the CBD distances already carry.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25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MCRAI — how the weights were chosen</a:t>
            </a:r>
          </a:p>
        </p:txBody>
      </p:sp>
      <p:pic>
        <p:nvPicPr>
          <p:cNvPr id="6" name="Picture 5" descr="mcrai_weigh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547" y="1463040"/>
            <a:ext cx="5731001" cy="29900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544567"/>
            <a:ext cx="11064240" cy="19019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We did not assume the weights — we let the market reveal them, in two stages.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Stage 1: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fit a regression and check which categories actually raise price (the sign).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Stage 2: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for the positive ones, turn their strength into weights that sum to one.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Result: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education 0.447, grocery 0.345, recreation 0.222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26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two stages, in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9616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Stage 1 — find the implicit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01952"/>
            <a:ext cx="5303520" cy="45445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Fit a hedonic regression: price per square meter against the amenity categories together, alongside the structural and location controls.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Each category's coefficient is its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implicit price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how much buyers actually pay for that kind of access, holding everything else fixed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(Rosen, 1974)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sign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tells us premium or penalty;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significance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tells us whether the signal is reliable.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Three categories come through as clear positive premiums: education, grocery, recreation.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499616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Stage 2 — turn prices into weights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901952"/>
            <a:ext cx="5303520" cy="45445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Keep only the positive, significant categories — the ones the market rewards.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Normalize their coefficients so they sum to one: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education 0.447, grocery 0.345, recreation 0.222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Negative or noisy categories (security, tourism, retail) are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not forced into the composite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; they stay as their own model features.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composite then reflects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what Cebu buyers pay for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not an assumed weighting.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19088"/>
            <a:ext cx="11064240" cy="877824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6419088"/>
            <a:ext cx="64008" cy="877824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6419088"/>
            <a:ext cx="10607040" cy="8778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regression discovers the weights — we do not impose them. A two-stage hedonic approach grounded in implicit-price theory and prior accessibility work.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27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Two more design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12948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Neighborhood price (spatial lag)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15284"/>
            <a:ext cx="5303520" cy="30312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average price of nearby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same-type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listings within 500 m.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Captures Tobler's First Law — near things tend to be alike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(Tobler, 1970)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3012948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Target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3415284"/>
            <a:ext cx="5303520" cy="30312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model predicts 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log of price per square meter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Logging tames the skew; predictions are converted back for the price surface.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28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Evaluation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50819"/>
            <a:ext cx="11064240" cy="4511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The headline numbers are estimated under a deliberately strict protocol.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01923"/>
            <a:ext cx="11064240" cy="32445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GroupKFold(5)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with groups defined by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coordinate cluster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same location can never appear in both training and test folds.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This is stricter than a random 80/20 split — it prevents the model from memorizing a neighborhood and overstating its accuracy.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Every reported accuracy figure is out-of-fold.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04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Data Understanding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Collection and exploratory analysis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4 ·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30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From collection to a clean ABT</a:t>
            </a:r>
          </a:p>
        </p:txBody>
      </p:sp>
      <p:pic>
        <p:nvPicPr>
          <p:cNvPr id="6" name="Picture 5" descr="funnel_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09442"/>
            <a:ext cx="5974689" cy="3690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16,561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listings scraped across three portals;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3,616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survived to the ABT.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Filters: geocoding, the six-LGU and residential constraints, a price-per-sqm sanity band, distressed-listing removal, and de-duplication.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OnePropertee was excluded entirely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bad geocoding and mis-extracted prices would have contaminated the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5937" y="4389120"/>
            <a:ext cx="4815230" cy="877824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5937" y="4389120"/>
            <a:ext cx="64008" cy="877824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8545" y="4389120"/>
            <a:ext cx="4358030" cy="8778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conservative funnel: roughly one in five raw listings is kept.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4 ·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31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What one record looks like</a:t>
            </a:r>
          </a:p>
        </p:txBody>
      </p:sp>
      <p:pic>
        <p:nvPicPr>
          <p:cNvPr id="6" name="Picture 5" descr="abt_snapshot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24793"/>
            <a:ext cx="11064240" cy="2511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943599"/>
            <a:ext cx="11064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b="0" i="1" sz="1300">
                <a:solidFill>
                  <a:srgbClr val="6E7686"/>
                </a:solidFill>
                <a:latin typeface="Arial"/>
              </a:rPr>
              <a:t>A slice of the assembled ABT — 18 of 51 columns: structural attributes, coordinates, node distances, MCRAI scores, BIR benchmark, and spatial lag.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4 ·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32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Exploratory analysis — the target</a:t>
            </a:r>
          </a:p>
        </p:txBody>
      </p:sp>
      <p:pic>
        <p:nvPicPr>
          <p:cNvPr id="6" name="Picture 5" descr="all_strata_pric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61107"/>
            <a:ext cx="5974689" cy="29873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Price per square meter is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right-skewed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 few premium units stretch the upper tail.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Condominiums command the highest unit prices; vacant lots the lowest (land only, no built area).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This is why the target is modeled in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log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and converted back for the surface.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4 ·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33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Price varies sharply across the map</a:t>
            </a:r>
          </a:p>
        </p:txBody>
      </p:sp>
      <p:pic>
        <p:nvPicPr>
          <p:cNvPr id="6" name="Picture 5" descr="price_by_lgu_face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58998"/>
            <a:ext cx="5974689" cy="19915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premium signal sits in the core and island: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Cebu City ~₱113,600/sqm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Mandaue ~₱96,100, Lapu-Lapu ~₱92,100.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Talisay, Minglanilla, and Consolacion form a lower band (~₱47,100–56,800).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Location cannot be treated as uniform — it has to be modeled explicitly.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4 ·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34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Can we trust the features?</a:t>
            </a:r>
          </a:p>
        </p:txBody>
      </p:sp>
      <p:pic>
        <p:nvPicPr>
          <p:cNvPr id="6" name="Picture 5" descr="Houses_feature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69" y="1463040"/>
            <a:ext cx="5695405" cy="49834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Several southern-corridor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CBD distances move together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an early collinearity warning.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This matters for 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linear baseline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not the trees: OLS dropped the redundant terms (confirmed with VIF).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Random Forest tolerates correlated predictors, so the substantively meaningful nodes were kept.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4 ·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35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MCRAI coverage is real, not assumed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363723"/>
          <a:ext cx="5303519" cy="29443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03196"/>
                <a:gridCol w="3500323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MCRAI category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Zero rate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26.6%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Retail density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15.8%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Recreation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12.0%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Health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10.0%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Grocery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4.3%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Education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0.3%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27648" y="2363723"/>
            <a:ext cx="5303520" cy="40827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Zero rates were checked before modeling to separate true absence from data gaps.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Education and grocery access are effectively complete; security is the sparsest.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High zero rates flag genuinely thin amenity catchments — not a data failure.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05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Data Preparation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Cleaning, and preparing data for the models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5 ·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37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Cleaning kept every decision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74035"/>
            <a:ext cx="11064240" cy="38724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Imputed values were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flagged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never silently filled — imputation stays auditable.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Structurally-absent fields (bedrooms/bathrooms for vacant lots) were left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unimputed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not faked.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Hard duplicates were dropped and a price-per-square-meter sanity band applied.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modeling subset is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3,372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of the 3,616 assembled rows, after model-requirement filters.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530852"/>
            <a:ext cx="11064240" cy="64008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530852"/>
            <a:ext cx="64008" cy="640080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530852"/>
            <a:ext cx="10607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aim was a clean, defensible table — usable rows without inventing evidence.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5 ·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38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A data-integrity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14828"/>
            <a:ext cx="11064240" cy="4511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One finding shaped how much the rest of the results can be trusted.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65931"/>
            <a:ext cx="11064240" cy="31805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Early models were dominated by a single suspicious feature in the SHAP rankings.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cause: the target had quietly come to mean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two different things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across scrape batches — the feature was acting as a scale-selector.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Tracing and fixing it (redefining the target to log price per square meter) is exactly why the final metrics are dependable.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5 ·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39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Preparing the data for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77668"/>
            <a:ext cx="11064240" cy="4511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Three steps turn the clean ABT into model-ready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28772"/>
            <a:ext cx="11064240" cy="33177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Split by property type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condominiums, houses, and vacant lots become three separate datasets.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Encode and assemble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cities become indicator columns; structural, distance, MCRAI, benchmark, and spatial-lag features are joined per row.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Select features per stratum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each dataset keeps only the features that earn their place (next slide).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5 ·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40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How the three feature sets were chosen</a:t>
            </a:r>
          </a:p>
        </p:txBody>
      </p:sp>
      <p:pic>
        <p:nvPicPr>
          <p:cNvPr id="6" name="Picture 5" descr="featur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547" y="1463040"/>
            <a:ext cx="5731001" cy="29900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544567"/>
            <a:ext cx="11064240" cy="19019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Every candidate feature passed through four screens: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Variance inflation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drop features that duplicate others.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OLS significance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keep features that actually move price.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Leave-one-block ablation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+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MCRAI zero rates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drop blocks that add nothing and empty categories.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result is three tailored feature sets: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21 / 24 / 22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06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Modeling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Stratified models, selection, tuning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6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42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One model cannot price three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8131"/>
            <a:ext cx="11064240" cy="4511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The price distributions shown earlier settle the modeling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69235"/>
            <a:ext cx="110642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4600">
                <a:solidFill>
                  <a:srgbClr val="33455E"/>
                </a:solidFill>
                <a:latin typeface="Arial"/>
              </a:rPr>
              <a:t>5.8×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b="0" i="0" sz="1800">
                <a:solidFill>
                  <a:srgbClr val="1E2530"/>
                </a:solidFill>
                <a:latin typeface="Arial"/>
              </a:rPr>
              <a:t>The condominium median price per square meter runs about 5.8 times the vacant-lot median.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57955"/>
            <a:ext cx="11064240" cy="29885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Built area and land-only follow fundamentally different price logic.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single pooled model averages these into one blurred equation that fits none of them well.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So the study fits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three separate models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one per property type — backed by Dröes et al. (2019) and Usman et al. (2020).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286756"/>
            <a:ext cx="11064240" cy="64008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286756"/>
            <a:ext cx="64008" cy="640080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5286756"/>
            <a:ext cx="10607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Stratifying is itself an evidence-based finding, not a convenience.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6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43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Features used — Condominium (21)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252603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Structural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65376"/>
            <a:ext cx="2526030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area_sqm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bedrooms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bathrooms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bedrooms_imputed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bathrooms_imputed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2998" y="1463040"/>
            <a:ext cx="252603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CBD distances (8)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2998" y="1865376"/>
            <a:ext cx="2526030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Cebu Business Park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Mandaue CBD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Mactan CBD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SRP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Talisay Tabunok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Consolacion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Naga City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Airport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9068" y="1463040"/>
            <a:ext cx="252603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Accessibility &amp;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9068" y="1865376"/>
            <a:ext cx="2526030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mcrai_composite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bir_zonal_rr_median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spatial_lag_price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5138" y="1463040"/>
            <a:ext cx="252603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City indicators (5)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5138" y="1865376"/>
            <a:ext cx="2526030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Consolacion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Lapu-Lapu City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Mandaue City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Minglanilla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Talisay City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6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44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Features used — Houses (24)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956815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Structural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65376"/>
            <a:ext cx="1956815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area_sqm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bedrooms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bathrooms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bedrooms_imputed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bathrooms_imputed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784" y="1463040"/>
            <a:ext cx="1956815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CBD distances (8)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784" y="1865376"/>
            <a:ext cx="1956815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Cebu Business Park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Mandaue CBD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Mactan CBD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SRP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Talisay Tabunok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Consolacion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Naga City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Airport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463040"/>
            <a:ext cx="1956815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Accessibility &amp;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865376"/>
            <a:ext cx="1956815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mcrai_composite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bir_zonal_rr_median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spatial_lag_price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7495" y="1463040"/>
            <a:ext cx="1956815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City indicators (5)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7495" y="1865376"/>
            <a:ext cx="1956815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Consolacion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Lapu-Lapu City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Mandaue City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Minglanilla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Talisay 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4351" y="1463040"/>
            <a:ext cx="1956815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Property-type (3)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4351" y="1865376"/>
            <a:ext cx="1956815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House and Lot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Single Detached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Townhouse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6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45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Features used — Vacant Lot (22)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956815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Structural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65376"/>
            <a:ext cx="1956815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area_sqm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784" y="1463040"/>
            <a:ext cx="1956815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CBD distances (8)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784" y="1865376"/>
            <a:ext cx="1956815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Cebu Business Park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Mandaue CBD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Mactan CBD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SRP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Talisay Tabunok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Consolacion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Naga City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Airport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463040"/>
            <a:ext cx="1956815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MCRAI individual (6)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865376"/>
            <a:ext cx="1956815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education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grocery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health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hospitals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recreation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tourism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7495" y="1463040"/>
            <a:ext cx="1956815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7495" y="1865376"/>
            <a:ext cx="1956815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bir_zonal_rr_median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spatial_lag_price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4351" y="1463040"/>
            <a:ext cx="1956815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400">
                <a:solidFill>
                  <a:srgbClr val="33455E"/>
                </a:solidFill>
                <a:latin typeface="Arial"/>
              </a:rPr>
              <a:t>City indicators (5)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4351" y="1865376"/>
            <a:ext cx="1956815" cy="4581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Consolacion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Lapu-Lapu City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Mandaue City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Minglanilla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b="0" i="0" sz="1400">
                <a:solidFill>
                  <a:srgbClr val="1E2530"/>
                </a:solidFill>
                <a:latin typeface="Arial"/>
              </a:rPr>
              <a:t>Talisay City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6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46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Why the three feature sets differ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63040"/>
          <a:ext cx="5303519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03196"/>
                <a:gridCol w="3500323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Statistical check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What was done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CBD nodes cluster, so their distances correlate </a:t>
                      </a:r>
                      <a:r>
                        <a:rPr b="0" i="1" sz="1350">
                          <a:solidFill>
                            <a:srgbClr val="979FAD"/>
                          </a:solidFill>
                          <a:latin typeface="Arial"/>
                        </a:rPr>
                        <a:t>(VIF &gt; 5)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Kept in the </a:t>
                      </a:r>
                      <a:r>
                        <a:rPr b="1" i="0" sz="1350">
                          <a:solidFill>
                            <a:srgbClr val="1E2530"/>
                          </a:solidFill>
                          <a:latin typeface="Arial"/>
                        </a:rPr>
                        <a:t>trees</a:t>
                      </a:r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 — splits handle correlation; the OLS baseline trimmed the redundant terms per stratum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MCRAI composite is a fixed blend of its own parts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Dropped from the OLS baseline (unstable); kept for the trees and for SHAP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Zonal value carried both raw and logged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One form dropped in the OLS baseline (double-counting)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Residual spread grows with price (heteroscedasticity)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OLS reported with HC3 robust errors; the trees are unaffected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27648" y="1463040"/>
            <a:ext cx="530352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Vacant lots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carry land only — no bedrooms or bathrooms to model — and lean on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individual MCRAI access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categories, since bare land responds to specific nearby amenities.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Houses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span sub-types (single-detached, house-and-lot, townhouse), so property-type indicators stay in.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Condominiums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keep the structural attributes and the single MCRAI composite.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Correlated spatial features were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kept in the deployed trees on purpose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dropping them would throw away real location signal.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431536"/>
            <a:ext cx="11064240" cy="1152143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431536"/>
            <a:ext cx="64008" cy="1152143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431536"/>
            <a:ext cx="10607040" cy="115214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Collinearity was a problem for the interpretable OLS baseline, not for the deployed trees — so the diagnostics shaped the baseline, while the strata themselves differ mainly by what each property type actually has.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6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47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model lineup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57500"/>
            <a:ext cx="5303520" cy="35890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OLS hedonic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interpretable baseline (HC3 robust errors)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(Rosen, 1974)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Random Forest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non-linear, robust on small samples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(Breiman, 2001)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XGBoost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gradient boosting on tabular data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(Chen &amp; Guestrin, 2016)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2857500"/>
            <a:ext cx="5303520" cy="35890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SHAP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explains every prediction, feature by feature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(Lundberg &amp; Lee, 2017)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OLS doubles as the diagnostic that screens MCRAI category signs.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All three fit per stratum on the log price-per-sqm target.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6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48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Why these three models?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12491"/>
            <a:ext cx="11064240" cy="7559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The shortlist spans the interpretability–accuracy spectrum. Other families were considered and set aside for clear reasons.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3168395"/>
          <a:ext cx="11064239" cy="16824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61841"/>
                <a:gridCol w="7302398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Model considered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Why it was not retained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Support Vector Regression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Expensive to tune; weak native interpretability; usually trails boosting on tabular data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LASSO / Ridge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Constrained by linearity; effectively subsumed by the OLS baseline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Deep Neural Networks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Need &gt;10,000 labeled samples; the dataset is far smaller, and global interpretability is lost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905755"/>
            <a:ext cx="11064240" cy="4998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2000"/>
              </a:lnSpc>
            </a:pPr>
            <a:r>
              <a:rPr b="0" i="1" sz="1400">
                <a:solidFill>
                  <a:srgbClr val="6E7686"/>
                </a:solidFill>
                <a:latin typeface="Arial"/>
              </a:rPr>
              <a:t>The three retained models (OLS, Random Forest, XGBoost) fit the sample size, the tabular structure, and the need for explainability.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6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49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Hyperparameters and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64240" cy="7559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The deployed Random Forest was tuned per stratum; the two comparators ran at standard settings, so the head-to-head stayed fair.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55520"/>
            <a:ext cx="110642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Random Forest — deployed, tuned per stratum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657856"/>
          <a:ext cx="11064237" cy="16824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5417"/>
                <a:gridCol w="2102205"/>
                <a:gridCol w="2102205"/>
                <a:gridCol w="2102205"/>
                <a:gridCol w="2102205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Stratum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Trees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Max features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Min leaf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Max depth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Condominium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0.7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Houses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Vacant Lot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395216"/>
            <a:ext cx="11064240" cy="2865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2000"/>
              </a:lnSpc>
            </a:pPr>
            <a:r>
              <a:rPr b="0" i="1" sz="1400">
                <a:solidFill>
                  <a:srgbClr val="6E7686"/>
                </a:solidFill>
                <a:latin typeface="Arial"/>
              </a:rPr>
              <a:t>Winner chosen by lowest GroupKFold MdAPE among the random-forest grid (random_state = 42).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09744"/>
            <a:ext cx="110642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Comparators — standard settings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5212080"/>
          <a:ext cx="11064239" cy="12618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61841"/>
                <a:gridCol w="7302398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Configuration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300 trees, learning rate 0.05, max depth 6 — held constant across the three strata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OLS hedonic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Log-log specification with HC3 robust standard errors — a fixed functional form, no tuning grid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528816"/>
            <a:ext cx="11064240" cy="4998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2000"/>
              </a:lnSpc>
            </a:pPr>
            <a:r>
              <a:rPr b="0" i="1" sz="1400">
                <a:solidFill>
                  <a:srgbClr val="6E7686"/>
                </a:solidFill>
                <a:latin typeface="Arial"/>
              </a:rPr>
              <a:t>The comparators were run at common, defensible defaults; only the chosen family (Random Forest) was tuned for deployment.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07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Evaluation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Accuracy, model comparison, ablation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7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51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Headline accuracy — all three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9616"/>
            <a:ext cx="110642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MdAPE — typical error (lower is better)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901952"/>
          <a:ext cx="11064237" cy="16824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5417"/>
                <a:gridCol w="2802940"/>
                <a:gridCol w="2802940"/>
                <a:gridCol w="2802940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Property type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OLS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Random Forest †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Condominium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24.5%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19.3%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19.8%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Houses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25.1%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22.7%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23.6%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Vacant Lot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44.8%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38.4%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40.2%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767328"/>
            <a:ext cx="110642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PE20 — share within 20% (higher is better)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4169664"/>
          <a:ext cx="11064237" cy="16824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5417"/>
                <a:gridCol w="2802940"/>
                <a:gridCol w="2802940"/>
                <a:gridCol w="2802940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Property type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OLS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Random Forest †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Condominium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Houses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Vacant Lot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26%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907024"/>
            <a:ext cx="11064240" cy="4998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2000"/>
              </a:lnSpc>
            </a:pPr>
            <a:r>
              <a:rPr b="0" i="1" sz="1400">
                <a:solidFill>
                  <a:srgbClr val="6E7686"/>
                </a:solidFill>
                <a:latin typeface="Arial"/>
              </a:rPr>
              <a:t>† Deployed. All three scored under identical leak-free GroupKFold(5) by coordinate cluster; Random Forest matches the deployment manifest. Supporting diagnostics: MAPE, COD, PRD. The study does not claim IAAO assessment-grade compliance.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98336"/>
            <a:ext cx="11064240" cy="877824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6498336"/>
            <a:ext cx="64008" cy="877824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6498336"/>
            <a:ext cx="10607040" cy="8778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Both tree models beat OLS in every stratum; Random Forest is best-or-tied and was deployed. Condominiums and houses estimate well; vacant lots remain the weakest.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7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52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Reading the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39211"/>
            <a:ext cx="11064240" cy="36073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MdAPE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the median absolute percentage error; half of estimates fall within this band. Robust to a few extreme listings.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PE20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the share of estimates within 20% of the listing; the practical hit-rate.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MAPE, COD, PRD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supporting diagnostics, reported for comparability.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Peer benchmark: comparable small-sample studies report MAPE near 48–53%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(Nyanda, 2024)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the present errors are competitive.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7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53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Which model performed best? (RQ2)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71003"/>
            <a:ext cx="5974689" cy="3367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Under identical leak-free folds,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both tree models beat the OLS baseline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in every stratum.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Random Forest and XGBoost are close; RF edges it on the deployed grouped-CV (19.3 vs 19.8 / 22.7 vs 23.6 / 38.4 vs 40.2).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Because the tree models are so close, the fair reading is “RF best-or-tied.”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Random Forest was deployed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robust on small samples, and simpler to maintain.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7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54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Do geospatial features earn their place? (RQ3)</a:t>
            </a:r>
          </a:p>
        </p:txBody>
      </p:sp>
      <p:pic>
        <p:nvPicPr>
          <p:cNvPr id="6" name="Picture 5" descr="ablation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71003"/>
            <a:ext cx="5974689" cy="3367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three-tier ablation under identical folds: Structural → + Administrative → + Geospatial.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Geospatial features improve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every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stratum vs structural-only: condo +5.7, houses +4.2, lot +13.0 points.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On top of administrative location (city + BIR zonal): condo +3.7, lot +3.8, but houses ≈ −0.7.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They add the most where benchmarks are weakest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vertical condos and bare land.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7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55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Where the model errs (residual analysis)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8132"/>
            <a:ext cx="11064240" cy="4511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The error pattern is consistent and informative across all three strata.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69236"/>
            <a:ext cx="11064240" cy="41772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At 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center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of the distribution the models are close to unbiased — median signed error within a few percent of zero.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damage is concentrated in 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tails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: a few extreme misses, not broad bias.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Those misses are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atypically cheap listings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their low price reflects what the listing does not record: condition, title issues, distressed or pre-selling pricing, or (for lots) terrain.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model cannot see these factors, so it over-predicts them — the data ceiling, made concrete.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049012"/>
            <a:ext cx="11064240" cy="877824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049012"/>
            <a:ext cx="64008" cy="877824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049012"/>
            <a:ext cx="10607040" cy="8778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model is reliable for typical properties; it cannot price what the data never captured.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08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Results and Discussion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Drivers and spatial structure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8 ·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57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Three findings stand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03220"/>
            <a:ext cx="11064240" cy="35433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Location dominates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value formation in every stratum — the geospatial block carries most of the SHAP attribution.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Drivers differ by property type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which is exactly why the three strata are modeled separately.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MCRAI is selective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education, grocery, and recreation carry positive weight; security, tourism, and retail behave as diagnostic categories, not premiums.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8 ·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58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Drivers — condominiums</a:t>
            </a:r>
          </a:p>
        </p:txBody>
      </p:sp>
      <p:pic>
        <p:nvPicPr>
          <p:cNvPr id="6" name="Picture 5" descr="shap_condo_rf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74684"/>
            <a:ext cx="5974689" cy="3960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Neighborhood price level (spatial lag) leads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condos track their immediate block.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Locational weight then spreads across several nodes: Consolacion, the airport, Mactan CBD, and CBP.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signature of a market responding to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several active centers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at once.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8 ·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59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Drivers — houses</a:t>
            </a:r>
          </a:p>
        </p:txBody>
      </p:sp>
      <p:pic>
        <p:nvPicPr>
          <p:cNvPr id="6" name="Picture 5" descr="shap_houses_rf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73416"/>
            <a:ext cx="5974689" cy="39627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Distance to Cebu Business Park is the single strongest driver.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Classic bid-rent: detached-house value falls with distance from the principal center.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Amenities enter only as the bundled MCRAI composite.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8 ·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60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Drivers — vacant lots</a:t>
            </a:r>
          </a:p>
        </p:txBody>
      </p:sp>
      <p:pic>
        <p:nvPicPr>
          <p:cNvPr id="6" name="Picture 5" descr="shap_lot_rf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73416"/>
            <a:ext cx="5974689" cy="39627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Distance to CBP leads — 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steepest bid-rent gradient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of the three strata.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Individual amenity categories are the second-largest driver: bare land responds to specific nearby access.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Still the weakest stratum — unrecorded parcel attributes (frontage, zoning, slope, titling) cap accuracy.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5937" y="4114800"/>
            <a:ext cx="4815230" cy="877824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5937" y="4114800"/>
            <a:ext cx="64008" cy="877824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8545" y="4114800"/>
            <a:ext cx="4358030" cy="8778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data ceiling, reported transparently — not a modeling failure.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8 ·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61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A polycentric price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62427"/>
            <a:ext cx="11064240" cy="7559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The SHAP results are the clearest evidence that the model learned a polycentric, not monocentric,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18331"/>
            <a:ext cx="11064240" cy="30281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CBP still anchors land and detached housing — the historic core matters most there.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But it does not stand alone: condominium weight spreads across the Mactan/airport corridor and the northern Mandaue–Consolacion nodes.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reading is a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corridor of linked centers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consistent with the JICA roadmap and polycentric theory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(Giuliano &amp; Small, 1991; McMillen, 2003; JICA, 2015)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8 ·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62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Mactan submarket, and spatial 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64307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Mactan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66643"/>
            <a:ext cx="5303520" cy="35798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Mactan signal comes through 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condominium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stratum, via airport and Mactan-CBD distance.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Better read as a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submarket bundle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(airport access, bridge connectivity, tourism-adjacent demand) than a raw island premium.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2464307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MCRAI negative signs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866643"/>
            <a:ext cx="5303520" cy="35798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Negative coefficients on security, tourism, and retail density are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not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proof of harm.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They reflect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spatial sorting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these uses cluster where congestion or commercial intensity deters some buyers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(Tiebout, 1956; Bayer &amp; McMillan, 2012; Yang et al., 2016)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8 ·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63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valuation gap (RQ4)</a:t>
            </a:r>
          </a:p>
        </p:txBody>
      </p:sp>
      <p:pic>
        <p:nvPicPr>
          <p:cNvPr id="6" name="Picture 5" descr="valuation_gap_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71003"/>
            <a:ext cx="5974689" cy="3367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On the clean land-to-land comparison, vacant-lot market price runs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~3× the BIR benchmark overall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From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~2.2× in Cebu City to ~4.8× in Mandaue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; listings exceed the benchmark in nearly every LGU.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gap is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large, positive, and systematic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BIR zonal values sit well below the open market.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Read it as a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research signal that benchmarks are stale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not a correction factor to apply.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8 ·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64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Is the model good enough?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14828"/>
            <a:ext cx="11064240" cy="4511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Yes — as a </a:t>
            </a:r>
            <a:r>
              <a:rPr b="1" i="0" sz="2000">
                <a:solidFill>
                  <a:srgbClr val="1E2530"/>
                </a:solidFill>
                <a:latin typeface="Arial"/>
              </a:rPr>
              <a:t>reference for triangulating price</a:t>
            </a:r>
            <a:r>
              <a:rPr b="0" i="0" sz="2000">
                <a:solidFill>
                  <a:srgbClr val="1E2530"/>
                </a:solidFill>
                <a:latin typeface="Arial"/>
              </a:rPr>
              <a:t>, and within clear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65931"/>
            <a:ext cx="11064240" cy="31805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typical error stays substantial even in the best strata, so it informs a valuation judgment rather than settling it.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Strongest for condominiums and houses; only indicative for vacant lots and thin LGU×type cells.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It complements professional appraisal judgment; it does not replace it.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▸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The Decision-Support Tool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The applied deliverable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THE DECISION-SUPPORT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66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Market Map</a:t>
            </a:r>
          </a:p>
        </p:txBody>
      </p:sp>
      <p:pic>
        <p:nvPicPr>
          <p:cNvPr id="6" name="Picture 5" descr="webapp_marke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1463040"/>
            <a:ext cx="7095743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943599"/>
            <a:ext cx="11064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b="0" i="1" sz="1300">
                <a:solidFill>
                  <a:srgbClr val="6E7686"/>
                </a:solidFill>
                <a:latin typeface="Arial"/>
              </a:rPr>
              <a:t>Open-market listings with filters and market-intelligence summaries. The backend runs the exact deployed models.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THE DECISION-SUPPORT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67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Price Surface</a:t>
            </a:r>
          </a:p>
        </p:txBody>
      </p:sp>
      <p:pic>
        <p:nvPicPr>
          <p:cNvPr id="6" name="Picture 5" descr="webapp_price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1463040"/>
            <a:ext cx="7095743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943599"/>
            <a:ext cx="11064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b="0" i="1" sz="1300">
                <a:solidFill>
                  <a:srgbClr val="6E7686"/>
                </a:solidFill>
                <a:latin typeface="Arial"/>
              </a:rPr>
              <a:t>The predicted price-per-square-meter surface, aggregated by barangay.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THE DECISION-SUPPORT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68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Property Predictor</a:t>
            </a:r>
          </a:p>
        </p:txBody>
      </p:sp>
      <p:pic>
        <p:nvPicPr>
          <p:cNvPr id="6" name="Picture 5" descr="webapp_predi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1463040"/>
            <a:ext cx="7095743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943599"/>
            <a:ext cx="110642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b="0" i="1" sz="1300">
                <a:solidFill>
                  <a:srgbClr val="6E7686"/>
                </a:solidFill>
                <a:latin typeface="Arial"/>
              </a:rPr>
              <a:t>A property-level prediction with its SHAP contribution breakdown — the tool always shows its reasoning.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09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Conclusions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Answers, contributions, limits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9 ·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70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Answers to the 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02052"/>
            <a:ext cx="11064240" cy="37444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RQ1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Location dominates; drivers differ by type (spatial lag for condos; CBP distance for houses and lots; amenities for bare land).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Tree models beat OLS everywhere; Random Forest best-or-tied with XGBoost, deployed for robustness and simplicity.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RQ3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Geospatial features materially help, most where administrative benchmarks are weakest.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RQ4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The BIR gap is large, positive, and systematic (~3× on the clean lot comparison).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9 ·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71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6291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Methodological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38627"/>
            <a:ext cx="5303520" cy="370789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Per-type modeling with evidence-based feature selection.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polycentric distance set, not a single-CBD measure.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two-stage MCRAI (OLS signs screen categories; positive-only composite).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All headline results under leak-free grouped CV.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2336291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Practical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738627"/>
            <a:ext cx="5303520" cy="370789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reproducible, explainable web prototype.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TypeScript + Leaflet front end over a Python service running the deployed models.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market-facing price surface with the valuation-gap diagnostic.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9 ·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72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76372"/>
            <a:ext cx="11064240" cy="34701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Asking-price ceiling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trained on listings, not verified deed-of-sale transactions.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Cross-sectional snapshot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late 2025; no cyclical or temporal modeling.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Vacant-lot data ceiling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parcel attributes that drive land value are not recorded in listings.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Thin cells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some LGU×type combinations are too sparse for reliable single-cell estimates.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10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Recommendations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Practice, policy, future work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10 ·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74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For practice and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00299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02635"/>
            <a:ext cx="5303520" cy="36438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Read the surface as a triangulation tool, alongside zonal values and comparables — not a final appraisal.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Weight polycentric distance and property type ahead of the amenity composite.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Treat the valuation gap as a research signal; validate against transactions before any operational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2400299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802635"/>
            <a:ext cx="5303520" cy="36438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Keep recognizing secondary and corridor subcenters (Mactan, Consolacion, Naga), not just CBP.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Use MCRAI as an adaptable template, not a finished index.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On deployment: the prototype shows its open-market-only scope and should be refreshed as data drifts.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10 ·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75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For future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02051"/>
            <a:ext cx="11064240" cy="37444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Put MCRAI on an empirical footing — estimate the decay rate, radii, and weights from data rather than fixing them.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Test spatial heterogeneity directly with Geographically Weighted Regression (GWR / MGWR).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Enrich inputs — parcel attributes (frontage, corner-lot), a time dimension, and macro indicators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(Udomsap &amp; Abid, 2020)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Triangulate against complementary reference prices instead of a single market-facing target.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10 ·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76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63595"/>
            <a:ext cx="11064240" cy="7559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This thesis should be read as a demonstrated, reproducible workflow more than a finished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19499"/>
            <a:ext cx="11064240" cy="28270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custom MCRAI design, a polycentric distance set, and a Random Forest + SHAP pipeline that can be rebuilt, checked, and adapted for other Philippine secondary cities.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What it finishes is a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defensible template for local valuation analytics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 clearer starting point for the family deciding what a home is worth, not the last word.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77 / 78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References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0"/>
            <a:ext cx="11057839" cy="2103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b="1" sz="6000">
                <a:solidFill>
                  <a:srgbClr val="FFFFFF"/>
                </a:solidFill>
                <a:latin typeface="Arial"/>
              </a:rPr>
              <a:t>Thank you</a:t>
            </a:r>
          </a:p>
          <a:p>
            <a:pPr algn="ctr">
              <a:spcBef>
                <a:spcPts val="1000"/>
              </a:spcBef>
            </a:pPr>
            <a:r>
              <a:rPr sz="2000">
                <a:solidFill>
                  <a:srgbClr val="C5D2DF"/>
                </a:solidFill>
                <a:latin typeface="Arial"/>
              </a:rPr>
              <a:t>Chris Dominic Estreba  ·  BS Data Science, UA&amp;P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