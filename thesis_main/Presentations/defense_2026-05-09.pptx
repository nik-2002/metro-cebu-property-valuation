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establish, breathe,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spend the first ten minutes on the problem and approach, fifteen on the data and modeling, and the last five on results and the deployed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Philippine residential property market is one of the most active in Southeast Asia, but the activity is uneven. Metro Cebu stands out — recording 11.5% residential price growth in 2025, the highest of any metropolitan area outside Metro Manila. This is not speculative. It is driven by real urbanization: rising incomes, migration into the urban core, and a wave of infrastructure investment — the Cebu Bus Rapid Transit, the Metro Cebu Expressway, continued buildout at South Road Properties — that is actively redrawing which barangays are accessible and which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this activity, Metro Cebu does not have a reliable, consistent way to value residential property. Three systems exist, and each has a different weakness.
BIR zonal values are administratively set and chronically outdated — only 60% of LGUs have updated theirs nationally (Otsuka et al., 2023). Bank appraisals are designed for lending risk, not market value. Online listings reflect seller strategy: asking prices, not transaction prices, mixed without adjustment.
None of these, on their own, gives buyers, sellers, banks, or LGUs a defensible estimate of what a property is worth on the open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this gap falls on everyone in a transaction. Buyers lack reference points and may overpay. Sellers may underprice or hold at unrealistic asking. Banks face collateral risk when appraisal and market diverge. And LGUs leave revenue on the table — when zonal values lag market prices by 30 to 50 percent, real property tax assessments are systematically undervalued.
The problem is not a lack of data. It is a lack of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focuses on Metro Cebu — specifically the six core LGUs that form its urban conurbation — for three converging reasons.
First, prices are moving faster than any benchmark can track. Second, infrastructure is actively restructuring accessibility — the Cebu Bus Rapid Transit and expressway systems are not hypothetical, they are reshaping which barangays sit fifteen minutes from the CBD and which sit forty-five. Third, the data now exists to study this at scale: Lamudi listings, OpenStreetMap road networks, and geocoding APIs make a property-level dataset feasible without sealed deed records.
I should also briefly acknowledge that this research is informed by firsthand exposure to Metro Cebu's residential market through a family business — that context sharpened my awareness of where the valuation problem is felt most. The methodology, however, is designed to be reproducible and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gap is concrete. There is no published, reproducible, property-level valuation model for Metro Cebu that integrates open-market listing data, geospatial accessibility, and machine learning explainability.
This thesis builds one. We trained a model on open-market listings — the only arm's-length signal available without sealed deed records — and engineered geospatial features grounded in urban-economics literature. We deployed the result as a transparent, explainable web tool. Not to replace appraisers. To give them, and everyone else in a transaction, a defensible reference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from problem framing to research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RQ1 on value drivers, RQ2 on model comparison, RQ3 on whether geospatial features earn their place, RQ4 on the size of the valuation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Two-layer framework: predictive model produces price estimates; prescriptive layer uses the valuation gap to produce decision-support outputs. Anchored in IVS 2025 Market Value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LGUs in the training scope. Eight CBD nodes anchor the geospatial features. Naga City is included as a CBD anchor only — outside our LGU training area, but it functions as an employment anchor and disamenity proxy. Lapu-Lapu City is split between mainland and Mactan Island via the is_mactan_island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collected four data sources. Only one of them — open-market listings — was used to train the model. The other tiers were collected for context, validation, and future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We trained only on open-market listings — Lamudi data — even though we collected bank ROPA and floor-price records as well. This is grounded in the IVS 2025 Market Value definition, which requires arm's-length transactions between willing parties.
[If pressed: 'Why not pool the data for more rows?']
IVS 104 explicitly distinguishes Market Value from Liquidation Value. Bank ROPA is liquidation — sales under compulsion, with documented discounts of 28 to 34 percent in the Philippine and Southeast Asian literature, including Calinao et al. 2022 and Wong et al. 2014. Pooling these into a single training set would systematically bias the open-market coefficients downward. The empirical hedonic literature backs this up — Droes, Hoesli and Bourassa 2019 showed stratified models improved R² from 0.637 to 0.782 versus pooled; Usman et al. 2020 showed similar gains in Malaysia. Stratification is the correct choice both definitionally and empirically.
[Pivot]
The bank and floor-price data still serve the thesis — they're useful for cross-validation in future work and they're documented in the canonical ABT — but they don't belong in the training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Started from a canonical 2,047-row Analytics Base Table covering all market tiers. Filtered to open_market only (1,619 rows). Dropped rows with null price_per_sqm and rows without spatial-lag neighbors, leaving 1,491 modeling-ready rows. 80/20 train-test split, random_state=42.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 blocks: CBD network distances, MCRAI accessibility index, spatial lag, and structural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C]
We identified eight urban nodes as distance features. The selection follows two anchors: Giuliano and Small's 1991 employment-density criteria for polycentric subcenter identification, and the JICA Mega Cebu Roadmap 2050, which is the official regional plan and explicitly names each of these as a distinct urban cluster.
[If pressed: 'Why these eight specifically? Why drop IT Park?']
We started with eleven candidates. IT Park was dropped because its distance correlates 0.99 with Cebu Business Park — it's an extension of the same employment center, not an independent peak. Minglanilla Lipata correlated 0.997 with another node. Minglanilla Poblacion fails the Giuliano-Small employment threshold. The eight that remained pass McMillen's 2001 nonparametric distance-decay test. The Airport is included separately because Heikkila et al. 1989 established that aerotropolis effects generate independent distance-to-value gradients.
[Pivot — Naga City]
Naga City sits outside our six-LGU training area but functions as a CBD node because it pulls labor from Talisay and Minglanilla. The single distance variable captures the net effect.
— — —
[Script F — osmnx vs Haversine]
All distance features are computed through the OSM road network using osmnx Dijkstra routing, with Haversine as a fallback only.
[If pressed: 'Why not Haversine?']
Mactan Island. We have 312 properties in Lapu-Lapu City separated from the mainland by water. Haversine — straight-line — gives them an artificially short distance to Cebu Business Park because it ignores the bridge crossing. Modern hedonic literature is consistent: network distance is theoretically and empirically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A]
MCRAI — the Metro Cebu Residential Accessibility Index — is a custom Hansen gravity-based accessibility framework. The methodological lineage traces back to Project OHANA, a nationwide equity-mapping framework. We kept the Hansen structure. We rebuilt almost everything else, because OHANA's design serves a different objective.
[If pressed: 'Why didn't you just use OHANA?']
OHANA was built to identify where public services *should* be located for social equity — that's normative economics. Property valuation has to measure what buyers *actually* pay — that's positive economics, revealed preferences. Beyond that, OHANA has four implementation choices that don't transfer to a hedonic model: 1km×1km grid centroids (MAUP), Euclidean distance (impossible across Mactan), equal weights across categories (violates utility theory), and fixed β=2.0 decay. We rebuilt all four. What we kept from OHANA is the conceptual architecture — Hansen gravity scoring across multiple POI categories. What we rebuilt is the entire computation.
[Pivot]
So MCRAI is a Cebu-specific, residential-specific, revealed-preference accessibility index that draws on OHANA's framework but is calibrated to the valuation problem this thesis is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D]
Three of the nine MCRAI categories returned negative OLS coefficients in the Stage 1 hedonic regression: security, tourism, and retail density. We excluded these from the composite index. They remain as individual features for the tree models.
[If pressed: 'Doesn't a negative coefficient mean those amenities are bad?']
It's not a disamenity argument — it's a spatial sorting argument. Tiebout (1956) established that households self-select into neighborhoods based on tax-and-service bundles. Bayer and McMillan (2012) extended this empirically: public good provision, including security infrastructure, clusters where lower-income populations sort, NOT where high property values are located. Police substations are deployed where they're needed most — which tends to be lower-priced barangays. Dronyk-Trosper (2017) documents this across three million Florida home sales. For retail density, Yang, Song &amp; Choi (2016) in Seoul show an inverted-U: commercial density raises values up to a point, then depresses them through noise and traffic.
[Pivot]
By restricting the composite to education, grocery, recreation, and transport — the four positive-coefficient categories — we get a clean revealed-preference measure of amenities homebuyers actually pay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G]
We log-transformed total price for OLS estimation. For Random Forest and XGBoost, we keep raw values — trees handle nonlinearity through splits.
[If pressed: 'Why the asymmetric treatment?']
Three reasons. First, hedonic theory: Rosen 1974, Can 1992, Sirmans et al. 2005 — log-linear specifications are standard in real estate hedonic regression. Second, the data: there are a small number of large-development listings — one of them is 150,000 square meters — which under linear OLS amplify into multi-billion-peso predictions, a 400x distortion. Third, the result: without log transformation, OLS produced an R² of negative 45 on the test set. With log transformation, OLS reached 0.394. RF and XGBoost don't need this because their splits are scale-invariant on the input side.
[Pivot]
OLS is still the weakest of the three models — it's the linear baseline. After log transformation it produces interpretable elasticities, which is what we use 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E]
Random Forest baseline outperformed both tuned RF and tuned XGBoost on the held-out test set. We ran a baseline-centered confirmation grid search after the initial result. The baseline still wins.
[If pressed: 'Tuning is supposed to improve performance. Why didn't it here?']
Sample size. With 1,212 training rows and five-fold CV, fold variance dominates signal variance — the search finds parameters that look CV-optimal because they fit the fold structure, not because they generalize. Even with the baseline parameters explicitly inside the search space, the tuned best fell short of the deployed baseline by about 7.9 million pesos in RMSE and 0.13 in R². The conclusion is that the binding constraint is data volume, not configuration.
[Pivot]
This is informative for future work — it tells us where the next round of investment should go: more transaction data, not more hyperparameters.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RF actual-vs-predicted scatter from EDA/. Cluster tightness clearest below PHP 10M; dispersion increases above PHP 20M where listing data thins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10 SHAP features in order from the Chapter 7 RF table. Property type and structural attributes dominate; CBD distances enter at #4 (Consolacion) and #10 (Cebu Business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MCRAI's individual signal is muted because the CBD distance block absorbs the spatial accessibility variation it also measures. This is expected collinearity, not a failure of the index. The geospatial signal is real — it lives mostly in the CBD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I]
I want to address the 59 percent MAPE directly, because it looks high in absolute terms and the panel will rightly want to understand it.
[If pressed: '59 percent error means the model is wrong half the time. How is this useful?']
Three things. First, the framing: total-price MAPE compounds two error sources — area mis-specification and unit-price mis-specification — into one number. The per-square-meter MAE of about 19,743 pesos is what valuation practitioners actually compare against. Second, the data ceiling: we're trained on asking prices, not deed-of-sale records. There's no architecture that resolves a noise floor that comes from the data source itself. Third, the deliverable framing: this isn't being presented as a certified appraisal substitute. It's a first-generation, geospatially grounded decision-support tool.
[Pivot]
The next step is access to deed-of-sale transaction data. That's the single biggest move that would lower the noise floor. Until then, this is the best evidence-based starting point for Metro Cebu open-market residential valuation that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line — Script H]
Total-price MAPE is 59.28 percent. On a per-square-meter basis, MAE is roughly 19,000 to 20,000 pesos per square meter — about one BIR zonal tier. Across our six LGUs, performance is uneven; Lapu-Lapu, our largest sample at 108 properties, achieves 40 percent MAPE.
[If pressed: 'Where in the manuscript do these numbers appear?']
These are in the Chapter 7 evaluation summary file — chapter7_eval_summary_2026-05-05.json — and Models/model_comparison_per_sqm.csv. They supplement the main Chapter 7 table. The model predicts log of total price following Rosen 1974 hedonic specification; per-sqm accuracy is then derived by back-transforming and dividing by floor area.
[Pivot]
We treat Lapu-Lapu's 40 percent MAPE on 108 properties as the most credible single-LGU benchmark. Talisay and Minglanilla, both under 15 properties, are too small to be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 the size of the valuation gap. BIR zonal values systematically lag model predictions in barangays where infrastructure has restructured accessibility. These barangays are candidates for zonal-value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predictor: user enters property attributes, app returns price_per_sqm, total price, and a SHAP waterfall that shows feature-level contributions to that specific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surface page renders the predicted open-market price across Metro Cebu as a continuous spatial layer. Practitioners can scan relative price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user groups. Decision-support layer, not appraisal substitute. The transparency from SHAP at the prediction level is the differentiator over generic listing-aggregator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limitations, paired with concrete paths forward. Be honest. The single biggest improvement vector is access to deed-of-sale transaction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Metro Cebu's property market is moving faster than any existing benchmark can track. This thesis delivers a geospatially grounded, machine-learning-powered decision-support tool — transparent, reproducible, and locally calibrated. It does not replace appraisal judgment. It gives practitioners a defensible starting point.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548640" y="1645920"/>
            <a:ext cx="731520" cy="54864"/>
          </a:xfrm>
          <a:prstGeom prst="rect">
            <a:avLst/>
          </a:prstGeom>
          <a:solidFill>
            <a:srgbClr val="D4A843"/>
          </a:solidFill>
          <a:ln w="12700">
            <a:solidFill>
              <a:srgbClr val="D4A843"/>
            </a:solidFill>
            <a:prstDash val="solid"/>
          </a:ln>
        </p:spPr>
      </p:sp>
      <p:sp>
        <p:nvSpPr>
          <p:cNvPr id="3" name="Text 1"/>
          <p:cNvSpPr/>
          <p:nvPr/>
        </p:nvSpPr>
        <p:spPr>
          <a:xfrm>
            <a:off x="548640" y="914400"/>
            <a:ext cx="10972800" cy="457200"/>
          </a:xfrm>
          <a:prstGeom prst="rect">
            <a:avLst/>
          </a:prstGeom>
          <a:noFill/>
          <a:ln/>
        </p:spPr>
        <p:txBody>
          <a:bodyPr wrap="square" rtlCol="0" anchor="ctr"/>
          <a:lstStyle/>
          <a:p>
            <a:pPr algn="l" indent="0" marL="0">
              <a:buNone/>
            </a:pPr>
            <a:r>
              <a:rPr lang="en-US" sz="1300" b="1" spc="400" kern="0" dirty="0">
                <a:solidFill>
                  <a:srgbClr val="D4A843"/>
                </a:solidFill>
                <a:latin typeface="Calibri" pitchFamily="34" charset="0"/>
                <a:ea typeface="Calibri" pitchFamily="34" charset="-122"/>
                <a:cs typeface="Calibri" pitchFamily="34" charset="-120"/>
              </a:rPr>
              <a:t>UA&amp;P  ·  DATA SCIENCE THESIS  ·  MAY 2026</a:t>
            </a:r>
            <a:endParaRPr lang="en-US" sz="1300" dirty="0"/>
          </a:p>
        </p:txBody>
      </p:sp>
      <p:sp>
        <p:nvSpPr>
          <p:cNvPr id="4" name="Text 2"/>
          <p:cNvSpPr/>
          <p:nvPr/>
        </p:nvSpPr>
        <p:spPr>
          <a:xfrm>
            <a:off x="548640" y="2011680"/>
            <a:ext cx="10972800" cy="2194560"/>
          </a:xfrm>
          <a:prstGeom prst="rect">
            <a:avLst/>
          </a:prstGeom>
          <a:noFill/>
          <a:ln/>
        </p:spPr>
        <p:txBody>
          <a:bodyPr wrap="square"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Predicting Open-Market Residential</a:t>
            </a:r>
            <a:endParaRPr lang="en-US" sz="4600" dirty="0"/>
          </a:p>
          <a:p>
            <a:pPr algn="l" indent="0" marL="0">
              <a:buNone/>
            </a:pPr>
            <a:r>
              <a:rPr lang="en-US" sz="4600" b="1" dirty="0">
                <a:solidFill>
                  <a:srgbClr val="FFFFFF"/>
                </a:solidFill>
                <a:latin typeface="Calibri" pitchFamily="34" charset="0"/>
                <a:ea typeface="Calibri" pitchFamily="34" charset="-122"/>
                <a:cs typeface="Calibri" pitchFamily="34" charset="-120"/>
              </a:rPr>
              <a:t>Property Prices in Metro Cebu</a:t>
            </a:r>
            <a:endParaRPr lang="en-US" sz="4600" dirty="0"/>
          </a:p>
        </p:txBody>
      </p:sp>
      <p:sp>
        <p:nvSpPr>
          <p:cNvPr id="5" name="Text 3"/>
          <p:cNvSpPr/>
          <p:nvPr/>
        </p:nvSpPr>
        <p:spPr>
          <a:xfrm>
            <a:off x="548640" y="4389120"/>
            <a:ext cx="10972800" cy="640080"/>
          </a:xfrm>
          <a:prstGeom prst="rect">
            <a:avLst/>
          </a:prstGeom>
          <a:noFill/>
          <a:ln/>
        </p:spPr>
        <p:txBody>
          <a:bodyPr wrap="square" rtlCol="0" anchor="ctr"/>
          <a:lstStyle/>
          <a:p>
            <a:pPr algn="l" indent="0" marL="0">
              <a:buNone/>
            </a:pPr>
            <a:r>
              <a:rPr lang="en-US" sz="2200" i="1" dirty="0">
                <a:solidFill>
                  <a:srgbClr val="F5E6B8"/>
                </a:solidFill>
                <a:latin typeface="Calibri" pitchFamily="34" charset="0"/>
                <a:ea typeface="Calibri" pitchFamily="34" charset="-122"/>
                <a:cs typeface="Calibri" pitchFamily="34" charset="-120"/>
              </a:rPr>
              <a:t>Using Machine Learning and Geospatial Features</a:t>
            </a:r>
            <a:endParaRPr lang="en-US" sz="2200" dirty="0"/>
          </a:p>
        </p:txBody>
      </p:sp>
      <p:sp>
        <p:nvSpPr>
          <p:cNvPr id="6" name="Shape 4"/>
          <p:cNvSpPr/>
          <p:nvPr/>
        </p:nvSpPr>
        <p:spPr>
          <a:xfrm>
            <a:off x="548640" y="5943600"/>
            <a:ext cx="10972800" cy="18288"/>
          </a:xfrm>
          <a:prstGeom prst="rect">
            <a:avLst/>
          </a:prstGeom>
          <a:solidFill>
            <a:srgbClr val="D4A843"/>
          </a:solidFill>
          <a:ln w="12700">
            <a:solidFill>
              <a:srgbClr val="D4A843"/>
            </a:solidFill>
            <a:prstDash val="solid"/>
          </a:ln>
        </p:spPr>
      </p:sp>
      <p:sp>
        <p:nvSpPr>
          <p:cNvPr id="7" name="Text 5"/>
          <p:cNvSpPr/>
          <p:nvPr/>
        </p:nvSpPr>
        <p:spPr>
          <a:xfrm>
            <a:off x="548640" y="6080760"/>
            <a:ext cx="5486400" cy="365760"/>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Nico Estreba</a:t>
            </a:r>
            <a:endParaRPr lang="en-US" sz="1400" dirty="0"/>
          </a:p>
        </p:txBody>
      </p:sp>
      <p:sp>
        <p:nvSpPr>
          <p:cNvPr id="8" name="Text 6"/>
          <p:cNvSpPr/>
          <p:nvPr/>
        </p:nvSpPr>
        <p:spPr>
          <a:xfrm>
            <a:off x="6035040" y="6080760"/>
            <a:ext cx="5486400" cy="365760"/>
          </a:xfrm>
          <a:prstGeom prst="rect">
            <a:avLst/>
          </a:prstGeom>
          <a:noFill/>
          <a:ln/>
        </p:spPr>
        <p:txBody>
          <a:bodyPr wrap="square" rtlCol="0" anchor="ctr"/>
          <a:lstStyle/>
          <a:p>
            <a:pPr algn="r" indent="0" marL="0">
              <a:buNone/>
            </a:pPr>
            <a:r>
              <a:rPr lang="en-US" sz="1200" dirty="0">
                <a:solidFill>
                  <a:srgbClr val="C9D1DD"/>
                </a:solidFill>
                <a:latin typeface="Calibri" pitchFamily="34" charset="0"/>
                <a:ea typeface="Calibri" pitchFamily="34" charset="-122"/>
                <a:cs typeface="Calibri" pitchFamily="34" charset="-120"/>
              </a:rPr>
              <a:t>BSDS Capstone  ·  Defense Date: May 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ROADMAP</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Agenda</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16636" y="1554480"/>
            <a:ext cx="3566160" cy="2286000"/>
          </a:xfrm>
          <a:prstGeom prst="roundRect">
            <a:avLst>
              <a:gd name="adj" fmla="val 3200"/>
            </a:avLst>
          </a:prstGeom>
          <a:solidFill>
            <a:srgbClr val="FFFFFF"/>
          </a:solidFill>
          <a:ln w="12700">
            <a:solidFill>
              <a:srgbClr val="C9D1DD"/>
            </a:solidFill>
            <a:prstDash val="solid"/>
          </a:ln>
        </p:spPr>
      </p:sp>
      <p:sp>
        <p:nvSpPr>
          <p:cNvPr id="8" name="Shape 5"/>
          <p:cNvSpPr/>
          <p:nvPr/>
        </p:nvSpPr>
        <p:spPr>
          <a:xfrm>
            <a:off x="790956" y="1828800"/>
            <a:ext cx="457200" cy="457200"/>
          </a:xfrm>
          <a:prstGeom prst="ellipse">
            <a:avLst/>
          </a:prstGeom>
          <a:solidFill>
            <a:srgbClr val="D4A843"/>
          </a:solidFill>
          <a:ln w="12700">
            <a:solidFill>
              <a:srgbClr val="D4A843"/>
            </a:solidFill>
            <a:prstDash val="solid"/>
          </a:ln>
        </p:spPr>
      </p:sp>
      <p:sp>
        <p:nvSpPr>
          <p:cNvPr id="9" name="Text 6"/>
          <p:cNvSpPr/>
          <p:nvPr/>
        </p:nvSpPr>
        <p:spPr>
          <a:xfrm>
            <a:off x="79095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385316" y="182880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Problem</a:t>
            </a:r>
            <a:endParaRPr lang="en-US" sz="1600" dirty="0"/>
          </a:p>
        </p:txBody>
      </p:sp>
      <p:sp>
        <p:nvSpPr>
          <p:cNvPr id="11" name="Text 8"/>
          <p:cNvSpPr/>
          <p:nvPr/>
        </p:nvSpPr>
        <p:spPr>
          <a:xfrm>
            <a:off x="790956" y="242316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Why valuation in Metro Cebu is fragmented</a:t>
            </a:r>
            <a:endParaRPr lang="en-US" sz="1300" dirty="0"/>
          </a:p>
        </p:txBody>
      </p:sp>
      <p:sp>
        <p:nvSpPr>
          <p:cNvPr id="12" name="Shape 9"/>
          <p:cNvSpPr/>
          <p:nvPr/>
        </p:nvSpPr>
        <p:spPr>
          <a:xfrm>
            <a:off x="4311396" y="1554480"/>
            <a:ext cx="3566160" cy="2286000"/>
          </a:xfrm>
          <a:prstGeom prst="roundRect">
            <a:avLst>
              <a:gd name="adj" fmla="val 3200"/>
            </a:avLst>
          </a:prstGeom>
          <a:solidFill>
            <a:srgbClr val="FFFFFF"/>
          </a:solidFill>
          <a:ln w="12700">
            <a:solidFill>
              <a:srgbClr val="C9D1DD"/>
            </a:solidFill>
            <a:prstDash val="solid"/>
          </a:ln>
        </p:spPr>
      </p:sp>
      <p:sp>
        <p:nvSpPr>
          <p:cNvPr id="13" name="Shape 10"/>
          <p:cNvSpPr/>
          <p:nvPr/>
        </p:nvSpPr>
        <p:spPr>
          <a:xfrm>
            <a:off x="4585716" y="1828800"/>
            <a:ext cx="457200" cy="457200"/>
          </a:xfrm>
          <a:prstGeom prst="ellipse">
            <a:avLst/>
          </a:prstGeom>
          <a:solidFill>
            <a:srgbClr val="D4A843"/>
          </a:solidFill>
          <a:ln w="12700">
            <a:solidFill>
              <a:srgbClr val="D4A843"/>
            </a:solidFill>
            <a:prstDash val="solid"/>
          </a:ln>
        </p:spPr>
      </p:sp>
      <p:sp>
        <p:nvSpPr>
          <p:cNvPr id="14" name="Text 11"/>
          <p:cNvSpPr/>
          <p:nvPr/>
        </p:nvSpPr>
        <p:spPr>
          <a:xfrm>
            <a:off x="458571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5180076" y="182880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Approach</a:t>
            </a:r>
            <a:endParaRPr lang="en-US" sz="1600" dirty="0"/>
          </a:p>
        </p:txBody>
      </p:sp>
      <p:sp>
        <p:nvSpPr>
          <p:cNvPr id="16" name="Text 13"/>
          <p:cNvSpPr/>
          <p:nvPr/>
        </p:nvSpPr>
        <p:spPr>
          <a:xfrm>
            <a:off x="4585716" y="242316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IVS-grounded scope, geospatial features, ML</a:t>
            </a:r>
            <a:endParaRPr lang="en-US" sz="1300" dirty="0"/>
          </a:p>
        </p:txBody>
      </p:sp>
      <p:sp>
        <p:nvSpPr>
          <p:cNvPr id="17" name="Shape 14"/>
          <p:cNvSpPr/>
          <p:nvPr/>
        </p:nvSpPr>
        <p:spPr>
          <a:xfrm>
            <a:off x="8106156" y="1554480"/>
            <a:ext cx="3566160" cy="2286000"/>
          </a:xfrm>
          <a:prstGeom prst="roundRect">
            <a:avLst>
              <a:gd name="adj" fmla="val 3200"/>
            </a:avLst>
          </a:prstGeom>
          <a:solidFill>
            <a:srgbClr val="FFFFFF"/>
          </a:solidFill>
          <a:ln w="12700">
            <a:solidFill>
              <a:srgbClr val="C9D1DD"/>
            </a:solidFill>
            <a:prstDash val="solid"/>
          </a:ln>
        </p:spPr>
      </p:sp>
      <p:sp>
        <p:nvSpPr>
          <p:cNvPr id="18" name="Shape 15"/>
          <p:cNvSpPr/>
          <p:nvPr/>
        </p:nvSpPr>
        <p:spPr>
          <a:xfrm>
            <a:off x="8380476" y="1828800"/>
            <a:ext cx="457200" cy="457200"/>
          </a:xfrm>
          <a:prstGeom prst="ellipse">
            <a:avLst/>
          </a:prstGeom>
          <a:solidFill>
            <a:srgbClr val="D4A843"/>
          </a:solidFill>
          <a:ln w="12700">
            <a:solidFill>
              <a:srgbClr val="D4A843"/>
            </a:solidFill>
            <a:prstDash val="solid"/>
          </a:ln>
        </p:spPr>
      </p:sp>
      <p:sp>
        <p:nvSpPr>
          <p:cNvPr id="19" name="Text 16"/>
          <p:cNvSpPr/>
          <p:nvPr/>
        </p:nvSpPr>
        <p:spPr>
          <a:xfrm>
            <a:off x="838047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974836" y="182880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Data</a:t>
            </a:r>
            <a:endParaRPr lang="en-US" sz="1600" dirty="0"/>
          </a:p>
        </p:txBody>
      </p:sp>
      <p:sp>
        <p:nvSpPr>
          <p:cNvPr id="21" name="Text 18"/>
          <p:cNvSpPr/>
          <p:nvPr/>
        </p:nvSpPr>
        <p:spPr>
          <a:xfrm>
            <a:off x="8380476" y="242316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Multi-source collection, open-market training</a:t>
            </a:r>
            <a:endParaRPr lang="en-US" sz="1300" dirty="0"/>
          </a:p>
        </p:txBody>
      </p:sp>
      <p:sp>
        <p:nvSpPr>
          <p:cNvPr id="22" name="Shape 19"/>
          <p:cNvSpPr/>
          <p:nvPr/>
        </p:nvSpPr>
        <p:spPr>
          <a:xfrm>
            <a:off x="516636" y="4160520"/>
            <a:ext cx="3566160" cy="2286000"/>
          </a:xfrm>
          <a:prstGeom prst="roundRect">
            <a:avLst>
              <a:gd name="adj" fmla="val 3200"/>
            </a:avLst>
          </a:prstGeom>
          <a:solidFill>
            <a:srgbClr val="FFFFFF"/>
          </a:solidFill>
          <a:ln w="12700">
            <a:solidFill>
              <a:srgbClr val="C9D1DD"/>
            </a:solidFill>
            <a:prstDash val="solid"/>
          </a:ln>
        </p:spPr>
      </p:sp>
      <p:sp>
        <p:nvSpPr>
          <p:cNvPr id="23" name="Shape 20"/>
          <p:cNvSpPr/>
          <p:nvPr/>
        </p:nvSpPr>
        <p:spPr>
          <a:xfrm>
            <a:off x="790956" y="4434840"/>
            <a:ext cx="457200" cy="457200"/>
          </a:xfrm>
          <a:prstGeom prst="ellipse">
            <a:avLst/>
          </a:prstGeom>
          <a:solidFill>
            <a:srgbClr val="D4A843"/>
          </a:solidFill>
          <a:ln w="12700">
            <a:solidFill>
              <a:srgbClr val="D4A843"/>
            </a:solidFill>
            <a:prstDash val="solid"/>
          </a:ln>
        </p:spPr>
      </p:sp>
      <p:sp>
        <p:nvSpPr>
          <p:cNvPr id="24" name="Text 21"/>
          <p:cNvSpPr/>
          <p:nvPr/>
        </p:nvSpPr>
        <p:spPr>
          <a:xfrm>
            <a:off x="790956" y="44348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4</a:t>
            </a:r>
            <a:endParaRPr lang="en-US" sz="1600" dirty="0"/>
          </a:p>
        </p:txBody>
      </p:sp>
      <p:sp>
        <p:nvSpPr>
          <p:cNvPr id="25" name="Text 22"/>
          <p:cNvSpPr/>
          <p:nvPr/>
        </p:nvSpPr>
        <p:spPr>
          <a:xfrm>
            <a:off x="1385316" y="443484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Models</a:t>
            </a:r>
            <a:endParaRPr lang="en-US" sz="1600" dirty="0"/>
          </a:p>
        </p:txBody>
      </p:sp>
      <p:sp>
        <p:nvSpPr>
          <p:cNvPr id="26" name="Text 23"/>
          <p:cNvSpPr/>
          <p:nvPr/>
        </p:nvSpPr>
        <p:spPr>
          <a:xfrm>
            <a:off x="790956" y="502920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OLS → RF → XGBoost → SHAP</a:t>
            </a:r>
            <a:endParaRPr lang="en-US" sz="1300" dirty="0"/>
          </a:p>
        </p:txBody>
      </p:sp>
      <p:sp>
        <p:nvSpPr>
          <p:cNvPr id="27" name="Shape 24"/>
          <p:cNvSpPr/>
          <p:nvPr/>
        </p:nvSpPr>
        <p:spPr>
          <a:xfrm>
            <a:off x="4311396" y="4160520"/>
            <a:ext cx="3566160" cy="2286000"/>
          </a:xfrm>
          <a:prstGeom prst="roundRect">
            <a:avLst>
              <a:gd name="adj" fmla="val 3200"/>
            </a:avLst>
          </a:prstGeom>
          <a:solidFill>
            <a:srgbClr val="FFFFFF"/>
          </a:solidFill>
          <a:ln w="12700">
            <a:solidFill>
              <a:srgbClr val="C9D1DD"/>
            </a:solidFill>
            <a:prstDash val="solid"/>
          </a:ln>
        </p:spPr>
      </p:sp>
      <p:sp>
        <p:nvSpPr>
          <p:cNvPr id="28" name="Shape 25"/>
          <p:cNvSpPr/>
          <p:nvPr/>
        </p:nvSpPr>
        <p:spPr>
          <a:xfrm>
            <a:off x="4585716" y="4434840"/>
            <a:ext cx="457200" cy="457200"/>
          </a:xfrm>
          <a:prstGeom prst="ellipse">
            <a:avLst/>
          </a:prstGeom>
          <a:solidFill>
            <a:srgbClr val="D4A843"/>
          </a:solidFill>
          <a:ln w="12700">
            <a:solidFill>
              <a:srgbClr val="D4A843"/>
            </a:solidFill>
            <a:prstDash val="solid"/>
          </a:ln>
        </p:spPr>
      </p:sp>
      <p:sp>
        <p:nvSpPr>
          <p:cNvPr id="29" name="Text 26"/>
          <p:cNvSpPr/>
          <p:nvPr/>
        </p:nvSpPr>
        <p:spPr>
          <a:xfrm>
            <a:off x="4585716" y="44348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5</a:t>
            </a:r>
            <a:endParaRPr lang="en-US" sz="1600" dirty="0"/>
          </a:p>
        </p:txBody>
      </p:sp>
      <p:sp>
        <p:nvSpPr>
          <p:cNvPr id="30" name="Text 27"/>
          <p:cNvSpPr/>
          <p:nvPr/>
        </p:nvSpPr>
        <p:spPr>
          <a:xfrm>
            <a:off x="5180076" y="443484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Results</a:t>
            </a:r>
            <a:endParaRPr lang="en-US" sz="1600" dirty="0"/>
          </a:p>
        </p:txBody>
      </p:sp>
      <p:sp>
        <p:nvSpPr>
          <p:cNvPr id="31" name="Text 28"/>
          <p:cNvSpPr/>
          <p:nvPr/>
        </p:nvSpPr>
        <p:spPr>
          <a:xfrm>
            <a:off x="4585716" y="502920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Performance, importance, valuation gap</a:t>
            </a:r>
            <a:endParaRPr lang="en-US" sz="1300" dirty="0"/>
          </a:p>
        </p:txBody>
      </p:sp>
      <p:sp>
        <p:nvSpPr>
          <p:cNvPr id="32" name="Shape 29"/>
          <p:cNvSpPr/>
          <p:nvPr/>
        </p:nvSpPr>
        <p:spPr>
          <a:xfrm>
            <a:off x="8106156" y="4160520"/>
            <a:ext cx="3566160" cy="2286000"/>
          </a:xfrm>
          <a:prstGeom prst="roundRect">
            <a:avLst>
              <a:gd name="adj" fmla="val 3200"/>
            </a:avLst>
          </a:prstGeom>
          <a:solidFill>
            <a:srgbClr val="FFFFFF"/>
          </a:solidFill>
          <a:ln w="12700">
            <a:solidFill>
              <a:srgbClr val="C9D1DD"/>
            </a:solidFill>
            <a:prstDash val="solid"/>
          </a:ln>
        </p:spPr>
      </p:sp>
      <p:sp>
        <p:nvSpPr>
          <p:cNvPr id="33" name="Shape 30"/>
          <p:cNvSpPr/>
          <p:nvPr/>
        </p:nvSpPr>
        <p:spPr>
          <a:xfrm>
            <a:off x="8380476" y="4434840"/>
            <a:ext cx="457200" cy="457200"/>
          </a:xfrm>
          <a:prstGeom prst="ellipse">
            <a:avLst/>
          </a:prstGeom>
          <a:solidFill>
            <a:srgbClr val="D4A843"/>
          </a:solidFill>
          <a:ln w="12700">
            <a:solidFill>
              <a:srgbClr val="D4A843"/>
            </a:solidFill>
            <a:prstDash val="solid"/>
          </a:ln>
        </p:spPr>
      </p:sp>
      <p:sp>
        <p:nvSpPr>
          <p:cNvPr id="34" name="Text 31"/>
          <p:cNvSpPr/>
          <p:nvPr/>
        </p:nvSpPr>
        <p:spPr>
          <a:xfrm>
            <a:off x="8380476" y="44348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6</a:t>
            </a:r>
            <a:endParaRPr lang="en-US" sz="1600" dirty="0"/>
          </a:p>
        </p:txBody>
      </p:sp>
      <p:sp>
        <p:nvSpPr>
          <p:cNvPr id="35" name="Text 32"/>
          <p:cNvSpPr/>
          <p:nvPr/>
        </p:nvSpPr>
        <p:spPr>
          <a:xfrm>
            <a:off x="8974836" y="4434840"/>
            <a:ext cx="246888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The Tool</a:t>
            </a:r>
            <a:endParaRPr lang="en-US" sz="1600" dirty="0"/>
          </a:p>
        </p:txBody>
      </p:sp>
      <p:sp>
        <p:nvSpPr>
          <p:cNvPr id="36" name="Text 33"/>
          <p:cNvSpPr/>
          <p:nvPr/>
        </p:nvSpPr>
        <p:spPr>
          <a:xfrm>
            <a:off x="8380476" y="5029200"/>
            <a:ext cx="3017520" cy="12801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Streamlit web app + use cases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The Philippine Real Estate Market</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4114800" cy="2743200"/>
          </a:xfrm>
          <a:prstGeom prst="rect">
            <a:avLst/>
          </a:prstGeom>
          <a:solidFill>
            <a:srgbClr val="1B2A4A"/>
          </a:solidFill>
          <a:ln w="12700">
            <a:solidFill>
              <a:srgbClr val="1B2A4A"/>
            </a:solidFill>
            <a:prstDash val="solid"/>
          </a:ln>
        </p:spPr>
      </p:sp>
      <p:sp>
        <p:nvSpPr>
          <p:cNvPr id="8" name="Text 5"/>
          <p:cNvSpPr/>
          <p:nvPr/>
        </p:nvSpPr>
        <p:spPr>
          <a:xfrm>
            <a:off x="548640" y="1645920"/>
            <a:ext cx="4114800" cy="1783080"/>
          </a:xfrm>
          <a:prstGeom prst="rect">
            <a:avLst/>
          </a:prstGeom>
          <a:noFill/>
          <a:ln/>
        </p:spPr>
        <p:txBody>
          <a:bodyPr wrap="square" rtlCol="0" anchor="ctr"/>
          <a:lstStyle/>
          <a:p>
            <a:pPr algn="ctr" indent="0" marL="0">
              <a:buNone/>
            </a:pPr>
            <a:r>
              <a:rPr lang="en-US" sz="6000" b="1" dirty="0">
                <a:solidFill>
                  <a:srgbClr val="D4A843"/>
                </a:solidFill>
                <a:latin typeface="Calibri" pitchFamily="34" charset="0"/>
                <a:ea typeface="Calibri" pitchFamily="34" charset="-122"/>
                <a:cs typeface="Calibri" pitchFamily="34" charset="-120"/>
              </a:rPr>
              <a:t>11.5%</a:t>
            </a:r>
            <a:endParaRPr lang="en-US" sz="6000" dirty="0"/>
          </a:p>
        </p:txBody>
      </p:sp>
      <p:sp>
        <p:nvSpPr>
          <p:cNvPr id="9" name="Text 6"/>
          <p:cNvSpPr/>
          <p:nvPr/>
        </p:nvSpPr>
        <p:spPr>
          <a:xfrm>
            <a:off x="731520" y="3337560"/>
            <a:ext cx="3749040" cy="822960"/>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METRO CEBU 2025 PRICE GROWTH</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Highest outside NCR (BSP, 2025)</a:t>
            </a:r>
            <a:endParaRPr lang="en-US" sz="1200" dirty="0"/>
          </a:p>
        </p:txBody>
      </p:sp>
      <p:sp>
        <p:nvSpPr>
          <p:cNvPr id="10" name="Text 7"/>
          <p:cNvSpPr/>
          <p:nvPr/>
        </p:nvSpPr>
        <p:spPr>
          <a:xfrm>
            <a:off x="5029200" y="1645920"/>
            <a:ext cx="6675120" cy="4572000"/>
          </a:xfrm>
          <a:prstGeom prst="rect">
            <a:avLst/>
          </a:prstGeom>
          <a:noFill/>
          <a:ln/>
        </p:spPr>
        <p:txBody>
          <a:bodyPr wrap="square" rtlCol="0" anchor="t"/>
          <a:lstStyle/>
          <a:p>
            <a:pPr indent="0" marL="0">
              <a:spcAft>
                <a:spcPts val="1400"/>
              </a:spcAft>
              <a:buNone/>
            </a:pPr>
            <a:r>
              <a:rPr lang="en-US" sz="1800" b="1" dirty="0">
                <a:solidFill>
                  <a:srgbClr val="1B2A4A"/>
                </a:solidFill>
                <a:latin typeface="Calibri" pitchFamily="34" charset="0"/>
                <a:ea typeface="Calibri" pitchFamily="34" charset="-122"/>
                <a:cs typeface="Calibri" pitchFamily="34" charset="-120"/>
              </a:rPr>
              <a:t>Metro Cebu stands out in an active national market.</a:t>
            </a:r>
            <a:pPr indent="0" marL="0">
              <a:spcAft>
                <a:spcPts val="600"/>
              </a:spcAft>
              <a:buNone/>
            </a:pPr>
            <a:r>
              <a:rPr lang="en-US" sz="1400" b="1" dirty="0">
                <a:solidFill>
                  <a:srgbClr val="1B2A4A"/>
                </a:solidFill>
                <a:latin typeface="Calibri" pitchFamily="34" charset="0"/>
                <a:ea typeface="Calibri" pitchFamily="34" charset="-122"/>
                <a:cs typeface="Calibri" pitchFamily="34" charset="-120"/>
              </a:rPr>
              <a:t>Active infrastructure pipeline:</a:t>
            </a:r>
            <a:endParaRPr lang="en-US" sz="1800" dirty="0"/>
          </a:p>
          <a:p>
            <a:pPr marL="342900" indent="-342900">
              <a:spcAft>
                <a:spcPts val="400"/>
              </a:spcAft>
              <a:buSzPct val="100000"/>
              <a:buChar char="●"/>
            </a:pPr>
            <a:r>
              <a:rPr lang="en-US" sz="1400" dirty="0">
                <a:solidFill>
                  <a:srgbClr val="2C3E50"/>
                </a:solidFill>
                <a:latin typeface="Calibri" pitchFamily="34" charset="0"/>
                <a:ea typeface="Calibri" pitchFamily="34" charset="-122"/>
                <a:cs typeface="Calibri" pitchFamily="34" charset="-120"/>
              </a:rPr>
              <a:t>Cebu Bus Rapid Transit (CBRT)</a:t>
            </a:r>
            <a:endParaRPr lang="en-US" sz="1800" dirty="0"/>
          </a:p>
          <a:p>
            <a:pPr marL="342900" indent="-342900">
              <a:spcAft>
                <a:spcPts val="400"/>
              </a:spcAft>
              <a:buSzPct val="100000"/>
              <a:buChar char="●"/>
            </a:pPr>
            <a:r>
              <a:rPr lang="en-US" sz="1400" dirty="0">
                <a:solidFill>
                  <a:srgbClr val="2C3E50"/>
                </a:solidFill>
                <a:latin typeface="Calibri" pitchFamily="34" charset="0"/>
                <a:ea typeface="Calibri" pitchFamily="34" charset="-122"/>
                <a:cs typeface="Calibri" pitchFamily="34" charset="-120"/>
              </a:rPr>
              <a:t>Metro Cebu Expressway</a:t>
            </a:r>
            <a:endParaRPr lang="en-US" sz="1800" dirty="0"/>
          </a:p>
          <a:p>
            <a:pPr marL="342900" indent="-342900">
              <a:spcAft>
                <a:spcPts val="1400"/>
              </a:spcAft>
              <a:buSzPct val="100000"/>
              <a:buChar char="●"/>
            </a:pPr>
            <a:r>
              <a:rPr lang="en-US" sz="1400" dirty="0">
                <a:solidFill>
                  <a:srgbClr val="2C3E50"/>
                </a:solidFill>
                <a:latin typeface="Calibri" pitchFamily="34" charset="0"/>
                <a:ea typeface="Calibri" pitchFamily="34" charset="-122"/>
                <a:cs typeface="Calibri" pitchFamily="34" charset="-120"/>
              </a:rPr>
              <a:t>South Road Properties buildout</a:t>
            </a:r>
            <a:pPr indent="0" marL="0">
              <a:spcAft>
                <a:spcPts val="600"/>
              </a:spcAft>
              <a:buNone/>
            </a:pPr>
            <a:r>
              <a:rPr lang="en-US" sz="1400" b="1" dirty="0">
                <a:solidFill>
                  <a:srgbClr val="1B2A4A"/>
                </a:solidFill>
                <a:latin typeface="Calibri" pitchFamily="34" charset="0"/>
                <a:ea typeface="Calibri" pitchFamily="34" charset="-122"/>
                <a:cs typeface="Calibri" pitchFamily="34" charset="-120"/>
              </a:rPr>
              <a:t>Six core LGUs:</a:t>
            </a:r>
            <a:pPr indent="0" marL="0">
              <a:buNone/>
            </a:pPr>
            <a:r>
              <a:rPr lang="en-US" sz="1400" i="1" dirty="0">
                <a:solidFill>
                  <a:srgbClr val="2C3E50"/>
                </a:solidFill>
                <a:latin typeface="Calibri" pitchFamily="34" charset="0"/>
                <a:ea typeface="Calibri" pitchFamily="34" charset="-122"/>
                <a:cs typeface="Calibri" pitchFamily="34" charset="-120"/>
              </a:rPr>
              <a:t>Cebu City · Mandaue · Lapu-Lapu · Talisay · Minglanilla · Consolacion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Three Imperfect Valuation Systems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62356" y="1554480"/>
            <a:ext cx="3566160" cy="914400"/>
          </a:xfrm>
          <a:prstGeom prst="rect">
            <a:avLst/>
          </a:prstGeom>
          <a:solidFill>
            <a:srgbClr val="1B2A4A"/>
          </a:solidFill>
          <a:ln w="12700">
            <a:solidFill>
              <a:srgbClr val="1B2A4A"/>
            </a:solidFill>
            <a:prstDash val="solid"/>
          </a:ln>
        </p:spPr>
      </p:sp>
      <p:sp>
        <p:nvSpPr>
          <p:cNvPr id="8" name="Text 5"/>
          <p:cNvSpPr/>
          <p:nvPr/>
        </p:nvSpPr>
        <p:spPr>
          <a:xfrm>
            <a:off x="562356" y="1645920"/>
            <a:ext cx="3566160" cy="274320"/>
          </a:xfrm>
          <a:prstGeom prst="rect">
            <a:avLst/>
          </a:prstGeom>
          <a:noFill/>
          <a:ln/>
        </p:spPr>
        <p:txBody>
          <a:bodyPr wrap="square" rtlCol="0" anchor="ctr"/>
          <a:lstStyle/>
          <a:p>
            <a:pPr algn="ctr" indent="0" marL="0">
              <a:buNone/>
            </a:pPr>
            <a:r>
              <a:rPr lang="en-US" sz="1000" b="1" spc="300" kern="0" dirty="0">
                <a:solidFill>
                  <a:srgbClr val="D4A843"/>
                </a:solidFill>
                <a:latin typeface="Calibri" pitchFamily="34" charset="0"/>
                <a:ea typeface="Calibri" pitchFamily="34" charset="-122"/>
                <a:cs typeface="Calibri" pitchFamily="34" charset="-120"/>
              </a:rPr>
              <a:t>ADMINISTRATIVE</a:t>
            </a:r>
            <a:endParaRPr lang="en-US" sz="1000" dirty="0"/>
          </a:p>
        </p:txBody>
      </p:sp>
      <p:sp>
        <p:nvSpPr>
          <p:cNvPr id="9" name="Text 6"/>
          <p:cNvSpPr/>
          <p:nvPr/>
        </p:nvSpPr>
        <p:spPr>
          <a:xfrm>
            <a:off x="562356" y="1920240"/>
            <a:ext cx="35661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BIR Zonal Values</a:t>
            </a:r>
            <a:endParaRPr lang="en-US" sz="1800" dirty="0"/>
          </a:p>
        </p:txBody>
      </p:sp>
      <p:sp>
        <p:nvSpPr>
          <p:cNvPr id="10" name="Shape 7"/>
          <p:cNvSpPr/>
          <p:nvPr/>
        </p:nvSpPr>
        <p:spPr>
          <a:xfrm>
            <a:off x="562356" y="2468880"/>
            <a:ext cx="3566160" cy="3108960"/>
          </a:xfrm>
          <a:prstGeom prst="rect">
            <a:avLst/>
          </a:prstGeom>
          <a:solidFill>
            <a:srgbClr val="FFFFFF"/>
          </a:solidFill>
          <a:ln w="12700">
            <a:solidFill>
              <a:srgbClr val="C9D1DD"/>
            </a:solidFill>
            <a:prstDash val="solid"/>
          </a:ln>
        </p:spPr>
      </p:sp>
      <p:sp>
        <p:nvSpPr>
          <p:cNvPr id="11" name="Text 8"/>
          <p:cNvSpPr/>
          <p:nvPr/>
        </p:nvSpPr>
        <p:spPr>
          <a:xfrm>
            <a:off x="836676" y="2651760"/>
            <a:ext cx="3017520" cy="2743200"/>
          </a:xfrm>
          <a:prstGeom prst="rect">
            <a:avLst/>
          </a:prstGeom>
          <a:noFill/>
          <a:ln/>
        </p:spPr>
        <p:txBody>
          <a:bodyPr wrap="square" rtlCol="0" anchor="t"/>
          <a:lstStyle/>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Administratively set</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Only 60% of LGUs updated nationally</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Lags infrastructure changes</a:t>
            </a:r>
            <a:endParaRPr lang="en-US" sz="1400" dirty="0"/>
          </a:p>
        </p:txBody>
      </p:sp>
      <p:sp>
        <p:nvSpPr>
          <p:cNvPr id="12" name="Shape 9"/>
          <p:cNvSpPr/>
          <p:nvPr/>
        </p:nvSpPr>
        <p:spPr>
          <a:xfrm>
            <a:off x="4311396" y="1554480"/>
            <a:ext cx="3566160" cy="914400"/>
          </a:xfrm>
          <a:prstGeom prst="rect">
            <a:avLst/>
          </a:prstGeom>
          <a:solidFill>
            <a:srgbClr val="1B2A4A"/>
          </a:solidFill>
          <a:ln w="12700">
            <a:solidFill>
              <a:srgbClr val="1B2A4A"/>
            </a:solidFill>
            <a:prstDash val="solid"/>
          </a:ln>
        </p:spPr>
      </p:sp>
      <p:sp>
        <p:nvSpPr>
          <p:cNvPr id="13" name="Text 10"/>
          <p:cNvSpPr/>
          <p:nvPr/>
        </p:nvSpPr>
        <p:spPr>
          <a:xfrm>
            <a:off x="4311396" y="1645920"/>
            <a:ext cx="3566160" cy="274320"/>
          </a:xfrm>
          <a:prstGeom prst="rect">
            <a:avLst/>
          </a:prstGeom>
          <a:noFill/>
          <a:ln/>
        </p:spPr>
        <p:txBody>
          <a:bodyPr wrap="square" rtlCol="0" anchor="ctr"/>
          <a:lstStyle/>
          <a:p>
            <a:pPr algn="ctr" indent="0" marL="0">
              <a:buNone/>
            </a:pPr>
            <a:r>
              <a:rPr lang="en-US" sz="1000" b="1" spc="300" kern="0" dirty="0">
                <a:solidFill>
                  <a:srgbClr val="D4A843"/>
                </a:solidFill>
                <a:latin typeface="Calibri" pitchFamily="34" charset="0"/>
                <a:ea typeface="Calibri" pitchFamily="34" charset="-122"/>
                <a:cs typeface="Calibri" pitchFamily="34" charset="-120"/>
              </a:rPr>
              <a:t>LENDING-RISK</a:t>
            </a:r>
            <a:endParaRPr lang="en-US" sz="1000" dirty="0"/>
          </a:p>
        </p:txBody>
      </p:sp>
      <p:sp>
        <p:nvSpPr>
          <p:cNvPr id="14" name="Text 11"/>
          <p:cNvSpPr/>
          <p:nvPr/>
        </p:nvSpPr>
        <p:spPr>
          <a:xfrm>
            <a:off x="4311396" y="1920240"/>
            <a:ext cx="35661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Bank Appraisals</a:t>
            </a:r>
            <a:endParaRPr lang="en-US" sz="1800" dirty="0"/>
          </a:p>
        </p:txBody>
      </p:sp>
      <p:sp>
        <p:nvSpPr>
          <p:cNvPr id="15" name="Shape 12"/>
          <p:cNvSpPr/>
          <p:nvPr/>
        </p:nvSpPr>
        <p:spPr>
          <a:xfrm>
            <a:off x="4311396" y="2468880"/>
            <a:ext cx="3566160" cy="3108960"/>
          </a:xfrm>
          <a:prstGeom prst="rect">
            <a:avLst/>
          </a:prstGeom>
          <a:solidFill>
            <a:srgbClr val="FFFFFF"/>
          </a:solidFill>
          <a:ln w="12700">
            <a:solidFill>
              <a:srgbClr val="C9D1DD"/>
            </a:solidFill>
            <a:prstDash val="solid"/>
          </a:ln>
        </p:spPr>
      </p:sp>
      <p:sp>
        <p:nvSpPr>
          <p:cNvPr id="16" name="Text 13"/>
          <p:cNvSpPr/>
          <p:nvPr/>
        </p:nvSpPr>
        <p:spPr>
          <a:xfrm>
            <a:off x="4585716" y="2651760"/>
            <a:ext cx="3017520" cy="2743200"/>
          </a:xfrm>
          <a:prstGeom prst="rect">
            <a:avLst/>
          </a:prstGeom>
          <a:noFill/>
          <a:ln/>
        </p:spPr>
        <p:txBody>
          <a:bodyPr wrap="square" rtlCol="0" anchor="t"/>
          <a:lstStyle/>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Designed for lending risk</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Conservative by design</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Underestimates open market</a:t>
            </a:r>
            <a:endParaRPr lang="en-US" sz="1400" dirty="0"/>
          </a:p>
        </p:txBody>
      </p:sp>
      <p:sp>
        <p:nvSpPr>
          <p:cNvPr id="17" name="Shape 14"/>
          <p:cNvSpPr/>
          <p:nvPr/>
        </p:nvSpPr>
        <p:spPr>
          <a:xfrm>
            <a:off x="8060436" y="1554480"/>
            <a:ext cx="3566160" cy="914400"/>
          </a:xfrm>
          <a:prstGeom prst="rect">
            <a:avLst/>
          </a:prstGeom>
          <a:solidFill>
            <a:srgbClr val="1B2A4A"/>
          </a:solidFill>
          <a:ln w="12700">
            <a:solidFill>
              <a:srgbClr val="1B2A4A"/>
            </a:solidFill>
            <a:prstDash val="solid"/>
          </a:ln>
        </p:spPr>
      </p:sp>
      <p:sp>
        <p:nvSpPr>
          <p:cNvPr id="18" name="Text 15"/>
          <p:cNvSpPr/>
          <p:nvPr/>
        </p:nvSpPr>
        <p:spPr>
          <a:xfrm>
            <a:off x="8060436" y="1645920"/>
            <a:ext cx="3566160" cy="274320"/>
          </a:xfrm>
          <a:prstGeom prst="rect">
            <a:avLst/>
          </a:prstGeom>
          <a:noFill/>
          <a:ln/>
        </p:spPr>
        <p:txBody>
          <a:bodyPr wrap="square" rtlCol="0" anchor="ctr"/>
          <a:lstStyle/>
          <a:p>
            <a:pPr algn="ctr" indent="0" marL="0">
              <a:buNone/>
            </a:pPr>
            <a:r>
              <a:rPr lang="en-US" sz="1000" b="1" spc="300" kern="0" dirty="0">
                <a:solidFill>
                  <a:srgbClr val="D4A843"/>
                </a:solidFill>
                <a:latin typeface="Calibri" pitchFamily="34" charset="0"/>
                <a:ea typeface="Calibri" pitchFamily="34" charset="-122"/>
                <a:cs typeface="Calibri" pitchFamily="34" charset="-120"/>
              </a:rPr>
              <a:t>SELLER-STRATEGY</a:t>
            </a:r>
            <a:endParaRPr lang="en-US" sz="1000" dirty="0"/>
          </a:p>
        </p:txBody>
      </p:sp>
      <p:sp>
        <p:nvSpPr>
          <p:cNvPr id="19" name="Text 16"/>
          <p:cNvSpPr/>
          <p:nvPr/>
        </p:nvSpPr>
        <p:spPr>
          <a:xfrm>
            <a:off x="8060436" y="1920240"/>
            <a:ext cx="35661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Online Listings</a:t>
            </a:r>
            <a:endParaRPr lang="en-US" sz="1800" dirty="0"/>
          </a:p>
        </p:txBody>
      </p:sp>
      <p:sp>
        <p:nvSpPr>
          <p:cNvPr id="20" name="Shape 17"/>
          <p:cNvSpPr/>
          <p:nvPr/>
        </p:nvSpPr>
        <p:spPr>
          <a:xfrm>
            <a:off x="8060436" y="2468880"/>
            <a:ext cx="3566160" cy="3108960"/>
          </a:xfrm>
          <a:prstGeom prst="rect">
            <a:avLst/>
          </a:prstGeom>
          <a:solidFill>
            <a:srgbClr val="FFFFFF"/>
          </a:solidFill>
          <a:ln w="12700">
            <a:solidFill>
              <a:srgbClr val="C9D1DD"/>
            </a:solidFill>
            <a:prstDash val="solid"/>
          </a:ln>
        </p:spPr>
      </p:sp>
      <p:sp>
        <p:nvSpPr>
          <p:cNvPr id="21" name="Text 18"/>
          <p:cNvSpPr/>
          <p:nvPr/>
        </p:nvSpPr>
        <p:spPr>
          <a:xfrm>
            <a:off x="8334756" y="2651760"/>
            <a:ext cx="3017520" cy="2743200"/>
          </a:xfrm>
          <a:prstGeom prst="rect">
            <a:avLst/>
          </a:prstGeom>
          <a:noFill/>
          <a:ln/>
        </p:spPr>
        <p:txBody>
          <a:bodyPr wrap="square" rtlCol="0" anchor="t"/>
          <a:lstStyle/>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Asking prices, not transactions</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Unstandardized property mix</a:t>
            </a:r>
            <a:endParaRPr lang="en-US" sz="1400" dirty="0"/>
          </a:p>
          <a:p>
            <a:pPr marL="342900" indent="-342900">
              <a:spcAft>
                <a:spcPts val="1200"/>
              </a:spcAft>
              <a:buSzPct val="100000"/>
              <a:buChar char="●"/>
            </a:pPr>
            <a:r>
              <a:rPr lang="en-US" sz="1400" dirty="0">
                <a:solidFill>
                  <a:srgbClr val="2C3E50"/>
                </a:solidFill>
                <a:latin typeface="Calibri" pitchFamily="34" charset="0"/>
                <a:ea typeface="Calibri" pitchFamily="34" charset="-122"/>
                <a:cs typeface="Calibri" pitchFamily="34" charset="-120"/>
              </a:rPr>
              <a:t>Seller-strategy noise</a:t>
            </a:r>
            <a:endParaRPr lang="en-US" sz="1400" dirty="0"/>
          </a:p>
        </p:txBody>
      </p:sp>
      <p:sp>
        <p:nvSpPr>
          <p:cNvPr id="22" name="Text 19"/>
          <p:cNvSpPr/>
          <p:nvPr/>
        </p:nvSpPr>
        <p:spPr>
          <a:xfrm>
            <a:off x="548640" y="5852160"/>
            <a:ext cx="11091672" cy="457200"/>
          </a:xfrm>
          <a:prstGeom prst="rect">
            <a:avLst/>
          </a:prstGeom>
          <a:noFill/>
          <a:ln/>
        </p:spPr>
        <p:txBody>
          <a:bodyPr wrap="square" rtlCol="0" anchor="ctr"/>
          <a:lstStyle/>
          <a:p>
            <a:pPr algn="ctr" indent="0" marL="0">
              <a:buNone/>
            </a:pPr>
            <a:r>
              <a:rPr lang="en-US" sz="1400" i="1" dirty="0">
                <a:solidFill>
                  <a:srgbClr val="7A8699"/>
                </a:solidFill>
                <a:latin typeface="Calibri" pitchFamily="34" charset="0"/>
                <a:ea typeface="Calibri" pitchFamily="34" charset="-122"/>
                <a:cs typeface="Calibri" pitchFamily="34" charset="-120"/>
              </a:rPr>
              <a:t>Each is broken differently. None gives a defensible open-market estimate.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Who Pays the Cost?</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608076" y="1554480"/>
            <a:ext cx="5303520" cy="2103120"/>
          </a:xfrm>
          <a:prstGeom prst="roundRect">
            <a:avLst>
              <a:gd name="adj" fmla="val 3478"/>
            </a:avLst>
          </a:prstGeom>
          <a:solidFill>
            <a:srgbClr val="FFFFFF"/>
          </a:solidFill>
          <a:ln w="12700">
            <a:solidFill>
              <a:srgbClr val="C9D1DD"/>
            </a:solidFill>
            <a:prstDash val="solid"/>
          </a:ln>
        </p:spPr>
      </p:sp>
      <p:sp>
        <p:nvSpPr>
          <p:cNvPr id="8" name="Shape 5"/>
          <p:cNvSpPr/>
          <p:nvPr/>
        </p:nvSpPr>
        <p:spPr>
          <a:xfrm>
            <a:off x="608076" y="1554480"/>
            <a:ext cx="109728" cy="2103120"/>
          </a:xfrm>
          <a:prstGeom prst="rect">
            <a:avLst/>
          </a:prstGeom>
          <a:solidFill>
            <a:srgbClr val="D4A843"/>
          </a:solidFill>
          <a:ln w="12700">
            <a:solidFill>
              <a:srgbClr val="D4A843"/>
            </a:solidFill>
            <a:prstDash val="solid"/>
          </a:ln>
        </p:spPr>
      </p:sp>
      <p:sp>
        <p:nvSpPr>
          <p:cNvPr id="9" name="Shape 6"/>
          <p:cNvSpPr/>
          <p:nvPr/>
        </p:nvSpPr>
        <p:spPr>
          <a:xfrm>
            <a:off x="882396" y="1828800"/>
            <a:ext cx="457200" cy="457200"/>
          </a:xfrm>
          <a:prstGeom prst="ellipse">
            <a:avLst/>
          </a:prstGeom>
          <a:solidFill>
            <a:srgbClr val="D4A843"/>
          </a:solidFill>
          <a:ln w="12700">
            <a:solidFill>
              <a:srgbClr val="D4A843"/>
            </a:solidFill>
            <a:prstDash val="solid"/>
          </a:ln>
        </p:spPr>
      </p:sp>
      <p:sp>
        <p:nvSpPr>
          <p:cNvPr id="10" name="Text 7"/>
          <p:cNvSpPr/>
          <p:nvPr/>
        </p:nvSpPr>
        <p:spPr>
          <a:xfrm>
            <a:off x="88239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B</a:t>
            </a:r>
            <a:endParaRPr lang="en-US" sz="1600" dirty="0"/>
          </a:p>
        </p:txBody>
      </p:sp>
      <p:sp>
        <p:nvSpPr>
          <p:cNvPr id="11" name="Text 8"/>
          <p:cNvSpPr/>
          <p:nvPr/>
        </p:nvSpPr>
        <p:spPr>
          <a:xfrm>
            <a:off x="1476756" y="1828800"/>
            <a:ext cx="420624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Buyers</a:t>
            </a:r>
            <a:endParaRPr lang="en-US" sz="1600" dirty="0"/>
          </a:p>
        </p:txBody>
      </p:sp>
      <p:sp>
        <p:nvSpPr>
          <p:cNvPr id="12" name="Text 9"/>
          <p:cNvSpPr/>
          <p:nvPr/>
        </p:nvSpPr>
        <p:spPr>
          <a:xfrm>
            <a:off x="882396" y="2423160"/>
            <a:ext cx="475488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No reliable reference for negotiation. Risk of overpaying or walking from fair-value properties.</a:t>
            </a:r>
            <a:endParaRPr lang="en-US" sz="1300" dirty="0"/>
          </a:p>
        </p:txBody>
      </p:sp>
      <p:sp>
        <p:nvSpPr>
          <p:cNvPr id="13" name="Shape 10"/>
          <p:cNvSpPr/>
          <p:nvPr/>
        </p:nvSpPr>
        <p:spPr>
          <a:xfrm>
            <a:off x="6277356" y="1554480"/>
            <a:ext cx="5303520" cy="2103120"/>
          </a:xfrm>
          <a:prstGeom prst="roundRect">
            <a:avLst>
              <a:gd name="adj" fmla="val 3478"/>
            </a:avLst>
          </a:prstGeom>
          <a:solidFill>
            <a:srgbClr val="FFFFFF"/>
          </a:solidFill>
          <a:ln w="12700">
            <a:solidFill>
              <a:srgbClr val="C9D1DD"/>
            </a:solidFill>
            <a:prstDash val="solid"/>
          </a:ln>
        </p:spPr>
      </p:sp>
      <p:sp>
        <p:nvSpPr>
          <p:cNvPr id="14" name="Shape 11"/>
          <p:cNvSpPr/>
          <p:nvPr/>
        </p:nvSpPr>
        <p:spPr>
          <a:xfrm>
            <a:off x="6277356" y="1554480"/>
            <a:ext cx="109728" cy="2103120"/>
          </a:xfrm>
          <a:prstGeom prst="rect">
            <a:avLst/>
          </a:prstGeom>
          <a:solidFill>
            <a:srgbClr val="D4A843"/>
          </a:solidFill>
          <a:ln w="12700">
            <a:solidFill>
              <a:srgbClr val="D4A843"/>
            </a:solidFill>
            <a:prstDash val="solid"/>
          </a:ln>
        </p:spPr>
      </p:sp>
      <p:sp>
        <p:nvSpPr>
          <p:cNvPr id="15" name="Shape 12"/>
          <p:cNvSpPr/>
          <p:nvPr/>
        </p:nvSpPr>
        <p:spPr>
          <a:xfrm>
            <a:off x="6551676" y="1828800"/>
            <a:ext cx="457200" cy="457200"/>
          </a:xfrm>
          <a:prstGeom prst="ellipse">
            <a:avLst/>
          </a:prstGeom>
          <a:solidFill>
            <a:srgbClr val="D4A843"/>
          </a:solidFill>
          <a:ln w="12700">
            <a:solidFill>
              <a:srgbClr val="D4A843"/>
            </a:solidFill>
            <a:prstDash val="solid"/>
          </a:ln>
        </p:spPr>
      </p:sp>
      <p:sp>
        <p:nvSpPr>
          <p:cNvPr id="16" name="Text 13"/>
          <p:cNvSpPr/>
          <p:nvPr/>
        </p:nvSpPr>
        <p:spPr>
          <a:xfrm>
            <a:off x="655167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S</a:t>
            </a:r>
            <a:endParaRPr lang="en-US" sz="1600" dirty="0"/>
          </a:p>
        </p:txBody>
      </p:sp>
      <p:sp>
        <p:nvSpPr>
          <p:cNvPr id="17" name="Text 14"/>
          <p:cNvSpPr/>
          <p:nvPr/>
        </p:nvSpPr>
        <p:spPr>
          <a:xfrm>
            <a:off x="7146036" y="1828800"/>
            <a:ext cx="420624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Sellers</a:t>
            </a:r>
            <a:endParaRPr lang="en-US" sz="1600" dirty="0"/>
          </a:p>
        </p:txBody>
      </p:sp>
      <p:sp>
        <p:nvSpPr>
          <p:cNvPr id="18" name="Text 15"/>
          <p:cNvSpPr/>
          <p:nvPr/>
        </p:nvSpPr>
        <p:spPr>
          <a:xfrm>
            <a:off x="6551676" y="2423160"/>
            <a:ext cx="475488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No market anchor for pricing. Hold at unrealistic asking, or underprice in confusion.</a:t>
            </a:r>
            <a:endParaRPr lang="en-US" sz="1300" dirty="0"/>
          </a:p>
        </p:txBody>
      </p:sp>
      <p:sp>
        <p:nvSpPr>
          <p:cNvPr id="19" name="Shape 16"/>
          <p:cNvSpPr/>
          <p:nvPr/>
        </p:nvSpPr>
        <p:spPr>
          <a:xfrm>
            <a:off x="608076" y="4023360"/>
            <a:ext cx="5303520" cy="2103120"/>
          </a:xfrm>
          <a:prstGeom prst="roundRect">
            <a:avLst>
              <a:gd name="adj" fmla="val 3478"/>
            </a:avLst>
          </a:prstGeom>
          <a:solidFill>
            <a:srgbClr val="FFFFFF"/>
          </a:solidFill>
          <a:ln w="12700">
            <a:solidFill>
              <a:srgbClr val="C9D1DD"/>
            </a:solidFill>
            <a:prstDash val="solid"/>
          </a:ln>
        </p:spPr>
      </p:sp>
      <p:sp>
        <p:nvSpPr>
          <p:cNvPr id="20" name="Shape 17"/>
          <p:cNvSpPr/>
          <p:nvPr/>
        </p:nvSpPr>
        <p:spPr>
          <a:xfrm>
            <a:off x="608076" y="4023360"/>
            <a:ext cx="109728" cy="2103120"/>
          </a:xfrm>
          <a:prstGeom prst="rect">
            <a:avLst/>
          </a:prstGeom>
          <a:solidFill>
            <a:srgbClr val="D4A843"/>
          </a:solidFill>
          <a:ln w="12700">
            <a:solidFill>
              <a:srgbClr val="D4A843"/>
            </a:solidFill>
            <a:prstDash val="solid"/>
          </a:ln>
        </p:spPr>
      </p:sp>
      <p:sp>
        <p:nvSpPr>
          <p:cNvPr id="21" name="Shape 18"/>
          <p:cNvSpPr/>
          <p:nvPr/>
        </p:nvSpPr>
        <p:spPr>
          <a:xfrm>
            <a:off x="882396" y="4297680"/>
            <a:ext cx="457200" cy="457200"/>
          </a:xfrm>
          <a:prstGeom prst="ellipse">
            <a:avLst/>
          </a:prstGeom>
          <a:solidFill>
            <a:srgbClr val="D4A843"/>
          </a:solidFill>
          <a:ln w="12700">
            <a:solidFill>
              <a:srgbClr val="D4A843"/>
            </a:solidFill>
            <a:prstDash val="solid"/>
          </a:ln>
        </p:spPr>
      </p:sp>
      <p:sp>
        <p:nvSpPr>
          <p:cNvPr id="22" name="Text 19"/>
          <p:cNvSpPr/>
          <p:nvPr/>
        </p:nvSpPr>
        <p:spPr>
          <a:xfrm>
            <a:off x="882396" y="429768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a:t>
            </a:r>
            <a:endParaRPr lang="en-US" sz="1600" dirty="0"/>
          </a:p>
        </p:txBody>
      </p:sp>
      <p:sp>
        <p:nvSpPr>
          <p:cNvPr id="23" name="Text 20"/>
          <p:cNvSpPr/>
          <p:nvPr/>
        </p:nvSpPr>
        <p:spPr>
          <a:xfrm>
            <a:off x="1476756" y="4297680"/>
            <a:ext cx="420624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Banks</a:t>
            </a:r>
            <a:endParaRPr lang="en-US" sz="1600" dirty="0"/>
          </a:p>
        </p:txBody>
      </p:sp>
      <p:sp>
        <p:nvSpPr>
          <p:cNvPr id="24" name="Text 21"/>
          <p:cNvSpPr/>
          <p:nvPr/>
        </p:nvSpPr>
        <p:spPr>
          <a:xfrm>
            <a:off x="882396" y="4892040"/>
            <a:ext cx="475488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Collateral risk when appraisal and market diverge significantly.</a:t>
            </a:r>
            <a:endParaRPr lang="en-US" sz="1300" dirty="0"/>
          </a:p>
        </p:txBody>
      </p:sp>
      <p:sp>
        <p:nvSpPr>
          <p:cNvPr id="25" name="Shape 22"/>
          <p:cNvSpPr/>
          <p:nvPr/>
        </p:nvSpPr>
        <p:spPr>
          <a:xfrm>
            <a:off x="6277356" y="4023360"/>
            <a:ext cx="5303520" cy="2103120"/>
          </a:xfrm>
          <a:prstGeom prst="roundRect">
            <a:avLst>
              <a:gd name="adj" fmla="val 3478"/>
            </a:avLst>
          </a:prstGeom>
          <a:solidFill>
            <a:srgbClr val="FFFFFF"/>
          </a:solidFill>
          <a:ln w="12700">
            <a:solidFill>
              <a:srgbClr val="C9D1DD"/>
            </a:solidFill>
            <a:prstDash val="solid"/>
          </a:ln>
        </p:spPr>
      </p:sp>
      <p:sp>
        <p:nvSpPr>
          <p:cNvPr id="26" name="Shape 23"/>
          <p:cNvSpPr/>
          <p:nvPr/>
        </p:nvSpPr>
        <p:spPr>
          <a:xfrm>
            <a:off x="6277356" y="4023360"/>
            <a:ext cx="109728" cy="2103120"/>
          </a:xfrm>
          <a:prstGeom prst="rect">
            <a:avLst/>
          </a:prstGeom>
          <a:solidFill>
            <a:srgbClr val="D4A843"/>
          </a:solidFill>
          <a:ln w="12700">
            <a:solidFill>
              <a:srgbClr val="D4A843"/>
            </a:solidFill>
            <a:prstDash val="solid"/>
          </a:ln>
        </p:spPr>
      </p:sp>
      <p:sp>
        <p:nvSpPr>
          <p:cNvPr id="27" name="Shape 24"/>
          <p:cNvSpPr/>
          <p:nvPr/>
        </p:nvSpPr>
        <p:spPr>
          <a:xfrm>
            <a:off x="6551676" y="4297680"/>
            <a:ext cx="457200" cy="457200"/>
          </a:xfrm>
          <a:prstGeom prst="ellipse">
            <a:avLst/>
          </a:prstGeom>
          <a:solidFill>
            <a:srgbClr val="D4A843"/>
          </a:solidFill>
          <a:ln w="12700">
            <a:solidFill>
              <a:srgbClr val="D4A843"/>
            </a:solidFill>
            <a:prstDash val="solid"/>
          </a:ln>
        </p:spPr>
      </p:sp>
      <p:sp>
        <p:nvSpPr>
          <p:cNvPr id="28" name="Text 25"/>
          <p:cNvSpPr/>
          <p:nvPr/>
        </p:nvSpPr>
        <p:spPr>
          <a:xfrm>
            <a:off x="6551676" y="429768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L</a:t>
            </a:r>
            <a:endParaRPr lang="en-US" sz="1600" dirty="0"/>
          </a:p>
        </p:txBody>
      </p:sp>
      <p:sp>
        <p:nvSpPr>
          <p:cNvPr id="29" name="Text 26"/>
          <p:cNvSpPr/>
          <p:nvPr/>
        </p:nvSpPr>
        <p:spPr>
          <a:xfrm>
            <a:off x="7146036" y="4297680"/>
            <a:ext cx="420624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LGUs</a:t>
            </a:r>
            <a:endParaRPr lang="en-US" sz="1600" dirty="0"/>
          </a:p>
        </p:txBody>
      </p:sp>
      <p:sp>
        <p:nvSpPr>
          <p:cNvPr id="30" name="Text 27"/>
          <p:cNvSpPr/>
          <p:nvPr/>
        </p:nvSpPr>
        <p:spPr>
          <a:xfrm>
            <a:off x="6551676" y="4892040"/>
            <a:ext cx="475488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Undervalued tax base when zonal rates lag 30–50% behind market prices.</a:t>
            </a:r>
            <a:endParaRPr lang="en-US" sz="1300" dirty="0"/>
          </a:p>
        </p:txBody>
      </p:sp>
      <p:sp>
        <p:nvSpPr>
          <p:cNvPr id="31" name="Text 28"/>
          <p:cNvSpPr/>
          <p:nvPr/>
        </p:nvSpPr>
        <p:spPr>
          <a:xfrm>
            <a:off x="548640" y="6035040"/>
            <a:ext cx="11091672" cy="365760"/>
          </a:xfrm>
          <a:prstGeom prst="rect">
            <a:avLst/>
          </a:prstGeom>
          <a:noFill/>
          <a:ln/>
        </p:spPr>
        <p:txBody>
          <a:bodyPr wrap="square" rtlCol="0" anchor="ctr"/>
          <a:lstStyle/>
          <a:p>
            <a:pPr algn="ctr" indent="0" marL="0">
              <a:buNone/>
            </a:pPr>
            <a:r>
              <a:rPr lang="en-US" sz="1500" b="1" i="1" dirty="0">
                <a:solidFill>
                  <a:srgbClr val="1B2A4A"/>
                </a:solidFill>
                <a:latin typeface="Calibri" pitchFamily="34" charset="0"/>
                <a:ea typeface="Calibri" pitchFamily="34" charset="-122"/>
                <a:cs typeface="Calibri" pitchFamily="34" charset="-120"/>
              </a:rPr>
              <a:t>The problem is not a lack of data. It is a lack of integration.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Why Metro Cebu, and Why Now</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379476" y="1554480"/>
            <a:ext cx="3657600" cy="3200400"/>
          </a:xfrm>
          <a:prstGeom prst="roundRect">
            <a:avLst>
              <a:gd name="adj" fmla="val 2286"/>
            </a:avLst>
          </a:prstGeom>
          <a:solidFill>
            <a:srgbClr val="FFFFFF"/>
          </a:solidFill>
          <a:ln w="12700">
            <a:solidFill>
              <a:srgbClr val="C9D1DD"/>
            </a:solidFill>
            <a:prstDash val="solid"/>
          </a:ln>
        </p:spPr>
      </p:sp>
      <p:sp>
        <p:nvSpPr>
          <p:cNvPr id="8" name="Shape 5"/>
          <p:cNvSpPr/>
          <p:nvPr/>
        </p:nvSpPr>
        <p:spPr>
          <a:xfrm>
            <a:off x="653796" y="1828800"/>
            <a:ext cx="457200" cy="457200"/>
          </a:xfrm>
          <a:prstGeom prst="ellipse">
            <a:avLst/>
          </a:prstGeom>
          <a:solidFill>
            <a:srgbClr val="D4A843"/>
          </a:solidFill>
          <a:ln w="12700">
            <a:solidFill>
              <a:srgbClr val="D4A843"/>
            </a:solidFill>
            <a:prstDash val="solid"/>
          </a:ln>
        </p:spPr>
      </p:sp>
      <p:sp>
        <p:nvSpPr>
          <p:cNvPr id="9" name="Text 6"/>
          <p:cNvSpPr/>
          <p:nvPr/>
        </p:nvSpPr>
        <p:spPr>
          <a:xfrm>
            <a:off x="65379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I</a:t>
            </a:r>
            <a:endParaRPr lang="en-US" sz="1600" dirty="0"/>
          </a:p>
        </p:txBody>
      </p:sp>
      <p:sp>
        <p:nvSpPr>
          <p:cNvPr id="10" name="Text 7"/>
          <p:cNvSpPr/>
          <p:nvPr/>
        </p:nvSpPr>
        <p:spPr>
          <a:xfrm>
            <a:off x="1248156" y="1828800"/>
            <a:ext cx="256032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Prices outpace benchmarks</a:t>
            </a:r>
            <a:endParaRPr lang="en-US" sz="1600" dirty="0"/>
          </a:p>
        </p:txBody>
      </p:sp>
      <p:sp>
        <p:nvSpPr>
          <p:cNvPr id="11" name="Text 8"/>
          <p:cNvSpPr/>
          <p:nvPr/>
        </p:nvSpPr>
        <p:spPr>
          <a:xfrm>
            <a:off x="653796" y="2423160"/>
            <a:ext cx="3108960" cy="21945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11.5% growth vs. stagnant zonal values—the gap widens with every transaction.</a:t>
            </a:r>
            <a:endParaRPr lang="en-US" sz="1300" dirty="0"/>
          </a:p>
        </p:txBody>
      </p:sp>
      <p:sp>
        <p:nvSpPr>
          <p:cNvPr id="12" name="Shape 9"/>
          <p:cNvSpPr/>
          <p:nvPr/>
        </p:nvSpPr>
        <p:spPr>
          <a:xfrm>
            <a:off x="4265676" y="1554480"/>
            <a:ext cx="3657600" cy="3200400"/>
          </a:xfrm>
          <a:prstGeom prst="roundRect">
            <a:avLst>
              <a:gd name="adj" fmla="val 2286"/>
            </a:avLst>
          </a:prstGeom>
          <a:solidFill>
            <a:srgbClr val="FFFFFF"/>
          </a:solidFill>
          <a:ln w="12700">
            <a:solidFill>
              <a:srgbClr val="C9D1DD"/>
            </a:solidFill>
            <a:prstDash val="solid"/>
          </a:ln>
        </p:spPr>
      </p:sp>
      <p:sp>
        <p:nvSpPr>
          <p:cNvPr id="13" name="Shape 10"/>
          <p:cNvSpPr/>
          <p:nvPr/>
        </p:nvSpPr>
        <p:spPr>
          <a:xfrm>
            <a:off x="4539996" y="1828800"/>
            <a:ext cx="457200" cy="457200"/>
          </a:xfrm>
          <a:prstGeom prst="ellipse">
            <a:avLst/>
          </a:prstGeom>
          <a:solidFill>
            <a:srgbClr val="D4A843"/>
          </a:solidFill>
          <a:ln w="12700">
            <a:solidFill>
              <a:srgbClr val="D4A843"/>
            </a:solidFill>
            <a:prstDash val="solid"/>
          </a:ln>
        </p:spPr>
      </p:sp>
      <p:sp>
        <p:nvSpPr>
          <p:cNvPr id="14" name="Text 11"/>
          <p:cNvSpPr/>
          <p:nvPr/>
        </p:nvSpPr>
        <p:spPr>
          <a:xfrm>
            <a:off x="453999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II</a:t>
            </a:r>
            <a:endParaRPr lang="en-US" sz="1600" dirty="0"/>
          </a:p>
        </p:txBody>
      </p:sp>
      <p:sp>
        <p:nvSpPr>
          <p:cNvPr id="15" name="Text 12"/>
          <p:cNvSpPr/>
          <p:nvPr/>
        </p:nvSpPr>
        <p:spPr>
          <a:xfrm>
            <a:off x="5134356" y="1828800"/>
            <a:ext cx="256032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Infrastructure rewriting access</a:t>
            </a:r>
            <a:endParaRPr lang="en-US" sz="1600" dirty="0"/>
          </a:p>
        </p:txBody>
      </p:sp>
      <p:sp>
        <p:nvSpPr>
          <p:cNvPr id="16" name="Text 13"/>
          <p:cNvSpPr/>
          <p:nvPr/>
        </p:nvSpPr>
        <p:spPr>
          <a:xfrm>
            <a:off x="4539996" y="2423160"/>
            <a:ext cx="3108960" cy="21945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CBRT, Metro Cebu Expressway, SRP are reshaping which barangays sit 15 minutes from the CBD.</a:t>
            </a:r>
            <a:endParaRPr lang="en-US" sz="1300" dirty="0"/>
          </a:p>
        </p:txBody>
      </p:sp>
      <p:sp>
        <p:nvSpPr>
          <p:cNvPr id="17" name="Shape 14"/>
          <p:cNvSpPr/>
          <p:nvPr/>
        </p:nvSpPr>
        <p:spPr>
          <a:xfrm>
            <a:off x="8151876" y="1554480"/>
            <a:ext cx="3657600" cy="3200400"/>
          </a:xfrm>
          <a:prstGeom prst="roundRect">
            <a:avLst>
              <a:gd name="adj" fmla="val 2286"/>
            </a:avLst>
          </a:prstGeom>
          <a:solidFill>
            <a:srgbClr val="FFFFFF"/>
          </a:solidFill>
          <a:ln w="12700">
            <a:solidFill>
              <a:srgbClr val="C9D1DD"/>
            </a:solidFill>
            <a:prstDash val="solid"/>
          </a:ln>
        </p:spPr>
      </p:sp>
      <p:sp>
        <p:nvSpPr>
          <p:cNvPr id="18" name="Shape 15"/>
          <p:cNvSpPr/>
          <p:nvPr/>
        </p:nvSpPr>
        <p:spPr>
          <a:xfrm>
            <a:off x="8426196" y="1828800"/>
            <a:ext cx="457200" cy="457200"/>
          </a:xfrm>
          <a:prstGeom prst="ellipse">
            <a:avLst/>
          </a:prstGeom>
          <a:solidFill>
            <a:srgbClr val="D4A843"/>
          </a:solidFill>
          <a:ln w="12700">
            <a:solidFill>
              <a:srgbClr val="D4A843"/>
            </a:solidFill>
            <a:prstDash val="solid"/>
          </a:ln>
        </p:spPr>
      </p:sp>
      <p:sp>
        <p:nvSpPr>
          <p:cNvPr id="19" name="Text 16"/>
          <p:cNvSpPr/>
          <p:nvPr/>
        </p:nvSpPr>
        <p:spPr>
          <a:xfrm>
            <a:off x="842619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III</a:t>
            </a:r>
            <a:endParaRPr lang="en-US" sz="1600" dirty="0"/>
          </a:p>
        </p:txBody>
      </p:sp>
      <p:sp>
        <p:nvSpPr>
          <p:cNvPr id="20" name="Text 17"/>
          <p:cNvSpPr/>
          <p:nvPr/>
        </p:nvSpPr>
        <p:spPr>
          <a:xfrm>
            <a:off x="9020556" y="1828800"/>
            <a:ext cx="256032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Property-level data feasible</a:t>
            </a:r>
            <a:endParaRPr lang="en-US" sz="1600" dirty="0"/>
          </a:p>
        </p:txBody>
      </p:sp>
      <p:sp>
        <p:nvSpPr>
          <p:cNvPr id="21" name="Text 18"/>
          <p:cNvSpPr/>
          <p:nvPr/>
        </p:nvSpPr>
        <p:spPr>
          <a:xfrm>
            <a:off x="8426196" y="2423160"/>
            <a:ext cx="3108960" cy="21945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Lamudi listings, OpenStreetMap routing, and geocoding APIs replace sealed deed records.</a:t>
            </a:r>
            <a:endParaRPr lang="en-US" sz="1300" dirty="0"/>
          </a:p>
        </p:txBody>
      </p:sp>
      <p:sp>
        <p:nvSpPr>
          <p:cNvPr id="22" name="Text 19"/>
          <p:cNvSpPr/>
          <p:nvPr/>
        </p:nvSpPr>
        <p:spPr>
          <a:xfrm>
            <a:off x="548640" y="5212080"/>
            <a:ext cx="11091672" cy="109728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Note: This research is also informed by firsthand exposure to Metro Cebu's residential market through a family business. The methodology is designed to be reproducible and objective.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APPROACH</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Research Gap → What We Built</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1248156" y="1554480"/>
            <a:ext cx="1828800" cy="329184"/>
          </a:xfrm>
          <a:prstGeom prst="rect">
            <a:avLst/>
          </a:prstGeom>
          <a:solidFill>
            <a:srgbClr val="D4A843"/>
          </a:solidFill>
          <a:ln w="12700">
            <a:solidFill>
              <a:srgbClr val="D4A843"/>
            </a:solidFill>
            <a:prstDash val="solid"/>
          </a:ln>
        </p:spPr>
      </p:sp>
      <p:sp>
        <p:nvSpPr>
          <p:cNvPr id="8" name="Text 5"/>
          <p:cNvSpPr/>
          <p:nvPr/>
        </p:nvSpPr>
        <p:spPr>
          <a:xfrm>
            <a:off x="1248156" y="1554480"/>
            <a:ext cx="1828800" cy="329184"/>
          </a:xfrm>
          <a:prstGeom prst="rect">
            <a:avLst/>
          </a:prstGeom>
          <a:noFill/>
          <a:ln/>
        </p:spPr>
        <p:txBody>
          <a:bodyPr wrap="square" rtlCol="0" anchor="ctr"/>
          <a:lstStyle/>
          <a:p>
            <a:pPr algn="ctr" indent="0" marL="0">
              <a:buNone/>
            </a:pPr>
            <a:r>
              <a:rPr lang="en-US" sz="1000" b="1" spc="300" kern="0" dirty="0">
                <a:solidFill>
                  <a:srgbClr val="1B2A4A"/>
                </a:solidFill>
                <a:latin typeface="Calibri" pitchFamily="34" charset="0"/>
                <a:ea typeface="Calibri" pitchFamily="34" charset="-122"/>
                <a:cs typeface="Calibri" pitchFamily="34" charset="-120"/>
              </a:rPr>
              <a:t>GAP</a:t>
            </a:r>
            <a:endParaRPr lang="en-US" sz="1000" dirty="0"/>
          </a:p>
        </p:txBody>
      </p:sp>
      <p:sp>
        <p:nvSpPr>
          <p:cNvPr id="9" name="Shape 6"/>
          <p:cNvSpPr/>
          <p:nvPr/>
        </p:nvSpPr>
        <p:spPr>
          <a:xfrm>
            <a:off x="379476" y="1828800"/>
            <a:ext cx="3566160" cy="3657600"/>
          </a:xfrm>
          <a:prstGeom prst="roundRect">
            <a:avLst>
              <a:gd name="adj" fmla="val 2051"/>
            </a:avLst>
          </a:prstGeom>
          <a:solidFill>
            <a:srgbClr val="FFFFFF"/>
          </a:solidFill>
          <a:ln w="19050">
            <a:solidFill>
              <a:srgbClr val="1B2A4A"/>
            </a:solidFill>
            <a:prstDash val="solid"/>
          </a:ln>
        </p:spPr>
      </p:sp>
      <p:sp>
        <p:nvSpPr>
          <p:cNvPr id="10" name="Text 7"/>
          <p:cNvSpPr/>
          <p:nvPr/>
        </p:nvSpPr>
        <p:spPr>
          <a:xfrm>
            <a:off x="653796" y="2286000"/>
            <a:ext cx="3017520" cy="548640"/>
          </a:xfrm>
          <a:prstGeom prst="rect">
            <a:avLst/>
          </a:prstGeom>
          <a:noFill/>
          <a:ln/>
        </p:spPr>
        <p:txBody>
          <a:bodyPr wrap="square" rtlCol="0" anchor="ctr"/>
          <a:lstStyle/>
          <a:p>
            <a:pPr algn="l" indent="0" marL="0">
              <a:buNone/>
            </a:pPr>
            <a:r>
              <a:rPr lang="en-US" sz="2000" b="1" dirty="0">
                <a:solidFill>
                  <a:srgbClr val="1B2A4A"/>
                </a:solidFill>
                <a:latin typeface="Calibri" pitchFamily="34" charset="0"/>
                <a:ea typeface="Calibri" pitchFamily="34" charset="-122"/>
                <a:cs typeface="Calibri" pitchFamily="34" charset="-120"/>
              </a:rPr>
              <a:t>What's Missing</a:t>
            </a:r>
            <a:endParaRPr lang="en-US" sz="2000" dirty="0"/>
          </a:p>
        </p:txBody>
      </p:sp>
      <p:sp>
        <p:nvSpPr>
          <p:cNvPr id="11" name="Text 8"/>
          <p:cNvSpPr/>
          <p:nvPr/>
        </p:nvSpPr>
        <p:spPr>
          <a:xfrm>
            <a:off x="653796" y="3017520"/>
            <a:ext cx="3017520" cy="2286000"/>
          </a:xfrm>
          <a:prstGeom prst="rect">
            <a:avLst/>
          </a:prstGeom>
          <a:noFill/>
          <a:ln/>
        </p:spPr>
        <p:txBody>
          <a:bodyPr wrap="square" rtlCol="0" anchor="t"/>
          <a:lstStyle/>
          <a:p>
            <a:pPr algn="l" indent="0" marL="0">
              <a:buNone/>
            </a:pPr>
            <a:r>
              <a:rPr lang="en-US" sz="1300" dirty="0">
                <a:solidFill>
                  <a:srgbClr val="2C3E50"/>
                </a:solidFill>
                <a:latin typeface="Calibri" pitchFamily="34" charset="0"/>
                <a:ea typeface="Calibri" pitchFamily="34" charset="-122"/>
                <a:cs typeface="Calibri" pitchFamily="34" charset="-120"/>
              </a:rPr>
              <a:t>No published, reproducible, property-level valuation model for Metro Cebu integrating listing data + geospatial accessibility + ML explainability.</a:t>
            </a:r>
            <a:endParaRPr lang="en-US" sz="1300" dirty="0"/>
          </a:p>
        </p:txBody>
      </p:sp>
      <p:sp>
        <p:nvSpPr>
          <p:cNvPr id="12" name="Shape 9"/>
          <p:cNvSpPr/>
          <p:nvPr/>
        </p:nvSpPr>
        <p:spPr>
          <a:xfrm>
            <a:off x="4110228" y="3474720"/>
            <a:ext cx="164592" cy="292608"/>
          </a:xfrm>
          <a:prstGeom prst="rightTriangle">
            <a:avLst/>
          </a:prstGeom>
          <a:solidFill>
            <a:srgbClr val="D4A843"/>
          </a:solidFill>
          <a:ln w="12700">
            <a:solidFill>
              <a:srgbClr val="D4A843"/>
            </a:solidFill>
            <a:prstDash val="solid"/>
          </a:ln>
        </p:spPr>
      </p:sp>
      <p:sp>
        <p:nvSpPr>
          <p:cNvPr id="13" name="Shape 10"/>
          <p:cNvSpPr/>
          <p:nvPr/>
        </p:nvSpPr>
        <p:spPr>
          <a:xfrm>
            <a:off x="3991356" y="3593592"/>
            <a:ext cx="182880" cy="73152"/>
          </a:xfrm>
          <a:prstGeom prst="rect">
            <a:avLst/>
          </a:prstGeom>
          <a:solidFill>
            <a:srgbClr val="D4A843"/>
          </a:solidFill>
          <a:ln w="12700">
            <a:solidFill>
              <a:srgbClr val="D4A843"/>
            </a:solidFill>
            <a:prstDash val="solid"/>
          </a:ln>
        </p:spPr>
      </p:sp>
      <p:sp>
        <p:nvSpPr>
          <p:cNvPr id="14" name="Shape 11"/>
          <p:cNvSpPr/>
          <p:nvPr/>
        </p:nvSpPr>
        <p:spPr>
          <a:xfrm>
            <a:off x="5180076" y="1554480"/>
            <a:ext cx="1828800" cy="329184"/>
          </a:xfrm>
          <a:prstGeom prst="rect">
            <a:avLst/>
          </a:prstGeom>
          <a:solidFill>
            <a:srgbClr val="D4A843"/>
          </a:solidFill>
          <a:ln w="12700">
            <a:solidFill>
              <a:srgbClr val="D4A843"/>
            </a:solidFill>
            <a:prstDash val="solid"/>
          </a:ln>
        </p:spPr>
      </p:sp>
      <p:sp>
        <p:nvSpPr>
          <p:cNvPr id="15" name="Text 12"/>
          <p:cNvSpPr/>
          <p:nvPr/>
        </p:nvSpPr>
        <p:spPr>
          <a:xfrm>
            <a:off x="5180076" y="1554480"/>
            <a:ext cx="1828800" cy="329184"/>
          </a:xfrm>
          <a:prstGeom prst="rect">
            <a:avLst/>
          </a:prstGeom>
          <a:noFill/>
          <a:ln/>
        </p:spPr>
        <p:txBody>
          <a:bodyPr wrap="square" rtlCol="0" anchor="ctr"/>
          <a:lstStyle/>
          <a:p>
            <a:pPr algn="ctr" indent="0" marL="0">
              <a:buNone/>
            </a:pPr>
            <a:r>
              <a:rPr lang="en-US" sz="1000" b="1" spc="300" kern="0" dirty="0">
                <a:solidFill>
                  <a:srgbClr val="1B2A4A"/>
                </a:solidFill>
                <a:latin typeface="Calibri" pitchFamily="34" charset="0"/>
                <a:ea typeface="Calibri" pitchFamily="34" charset="-122"/>
                <a:cs typeface="Calibri" pitchFamily="34" charset="-120"/>
              </a:rPr>
              <a:t>APPROACH</a:t>
            </a:r>
            <a:endParaRPr lang="en-US" sz="1000" dirty="0"/>
          </a:p>
        </p:txBody>
      </p:sp>
      <p:sp>
        <p:nvSpPr>
          <p:cNvPr id="16" name="Shape 13"/>
          <p:cNvSpPr/>
          <p:nvPr/>
        </p:nvSpPr>
        <p:spPr>
          <a:xfrm>
            <a:off x="4311396" y="1828800"/>
            <a:ext cx="3566160" cy="3657600"/>
          </a:xfrm>
          <a:prstGeom prst="roundRect">
            <a:avLst>
              <a:gd name="adj" fmla="val 2051"/>
            </a:avLst>
          </a:prstGeom>
          <a:solidFill>
            <a:srgbClr val="FFFFFF"/>
          </a:solidFill>
          <a:ln w="19050">
            <a:solidFill>
              <a:srgbClr val="1B2A4A"/>
            </a:solidFill>
            <a:prstDash val="solid"/>
          </a:ln>
        </p:spPr>
      </p:sp>
      <p:sp>
        <p:nvSpPr>
          <p:cNvPr id="17" name="Text 14"/>
          <p:cNvSpPr/>
          <p:nvPr/>
        </p:nvSpPr>
        <p:spPr>
          <a:xfrm>
            <a:off x="4585716" y="2286000"/>
            <a:ext cx="3017520" cy="548640"/>
          </a:xfrm>
          <a:prstGeom prst="rect">
            <a:avLst/>
          </a:prstGeom>
          <a:noFill/>
          <a:ln/>
        </p:spPr>
        <p:txBody>
          <a:bodyPr wrap="square" rtlCol="0" anchor="ctr"/>
          <a:lstStyle/>
          <a:p>
            <a:pPr algn="l" indent="0" marL="0">
              <a:buNone/>
            </a:pPr>
            <a:r>
              <a:rPr lang="en-US" sz="2000" b="1" dirty="0">
                <a:solidFill>
                  <a:srgbClr val="1B2A4A"/>
                </a:solidFill>
                <a:latin typeface="Calibri" pitchFamily="34" charset="0"/>
                <a:ea typeface="Calibri" pitchFamily="34" charset="-122"/>
                <a:cs typeface="Calibri" pitchFamily="34" charset="-120"/>
              </a:rPr>
              <a:t>What We Did</a:t>
            </a:r>
            <a:endParaRPr lang="en-US" sz="2000" dirty="0"/>
          </a:p>
        </p:txBody>
      </p:sp>
      <p:sp>
        <p:nvSpPr>
          <p:cNvPr id="18" name="Text 15"/>
          <p:cNvSpPr/>
          <p:nvPr/>
        </p:nvSpPr>
        <p:spPr>
          <a:xfrm>
            <a:off x="4585716" y="3017520"/>
            <a:ext cx="3017520" cy="2286000"/>
          </a:xfrm>
          <a:prstGeom prst="rect">
            <a:avLst/>
          </a:prstGeom>
          <a:noFill/>
          <a:ln/>
        </p:spPr>
        <p:txBody>
          <a:bodyPr wrap="square" rtlCol="0" anchor="t"/>
          <a:lstStyle/>
          <a:p>
            <a:pPr algn="l" indent="0" marL="0">
              <a:buNone/>
            </a:pPr>
            <a:r>
              <a:rPr lang="en-US" sz="1300" dirty="0">
                <a:solidFill>
                  <a:srgbClr val="2C3E50"/>
                </a:solidFill>
                <a:latin typeface="Calibri" pitchFamily="34" charset="0"/>
                <a:ea typeface="Calibri" pitchFamily="34" charset="-122"/>
                <a:cs typeface="Calibri" pitchFamily="34" charset="-120"/>
              </a:rPr>
              <a:t>Trained on open-market listings (IVS 2025 arm's-length). Engineered geospatial features from urban-economics literature.</a:t>
            </a:r>
            <a:endParaRPr lang="en-US" sz="1300" dirty="0"/>
          </a:p>
        </p:txBody>
      </p:sp>
      <p:sp>
        <p:nvSpPr>
          <p:cNvPr id="19" name="Shape 16"/>
          <p:cNvSpPr/>
          <p:nvPr/>
        </p:nvSpPr>
        <p:spPr>
          <a:xfrm>
            <a:off x="8042148" y="3474720"/>
            <a:ext cx="164592" cy="292608"/>
          </a:xfrm>
          <a:prstGeom prst="rightTriangle">
            <a:avLst/>
          </a:prstGeom>
          <a:solidFill>
            <a:srgbClr val="D4A843"/>
          </a:solidFill>
          <a:ln w="12700">
            <a:solidFill>
              <a:srgbClr val="D4A843"/>
            </a:solidFill>
            <a:prstDash val="solid"/>
          </a:ln>
        </p:spPr>
      </p:sp>
      <p:sp>
        <p:nvSpPr>
          <p:cNvPr id="20" name="Shape 17"/>
          <p:cNvSpPr/>
          <p:nvPr/>
        </p:nvSpPr>
        <p:spPr>
          <a:xfrm>
            <a:off x="7923276" y="3593592"/>
            <a:ext cx="182880" cy="73152"/>
          </a:xfrm>
          <a:prstGeom prst="rect">
            <a:avLst/>
          </a:prstGeom>
          <a:solidFill>
            <a:srgbClr val="D4A843"/>
          </a:solidFill>
          <a:ln w="12700">
            <a:solidFill>
              <a:srgbClr val="D4A843"/>
            </a:solidFill>
            <a:prstDash val="solid"/>
          </a:ln>
        </p:spPr>
      </p:sp>
      <p:sp>
        <p:nvSpPr>
          <p:cNvPr id="21" name="Shape 18"/>
          <p:cNvSpPr/>
          <p:nvPr/>
        </p:nvSpPr>
        <p:spPr>
          <a:xfrm>
            <a:off x="9111996" y="1554480"/>
            <a:ext cx="1828800" cy="329184"/>
          </a:xfrm>
          <a:prstGeom prst="rect">
            <a:avLst/>
          </a:prstGeom>
          <a:solidFill>
            <a:srgbClr val="D4A843"/>
          </a:solidFill>
          <a:ln w="12700">
            <a:solidFill>
              <a:srgbClr val="D4A843"/>
            </a:solidFill>
            <a:prstDash val="solid"/>
          </a:ln>
        </p:spPr>
      </p:sp>
      <p:sp>
        <p:nvSpPr>
          <p:cNvPr id="22" name="Text 19"/>
          <p:cNvSpPr/>
          <p:nvPr/>
        </p:nvSpPr>
        <p:spPr>
          <a:xfrm>
            <a:off x="9111996" y="1554480"/>
            <a:ext cx="1828800" cy="329184"/>
          </a:xfrm>
          <a:prstGeom prst="rect">
            <a:avLst/>
          </a:prstGeom>
          <a:noFill/>
          <a:ln/>
        </p:spPr>
        <p:txBody>
          <a:bodyPr wrap="square" rtlCol="0" anchor="ctr"/>
          <a:lstStyle/>
          <a:p>
            <a:pPr algn="ctr" indent="0" marL="0">
              <a:buNone/>
            </a:pPr>
            <a:r>
              <a:rPr lang="en-US" sz="1000" b="1" spc="300" kern="0" dirty="0">
                <a:solidFill>
                  <a:srgbClr val="1B2A4A"/>
                </a:solidFill>
                <a:latin typeface="Calibri" pitchFamily="34" charset="0"/>
                <a:ea typeface="Calibri" pitchFamily="34" charset="-122"/>
                <a:cs typeface="Calibri" pitchFamily="34" charset="-120"/>
              </a:rPr>
              <a:t>DELIVERABLE</a:t>
            </a:r>
            <a:endParaRPr lang="en-US" sz="1000" dirty="0"/>
          </a:p>
        </p:txBody>
      </p:sp>
      <p:sp>
        <p:nvSpPr>
          <p:cNvPr id="23" name="Shape 20"/>
          <p:cNvSpPr/>
          <p:nvPr/>
        </p:nvSpPr>
        <p:spPr>
          <a:xfrm>
            <a:off x="8243316" y="1828800"/>
            <a:ext cx="3566160" cy="3657600"/>
          </a:xfrm>
          <a:prstGeom prst="roundRect">
            <a:avLst>
              <a:gd name="adj" fmla="val 2051"/>
            </a:avLst>
          </a:prstGeom>
          <a:solidFill>
            <a:srgbClr val="FFFFFF"/>
          </a:solidFill>
          <a:ln w="19050">
            <a:solidFill>
              <a:srgbClr val="1B2A4A"/>
            </a:solidFill>
            <a:prstDash val="solid"/>
          </a:ln>
        </p:spPr>
      </p:sp>
      <p:sp>
        <p:nvSpPr>
          <p:cNvPr id="24" name="Text 21"/>
          <p:cNvSpPr/>
          <p:nvPr/>
        </p:nvSpPr>
        <p:spPr>
          <a:xfrm>
            <a:off x="8517636" y="2286000"/>
            <a:ext cx="3017520" cy="548640"/>
          </a:xfrm>
          <a:prstGeom prst="rect">
            <a:avLst/>
          </a:prstGeom>
          <a:noFill/>
          <a:ln/>
        </p:spPr>
        <p:txBody>
          <a:bodyPr wrap="square" rtlCol="0" anchor="ctr"/>
          <a:lstStyle/>
          <a:p>
            <a:pPr algn="l" indent="0" marL="0">
              <a:buNone/>
            </a:pPr>
            <a:r>
              <a:rPr lang="en-US" sz="2000" b="1" dirty="0">
                <a:solidFill>
                  <a:srgbClr val="1B2A4A"/>
                </a:solidFill>
                <a:latin typeface="Calibri" pitchFamily="34" charset="0"/>
                <a:ea typeface="Calibri" pitchFamily="34" charset="-122"/>
                <a:cs typeface="Calibri" pitchFamily="34" charset="-120"/>
              </a:rPr>
              <a:t>What Practitioners Get</a:t>
            </a:r>
            <a:endParaRPr lang="en-US" sz="2000" dirty="0"/>
          </a:p>
        </p:txBody>
      </p:sp>
      <p:sp>
        <p:nvSpPr>
          <p:cNvPr id="25" name="Text 22"/>
          <p:cNvSpPr/>
          <p:nvPr/>
        </p:nvSpPr>
        <p:spPr>
          <a:xfrm>
            <a:off x="8517636" y="3017520"/>
            <a:ext cx="3017520" cy="2286000"/>
          </a:xfrm>
          <a:prstGeom prst="rect">
            <a:avLst/>
          </a:prstGeom>
          <a:noFill/>
          <a:ln/>
        </p:spPr>
        <p:txBody>
          <a:bodyPr wrap="square" rtlCol="0" anchor="t"/>
          <a:lstStyle/>
          <a:p>
            <a:pPr algn="l" indent="0" marL="0">
              <a:buNone/>
            </a:pPr>
            <a:r>
              <a:rPr lang="en-US" sz="1300" dirty="0">
                <a:solidFill>
                  <a:srgbClr val="2C3E50"/>
                </a:solidFill>
                <a:latin typeface="Calibri" pitchFamily="34" charset="0"/>
                <a:ea typeface="Calibri" pitchFamily="34" charset="-122"/>
                <a:cs typeface="Calibri" pitchFamily="34" charset="-120"/>
              </a:rPr>
              <a:t>Streamlit web app + QGIS spatial layer. Transparent, explainable, locally calibrated price estimates with SHAP.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01</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ONE</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Research Design</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RESEARCH DESIGN</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Research Questions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1280160" cy="822960"/>
          </a:xfrm>
          <a:prstGeom prst="rect">
            <a:avLst/>
          </a:prstGeom>
          <a:solidFill>
            <a:srgbClr val="1B2A4A"/>
          </a:solidFill>
          <a:ln w="12700">
            <a:solidFill>
              <a:srgbClr val="1B2A4A"/>
            </a:solidFill>
            <a:prstDash val="solid"/>
          </a:ln>
        </p:spPr>
      </p:sp>
      <p:sp>
        <p:nvSpPr>
          <p:cNvPr id="8" name="Text 5"/>
          <p:cNvSpPr/>
          <p:nvPr/>
        </p:nvSpPr>
        <p:spPr>
          <a:xfrm>
            <a:off x="548640" y="1554480"/>
            <a:ext cx="1280160" cy="822960"/>
          </a:xfrm>
          <a:prstGeom prst="rect">
            <a:avLst/>
          </a:prstGeom>
          <a:noFill/>
          <a:ln/>
        </p:spPr>
        <p:txBody>
          <a:bodyPr wrap="square" rtlCol="0" anchor="ctr"/>
          <a:lstStyle/>
          <a:p>
            <a:pPr algn="ctr" indent="0" marL="0">
              <a:buNone/>
            </a:pPr>
            <a:r>
              <a:rPr lang="en-US" sz="1800" b="1" spc="100" kern="0" dirty="0">
                <a:solidFill>
                  <a:srgbClr val="D4A843"/>
                </a:solidFill>
                <a:latin typeface="Calibri" pitchFamily="34" charset="0"/>
                <a:ea typeface="Calibri" pitchFamily="34" charset="-122"/>
                <a:cs typeface="Calibri" pitchFamily="34" charset="-120"/>
              </a:rPr>
              <a:t>RQ 1</a:t>
            </a:r>
            <a:endParaRPr lang="en-US" sz="1800" dirty="0"/>
          </a:p>
        </p:txBody>
      </p:sp>
      <p:sp>
        <p:nvSpPr>
          <p:cNvPr id="9" name="Shape 6"/>
          <p:cNvSpPr/>
          <p:nvPr/>
        </p:nvSpPr>
        <p:spPr>
          <a:xfrm>
            <a:off x="1828800" y="1554480"/>
            <a:ext cx="9811512" cy="822960"/>
          </a:xfrm>
          <a:prstGeom prst="rect">
            <a:avLst/>
          </a:prstGeom>
          <a:solidFill>
            <a:srgbClr val="EEF1F6"/>
          </a:solidFill>
          <a:ln w="12700">
            <a:solidFill>
              <a:srgbClr val="EEF1F6"/>
            </a:solidFill>
            <a:prstDash val="solid"/>
          </a:ln>
        </p:spPr>
      </p:sp>
      <p:sp>
        <p:nvSpPr>
          <p:cNvPr id="10" name="Text 7"/>
          <p:cNvSpPr/>
          <p:nvPr/>
        </p:nvSpPr>
        <p:spPr>
          <a:xfrm>
            <a:off x="2103120" y="1554480"/>
            <a:ext cx="9445752" cy="822960"/>
          </a:xfrm>
          <a:prstGeom prst="rect">
            <a:avLst/>
          </a:prstGeom>
          <a:noFill/>
          <a:ln/>
        </p:spPr>
        <p:txBody>
          <a:bodyPr wrap="square" rtlCol="0" anchor="ctr"/>
          <a:lstStyle/>
          <a:p>
            <a:pPr algn="l" indent="0" marL="0">
              <a:buNone/>
            </a:pPr>
            <a:r>
              <a:rPr lang="en-US" sz="1600" dirty="0">
                <a:solidFill>
                  <a:srgbClr val="2C3E50"/>
                </a:solidFill>
                <a:latin typeface="Calibri" pitchFamily="34" charset="0"/>
                <a:ea typeface="Calibri" pitchFamily="34" charset="-122"/>
                <a:cs typeface="Calibri" pitchFamily="34" charset="-120"/>
              </a:rPr>
              <a:t>What value drivers significantly influence residential prices in Metro Cebu?</a:t>
            </a:r>
            <a:endParaRPr lang="en-US" sz="1600" dirty="0"/>
          </a:p>
        </p:txBody>
      </p:sp>
      <p:sp>
        <p:nvSpPr>
          <p:cNvPr id="11" name="Shape 8"/>
          <p:cNvSpPr/>
          <p:nvPr/>
        </p:nvSpPr>
        <p:spPr>
          <a:xfrm>
            <a:off x="548640" y="2697480"/>
            <a:ext cx="1280160" cy="822960"/>
          </a:xfrm>
          <a:prstGeom prst="rect">
            <a:avLst/>
          </a:prstGeom>
          <a:solidFill>
            <a:srgbClr val="1B2A4A"/>
          </a:solidFill>
          <a:ln w="12700">
            <a:solidFill>
              <a:srgbClr val="1B2A4A"/>
            </a:solidFill>
            <a:prstDash val="solid"/>
          </a:ln>
        </p:spPr>
      </p:sp>
      <p:sp>
        <p:nvSpPr>
          <p:cNvPr id="12" name="Text 9"/>
          <p:cNvSpPr/>
          <p:nvPr/>
        </p:nvSpPr>
        <p:spPr>
          <a:xfrm>
            <a:off x="548640" y="2697480"/>
            <a:ext cx="1280160" cy="822960"/>
          </a:xfrm>
          <a:prstGeom prst="rect">
            <a:avLst/>
          </a:prstGeom>
          <a:noFill/>
          <a:ln/>
        </p:spPr>
        <p:txBody>
          <a:bodyPr wrap="square" rtlCol="0" anchor="ctr"/>
          <a:lstStyle/>
          <a:p>
            <a:pPr algn="ctr" indent="0" marL="0">
              <a:buNone/>
            </a:pPr>
            <a:r>
              <a:rPr lang="en-US" sz="1800" b="1" spc="100" kern="0" dirty="0">
                <a:solidFill>
                  <a:srgbClr val="D4A843"/>
                </a:solidFill>
                <a:latin typeface="Calibri" pitchFamily="34" charset="0"/>
                <a:ea typeface="Calibri" pitchFamily="34" charset="-122"/>
                <a:cs typeface="Calibri" pitchFamily="34" charset="-120"/>
              </a:rPr>
              <a:t>RQ 2</a:t>
            </a:r>
            <a:endParaRPr lang="en-US" sz="1800" dirty="0"/>
          </a:p>
        </p:txBody>
      </p:sp>
      <p:sp>
        <p:nvSpPr>
          <p:cNvPr id="13" name="Shape 10"/>
          <p:cNvSpPr/>
          <p:nvPr/>
        </p:nvSpPr>
        <p:spPr>
          <a:xfrm>
            <a:off x="1828800" y="2697480"/>
            <a:ext cx="9811512" cy="822960"/>
          </a:xfrm>
          <a:prstGeom prst="rect">
            <a:avLst/>
          </a:prstGeom>
          <a:solidFill>
            <a:srgbClr val="EEF1F6"/>
          </a:solidFill>
          <a:ln w="12700">
            <a:solidFill>
              <a:srgbClr val="EEF1F6"/>
            </a:solidFill>
            <a:prstDash val="solid"/>
          </a:ln>
        </p:spPr>
      </p:sp>
      <p:sp>
        <p:nvSpPr>
          <p:cNvPr id="14" name="Text 11"/>
          <p:cNvSpPr/>
          <p:nvPr/>
        </p:nvSpPr>
        <p:spPr>
          <a:xfrm>
            <a:off x="2103120" y="2697480"/>
            <a:ext cx="9445752" cy="822960"/>
          </a:xfrm>
          <a:prstGeom prst="rect">
            <a:avLst/>
          </a:prstGeom>
          <a:noFill/>
          <a:ln/>
        </p:spPr>
        <p:txBody>
          <a:bodyPr wrap="square" rtlCol="0" anchor="ctr"/>
          <a:lstStyle/>
          <a:p>
            <a:pPr algn="l" indent="0" marL="0">
              <a:buNone/>
            </a:pPr>
            <a:r>
              <a:rPr lang="en-US" sz="1600" dirty="0">
                <a:solidFill>
                  <a:srgbClr val="2C3E50"/>
                </a:solidFill>
                <a:latin typeface="Calibri" pitchFamily="34" charset="0"/>
                <a:ea typeface="Calibri" pitchFamily="34" charset="-122"/>
                <a:cs typeface="Calibri" pitchFamily="34" charset="-120"/>
              </a:rPr>
              <a:t>Which model — OLS, Random Forest, or XGBoost — yields the lowest error?</a:t>
            </a:r>
            <a:endParaRPr lang="en-US" sz="1600" dirty="0"/>
          </a:p>
        </p:txBody>
      </p:sp>
      <p:sp>
        <p:nvSpPr>
          <p:cNvPr id="15" name="Shape 12"/>
          <p:cNvSpPr/>
          <p:nvPr/>
        </p:nvSpPr>
        <p:spPr>
          <a:xfrm>
            <a:off x="548640" y="3840480"/>
            <a:ext cx="1280160" cy="822960"/>
          </a:xfrm>
          <a:prstGeom prst="rect">
            <a:avLst/>
          </a:prstGeom>
          <a:solidFill>
            <a:srgbClr val="1B2A4A"/>
          </a:solidFill>
          <a:ln w="12700">
            <a:solidFill>
              <a:srgbClr val="1B2A4A"/>
            </a:solidFill>
            <a:prstDash val="solid"/>
          </a:ln>
        </p:spPr>
      </p:sp>
      <p:sp>
        <p:nvSpPr>
          <p:cNvPr id="16" name="Text 13"/>
          <p:cNvSpPr/>
          <p:nvPr/>
        </p:nvSpPr>
        <p:spPr>
          <a:xfrm>
            <a:off x="548640" y="3840480"/>
            <a:ext cx="1280160" cy="822960"/>
          </a:xfrm>
          <a:prstGeom prst="rect">
            <a:avLst/>
          </a:prstGeom>
          <a:noFill/>
          <a:ln/>
        </p:spPr>
        <p:txBody>
          <a:bodyPr wrap="square" rtlCol="0" anchor="ctr"/>
          <a:lstStyle/>
          <a:p>
            <a:pPr algn="ctr" indent="0" marL="0">
              <a:buNone/>
            </a:pPr>
            <a:r>
              <a:rPr lang="en-US" sz="1800" b="1" spc="100" kern="0" dirty="0">
                <a:solidFill>
                  <a:srgbClr val="D4A843"/>
                </a:solidFill>
                <a:latin typeface="Calibri" pitchFamily="34" charset="0"/>
                <a:ea typeface="Calibri" pitchFamily="34" charset="-122"/>
                <a:cs typeface="Calibri" pitchFamily="34" charset="-120"/>
              </a:rPr>
              <a:t>RQ 3</a:t>
            </a:r>
            <a:endParaRPr lang="en-US" sz="1800" dirty="0"/>
          </a:p>
        </p:txBody>
      </p:sp>
      <p:sp>
        <p:nvSpPr>
          <p:cNvPr id="17" name="Shape 14"/>
          <p:cNvSpPr/>
          <p:nvPr/>
        </p:nvSpPr>
        <p:spPr>
          <a:xfrm>
            <a:off x="1828800" y="3840480"/>
            <a:ext cx="9811512" cy="822960"/>
          </a:xfrm>
          <a:prstGeom prst="rect">
            <a:avLst/>
          </a:prstGeom>
          <a:solidFill>
            <a:srgbClr val="EEF1F6"/>
          </a:solidFill>
          <a:ln w="12700">
            <a:solidFill>
              <a:srgbClr val="EEF1F6"/>
            </a:solidFill>
            <a:prstDash val="solid"/>
          </a:ln>
        </p:spPr>
      </p:sp>
      <p:sp>
        <p:nvSpPr>
          <p:cNvPr id="18" name="Text 15"/>
          <p:cNvSpPr/>
          <p:nvPr/>
        </p:nvSpPr>
        <p:spPr>
          <a:xfrm>
            <a:off x="2103120" y="3840480"/>
            <a:ext cx="9445752" cy="822960"/>
          </a:xfrm>
          <a:prstGeom prst="rect">
            <a:avLst/>
          </a:prstGeom>
          <a:noFill/>
          <a:ln/>
        </p:spPr>
        <p:txBody>
          <a:bodyPr wrap="square" rtlCol="0" anchor="ctr"/>
          <a:lstStyle/>
          <a:p>
            <a:pPr algn="l" indent="0" marL="0">
              <a:buNone/>
            </a:pPr>
            <a:r>
              <a:rPr lang="en-US" sz="1600" dirty="0">
                <a:solidFill>
                  <a:srgbClr val="2C3E50"/>
                </a:solidFill>
                <a:latin typeface="Calibri" pitchFamily="34" charset="0"/>
                <a:ea typeface="Calibri" pitchFamily="34" charset="-122"/>
                <a:cs typeface="Calibri" pitchFamily="34" charset="-120"/>
              </a:rPr>
              <a:t>Do geospatial features improve performance over structural-only models?</a:t>
            </a:r>
            <a:endParaRPr lang="en-US" sz="1600" dirty="0"/>
          </a:p>
        </p:txBody>
      </p:sp>
      <p:sp>
        <p:nvSpPr>
          <p:cNvPr id="19" name="Shape 16"/>
          <p:cNvSpPr/>
          <p:nvPr/>
        </p:nvSpPr>
        <p:spPr>
          <a:xfrm>
            <a:off x="548640" y="4983480"/>
            <a:ext cx="1280160" cy="822960"/>
          </a:xfrm>
          <a:prstGeom prst="rect">
            <a:avLst/>
          </a:prstGeom>
          <a:solidFill>
            <a:srgbClr val="1B2A4A"/>
          </a:solidFill>
          <a:ln w="12700">
            <a:solidFill>
              <a:srgbClr val="1B2A4A"/>
            </a:solidFill>
            <a:prstDash val="solid"/>
          </a:ln>
        </p:spPr>
      </p:sp>
      <p:sp>
        <p:nvSpPr>
          <p:cNvPr id="20" name="Text 17"/>
          <p:cNvSpPr/>
          <p:nvPr/>
        </p:nvSpPr>
        <p:spPr>
          <a:xfrm>
            <a:off x="548640" y="4983480"/>
            <a:ext cx="1280160" cy="822960"/>
          </a:xfrm>
          <a:prstGeom prst="rect">
            <a:avLst/>
          </a:prstGeom>
          <a:noFill/>
          <a:ln/>
        </p:spPr>
        <p:txBody>
          <a:bodyPr wrap="square" rtlCol="0" anchor="ctr"/>
          <a:lstStyle/>
          <a:p>
            <a:pPr algn="ctr" indent="0" marL="0">
              <a:buNone/>
            </a:pPr>
            <a:r>
              <a:rPr lang="en-US" sz="1800" b="1" spc="100" kern="0" dirty="0">
                <a:solidFill>
                  <a:srgbClr val="D4A843"/>
                </a:solidFill>
                <a:latin typeface="Calibri" pitchFamily="34" charset="0"/>
                <a:ea typeface="Calibri" pitchFamily="34" charset="-122"/>
                <a:cs typeface="Calibri" pitchFamily="34" charset="-120"/>
              </a:rPr>
              <a:t>RQ 4</a:t>
            </a:r>
            <a:endParaRPr lang="en-US" sz="1800" dirty="0"/>
          </a:p>
        </p:txBody>
      </p:sp>
      <p:sp>
        <p:nvSpPr>
          <p:cNvPr id="21" name="Shape 18"/>
          <p:cNvSpPr/>
          <p:nvPr/>
        </p:nvSpPr>
        <p:spPr>
          <a:xfrm>
            <a:off x="1828800" y="4983480"/>
            <a:ext cx="9811512" cy="822960"/>
          </a:xfrm>
          <a:prstGeom prst="rect">
            <a:avLst/>
          </a:prstGeom>
          <a:solidFill>
            <a:srgbClr val="EEF1F6"/>
          </a:solidFill>
          <a:ln w="12700">
            <a:solidFill>
              <a:srgbClr val="EEF1F6"/>
            </a:solidFill>
            <a:prstDash val="solid"/>
          </a:ln>
        </p:spPr>
      </p:sp>
      <p:sp>
        <p:nvSpPr>
          <p:cNvPr id="22" name="Text 19"/>
          <p:cNvSpPr/>
          <p:nvPr/>
        </p:nvSpPr>
        <p:spPr>
          <a:xfrm>
            <a:off x="2103120" y="4983480"/>
            <a:ext cx="9445752" cy="822960"/>
          </a:xfrm>
          <a:prstGeom prst="rect">
            <a:avLst/>
          </a:prstGeom>
          <a:noFill/>
          <a:ln/>
        </p:spPr>
        <p:txBody>
          <a:bodyPr wrap="square" rtlCol="0" anchor="ctr"/>
          <a:lstStyle/>
          <a:p>
            <a:pPr algn="l" indent="0" marL="0">
              <a:buNone/>
            </a:pPr>
            <a:r>
              <a:rPr lang="en-US" sz="1600" dirty="0">
                <a:solidFill>
                  <a:srgbClr val="2C3E50"/>
                </a:solidFill>
                <a:latin typeface="Calibri" pitchFamily="34" charset="0"/>
                <a:ea typeface="Calibri" pitchFamily="34" charset="-122"/>
                <a:cs typeface="Calibri" pitchFamily="34" charset="-120"/>
              </a:rPr>
              <a:t>How large is the valuation gap between model predictions and BIR zonal values?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RESEARCH DESIGN</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Conceptual Framework</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11064240" cy="1463040"/>
          </a:xfrm>
          <a:prstGeom prst="roundRect">
            <a:avLst>
              <a:gd name="adj" fmla="val 6250"/>
            </a:avLst>
          </a:prstGeom>
          <a:solidFill>
            <a:srgbClr val="1B2A4A"/>
          </a:solidFill>
          <a:ln w="25400">
            <a:solidFill>
              <a:srgbClr val="1B2A4A"/>
            </a:solidFill>
            <a:prstDash val="solid"/>
          </a:ln>
        </p:spPr>
      </p:sp>
      <p:sp>
        <p:nvSpPr>
          <p:cNvPr id="8" name="Text 5"/>
          <p:cNvSpPr/>
          <p:nvPr/>
        </p:nvSpPr>
        <p:spPr>
          <a:xfrm>
            <a:off x="822960" y="1737360"/>
            <a:ext cx="10515600" cy="27432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LAYER 1 · PREDICTIVE</a:t>
            </a:r>
            <a:endParaRPr lang="en-US" sz="1100" dirty="0"/>
          </a:p>
        </p:txBody>
      </p:sp>
      <p:sp>
        <p:nvSpPr>
          <p:cNvPr id="9" name="Text 6"/>
          <p:cNvSpPr/>
          <p:nvPr/>
        </p:nvSpPr>
        <p:spPr>
          <a:xfrm>
            <a:off x="822960" y="2011680"/>
            <a:ext cx="105156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Price Estimation</a:t>
            </a:r>
            <a:endParaRPr lang="en-US" sz="2200" dirty="0"/>
          </a:p>
        </p:txBody>
      </p:sp>
      <p:sp>
        <p:nvSpPr>
          <p:cNvPr id="10" name="Text 7"/>
          <p:cNvSpPr/>
          <p:nvPr/>
        </p:nvSpPr>
        <p:spPr>
          <a:xfrm>
            <a:off x="822960" y="2468880"/>
            <a:ext cx="10515600" cy="502920"/>
          </a:xfrm>
          <a:prstGeom prst="rect">
            <a:avLst/>
          </a:prstGeom>
          <a:noFill/>
          <a:ln/>
        </p:spPr>
        <p:txBody>
          <a:bodyPr wrap="square" rtlCol="0" anchor="ctr"/>
          <a:lstStyle/>
          <a:p>
            <a:pPr indent="0" marL="0">
              <a:buNone/>
            </a:pPr>
            <a:r>
              <a:rPr lang="en-US" sz="1400" dirty="0">
                <a:solidFill>
                  <a:srgbClr val="C9D1DD"/>
                </a:solidFill>
                <a:latin typeface="Calibri" pitchFamily="34" charset="0"/>
                <a:ea typeface="Calibri" pitchFamily="34" charset="-122"/>
                <a:cs typeface="Calibri" pitchFamily="34" charset="-120"/>
              </a:rPr>
              <a:t>Tree-based ML model trained on open-market listings → estimates price per sqm at the parcel level.</a:t>
            </a:r>
            <a:endParaRPr lang="en-US" sz="1400" dirty="0"/>
          </a:p>
        </p:txBody>
      </p:sp>
      <p:sp>
        <p:nvSpPr>
          <p:cNvPr id="11" name="Shape 8"/>
          <p:cNvSpPr/>
          <p:nvPr/>
        </p:nvSpPr>
        <p:spPr>
          <a:xfrm>
            <a:off x="548640" y="3246120"/>
            <a:ext cx="11064240" cy="1463040"/>
          </a:xfrm>
          <a:prstGeom prst="roundRect">
            <a:avLst>
              <a:gd name="adj" fmla="val 6250"/>
            </a:avLst>
          </a:prstGeom>
          <a:solidFill>
            <a:srgbClr val="FFFFFF"/>
          </a:solidFill>
          <a:ln w="25400">
            <a:solidFill>
              <a:srgbClr val="D4A843"/>
            </a:solidFill>
            <a:prstDash val="solid"/>
          </a:ln>
        </p:spPr>
      </p:sp>
      <p:sp>
        <p:nvSpPr>
          <p:cNvPr id="12" name="Text 9"/>
          <p:cNvSpPr/>
          <p:nvPr/>
        </p:nvSpPr>
        <p:spPr>
          <a:xfrm>
            <a:off x="822960" y="3429000"/>
            <a:ext cx="10515600" cy="27432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LAYER 2 · PRESCRIPTIVE</a:t>
            </a:r>
            <a:endParaRPr lang="en-US" sz="1100" dirty="0"/>
          </a:p>
        </p:txBody>
      </p:sp>
      <p:sp>
        <p:nvSpPr>
          <p:cNvPr id="13" name="Text 10"/>
          <p:cNvSpPr/>
          <p:nvPr/>
        </p:nvSpPr>
        <p:spPr>
          <a:xfrm>
            <a:off x="822960" y="3703320"/>
            <a:ext cx="10515600" cy="457200"/>
          </a:xfrm>
          <a:prstGeom prst="rect">
            <a:avLst/>
          </a:prstGeom>
          <a:noFill/>
          <a:ln/>
        </p:spPr>
        <p:txBody>
          <a:bodyPr wrap="square"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Decision Support</a:t>
            </a:r>
            <a:endParaRPr lang="en-US" sz="2200" dirty="0"/>
          </a:p>
        </p:txBody>
      </p:sp>
      <p:sp>
        <p:nvSpPr>
          <p:cNvPr id="14" name="Text 11"/>
          <p:cNvSpPr/>
          <p:nvPr/>
        </p:nvSpPr>
        <p:spPr>
          <a:xfrm>
            <a:off x="822960" y="4160520"/>
            <a:ext cx="10515600" cy="502920"/>
          </a:xfrm>
          <a:prstGeom prst="rect">
            <a:avLst/>
          </a:prstGeom>
          <a:noFill/>
          <a:ln/>
        </p:spPr>
        <p:txBody>
          <a:bodyPr wrap="square" rtlCol="0" anchor="ctr"/>
          <a:lstStyle/>
          <a:p>
            <a:pPr indent="0" marL="0">
              <a:buNone/>
            </a:pPr>
            <a:r>
              <a:rPr lang="en-US" sz="1400" dirty="0">
                <a:solidFill>
                  <a:srgbClr val="2C3E50"/>
                </a:solidFill>
                <a:latin typeface="Calibri" pitchFamily="34" charset="0"/>
                <a:ea typeface="Calibri" pitchFamily="34" charset="-122"/>
                <a:cs typeface="Calibri" pitchFamily="34" charset="-120"/>
              </a:rPr>
              <a:t>Valuation gap (model − BIR zonal) drives recommendations for banks, LGUs, urban planners, and practitioners.</a:t>
            </a:r>
            <a:endParaRPr lang="en-US" sz="1400" dirty="0"/>
          </a:p>
        </p:txBody>
      </p:sp>
      <p:sp>
        <p:nvSpPr>
          <p:cNvPr id="15" name="Shape 12"/>
          <p:cNvSpPr/>
          <p:nvPr/>
        </p:nvSpPr>
        <p:spPr>
          <a:xfrm>
            <a:off x="548640" y="5120640"/>
            <a:ext cx="11064240" cy="1280160"/>
          </a:xfrm>
          <a:prstGeom prst="rect">
            <a:avLst/>
          </a:prstGeom>
          <a:solidFill>
            <a:srgbClr val="EEF1F6"/>
          </a:solidFill>
          <a:ln w="12700">
            <a:solidFill>
              <a:srgbClr val="EEF1F6"/>
            </a:solidFill>
            <a:prstDash val="solid"/>
          </a:ln>
        </p:spPr>
      </p:sp>
      <p:sp>
        <p:nvSpPr>
          <p:cNvPr id="16" name="Text 13"/>
          <p:cNvSpPr/>
          <p:nvPr/>
        </p:nvSpPr>
        <p:spPr>
          <a:xfrm>
            <a:off x="822960" y="5212080"/>
            <a:ext cx="10515600" cy="27432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ANCHOR</a:t>
            </a:r>
            <a:endParaRPr lang="en-US" sz="1100" dirty="0"/>
          </a:p>
        </p:txBody>
      </p:sp>
      <p:sp>
        <p:nvSpPr>
          <p:cNvPr id="17" name="Text 14"/>
          <p:cNvSpPr/>
          <p:nvPr/>
        </p:nvSpPr>
        <p:spPr>
          <a:xfrm>
            <a:off x="822960" y="5486400"/>
            <a:ext cx="10515600" cy="822960"/>
          </a:xfrm>
          <a:prstGeom prst="rect">
            <a:avLst/>
          </a:prstGeom>
          <a:noFill/>
          <a:ln/>
        </p:spPr>
        <p:txBody>
          <a:bodyPr wrap="square" rtlCol="0" anchor="ctr"/>
          <a:lstStyle/>
          <a:p>
            <a:pPr indent="0" marL="0">
              <a:buNone/>
            </a:pPr>
            <a:r>
              <a:rPr lang="en-US" sz="1400" i="1" dirty="0">
                <a:solidFill>
                  <a:srgbClr val="1B2A4A"/>
                </a:solidFill>
                <a:latin typeface="Calibri" pitchFamily="34" charset="0"/>
                <a:ea typeface="Calibri" pitchFamily="34" charset="-122"/>
                <a:cs typeface="Calibri" pitchFamily="34" charset="-120"/>
              </a:rPr>
              <a:t>IVS 2025 Market Value definition  ·  arm's-length transaction between willing buyer and willing seller  ·  Output: Streamlit web app + QGIS spatial layer for practitioner use.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RESEARCH DESIGN</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Scope and Study Area</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5943600" cy="4754880"/>
          </a:xfrm>
          <a:prstGeom prst="roundRect">
            <a:avLst>
              <a:gd name="adj" fmla="val 1538"/>
            </a:avLst>
          </a:prstGeom>
          <a:solidFill>
            <a:srgbClr val="EEF1F6"/>
          </a:solidFill>
          <a:ln w="12700">
            <a:solidFill>
              <a:srgbClr val="C9D1DD"/>
            </a:solidFill>
            <a:prstDash val="solid"/>
          </a:ln>
        </p:spPr>
      </p:sp>
      <p:sp>
        <p:nvSpPr>
          <p:cNvPr id="8" name="Text 5"/>
          <p:cNvSpPr/>
          <p:nvPr/>
        </p:nvSpPr>
        <p:spPr>
          <a:xfrm>
            <a:off x="548640" y="1828800"/>
            <a:ext cx="5943600" cy="365760"/>
          </a:xfrm>
          <a:prstGeom prst="rect">
            <a:avLst/>
          </a:prstGeom>
          <a:noFill/>
          <a:ln/>
        </p:spPr>
        <p:txBody>
          <a:bodyPr wrap="square" rtlCol="0" anchor="ctr"/>
          <a:lstStyle/>
          <a:p>
            <a:pPr algn="ctr" indent="0" marL="0">
              <a:buNone/>
            </a:pPr>
            <a:r>
              <a:rPr lang="en-US" sz="1100" b="1" spc="300" kern="0" dirty="0">
                <a:solidFill>
                  <a:srgbClr val="D4A843"/>
                </a:solidFill>
                <a:latin typeface="Calibri" pitchFamily="34" charset="0"/>
                <a:ea typeface="Calibri" pitchFamily="34" charset="-122"/>
                <a:cs typeface="Calibri" pitchFamily="34" charset="-120"/>
              </a:rPr>
              <a:t>[ DIAGRAM TO ADD ]</a:t>
            </a:r>
            <a:endParaRPr lang="en-US" sz="1100" dirty="0"/>
          </a:p>
        </p:txBody>
      </p:sp>
      <p:sp>
        <p:nvSpPr>
          <p:cNvPr id="9" name="Text 6"/>
          <p:cNvSpPr/>
          <p:nvPr/>
        </p:nvSpPr>
        <p:spPr>
          <a:xfrm>
            <a:off x="548640" y="2194560"/>
            <a:ext cx="5943600" cy="4572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Metro Cebu Study Area Map</a:t>
            </a:r>
            <a:endParaRPr lang="en-US" sz="1800" dirty="0"/>
          </a:p>
        </p:txBody>
      </p:sp>
      <p:sp>
        <p:nvSpPr>
          <p:cNvPr id="10" name="Text 7"/>
          <p:cNvSpPr/>
          <p:nvPr/>
        </p:nvSpPr>
        <p:spPr>
          <a:xfrm>
            <a:off x="822960" y="2834640"/>
            <a:ext cx="5394960" cy="320040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Source: thesis_main/Manuscript figure (Chapter 1)</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6 LGU boundaries + 8 CBD node markers</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 highlight Naga City as 'anchor only'</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 use color to distinguish Mactan Island</a:t>
            </a:r>
            <a:endParaRPr lang="en-US" sz="1200" dirty="0"/>
          </a:p>
        </p:txBody>
      </p:sp>
      <p:sp>
        <p:nvSpPr>
          <p:cNvPr id="11" name="Text 8"/>
          <p:cNvSpPr/>
          <p:nvPr/>
        </p:nvSpPr>
        <p:spPr>
          <a:xfrm>
            <a:off x="6766560" y="1554480"/>
            <a:ext cx="4937760" cy="365760"/>
          </a:xfrm>
          <a:prstGeom prst="rect">
            <a:avLst/>
          </a:prstGeom>
          <a:noFill/>
          <a:ln/>
        </p:spPr>
        <p:txBody>
          <a:bodyPr wrap="square" rtlCol="0" anchor="ctr"/>
          <a:lstStyle/>
          <a:p>
            <a:pPr indent="0" marL="0">
              <a:buNone/>
            </a:pPr>
            <a:r>
              <a:rPr lang="en-US" sz="1400" b="1" spc="200" kern="0" dirty="0">
                <a:solidFill>
                  <a:srgbClr val="D4A843"/>
                </a:solidFill>
                <a:latin typeface="Calibri" pitchFamily="34" charset="0"/>
                <a:ea typeface="Calibri" pitchFamily="34" charset="-122"/>
                <a:cs typeface="Calibri" pitchFamily="34" charset="-120"/>
              </a:rPr>
              <a:t>6 LGUs (training scope)</a:t>
            </a:r>
            <a:endParaRPr lang="en-US" sz="1400" dirty="0"/>
          </a:p>
        </p:txBody>
      </p:sp>
      <p:sp>
        <p:nvSpPr>
          <p:cNvPr id="12" name="Text 9"/>
          <p:cNvSpPr/>
          <p:nvPr/>
        </p:nvSpPr>
        <p:spPr>
          <a:xfrm>
            <a:off x="6766560" y="1874520"/>
            <a:ext cx="4937760" cy="640080"/>
          </a:xfrm>
          <a:prstGeom prst="rect">
            <a:avLst/>
          </a:prstGeom>
          <a:noFill/>
          <a:ln/>
        </p:spPr>
        <p:txBody>
          <a:bodyPr wrap="square" rtlCol="0" anchor="ctr"/>
          <a:lstStyle/>
          <a:p>
            <a:pPr indent="0" marL="0">
              <a:spcAft>
                <a:spcPts val="600"/>
              </a:spcAft>
              <a:buNone/>
            </a:pPr>
            <a:r>
              <a:rPr lang="en-US" sz="1400" dirty="0">
                <a:solidFill>
                  <a:srgbClr val="2C3E50"/>
                </a:solidFill>
                <a:latin typeface="Calibri" pitchFamily="34" charset="0"/>
                <a:ea typeface="Calibri" pitchFamily="34" charset="-122"/>
                <a:cs typeface="Calibri" pitchFamily="34" charset="-120"/>
              </a:rPr>
              <a:t>Cebu City  ·  Mandaue  ·  Lapu-Lapu  ·  Talisay  ·  Minglanilla  ·  Consolacion</a:t>
            </a:r>
            <a:endParaRPr lang="en-US" sz="1400" dirty="0"/>
          </a:p>
        </p:txBody>
      </p:sp>
      <p:sp>
        <p:nvSpPr>
          <p:cNvPr id="13" name="Text 10"/>
          <p:cNvSpPr/>
          <p:nvPr/>
        </p:nvSpPr>
        <p:spPr>
          <a:xfrm>
            <a:off x="6766560" y="2606040"/>
            <a:ext cx="4937760" cy="365760"/>
          </a:xfrm>
          <a:prstGeom prst="rect">
            <a:avLst/>
          </a:prstGeom>
          <a:noFill/>
          <a:ln/>
        </p:spPr>
        <p:txBody>
          <a:bodyPr wrap="square" rtlCol="0" anchor="ctr"/>
          <a:lstStyle/>
          <a:p>
            <a:pPr indent="0" marL="0">
              <a:buNone/>
            </a:pPr>
            <a:r>
              <a:rPr lang="en-US" sz="1400" b="1" spc="200" kern="0" dirty="0">
                <a:solidFill>
                  <a:srgbClr val="D4A843"/>
                </a:solidFill>
                <a:latin typeface="Calibri" pitchFamily="34" charset="0"/>
                <a:ea typeface="Calibri" pitchFamily="34" charset="-122"/>
                <a:cs typeface="Calibri" pitchFamily="34" charset="-120"/>
              </a:rPr>
              <a:t>8 CBD Nodes (geospatial features)</a:t>
            </a:r>
            <a:endParaRPr lang="en-US" sz="1400" dirty="0"/>
          </a:p>
        </p:txBody>
      </p:sp>
      <p:sp>
        <p:nvSpPr>
          <p:cNvPr id="14" name="Text 11"/>
          <p:cNvSpPr/>
          <p:nvPr/>
        </p:nvSpPr>
        <p:spPr>
          <a:xfrm>
            <a:off x="6766560" y="2926080"/>
            <a:ext cx="4937760" cy="146304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Cebu Business Park · Mandaue CBD · Mactan CBD · South Road Properties · Talisay Tabunok · Consolacion · Naga City (anchor only) · Mactan-Cebu International Airport</a:t>
            </a:r>
            <a:endParaRPr lang="en-US" sz="1300" dirty="0"/>
          </a:p>
        </p:txBody>
      </p:sp>
      <p:sp>
        <p:nvSpPr>
          <p:cNvPr id="15" name="Text 12"/>
          <p:cNvSpPr/>
          <p:nvPr/>
        </p:nvSpPr>
        <p:spPr>
          <a:xfrm>
            <a:off x="6766560" y="4663440"/>
            <a:ext cx="493776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7A8699"/>
                </a:solidFill>
                <a:latin typeface="Calibri" pitchFamily="34" charset="0"/>
                <a:ea typeface="Calibri" pitchFamily="34" charset="-122"/>
                <a:cs typeface="Calibri" pitchFamily="34" charset="-120"/>
              </a:rPr>
              <a:t>Naga City: anchor only — excluded from training (n≈4 listings)</a:t>
            </a:r>
            <a:endParaRPr lang="en-US" sz="1200" dirty="0"/>
          </a:p>
          <a:p>
            <a:pPr marL="342900" indent="-342900">
              <a:spcAft>
                <a:spcPts val="400"/>
              </a:spcAft>
              <a:buSzPct val="100000"/>
              <a:buChar char="●"/>
            </a:pPr>
            <a:r>
              <a:rPr lang="en-US" sz="1200" dirty="0">
                <a:solidFill>
                  <a:srgbClr val="7A8699"/>
                </a:solidFill>
                <a:latin typeface="Calibri" pitchFamily="34" charset="0"/>
                <a:ea typeface="Calibri" pitchFamily="34" charset="-122"/>
                <a:cs typeface="Calibri" pitchFamily="34" charset="-120"/>
              </a:rPr>
              <a:t>Lapu-Lapu split: mainland vs. Mactan (is_mactan_island flag)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02</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TWO</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The Data</a:t>
            </a:r>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Data Collection: What Was Gathered</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11064240" cy="457200"/>
          </a:xfrm>
          <a:prstGeom prst="rect">
            <a:avLst/>
          </a:prstGeom>
          <a:solidFill>
            <a:srgbClr val="1B2A4A"/>
          </a:solidFill>
          <a:ln w="12700">
            <a:solidFill>
              <a:srgbClr val="1B2A4A"/>
            </a:solidFill>
            <a:prstDash val="solid"/>
          </a:ln>
        </p:spPr>
      </p:sp>
      <p:sp>
        <p:nvSpPr>
          <p:cNvPr id="8" name="Text 5"/>
          <p:cNvSpPr/>
          <p:nvPr/>
        </p:nvSpPr>
        <p:spPr>
          <a:xfrm>
            <a:off x="777240" y="1554480"/>
            <a:ext cx="5029200" cy="457200"/>
          </a:xfrm>
          <a:prstGeom prst="rect">
            <a:avLst/>
          </a:prstGeom>
          <a:noFill/>
          <a:ln/>
        </p:spPr>
        <p:txBody>
          <a:bodyPr wrap="square"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SOURCE</a:t>
            </a:r>
            <a:endParaRPr lang="en-US" sz="1200" dirty="0"/>
          </a:p>
        </p:txBody>
      </p:sp>
      <p:sp>
        <p:nvSpPr>
          <p:cNvPr id="9" name="Text 6"/>
          <p:cNvSpPr/>
          <p:nvPr/>
        </p:nvSpPr>
        <p:spPr>
          <a:xfrm>
            <a:off x="5852160" y="1554480"/>
            <a:ext cx="1645920" cy="457200"/>
          </a:xfrm>
          <a:prstGeom prst="rect">
            <a:avLst/>
          </a:prstGeom>
          <a:noFill/>
          <a:ln/>
        </p:spPr>
        <p:txBody>
          <a:bodyPr wrap="square" rtlCol="0" anchor="ctr"/>
          <a:lstStyle/>
          <a:p>
            <a:pPr algn="ctr" indent="0" marL="0">
              <a:buNone/>
            </a:pPr>
            <a:r>
              <a:rPr lang="en-US" sz="1200" b="1" spc="200" kern="0" dirty="0">
                <a:solidFill>
                  <a:srgbClr val="D4A843"/>
                </a:solidFill>
                <a:latin typeface="Calibri" pitchFamily="34" charset="0"/>
                <a:ea typeface="Calibri" pitchFamily="34" charset="-122"/>
                <a:cs typeface="Calibri" pitchFamily="34" charset="-120"/>
              </a:rPr>
              <a:t>ROWS</a:t>
            </a:r>
            <a:endParaRPr lang="en-US" sz="1200" dirty="0"/>
          </a:p>
        </p:txBody>
      </p:sp>
      <p:sp>
        <p:nvSpPr>
          <p:cNvPr id="10" name="Text 7"/>
          <p:cNvSpPr/>
          <p:nvPr/>
        </p:nvSpPr>
        <p:spPr>
          <a:xfrm>
            <a:off x="7589520" y="1554480"/>
            <a:ext cx="3931920" cy="457200"/>
          </a:xfrm>
          <a:prstGeom prst="rect">
            <a:avLst/>
          </a:prstGeom>
          <a:noFill/>
          <a:ln/>
        </p:spPr>
        <p:txBody>
          <a:bodyPr wrap="square"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ROLE</a:t>
            </a:r>
            <a:endParaRPr lang="en-US" sz="1200" dirty="0"/>
          </a:p>
        </p:txBody>
      </p:sp>
      <p:sp>
        <p:nvSpPr>
          <p:cNvPr id="11" name="Shape 8"/>
          <p:cNvSpPr/>
          <p:nvPr/>
        </p:nvSpPr>
        <p:spPr>
          <a:xfrm>
            <a:off x="548640" y="2103120"/>
            <a:ext cx="11064240" cy="914400"/>
          </a:xfrm>
          <a:prstGeom prst="rect">
            <a:avLst/>
          </a:prstGeom>
          <a:solidFill>
            <a:srgbClr val="F5E6B8"/>
          </a:solidFill>
          <a:ln w="12700">
            <a:solidFill>
              <a:srgbClr val="D4A843"/>
            </a:solidFill>
            <a:prstDash val="solid"/>
          </a:ln>
        </p:spPr>
      </p:sp>
      <p:sp>
        <p:nvSpPr>
          <p:cNvPr id="12" name="Shape 9"/>
          <p:cNvSpPr/>
          <p:nvPr/>
        </p:nvSpPr>
        <p:spPr>
          <a:xfrm>
            <a:off x="548640" y="2103120"/>
            <a:ext cx="109728" cy="914400"/>
          </a:xfrm>
          <a:prstGeom prst="rect">
            <a:avLst/>
          </a:prstGeom>
          <a:solidFill>
            <a:srgbClr val="D4A843"/>
          </a:solidFill>
          <a:ln w="12700">
            <a:solidFill>
              <a:srgbClr val="D4A843"/>
            </a:solidFill>
            <a:prstDash val="solid"/>
          </a:ln>
        </p:spPr>
      </p:sp>
      <p:sp>
        <p:nvSpPr>
          <p:cNvPr id="13" name="Text 10"/>
          <p:cNvSpPr/>
          <p:nvPr/>
        </p:nvSpPr>
        <p:spPr>
          <a:xfrm>
            <a:off x="777240" y="2103120"/>
            <a:ext cx="5029200" cy="91440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Lamudi open-market listings</a:t>
            </a:r>
            <a:endParaRPr lang="en-US" sz="1300" dirty="0"/>
          </a:p>
        </p:txBody>
      </p:sp>
      <p:sp>
        <p:nvSpPr>
          <p:cNvPr id="14" name="Text 11"/>
          <p:cNvSpPr/>
          <p:nvPr/>
        </p:nvSpPr>
        <p:spPr>
          <a:xfrm>
            <a:off x="5852160" y="2103120"/>
            <a:ext cx="1645920" cy="9144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1,619</a:t>
            </a:r>
            <a:endParaRPr lang="en-US" sz="1800" dirty="0"/>
          </a:p>
        </p:txBody>
      </p:sp>
      <p:sp>
        <p:nvSpPr>
          <p:cNvPr id="15" name="Text 12"/>
          <p:cNvSpPr/>
          <p:nvPr/>
        </p:nvSpPr>
        <p:spPr>
          <a:xfrm>
            <a:off x="7589520" y="2103120"/>
            <a:ext cx="3931920" cy="91440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Training data</a:t>
            </a:r>
            <a:endParaRPr lang="en-US" sz="1200" dirty="0"/>
          </a:p>
        </p:txBody>
      </p:sp>
      <p:sp>
        <p:nvSpPr>
          <p:cNvPr id="16" name="Shape 13"/>
          <p:cNvSpPr/>
          <p:nvPr/>
        </p:nvSpPr>
        <p:spPr>
          <a:xfrm>
            <a:off x="548640" y="3108960"/>
            <a:ext cx="11064240" cy="914400"/>
          </a:xfrm>
          <a:prstGeom prst="rect">
            <a:avLst/>
          </a:prstGeom>
          <a:solidFill>
            <a:srgbClr val="FFFFFF"/>
          </a:solidFill>
          <a:ln w="12700">
            <a:solidFill>
              <a:srgbClr val="C9D1DD"/>
            </a:solidFill>
            <a:prstDash val="solid"/>
          </a:ln>
        </p:spPr>
      </p:sp>
      <p:sp>
        <p:nvSpPr>
          <p:cNvPr id="17" name="Text 14"/>
          <p:cNvSpPr/>
          <p:nvPr/>
        </p:nvSpPr>
        <p:spPr>
          <a:xfrm>
            <a:off x="777240" y="3108960"/>
            <a:ext cx="5029200" cy="91440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Bank ROPA (BDO, BPI, Metrobank, Landbank, BoC, China Bank)</a:t>
            </a:r>
            <a:endParaRPr lang="en-US" sz="1300" dirty="0"/>
          </a:p>
        </p:txBody>
      </p:sp>
      <p:sp>
        <p:nvSpPr>
          <p:cNvPr id="18" name="Text 15"/>
          <p:cNvSpPr/>
          <p:nvPr/>
        </p:nvSpPr>
        <p:spPr>
          <a:xfrm>
            <a:off x="5852160" y="3108960"/>
            <a:ext cx="1645920" cy="9144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320</a:t>
            </a:r>
            <a:endParaRPr lang="en-US" sz="1800" dirty="0"/>
          </a:p>
        </p:txBody>
      </p:sp>
      <p:sp>
        <p:nvSpPr>
          <p:cNvPr id="19" name="Text 16"/>
          <p:cNvSpPr/>
          <p:nvPr/>
        </p:nvSpPr>
        <p:spPr>
          <a:xfrm>
            <a:off x="7589520" y="3108960"/>
            <a:ext cx="3931920" cy="914400"/>
          </a:xfrm>
          <a:prstGeom prst="rect">
            <a:avLst/>
          </a:prstGeom>
          <a:noFill/>
          <a:ln/>
        </p:spPr>
        <p:txBody>
          <a:bodyPr wrap="square" rtlCol="0" anchor="ctr"/>
          <a:lstStyle/>
          <a:p>
            <a:pPr indent="0" marL="0">
              <a:buNone/>
            </a:pPr>
            <a:r>
              <a:rPr lang="en-US" sz="1200" dirty="0">
                <a:solidFill>
                  <a:srgbClr val="7A8699"/>
                </a:solidFill>
                <a:latin typeface="Calibri" pitchFamily="34" charset="0"/>
                <a:ea typeface="Calibri" pitchFamily="34" charset="-122"/>
                <a:cs typeface="Calibri" pitchFamily="34" charset="-120"/>
              </a:rPr>
              <a:t>Context only — excluded from training</a:t>
            </a:r>
            <a:endParaRPr lang="en-US" sz="1200" dirty="0"/>
          </a:p>
        </p:txBody>
      </p:sp>
      <p:sp>
        <p:nvSpPr>
          <p:cNvPr id="20" name="Shape 17"/>
          <p:cNvSpPr/>
          <p:nvPr/>
        </p:nvSpPr>
        <p:spPr>
          <a:xfrm>
            <a:off x="548640" y="4114800"/>
            <a:ext cx="11064240" cy="914400"/>
          </a:xfrm>
          <a:prstGeom prst="rect">
            <a:avLst/>
          </a:prstGeom>
          <a:solidFill>
            <a:srgbClr val="FFFFFF"/>
          </a:solidFill>
          <a:ln w="12700">
            <a:solidFill>
              <a:srgbClr val="C9D1DD"/>
            </a:solidFill>
            <a:prstDash val="solid"/>
          </a:ln>
        </p:spPr>
      </p:sp>
      <p:sp>
        <p:nvSpPr>
          <p:cNvPr id="21" name="Text 18"/>
          <p:cNvSpPr/>
          <p:nvPr/>
        </p:nvSpPr>
        <p:spPr>
          <a:xfrm>
            <a:off x="777240" y="4114800"/>
            <a:ext cx="5029200" cy="91440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Floor prices (BDO, Pag-IBIG distressed)</a:t>
            </a:r>
            <a:endParaRPr lang="en-US" sz="1300" dirty="0"/>
          </a:p>
        </p:txBody>
      </p:sp>
      <p:sp>
        <p:nvSpPr>
          <p:cNvPr id="22" name="Text 19"/>
          <p:cNvSpPr/>
          <p:nvPr/>
        </p:nvSpPr>
        <p:spPr>
          <a:xfrm>
            <a:off x="5852160" y="4114800"/>
            <a:ext cx="1645920" cy="9144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108</a:t>
            </a:r>
            <a:endParaRPr lang="en-US" sz="1800" dirty="0"/>
          </a:p>
        </p:txBody>
      </p:sp>
      <p:sp>
        <p:nvSpPr>
          <p:cNvPr id="23" name="Text 20"/>
          <p:cNvSpPr/>
          <p:nvPr/>
        </p:nvSpPr>
        <p:spPr>
          <a:xfrm>
            <a:off x="7589520" y="4114800"/>
            <a:ext cx="3931920" cy="914400"/>
          </a:xfrm>
          <a:prstGeom prst="rect">
            <a:avLst/>
          </a:prstGeom>
          <a:noFill/>
          <a:ln/>
        </p:spPr>
        <p:txBody>
          <a:bodyPr wrap="square" rtlCol="0" anchor="ctr"/>
          <a:lstStyle/>
          <a:p>
            <a:pPr indent="0" marL="0">
              <a:buNone/>
            </a:pPr>
            <a:r>
              <a:rPr lang="en-US" sz="1200" dirty="0">
                <a:solidFill>
                  <a:srgbClr val="7A8699"/>
                </a:solidFill>
                <a:latin typeface="Calibri" pitchFamily="34" charset="0"/>
                <a:ea typeface="Calibri" pitchFamily="34" charset="-122"/>
                <a:cs typeface="Calibri" pitchFamily="34" charset="-120"/>
              </a:rPr>
              <a:t>Context only — excluded from training</a:t>
            </a:r>
            <a:endParaRPr lang="en-US" sz="1200" dirty="0"/>
          </a:p>
        </p:txBody>
      </p:sp>
      <p:sp>
        <p:nvSpPr>
          <p:cNvPr id="24" name="Shape 21"/>
          <p:cNvSpPr/>
          <p:nvPr/>
        </p:nvSpPr>
        <p:spPr>
          <a:xfrm>
            <a:off x="548640" y="5120640"/>
            <a:ext cx="11064240" cy="914400"/>
          </a:xfrm>
          <a:prstGeom prst="rect">
            <a:avLst/>
          </a:prstGeom>
          <a:solidFill>
            <a:srgbClr val="FFFFFF"/>
          </a:solidFill>
          <a:ln w="12700">
            <a:solidFill>
              <a:srgbClr val="C9D1DD"/>
            </a:solidFill>
            <a:prstDash val="solid"/>
          </a:ln>
        </p:spPr>
      </p:sp>
      <p:sp>
        <p:nvSpPr>
          <p:cNvPr id="25" name="Text 22"/>
          <p:cNvSpPr/>
          <p:nvPr/>
        </p:nvSpPr>
        <p:spPr>
          <a:xfrm>
            <a:off x="777240" y="5120640"/>
            <a:ext cx="5029200" cy="91440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BIR zonal values (per barangay)</a:t>
            </a:r>
            <a:endParaRPr lang="en-US" sz="1300" dirty="0"/>
          </a:p>
        </p:txBody>
      </p:sp>
      <p:sp>
        <p:nvSpPr>
          <p:cNvPr id="26" name="Text 23"/>
          <p:cNvSpPr/>
          <p:nvPr/>
        </p:nvSpPr>
        <p:spPr>
          <a:xfrm>
            <a:off x="5852160" y="5120640"/>
            <a:ext cx="1645920" cy="9144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All rows</a:t>
            </a:r>
            <a:endParaRPr lang="en-US" sz="1800" dirty="0"/>
          </a:p>
        </p:txBody>
      </p:sp>
      <p:sp>
        <p:nvSpPr>
          <p:cNvPr id="27" name="Text 24"/>
          <p:cNvSpPr/>
          <p:nvPr/>
        </p:nvSpPr>
        <p:spPr>
          <a:xfrm>
            <a:off x="7589520" y="5120640"/>
            <a:ext cx="3931920" cy="914400"/>
          </a:xfrm>
          <a:prstGeom prst="rect">
            <a:avLst/>
          </a:prstGeom>
          <a:noFill/>
          <a:ln/>
        </p:spPr>
        <p:txBody>
          <a:bodyPr wrap="square" rtlCol="0" anchor="ctr"/>
          <a:lstStyle/>
          <a:p>
            <a:pPr indent="0" marL="0">
              <a:buNone/>
            </a:pPr>
            <a:r>
              <a:rPr lang="en-US" sz="1200" dirty="0">
                <a:solidFill>
                  <a:srgbClr val="7A8699"/>
                </a:solidFill>
                <a:latin typeface="Calibri" pitchFamily="34" charset="0"/>
                <a:ea typeface="Calibri" pitchFamily="34" charset="-122"/>
                <a:cs typeface="Calibri" pitchFamily="34" charset="-120"/>
              </a:rPr>
              <a:t>Benchmark for valuation gap (not a feature)</a:t>
            </a:r>
            <a:endParaRPr lang="en-US" sz="1200" dirty="0"/>
          </a:p>
        </p:txBody>
      </p:sp>
      <p:sp>
        <p:nvSpPr>
          <p:cNvPr id="28" name="Text 25"/>
          <p:cNvSpPr/>
          <p:nvPr/>
        </p:nvSpPr>
        <p:spPr>
          <a:xfrm>
            <a:off x="548640" y="6126480"/>
            <a:ext cx="11064240" cy="365760"/>
          </a:xfrm>
          <a:prstGeom prst="rect">
            <a:avLst/>
          </a:prstGeom>
          <a:noFill/>
          <a:ln/>
        </p:spPr>
        <p:txBody>
          <a:bodyPr wrap="square" rtlCol="0" anchor="ctr"/>
          <a:lstStyle/>
          <a:p>
            <a:pPr algn="ctr" indent="0" marL="0">
              <a:buNone/>
            </a:pPr>
            <a:r>
              <a:rPr lang="en-US" sz="1300" i="1" dirty="0">
                <a:solidFill>
                  <a:srgbClr val="7A8699"/>
                </a:solidFill>
                <a:latin typeface="Calibri" pitchFamily="34" charset="0"/>
                <a:ea typeface="Calibri" pitchFamily="34" charset="-122"/>
                <a:cs typeface="Calibri" pitchFamily="34" charset="-120"/>
              </a:rPr>
              <a:t>Only the open-market tier feeds training. The rest provide context, benchmark, and future cross-validation.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Why Training Uses Open-Market Only</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109728" cy="4754880"/>
          </a:xfrm>
          <a:prstGeom prst="rect">
            <a:avLst/>
          </a:prstGeom>
          <a:solidFill>
            <a:srgbClr val="D4A843"/>
          </a:solidFill>
          <a:ln w="12700">
            <a:solidFill>
              <a:srgbClr val="D4A843"/>
            </a:solidFill>
            <a:prstDash val="solid"/>
          </a:ln>
        </p:spPr>
      </p:sp>
      <p:sp>
        <p:nvSpPr>
          <p:cNvPr id="8" name="Text 5"/>
          <p:cNvSpPr/>
          <p:nvPr/>
        </p:nvSpPr>
        <p:spPr>
          <a:xfrm>
            <a:off x="868680" y="1554480"/>
            <a:ext cx="5029200" cy="365760"/>
          </a:xfrm>
          <a:prstGeom prst="rect">
            <a:avLst/>
          </a:prstGeom>
          <a:noFill/>
          <a:ln/>
        </p:spPr>
        <p:txBody>
          <a:bodyPr wrap="square" rtlCol="0" anchor="ctr"/>
          <a:lstStyle/>
          <a:p>
            <a:pPr indent="0" marL="0">
              <a:buNone/>
            </a:pPr>
            <a:r>
              <a:rPr lang="en-US" sz="1200" b="1" spc="300" kern="0" dirty="0">
                <a:solidFill>
                  <a:srgbClr val="D4A843"/>
                </a:solidFill>
                <a:latin typeface="Calibri" pitchFamily="34" charset="0"/>
                <a:ea typeface="Calibri" pitchFamily="34" charset="-122"/>
                <a:cs typeface="Calibri" pitchFamily="34" charset="-120"/>
              </a:rPr>
              <a:t>IVS 2025 ANCHOR</a:t>
            </a:r>
            <a:endParaRPr lang="en-US" sz="1200" dirty="0"/>
          </a:p>
        </p:txBody>
      </p:sp>
      <p:sp>
        <p:nvSpPr>
          <p:cNvPr id="9" name="Text 6"/>
          <p:cNvSpPr/>
          <p:nvPr/>
        </p:nvSpPr>
        <p:spPr>
          <a:xfrm>
            <a:off x="868680" y="1920240"/>
            <a:ext cx="5029200" cy="1828800"/>
          </a:xfrm>
          <a:prstGeom prst="rect">
            <a:avLst/>
          </a:prstGeom>
          <a:noFill/>
          <a:ln/>
        </p:spPr>
        <p:txBody>
          <a:bodyPr wrap="square" rtlCol="0" anchor="ctr"/>
          <a:lstStyle/>
          <a:p>
            <a:pPr indent="0" marL="0">
              <a:buNone/>
            </a:pPr>
            <a:r>
              <a:rPr lang="en-US" sz="1600" i="1" dirty="0">
                <a:solidFill>
                  <a:srgbClr val="1B2A4A"/>
                </a:solidFill>
                <a:latin typeface="Calibri" pitchFamily="34" charset="0"/>
                <a:ea typeface="Calibri" pitchFamily="34" charset="-122"/>
                <a:cs typeface="Calibri" pitchFamily="34" charset="-120"/>
              </a:rPr>
              <a:t>"Market Value is the price expected in an arm's-length transaction between a willing buyer and willing seller, neither under compulsion."</a:t>
            </a:r>
            <a:endParaRPr lang="en-US" sz="1600" dirty="0"/>
          </a:p>
        </p:txBody>
      </p:sp>
      <p:sp>
        <p:nvSpPr>
          <p:cNvPr id="10" name="Text 7"/>
          <p:cNvSpPr/>
          <p:nvPr/>
        </p:nvSpPr>
        <p:spPr>
          <a:xfrm>
            <a:off x="868680" y="3749040"/>
            <a:ext cx="5029200" cy="36576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 International Valuation Standards (IVS 2025)</a:t>
            </a:r>
            <a:endParaRPr lang="en-US" sz="1100" dirty="0"/>
          </a:p>
        </p:txBody>
      </p:sp>
      <p:sp>
        <p:nvSpPr>
          <p:cNvPr id="11" name="Text 8"/>
          <p:cNvSpPr/>
          <p:nvPr/>
        </p:nvSpPr>
        <p:spPr>
          <a:xfrm>
            <a:off x="868680" y="4297680"/>
            <a:ext cx="5029200" cy="274320"/>
          </a:xfrm>
          <a:prstGeom prst="rect">
            <a:avLst/>
          </a:prstGeom>
          <a:noFill/>
          <a:ln/>
        </p:spPr>
        <p:txBody>
          <a:bodyPr wrap="square" rtlCol="0" anchor="ctr"/>
          <a:lstStyle/>
          <a:p>
            <a:pPr indent="0" marL="0">
              <a:buNone/>
            </a:pPr>
            <a:r>
              <a:rPr lang="en-US" sz="1100" b="1" spc="200" kern="0" dirty="0">
                <a:solidFill>
                  <a:srgbClr val="D4A843"/>
                </a:solidFill>
                <a:latin typeface="Calibri" pitchFamily="34" charset="0"/>
                <a:ea typeface="Calibri" pitchFamily="34" charset="-122"/>
                <a:cs typeface="Calibri" pitchFamily="34" charset="-120"/>
              </a:rPr>
              <a:t>Empirical support:</a:t>
            </a:r>
            <a:endParaRPr lang="en-US" sz="1100" dirty="0"/>
          </a:p>
        </p:txBody>
      </p:sp>
      <p:sp>
        <p:nvSpPr>
          <p:cNvPr id="12" name="Text 9"/>
          <p:cNvSpPr/>
          <p:nvPr/>
        </p:nvSpPr>
        <p:spPr>
          <a:xfrm>
            <a:off x="1005840" y="4572000"/>
            <a:ext cx="5029200" cy="1463040"/>
          </a:xfrm>
          <a:prstGeom prst="rect">
            <a:avLst/>
          </a:prstGeom>
          <a:noFill/>
          <a:ln/>
        </p:spPr>
        <p:txBody>
          <a:bodyPr wrap="square" rtlCol="0" anchor="ctr"/>
          <a:lstStyle/>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Droes, Hoesli &amp; Bourassa (2019): stratified R² 0.637 → 0.782 vs. pooled</a:t>
            </a:r>
            <a:endParaRPr lang="en-US" sz="1200" dirty="0"/>
          </a:p>
          <a:p>
            <a:pPr marL="342900" indent="-342900">
              <a:spcAft>
                <a:spcPts val="400"/>
              </a:spcAft>
              <a:buSzPct val="100000"/>
              <a:buChar char="●"/>
            </a:pPr>
            <a:r>
              <a:rPr lang="en-US" sz="1200" dirty="0">
                <a:solidFill>
                  <a:srgbClr val="2C3E50"/>
                </a:solidFill>
                <a:latin typeface="Calibri" pitchFamily="34" charset="0"/>
                <a:ea typeface="Calibri" pitchFamily="34" charset="-122"/>
                <a:cs typeface="Calibri" pitchFamily="34" charset="-120"/>
              </a:rPr>
              <a:t>Usman et al. (2020): +7% fit, −10% error in Malaysia</a:t>
            </a:r>
            <a:endParaRPr lang="en-US" sz="1200" dirty="0"/>
          </a:p>
          <a:p>
            <a:pPr marL="342900" indent="-342900">
              <a:buSzPct val="100000"/>
              <a:buChar char="●"/>
            </a:pPr>
            <a:r>
              <a:rPr lang="en-US" sz="1200" dirty="0">
                <a:solidFill>
                  <a:srgbClr val="2C3E50"/>
                </a:solidFill>
                <a:latin typeface="Calibri" pitchFamily="34" charset="0"/>
                <a:ea typeface="Calibri" pitchFamily="34" charset="-122"/>
                <a:cs typeface="Calibri" pitchFamily="34" charset="-120"/>
              </a:rPr>
              <a:t>Calinao (2022): Philippine foreclosure discount 28–30%</a:t>
            </a:r>
            <a:endParaRPr lang="en-US" sz="1200" dirty="0"/>
          </a:p>
        </p:txBody>
      </p:sp>
      <p:sp>
        <p:nvSpPr>
          <p:cNvPr id="13" name="Shape 10"/>
          <p:cNvSpPr/>
          <p:nvPr/>
        </p:nvSpPr>
        <p:spPr>
          <a:xfrm>
            <a:off x="6400800" y="1554480"/>
            <a:ext cx="5212080" cy="1051560"/>
          </a:xfrm>
          <a:prstGeom prst="roundRect">
            <a:avLst>
              <a:gd name="adj" fmla="val 5217"/>
            </a:avLst>
          </a:prstGeom>
          <a:solidFill>
            <a:srgbClr val="F5E6B8"/>
          </a:solidFill>
          <a:ln w="19050">
            <a:solidFill>
              <a:srgbClr val="D4A843"/>
            </a:solidFill>
            <a:prstDash val="solid"/>
          </a:ln>
        </p:spPr>
      </p:sp>
      <p:sp>
        <p:nvSpPr>
          <p:cNvPr id="14" name="Text 11"/>
          <p:cNvSpPr/>
          <p:nvPr/>
        </p:nvSpPr>
        <p:spPr>
          <a:xfrm>
            <a:off x="6583680" y="1645920"/>
            <a:ext cx="4846320" cy="274320"/>
          </a:xfrm>
          <a:prstGeom prst="rect">
            <a:avLst/>
          </a:prstGeom>
          <a:noFill/>
          <a:ln/>
        </p:spPr>
        <p:txBody>
          <a:bodyPr wrap="square" rtlCol="0" anchor="ctr"/>
          <a:lstStyle/>
          <a:p>
            <a:pPr indent="0" marL="0">
              <a:buNone/>
            </a:pPr>
            <a:r>
              <a:rPr lang="en-US" sz="1000" b="1" spc="300" kern="0" dirty="0">
                <a:solidFill>
                  <a:srgbClr val="D4A843"/>
                </a:solidFill>
                <a:latin typeface="Calibri" pitchFamily="34" charset="0"/>
                <a:ea typeface="Calibri" pitchFamily="34" charset="-122"/>
                <a:cs typeface="Calibri" pitchFamily="34" charset="-120"/>
              </a:rPr>
              <a:t>OPEN-MARKET</a:t>
            </a:r>
            <a:endParaRPr lang="en-US" sz="1000" dirty="0"/>
          </a:p>
        </p:txBody>
      </p:sp>
      <p:sp>
        <p:nvSpPr>
          <p:cNvPr id="15" name="Text 12"/>
          <p:cNvSpPr/>
          <p:nvPr/>
        </p:nvSpPr>
        <p:spPr>
          <a:xfrm>
            <a:off x="6583680" y="1920240"/>
            <a:ext cx="48463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Arm's-length signal</a:t>
            </a:r>
            <a:endParaRPr lang="en-US" sz="1600" dirty="0"/>
          </a:p>
        </p:txBody>
      </p:sp>
      <p:sp>
        <p:nvSpPr>
          <p:cNvPr id="16" name="Text 13"/>
          <p:cNvSpPr/>
          <p:nvPr/>
        </p:nvSpPr>
        <p:spPr>
          <a:xfrm>
            <a:off x="6583680" y="2267712"/>
            <a:ext cx="4846320" cy="27432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The only data type that meets the IVS Market Value definition.</a:t>
            </a:r>
            <a:endParaRPr lang="en-US" sz="1100" dirty="0"/>
          </a:p>
        </p:txBody>
      </p:sp>
      <p:sp>
        <p:nvSpPr>
          <p:cNvPr id="17" name="Shape 14"/>
          <p:cNvSpPr/>
          <p:nvPr/>
        </p:nvSpPr>
        <p:spPr>
          <a:xfrm>
            <a:off x="6400800" y="2743200"/>
            <a:ext cx="5212080" cy="1051560"/>
          </a:xfrm>
          <a:prstGeom prst="roundRect">
            <a:avLst>
              <a:gd name="adj" fmla="val 5217"/>
            </a:avLst>
          </a:prstGeom>
          <a:solidFill>
            <a:srgbClr val="FFFFFF"/>
          </a:solidFill>
          <a:ln w="19050">
            <a:solidFill>
              <a:srgbClr val="7A8699"/>
            </a:solidFill>
            <a:prstDash val="solid"/>
          </a:ln>
        </p:spPr>
      </p:sp>
      <p:sp>
        <p:nvSpPr>
          <p:cNvPr id="18" name="Text 15"/>
          <p:cNvSpPr/>
          <p:nvPr/>
        </p:nvSpPr>
        <p:spPr>
          <a:xfrm>
            <a:off x="6583680" y="2834640"/>
            <a:ext cx="4846320" cy="274320"/>
          </a:xfrm>
          <a:prstGeom prst="rect">
            <a:avLst/>
          </a:prstGeom>
          <a:noFill/>
          <a:ln/>
        </p:spPr>
        <p:txBody>
          <a:bodyPr wrap="square" rtlCol="0" anchor="ctr"/>
          <a:lstStyle/>
          <a:p>
            <a:pPr indent="0" marL="0">
              <a:buNone/>
            </a:pPr>
            <a:r>
              <a:rPr lang="en-US" sz="1000" b="1" spc="300" kern="0" dirty="0">
                <a:solidFill>
                  <a:srgbClr val="7A8699"/>
                </a:solidFill>
                <a:latin typeface="Calibri" pitchFamily="34" charset="0"/>
                <a:ea typeface="Calibri" pitchFamily="34" charset="-122"/>
                <a:cs typeface="Calibri" pitchFamily="34" charset="-120"/>
              </a:rPr>
              <a:t>BANK ROPA</a:t>
            </a:r>
            <a:endParaRPr lang="en-US" sz="1000" dirty="0"/>
          </a:p>
        </p:txBody>
      </p:sp>
      <p:sp>
        <p:nvSpPr>
          <p:cNvPr id="19" name="Text 16"/>
          <p:cNvSpPr/>
          <p:nvPr/>
        </p:nvSpPr>
        <p:spPr>
          <a:xfrm>
            <a:off x="6583680" y="3108960"/>
            <a:ext cx="48463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Liquidation Value</a:t>
            </a:r>
            <a:endParaRPr lang="en-US" sz="1600" dirty="0"/>
          </a:p>
        </p:txBody>
      </p:sp>
      <p:sp>
        <p:nvSpPr>
          <p:cNvPr id="20" name="Text 17"/>
          <p:cNvSpPr/>
          <p:nvPr/>
        </p:nvSpPr>
        <p:spPr>
          <a:xfrm>
            <a:off x="6583680" y="3456432"/>
            <a:ext cx="4846320" cy="27432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Sales under compulsion. Different basis of value entirely.</a:t>
            </a:r>
            <a:endParaRPr lang="en-US" sz="1100" dirty="0"/>
          </a:p>
        </p:txBody>
      </p:sp>
      <p:sp>
        <p:nvSpPr>
          <p:cNvPr id="21" name="Shape 18"/>
          <p:cNvSpPr/>
          <p:nvPr/>
        </p:nvSpPr>
        <p:spPr>
          <a:xfrm>
            <a:off x="6400800" y="3931920"/>
            <a:ext cx="5212080" cy="1051560"/>
          </a:xfrm>
          <a:prstGeom prst="roundRect">
            <a:avLst>
              <a:gd name="adj" fmla="val 5217"/>
            </a:avLst>
          </a:prstGeom>
          <a:solidFill>
            <a:srgbClr val="FFFFFF"/>
          </a:solidFill>
          <a:ln w="19050">
            <a:solidFill>
              <a:srgbClr val="7A8699"/>
            </a:solidFill>
            <a:prstDash val="solid"/>
          </a:ln>
        </p:spPr>
      </p:sp>
      <p:sp>
        <p:nvSpPr>
          <p:cNvPr id="22" name="Text 19"/>
          <p:cNvSpPr/>
          <p:nvPr/>
        </p:nvSpPr>
        <p:spPr>
          <a:xfrm>
            <a:off x="6583680" y="4023360"/>
            <a:ext cx="4846320" cy="274320"/>
          </a:xfrm>
          <a:prstGeom prst="rect">
            <a:avLst/>
          </a:prstGeom>
          <a:noFill/>
          <a:ln/>
        </p:spPr>
        <p:txBody>
          <a:bodyPr wrap="square" rtlCol="0" anchor="ctr"/>
          <a:lstStyle/>
          <a:p>
            <a:pPr indent="0" marL="0">
              <a:buNone/>
            </a:pPr>
            <a:r>
              <a:rPr lang="en-US" sz="1000" b="1" spc="300" kern="0" dirty="0">
                <a:solidFill>
                  <a:srgbClr val="7A8699"/>
                </a:solidFill>
                <a:latin typeface="Calibri" pitchFamily="34" charset="0"/>
                <a:ea typeface="Calibri" pitchFamily="34" charset="-122"/>
                <a:cs typeface="Calibri" pitchFamily="34" charset="-120"/>
              </a:rPr>
              <a:t>FLOOR PRICE</a:t>
            </a:r>
            <a:endParaRPr lang="en-US" sz="1000" dirty="0"/>
          </a:p>
        </p:txBody>
      </p:sp>
      <p:sp>
        <p:nvSpPr>
          <p:cNvPr id="23" name="Text 20"/>
          <p:cNvSpPr/>
          <p:nvPr/>
        </p:nvSpPr>
        <p:spPr>
          <a:xfrm>
            <a:off x="6583680" y="4297680"/>
            <a:ext cx="48463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Administrative</a:t>
            </a:r>
            <a:endParaRPr lang="en-US" sz="1600" dirty="0"/>
          </a:p>
        </p:txBody>
      </p:sp>
      <p:sp>
        <p:nvSpPr>
          <p:cNvPr id="24" name="Text 21"/>
          <p:cNvSpPr/>
          <p:nvPr/>
        </p:nvSpPr>
        <p:spPr>
          <a:xfrm>
            <a:off x="6583680" y="4645152"/>
            <a:ext cx="4846320" cy="27432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Lender risk floor. Not market behavior.</a:t>
            </a:r>
            <a:endParaRPr lang="en-US" sz="1100" dirty="0"/>
          </a:p>
        </p:txBody>
      </p:sp>
      <p:sp>
        <p:nvSpPr>
          <p:cNvPr id="25" name="Shape 22"/>
          <p:cNvSpPr/>
          <p:nvPr/>
        </p:nvSpPr>
        <p:spPr>
          <a:xfrm>
            <a:off x="6400800" y="5120640"/>
            <a:ext cx="5212080" cy="1051560"/>
          </a:xfrm>
          <a:prstGeom prst="roundRect">
            <a:avLst>
              <a:gd name="adj" fmla="val 5217"/>
            </a:avLst>
          </a:prstGeom>
          <a:solidFill>
            <a:srgbClr val="FFFFFF"/>
          </a:solidFill>
          <a:ln w="19050">
            <a:solidFill>
              <a:srgbClr val="7A8699"/>
            </a:solidFill>
            <a:prstDash val="solid"/>
          </a:ln>
        </p:spPr>
      </p:sp>
      <p:sp>
        <p:nvSpPr>
          <p:cNvPr id="26" name="Text 23"/>
          <p:cNvSpPr/>
          <p:nvPr/>
        </p:nvSpPr>
        <p:spPr>
          <a:xfrm>
            <a:off x="6583680" y="5212080"/>
            <a:ext cx="4846320" cy="274320"/>
          </a:xfrm>
          <a:prstGeom prst="rect">
            <a:avLst/>
          </a:prstGeom>
          <a:noFill/>
          <a:ln/>
        </p:spPr>
        <p:txBody>
          <a:bodyPr wrap="square" rtlCol="0" anchor="ctr"/>
          <a:lstStyle/>
          <a:p>
            <a:pPr indent="0" marL="0">
              <a:buNone/>
            </a:pPr>
            <a:r>
              <a:rPr lang="en-US" sz="1000" b="1" spc="300" kern="0" dirty="0">
                <a:solidFill>
                  <a:srgbClr val="7A8699"/>
                </a:solidFill>
                <a:latin typeface="Calibri" pitchFamily="34" charset="0"/>
                <a:ea typeface="Calibri" pitchFamily="34" charset="-122"/>
                <a:cs typeface="Calibri" pitchFamily="34" charset="-120"/>
              </a:rPr>
              <a:t>BIR ZONAL</a:t>
            </a:r>
            <a:endParaRPr lang="en-US" sz="1000" dirty="0"/>
          </a:p>
        </p:txBody>
      </p:sp>
      <p:sp>
        <p:nvSpPr>
          <p:cNvPr id="27" name="Text 24"/>
          <p:cNvSpPr/>
          <p:nvPr/>
        </p:nvSpPr>
        <p:spPr>
          <a:xfrm>
            <a:off x="6583680" y="5486400"/>
            <a:ext cx="48463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Benchmark only</a:t>
            </a:r>
            <a:endParaRPr lang="en-US" sz="1600" dirty="0"/>
          </a:p>
        </p:txBody>
      </p:sp>
      <p:sp>
        <p:nvSpPr>
          <p:cNvPr id="28" name="Text 25"/>
          <p:cNvSpPr/>
          <p:nvPr/>
        </p:nvSpPr>
        <p:spPr>
          <a:xfrm>
            <a:off x="6583680" y="5833872"/>
            <a:ext cx="4846320" cy="27432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Comparison reference for valuation gap. Not a model feature.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From Collection to Modeling-Ready ABT</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1065276" y="1554480"/>
            <a:ext cx="10058400" cy="868680"/>
          </a:xfrm>
          <a:prstGeom prst="roundRect">
            <a:avLst>
              <a:gd name="adj" fmla="val 8421"/>
            </a:avLst>
          </a:prstGeom>
          <a:solidFill>
            <a:srgbClr val="1B2A4A"/>
          </a:solidFill>
          <a:ln w="12700">
            <a:solidFill>
              <a:srgbClr val="1B2A4A"/>
            </a:solidFill>
            <a:prstDash val="solid"/>
          </a:ln>
        </p:spPr>
      </p:sp>
      <p:sp>
        <p:nvSpPr>
          <p:cNvPr id="8" name="Text 5"/>
          <p:cNvSpPr/>
          <p:nvPr/>
        </p:nvSpPr>
        <p:spPr>
          <a:xfrm>
            <a:off x="1065276" y="1554480"/>
            <a:ext cx="2286000" cy="868680"/>
          </a:xfrm>
          <a:prstGeom prst="rect">
            <a:avLst/>
          </a:prstGeom>
          <a:noFill/>
          <a:ln/>
        </p:spPr>
        <p:txBody>
          <a:bodyPr wrap="square" rtlCol="0" anchor="ctr"/>
          <a:lstStyle/>
          <a:p>
            <a:pPr algn="ctr" indent="0" marL="0">
              <a:buNone/>
            </a:pPr>
            <a:r>
              <a:rPr lang="en-US" sz="2600" b="1" dirty="0">
                <a:solidFill>
                  <a:srgbClr val="D4A843"/>
                </a:solidFill>
                <a:latin typeface="Calibri" pitchFamily="34" charset="0"/>
                <a:ea typeface="Calibri" pitchFamily="34" charset="-122"/>
                <a:cs typeface="Calibri" pitchFamily="34" charset="-120"/>
              </a:rPr>
              <a:t>2,047</a:t>
            </a:r>
            <a:endParaRPr lang="en-US" sz="2600" dirty="0"/>
          </a:p>
        </p:txBody>
      </p:sp>
      <p:sp>
        <p:nvSpPr>
          <p:cNvPr id="9" name="Text 6"/>
          <p:cNvSpPr/>
          <p:nvPr/>
        </p:nvSpPr>
        <p:spPr>
          <a:xfrm>
            <a:off x="3351276" y="1645920"/>
            <a:ext cx="7589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Canonical ABT</a:t>
            </a:r>
            <a:endParaRPr lang="en-US" sz="1600" dirty="0"/>
          </a:p>
        </p:txBody>
      </p:sp>
      <p:sp>
        <p:nvSpPr>
          <p:cNvPr id="10" name="Text 7"/>
          <p:cNvSpPr/>
          <p:nvPr/>
        </p:nvSpPr>
        <p:spPr>
          <a:xfrm>
            <a:off x="3351276" y="2011680"/>
            <a:ext cx="7589520" cy="365760"/>
          </a:xfrm>
          <a:prstGeom prst="rect">
            <a:avLst/>
          </a:prstGeom>
          <a:noFill/>
          <a:ln/>
        </p:spPr>
        <p:txBody>
          <a:bodyPr wrap="square" rtlCol="0" anchor="ctr"/>
          <a:lstStyle/>
          <a:p>
            <a:pPr indent="0" marL="0">
              <a:buNone/>
            </a:pPr>
            <a:r>
              <a:rPr lang="en-US" sz="1200" dirty="0">
                <a:solidFill>
                  <a:srgbClr val="C9D1DD"/>
                </a:solidFill>
                <a:latin typeface="Calibri" pitchFamily="34" charset="0"/>
                <a:ea typeface="Calibri" pitchFamily="34" charset="-122"/>
                <a:cs typeface="Calibri" pitchFamily="34" charset="-120"/>
              </a:rPr>
              <a:t>All market tiers · 50+ columns</a:t>
            </a:r>
            <a:endParaRPr lang="en-US" sz="1200" dirty="0"/>
          </a:p>
        </p:txBody>
      </p:sp>
      <p:sp>
        <p:nvSpPr>
          <p:cNvPr id="11" name="Shape 8"/>
          <p:cNvSpPr/>
          <p:nvPr/>
        </p:nvSpPr>
        <p:spPr>
          <a:xfrm rot="5400000">
            <a:off x="5957316" y="2423160"/>
            <a:ext cx="274320" cy="164592"/>
          </a:xfrm>
          <a:prstGeom prst="rightTriangle">
            <a:avLst/>
          </a:prstGeom>
          <a:solidFill>
            <a:srgbClr val="7A8699"/>
          </a:solidFill>
          <a:ln w="12700">
            <a:solidFill>
              <a:srgbClr val="7A8699"/>
            </a:solidFill>
            <a:prstDash val="solid"/>
          </a:ln>
        </p:spPr>
      </p:sp>
      <p:sp>
        <p:nvSpPr>
          <p:cNvPr id="12" name="Shape 9"/>
          <p:cNvSpPr/>
          <p:nvPr/>
        </p:nvSpPr>
        <p:spPr>
          <a:xfrm>
            <a:off x="1979676" y="2606040"/>
            <a:ext cx="8229600" cy="868680"/>
          </a:xfrm>
          <a:prstGeom prst="roundRect">
            <a:avLst>
              <a:gd name="adj" fmla="val 8421"/>
            </a:avLst>
          </a:prstGeom>
          <a:solidFill>
            <a:srgbClr val="1B2A4A"/>
          </a:solidFill>
          <a:ln w="12700">
            <a:solidFill>
              <a:srgbClr val="1B2A4A"/>
            </a:solidFill>
            <a:prstDash val="solid"/>
          </a:ln>
        </p:spPr>
      </p:sp>
      <p:sp>
        <p:nvSpPr>
          <p:cNvPr id="13" name="Text 10"/>
          <p:cNvSpPr/>
          <p:nvPr/>
        </p:nvSpPr>
        <p:spPr>
          <a:xfrm>
            <a:off x="1979676" y="2606040"/>
            <a:ext cx="2286000" cy="868680"/>
          </a:xfrm>
          <a:prstGeom prst="rect">
            <a:avLst/>
          </a:prstGeom>
          <a:noFill/>
          <a:ln/>
        </p:spPr>
        <p:txBody>
          <a:bodyPr wrap="square" rtlCol="0" anchor="ctr"/>
          <a:lstStyle/>
          <a:p>
            <a:pPr algn="ctr" indent="0" marL="0">
              <a:buNone/>
            </a:pPr>
            <a:r>
              <a:rPr lang="en-US" sz="2600" b="1" dirty="0">
                <a:solidFill>
                  <a:srgbClr val="D4A843"/>
                </a:solidFill>
                <a:latin typeface="Calibri" pitchFamily="34" charset="0"/>
                <a:ea typeface="Calibri" pitchFamily="34" charset="-122"/>
                <a:cs typeface="Calibri" pitchFamily="34" charset="-120"/>
              </a:rPr>
              <a:t>1,619</a:t>
            </a:r>
            <a:endParaRPr lang="en-US" sz="2600" dirty="0"/>
          </a:p>
        </p:txBody>
      </p:sp>
      <p:sp>
        <p:nvSpPr>
          <p:cNvPr id="14" name="Text 11"/>
          <p:cNvSpPr/>
          <p:nvPr/>
        </p:nvSpPr>
        <p:spPr>
          <a:xfrm>
            <a:off x="4265676" y="2697480"/>
            <a:ext cx="57607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Open-market filter</a:t>
            </a:r>
            <a:endParaRPr lang="en-US" sz="1600" dirty="0"/>
          </a:p>
        </p:txBody>
      </p:sp>
      <p:sp>
        <p:nvSpPr>
          <p:cNvPr id="15" name="Text 12"/>
          <p:cNvSpPr/>
          <p:nvPr/>
        </p:nvSpPr>
        <p:spPr>
          <a:xfrm>
            <a:off x="4265676" y="3063240"/>
            <a:ext cx="5760720" cy="365760"/>
          </a:xfrm>
          <a:prstGeom prst="rect">
            <a:avLst/>
          </a:prstGeom>
          <a:noFill/>
          <a:ln/>
        </p:spPr>
        <p:txBody>
          <a:bodyPr wrap="square" rtlCol="0" anchor="ctr"/>
          <a:lstStyle/>
          <a:p>
            <a:pPr indent="0" marL="0">
              <a:buNone/>
            </a:pPr>
            <a:r>
              <a:rPr lang="en-US" sz="1200" dirty="0">
                <a:solidFill>
                  <a:srgbClr val="C9D1DD"/>
                </a:solidFill>
                <a:latin typeface="Calibri" pitchFamily="34" charset="0"/>
                <a:ea typeface="Calibri" pitchFamily="34" charset="-122"/>
                <a:cs typeface="Calibri" pitchFamily="34" charset="-120"/>
              </a:rPr>
              <a:t>market_segment == 'open_market'</a:t>
            </a:r>
            <a:endParaRPr lang="en-US" sz="1200" dirty="0"/>
          </a:p>
        </p:txBody>
      </p:sp>
      <p:sp>
        <p:nvSpPr>
          <p:cNvPr id="16" name="Shape 13"/>
          <p:cNvSpPr/>
          <p:nvPr/>
        </p:nvSpPr>
        <p:spPr>
          <a:xfrm rot="5400000">
            <a:off x="5957316" y="3474720"/>
            <a:ext cx="274320" cy="164592"/>
          </a:xfrm>
          <a:prstGeom prst="rightTriangle">
            <a:avLst/>
          </a:prstGeom>
          <a:solidFill>
            <a:srgbClr val="7A8699"/>
          </a:solidFill>
          <a:ln w="12700">
            <a:solidFill>
              <a:srgbClr val="7A8699"/>
            </a:solidFill>
            <a:prstDash val="solid"/>
          </a:ln>
        </p:spPr>
      </p:sp>
      <p:sp>
        <p:nvSpPr>
          <p:cNvPr id="17" name="Shape 14"/>
          <p:cNvSpPr/>
          <p:nvPr/>
        </p:nvSpPr>
        <p:spPr>
          <a:xfrm>
            <a:off x="2894076" y="3657600"/>
            <a:ext cx="6400800" cy="868680"/>
          </a:xfrm>
          <a:prstGeom prst="roundRect">
            <a:avLst>
              <a:gd name="adj" fmla="val 8421"/>
            </a:avLst>
          </a:prstGeom>
          <a:solidFill>
            <a:srgbClr val="D4A843"/>
          </a:solidFill>
          <a:ln w="12700">
            <a:solidFill>
              <a:srgbClr val="D4A843"/>
            </a:solidFill>
            <a:prstDash val="solid"/>
          </a:ln>
        </p:spPr>
      </p:sp>
      <p:sp>
        <p:nvSpPr>
          <p:cNvPr id="18" name="Text 15"/>
          <p:cNvSpPr/>
          <p:nvPr/>
        </p:nvSpPr>
        <p:spPr>
          <a:xfrm>
            <a:off x="2894076" y="3657600"/>
            <a:ext cx="2286000" cy="868680"/>
          </a:xfrm>
          <a:prstGeom prst="rect">
            <a:avLst/>
          </a:prstGeom>
          <a:noFill/>
          <a:ln/>
        </p:spPr>
        <p:txBody>
          <a:bodyPr wrap="square" rtlCol="0" anchor="ctr"/>
          <a:lstStyle/>
          <a:p>
            <a:pPr algn="ctr" indent="0" marL="0">
              <a:buNone/>
            </a:pPr>
            <a:r>
              <a:rPr lang="en-US" sz="2600" b="1" dirty="0">
                <a:solidFill>
                  <a:srgbClr val="1B2A4A"/>
                </a:solidFill>
                <a:latin typeface="Calibri" pitchFamily="34" charset="0"/>
                <a:ea typeface="Calibri" pitchFamily="34" charset="-122"/>
                <a:cs typeface="Calibri" pitchFamily="34" charset="-120"/>
              </a:rPr>
              <a:t>1,491</a:t>
            </a:r>
            <a:endParaRPr lang="en-US" sz="2600" dirty="0"/>
          </a:p>
        </p:txBody>
      </p:sp>
      <p:sp>
        <p:nvSpPr>
          <p:cNvPr id="19" name="Text 16"/>
          <p:cNvSpPr/>
          <p:nvPr/>
        </p:nvSpPr>
        <p:spPr>
          <a:xfrm>
            <a:off x="5180076" y="3749040"/>
            <a:ext cx="39319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Modeling-ready</a:t>
            </a:r>
            <a:endParaRPr lang="en-US" sz="1600" dirty="0"/>
          </a:p>
        </p:txBody>
      </p:sp>
      <p:sp>
        <p:nvSpPr>
          <p:cNvPr id="20" name="Text 17"/>
          <p:cNvSpPr/>
          <p:nvPr/>
        </p:nvSpPr>
        <p:spPr>
          <a:xfrm>
            <a:off x="5180076" y="4114800"/>
            <a:ext cx="3931920" cy="36576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Drop nulls + require spatial-lag neighbors</a:t>
            </a:r>
            <a:endParaRPr lang="en-US" sz="1200" dirty="0"/>
          </a:p>
        </p:txBody>
      </p:sp>
      <p:sp>
        <p:nvSpPr>
          <p:cNvPr id="21" name="Shape 18"/>
          <p:cNvSpPr/>
          <p:nvPr/>
        </p:nvSpPr>
        <p:spPr>
          <a:xfrm rot="5400000">
            <a:off x="5957316" y="4526280"/>
            <a:ext cx="274320" cy="164592"/>
          </a:xfrm>
          <a:prstGeom prst="rightTriangle">
            <a:avLst/>
          </a:prstGeom>
          <a:solidFill>
            <a:srgbClr val="7A8699"/>
          </a:solidFill>
          <a:ln w="12700">
            <a:solidFill>
              <a:srgbClr val="7A8699"/>
            </a:solidFill>
            <a:prstDash val="solid"/>
          </a:ln>
        </p:spPr>
      </p:sp>
      <p:sp>
        <p:nvSpPr>
          <p:cNvPr id="22" name="Shape 19"/>
          <p:cNvSpPr/>
          <p:nvPr/>
        </p:nvSpPr>
        <p:spPr>
          <a:xfrm>
            <a:off x="3808476" y="4709160"/>
            <a:ext cx="4572000" cy="868680"/>
          </a:xfrm>
          <a:prstGeom prst="roundRect">
            <a:avLst>
              <a:gd name="adj" fmla="val 8421"/>
            </a:avLst>
          </a:prstGeom>
          <a:solidFill>
            <a:srgbClr val="D4A843"/>
          </a:solidFill>
          <a:ln w="12700">
            <a:solidFill>
              <a:srgbClr val="D4A843"/>
            </a:solidFill>
            <a:prstDash val="solid"/>
          </a:ln>
        </p:spPr>
      </p:sp>
      <p:sp>
        <p:nvSpPr>
          <p:cNvPr id="23" name="Text 20"/>
          <p:cNvSpPr/>
          <p:nvPr/>
        </p:nvSpPr>
        <p:spPr>
          <a:xfrm>
            <a:off x="3808476" y="4709160"/>
            <a:ext cx="2286000" cy="868680"/>
          </a:xfrm>
          <a:prstGeom prst="rect">
            <a:avLst/>
          </a:prstGeom>
          <a:noFill/>
          <a:ln/>
        </p:spPr>
        <p:txBody>
          <a:bodyPr wrap="square" rtlCol="0" anchor="ctr"/>
          <a:lstStyle/>
          <a:p>
            <a:pPr algn="ctr" indent="0" marL="0">
              <a:buNone/>
            </a:pPr>
            <a:r>
              <a:rPr lang="en-US" sz="2600" b="1" dirty="0">
                <a:solidFill>
                  <a:srgbClr val="1B2A4A"/>
                </a:solidFill>
                <a:latin typeface="Calibri" pitchFamily="34" charset="0"/>
                <a:ea typeface="Calibri" pitchFamily="34" charset="-122"/>
                <a:cs typeface="Calibri" pitchFamily="34" charset="-120"/>
              </a:rPr>
              <a:t>1,192 / 299</a:t>
            </a:r>
            <a:endParaRPr lang="en-US" sz="2600" dirty="0"/>
          </a:p>
        </p:txBody>
      </p:sp>
      <p:sp>
        <p:nvSpPr>
          <p:cNvPr id="24" name="Text 21"/>
          <p:cNvSpPr/>
          <p:nvPr/>
        </p:nvSpPr>
        <p:spPr>
          <a:xfrm>
            <a:off x="6094476" y="4800600"/>
            <a:ext cx="210312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Train / Test split</a:t>
            </a:r>
            <a:endParaRPr lang="en-US" sz="1600" dirty="0"/>
          </a:p>
        </p:txBody>
      </p:sp>
      <p:sp>
        <p:nvSpPr>
          <p:cNvPr id="25" name="Text 22"/>
          <p:cNvSpPr/>
          <p:nvPr/>
        </p:nvSpPr>
        <p:spPr>
          <a:xfrm>
            <a:off x="6094476" y="5166360"/>
            <a:ext cx="2103120" cy="36576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80/20, random_state=42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Geospatial Features Overview</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425196" y="1645920"/>
            <a:ext cx="2697480" cy="3657600"/>
          </a:xfrm>
          <a:prstGeom prst="roundRect">
            <a:avLst>
              <a:gd name="adj" fmla="val 2712"/>
            </a:avLst>
          </a:prstGeom>
          <a:solidFill>
            <a:srgbClr val="FFFFFF"/>
          </a:solidFill>
          <a:ln w="12700">
            <a:solidFill>
              <a:srgbClr val="C9D1DD"/>
            </a:solidFill>
            <a:prstDash val="solid"/>
          </a:ln>
        </p:spPr>
      </p:sp>
      <p:sp>
        <p:nvSpPr>
          <p:cNvPr id="8" name="Shape 5"/>
          <p:cNvSpPr/>
          <p:nvPr/>
        </p:nvSpPr>
        <p:spPr>
          <a:xfrm>
            <a:off x="699516" y="1920240"/>
            <a:ext cx="457200" cy="457200"/>
          </a:xfrm>
          <a:prstGeom prst="ellipse">
            <a:avLst/>
          </a:prstGeom>
          <a:solidFill>
            <a:srgbClr val="D4A843"/>
          </a:solidFill>
          <a:ln w="12700">
            <a:solidFill>
              <a:srgbClr val="D4A843"/>
            </a:solidFill>
            <a:prstDash val="solid"/>
          </a:ln>
        </p:spPr>
      </p:sp>
      <p:sp>
        <p:nvSpPr>
          <p:cNvPr id="9" name="Text 6"/>
          <p:cNvSpPr/>
          <p:nvPr/>
        </p:nvSpPr>
        <p:spPr>
          <a:xfrm>
            <a:off x="699516" y="19202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293876" y="1920240"/>
            <a:ext cx="160020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CBD Distances</a:t>
            </a:r>
            <a:endParaRPr lang="en-US" sz="1600" dirty="0"/>
          </a:p>
        </p:txBody>
      </p:sp>
      <p:sp>
        <p:nvSpPr>
          <p:cNvPr id="11" name="Text 8"/>
          <p:cNvSpPr/>
          <p:nvPr/>
        </p:nvSpPr>
        <p:spPr>
          <a:xfrm>
            <a:off x="699516" y="2514600"/>
            <a:ext cx="2148840" cy="26517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8 nodes · osmnx Dijkstra routing.</a:t>
            </a:r>
            <a:endParaRPr lang="en-US" sz="1300" dirty="0"/>
          </a:p>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Giuliano &amp; Small (1991), JICA 2050.</a:t>
            </a:r>
            <a:endParaRPr lang="en-US" sz="1300" dirty="0"/>
          </a:p>
        </p:txBody>
      </p:sp>
      <p:sp>
        <p:nvSpPr>
          <p:cNvPr id="12" name="Shape 9"/>
          <p:cNvSpPr/>
          <p:nvPr/>
        </p:nvSpPr>
        <p:spPr>
          <a:xfrm>
            <a:off x="3305556" y="1645920"/>
            <a:ext cx="2697480" cy="3657600"/>
          </a:xfrm>
          <a:prstGeom prst="roundRect">
            <a:avLst>
              <a:gd name="adj" fmla="val 2712"/>
            </a:avLst>
          </a:prstGeom>
          <a:solidFill>
            <a:srgbClr val="FFFFFF"/>
          </a:solidFill>
          <a:ln w="12700">
            <a:solidFill>
              <a:srgbClr val="C9D1DD"/>
            </a:solidFill>
            <a:prstDash val="solid"/>
          </a:ln>
        </p:spPr>
      </p:sp>
      <p:sp>
        <p:nvSpPr>
          <p:cNvPr id="13" name="Shape 10"/>
          <p:cNvSpPr/>
          <p:nvPr/>
        </p:nvSpPr>
        <p:spPr>
          <a:xfrm>
            <a:off x="3579876" y="1920240"/>
            <a:ext cx="457200" cy="457200"/>
          </a:xfrm>
          <a:prstGeom prst="ellipse">
            <a:avLst/>
          </a:prstGeom>
          <a:solidFill>
            <a:srgbClr val="D4A843"/>
          </a:solidFill>
          <a:ln w="12700">
            <a:solidFill>
              <a:srgbClr val="D4A843"/>
            </a:solidFill>
            <a:prstDash val="solid"/>
          </a:ln>
        </p:spPr>
      </p:sp>
      <p:sp>
        <p:nvSpPr>
          <p:cNvPr id="14" name="Text 11"/>
          <p:cNvSpPr/>
          <p:nvPr/>
        </p:nvSpPr>
        <p:spPr>
          <a:xfrm>
            <a:off x="3579876" y="19202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4174236" y="1920240"/>
            <a:ext cx="160020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MCRAI</a:t>
            </a:r>
            <a:endParaRPr lang="en-US" sz="1600" dirty="0"/>
          </a:p>
        </p:txBody>
      </p:sp>
      <p:sp>
        <p:nvSpPr>
          <p:cNvPr id="16" name="Text 13"/>
          <p:cNvSpPr/>
          <p:nvPr/>
        </p:nvSpPr>
        <p:spPr>
          <a:xfrm>
            <a:off x="3579876" y="2514600"/>
            <a:ext cx="2148840" cy="26517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9 amenity categories · Hansen gravity</a:t>
            </a:r>
            <a:endParaRPr lang="en-US" sz="1300" dirty="0"/>
          </a:p>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with category-specific radii.</a:t>
            </a:r>
            <a:endParaRPr lang="en-US" sz="1300" dirty="0"/>
          </a:p>
        </p:txBody>
      </p:sp>
      <p:sp>
        <p:nvSpPr>
          <p:cNvPr id="17" name="Shape 14"/>
          <p:cNvSpPr/>
          <p:nvPr/>
        </p:nvSpPr>
        <p:spPr>
          <a:xfrm>
            <a:off x="6185916" y="1645920"/>
            <a:ext cx="2697480" cy="3657600"/>
          </a:xfrm>
          <a:prstGeom prst="roundRect">
            <a:avLst>
              <a:gd name="adj" fmla="val 2712"/>
            </a:avLst>
          </a:prstGeom>
          <a:solidFill>
            <a:srgbClr val="FFFFFF"/>
          </a:solidFill>
          <a:ln w="12700">
            <a:solidFill>
              <a:srgbClr val="C9D1DD"/>
            </a:solidFill>
            <a:prstDash val="solid"/>
          </a:ln>
        </p:spPr>
      </p:sp>
      <p:sp>
        <p:nvSpPr>
          <p:cNvPr id="18" name="Shape 15"/>
          <p:cNvSpPr/>
          <p:nvPr/>
        </p:nvSpPr>
        <p:spPr>
          <a:xfrm>
            <a:off x="6460236" y="1920240"/>
            <a:ext cx="457200" cy="457200"/>
          </a:xfrm>
          <a:prstGeom prst="ellipse">
            <a:avLst/>
          </a:prstGeom>
          <a:solidFill>
            <a:srgbClr val="D4A843"/>
          </a:solidFill>
          <a:ln w="12700">
            <a:solidFill>
              <a:srgbClr val="D4A843"/>
            </a:solidFill>
            <a:prstDash val="solid"/>
          </a:ln>
        </p:spPr>
      </p:sp>
      <p:sp>
        <p:nvSpPr>
          <p:cNvPr id="19" name="Text 16"/>
          <p:cNvSpPr/>
          <p:nvPr/>
        </p:nvSpPr>
        <p:spPr>
          <a:xfrm>
            <a:off x="6460236" y="19202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7054596" y="1920240"/>
            <a:ext cx="160020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Spatial Lag</a:t>
            </a:r>
            <a:endParaRPr lang="en-US" sz="1600" dirty="0"/>
          </a:p>
        </p:txBody>
      </p:sp>
      <p:sp>
        <p:nvSpPr>
          <p:cNvPr id="21" name="Text 18"/>
          <p:cNvSpPr/>
          <p:nvPr/>
        </p:nvSpPr>
        <p:spPr>
          <a:xfrm>
            <a:off x="6460236" y="2514600"/>
            <a:ext cx="2148840" cy="26517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Neighbor-mean price within 1 km.</a:t>
            </a:r>
            <a:endParaRPr lang="en-US" sz="1300" dirty="0"/>
          </a:p>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Tobler's First Law of Geography.</a:t>
            </a:r>
            <a:endParaRPr lang="en-US" sz="1300" dirty="0"/>
          </a:p>
        </p:txBody>
      </p:sp>
      <p:sp>
        <p:nvSpPr>
          <p:cNvPr id="22" name="Shape 19"/>
          <p:cNvSpPr/>
          <p:nvPr/>
        </p:nvSpPr>
        <p:spPr>
          <a:xfrm>
            <a:off x="9066276" y="1645920"/>
            <a:ext cx="2697480" cy="3657600"/>
          </a:xfrm>
          <a:prstGeom prst="roundRect">
            <a:avLst>
              <a:gd name="adj" fmla="val 2712"/>
            </a:avLst>
          </a:prstGeom>
          <a:solidFill>
            <a:srgbClr val="FFFFFF"/>
          </a:solidFill>
          <a:ln w="12700">
            <a:solidFill>
              <a:srgbClr val="C9D1DD"/>
            </a:solidFill>
            <a:prstDash val="solid"/>
          </a:ln>
        </p:spPr>
      </p:sp>
      <p:sp>
        <p:nvSpPr>
          <p:cNvPr id="23" name="Shape 20"/>
          <p:cNvSpPr/>
          <p:nvPr/>
        </p:nvSpPr>
        <p:spPr>
          <a:xfrm>
            <a:off x="9340596" y="1920240"/>
            <a:ext cx="457200" cy="457200"/>
          </a:xfrm>
          <a:prstGeom prst="ellipse">
            <a:avLst/>
          </a:prstGeom>
          <a:solidFill>
            <a:srgbClr val="D4A843"/>
          </a:solidFill>
          <a:ln w="12700">
            <a:solidFill>
              <a:srgbClr val="D4A843"/>
            </a:solidFill>
            <a:prstDash val="solid"/>
          </a:ln>
        </p:spPr>
      </p:sp>
      <p:sp>
        <p:nvSpPr>
          <p:cNvPr id="24" name="Text 21"/>
          <p:cNvSpPr/>
          <p:nvPr/>
        </p:nvSpPr>
        <p:spPr>
          <a:xfrm>
            <a:off x="9340596" y="192024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4</a:t>
            </a:r>
            <a:endParaRPr lang="en-US" sz="1600" dirty="0"/>
          </a:p>
        </p:txBody>
      </p:sp>
      <p:sp>
        <p:nvSpPr>
          <p:cNvPr id="25" name="Text 22"/>
          <p:cNvSpPr/>
          <p:nvPr/>
        </p:nvSpPr>
        <p:spPr>
          <a:xfrm>
            <a:off x="9934956" y="1920240"/>
            <a:ext cx="160020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Structural</a:t>
            </a:r>
            <a:endParaRPr lang="en-US" sz="1600" dirty="0"/>
          </a:p>
        </p:txBody>
      </p:sp>
      <p:sp>
        <p:nvSpPr>
          <p:cNvPr id="26" name="Text 23"/>
          <p:cNvSpPr/>
          <p:nvPr/>
        </p:nvSpPr>
        <p:spPr>
          <a:xfrm>
            <a:off x="9340596" y="2514600"/>
            <a:ext cx="2148840" cy="265176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Property type, area, bedrooms, baths,</a:t>
            </a:r>
            <a:endParaRPr lang="en-US" sz="1300" dirty="0"/>
          </a:p>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barangay, is_mactan_island flag.</a:t>
            </a:r>
            <a:endParaRPr lang="en-US" sz="1300" dirty="0"/>
          </a:p>
        </p:txBody>
      </p:sp>
      <p:sp>
        <p:nvSpPr>
          <p:cNvPr id="27" name="Text 24"/>
          <p:cNvSpPr/>
          <p:nvPr/>
        </p:nvSpPr>
        <p:spPr>
          <a:xfrm>
            <a:off x="548640" y="5760720"/>
            <a:ext cx="11091672" cy="457200"/>
          </a:xfrm>
          <a:prstGeom prst="rect">
            <a:avLst/>
          </a:prstGeom>
          <a:noFill/>
          <a:ln/>
        </p:spPr>
        <p:txBody>
          <a:bodyPr wrap="square" rtlCol="0" anchor="ctr"/>
          <a:lstStyle/>
          <a:p>
            <a:pPr algn="ctr" indent="0" marL="0">
              <a:buNone/>
            </a:pPr>
            <a:r>
              <a:rPr lang="en-US" sz="1400" i="1" dirty="0">
                <a:solidFill>
                  <a:srgbClr val="7A8699"/>
                </a:solidFill>
                <a:latin typeface="Calibri" pitchFamily="34" charset="0"/>
                <a:ea typeface="Calibri" pitchFamily="34" charset="-122"/>
                <a:cs typeface="Calibri" pitchFamily="34" charset="-120"/>
              </a:rPr>
              <a:t>Each block is engineered, not ingested raw. The contribution is in the construction.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03</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THREE</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Methodology</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CBD Network Distances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4114800" cy="2377440"/>
          </a:xfrm>
          <a:prstGeom prst="rect">
            <a:avLst/>
          </a:prstGeom>
          <a:solidFill>
            <a:srgbClr val="1B2A4A"/>
          </a:solidFill>
          <a:ln w="12700">
            <a:solidFill>
              <a:srgbClr val="1B2A4A"/>
            </a:solidFill>
            <a:prstDash val="solid"/>
          </a:ln>
        </p:spPr>
      </p:sp>
      <p:sp>
        <p:nvSpPr>
          <p:cNvPr id="8" name="Text 5"/>
          <p:cNvSpPr/>
          <p:nvPr/>
        </p:nvSpPr>
        <p:spPr>
          <a:xfrm>
            <a:off x="548640" y="1645920"/>
            <a:ext cx="4114800" cy="1545336"/>
          </a:xfrm>
          <a:prstGeom prst="rect">
            <a:avLst/>
          </a:prstGeom>
          <a:noFill/>
          <a:ln/>
        </p:spPr>
        <p:txBody>
          <a:bodyPr wrap="square" rtlCol="0" anchor="ctr"/>
          <a:lstStyle/>
          <a:p>
            <a:pPr algn="ctr" indent="0" marL="0">
              <a:buNone/>
            </a:pPr>
            <a:r>
              <a:rPr lang="en-US" sz="6000" b="1" dirty="0">
                <a:solidFill>
                  <a:srgbClr val="D4A843"/>
                </a:solidFill>
                <a:latin typeface="Calibri" pitchFamily="34" charset="0"/>
                <a:ea typeface="Calibri" pitchFamily="34" charset="-122"/>
                <a:cs typeface="Calibri" pitchFamily="34" charset="-120"/>
              </a:rPr>
              <a:t>21.4%</a:t>
            </a:r>
            <a:endParaRPr lang="en-US" sz="6000" dirty="0"/>
          </a:p>
        </p:txBody>
      </p:sp>
      <p:sp>
        <p:nvSpPr>
          <p:cNvPr id="9" name="Text 6"/>
          <p:cNvSpPr/>
          <p:nvPr/>
        </p:nvSpPr>
        <p:spPr>
          <a:xfrm>
            <a:off x="731520" y="3099816"/>
            <a:ext cx="3749040" cy="713232"/>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OF TOTAL SHAP WEIGHT</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Largest geospatial signal block</a:t>
            </a:r>
            <a:endParaRPr lang="en-US" sz="1200" dirty="0"/>
          </a:p>
        </p:txBody>
      </p:sp>
      <p:sp>
        <p:nvSpPr>
          <p:cNvPr id="10" name="Text 7"/>
          <p:cNvSpPr/>
          <p:nvPr/>
        </p:nvSpPr>
        <p:spPr>
          <a:xfrm>
            <a:off x="5029200" y="1554480"/>
            <a:ext cx="6675120" cy="365760"/>
          </a:xfrm>
          <a:prstGeom prst="rect">
            <a:avLst/>
          </a:prstGeom>
          <a:noFill/>
          <a:ln/>
        </p:spPr>
        <p:txBody>
          <a:bodyPr wrap="square"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Selection criteria</a:t>
            </a:r>
            <a:endParaRPr lang="en-US" sz="1300" dirty="0"/>
          </a:p>
        </p:txBody>
      </p:sp>
      <p:sp>
        <p:nvSpPr>
          <p:cNvPr id="11" name="Text 8"/>
          <p:cNvSpPr/>
          <p:nvPr/>
        </p:nvSpPr>
        <p:spPr>
          <a:xfrm>
            <a:off x="5212080" y="1874520"/>
            <a:ext cx="649224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Giuliano &amp; Small (1991): employment-density polycentric subcenter criteria</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JICA Mega Cebu Roadmap 2050: official designation as distinct urban clusters</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McMillen (2001) nonparametric distance-decay test: independent peaks</a:t>
            </a:r>
            <a:endParaRPr lang="en-US" sz="1300" dirty="0"/>
          </a:p>
        </p:txBody>
      </p:sp>
      <p:sp>
        <p:nvSpPr>
          <p:cNvPr id="12" name="Text 9"/>
          <p:cNvSpPr/>
          <p:nvPr/>
        </p:nvSpPr>
        <p:spPr>
          <a:xfrm>
            <a:off x="5029200" y="3657600"/>
            <a:ext cx="6675120" cy="365760"/>
          </a:xfrm>
          <a:prstGeom prst="rect">
            <a:avLst/>
          </a:prstGeom>
          <a:noFill/>
          <a:ln/>
        </p:spPr>
        <p:txBody>
          <a:bodyPr wrap="square"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Routing: osmnx Dijkstra (network), Haversine fallback only</a:t>
            </a:r>
            <a:endParaRPr lang="en-US" sz="1300" dirty="0"/>
          </a:p>
        </p:txBody>
      </p:sp>
      <p:sp>
        <p:nvSpPr>
          <p:cNvPr id="13" name="Text 10"/>
          <p:cNvSpPr/>
          <p:nvPr/>
        </p:nvSpPr>
        <p:spPr>
          <a:xfrm>
            <a:off x="5212080" y="4023360"/>
            <a:ext cx="6492240" cy="1371600"/>
          </a:xfrm>
          <a:prstGeom prst="rect">
            <a:avLst/>
          </a:prstGeom>
          <a:noFill/>
          <a:ln/>
        </p:spPr>
        <p:txBody>
          <a:bodyPr wrap="square" rtlCol="0" anchor="ctr"/>
          <a:lstStyle/>
          <a:p>
            <a:pPr indent="0" marL="0">
              <a:buNone/>
            </a:pPr>
            <a:r>
              <a:rPr lang="en-US" sz="1300" i="1" dirty="0">
                <a:solidFill>
                  <a:srgbClr val="2C3E50"/>
                </a:solidFill>
                <a:latin typeface="Calibri" pitchFamily="34" charset="0"/>
                <a:ea typeface="Calibri" pitchFamily="34" charset="-122"/>
                <a:cs typeface="Calibri" pitchFamily="34" charset="-120"/>
              </a:rPr>
              <a:t>Mactan Island has 312 properties separated from the mainland by water. Haversine is physically wrong — it ignores the bridge crossing. Network distance captures real travel cost and the western mountain detours.</a:t>
            </a:r>
            <a:endParaRPr lang="en-US" sz="1300" dirty="0"/>
          </a:p>
        </p:txBody>
      </p:sp>
      <p:sp>
        <p:nvSpPr>
          <p:cNvPr id="14" name="Shape 11"/>
          <p:cNvSpPr/>
          <p:nvPr/>
        </p:nvSpPr>
        <p:spPr>
          <a:xfrm>
            <a:off x="548640" y="5303520"/>
            <a:ext cx="11064240" cy="1005840"/>
          </a:xfrm>
          <a:prstGeom prst="rect">
            <a:avLst/>
          </a:prstGeom>
          <a:solidFill>
            <a:srgbClr val="EEF1F6"/>
          </a:solidFill>
          <a:ln w="12700">
            <a:solidFill>
              <a:srgbClr val="EEF1F6"/>
            </a:solidFill>
            <a:prstDash val="solid"/>
          </a:ln>
        </p:spPr>
      </p:sp>
      <p:sp>
        <p:nvSpPr>
          <p:cNvPr id="15" name="Text 12"/>
          <p:cNvSpPr/>
          <p:nvPr/>
        </p:nvSpPr>
        <p:spPr>
          <a:xfrm>
            <a:off x="777240" y="5349240"/>
            <a:ext cx="1371600" cy="274320"/>
          </a:xfrm>
          <a:prstGeom prst="rect">
            <a:avLst/>
          </a:prstGeom>
          <a:noFill/>
          <a:ln/>
        </p:spPr>
        <p:txBody>
          <a:bodyPr wrap="square" rtlCol="0" anchor="ctr"/>
          <a:lstStyle/>
          <a:p>
            <a:pPr indent="0" marL="0">
              <a:buNone/>
            </a:pPr>
            <a:r>
              <a:rPr lang="en-US" sz="1000" b="1" spc="300" kern="0" dirty="0">
                <a:solidFill>
                  <a:srgbClr val="D4A843"/>
                </a:solidFill>
                <a:latin typeface="Calibri" pitchFamily="34" charset="0"/>
                <a:ea typeface="Calibri" pitchFamily="34" charset="-122"/>
                <a:cs typeface="Calibri" pitchFamily="34" charset="-120"/>
              </a:rPr>
              <a:t>8 NODES</a:t>
            </a:r>
            <a:endParaRPr lang="en-US" sz="1000" dirty="0"/>
          </a:p>
        </p:txBody>
      </p:sp>
      <p:sp>
        <p:nvSpPr>
          <p:cNvPr id="16" name="Text 13"/>
          <p:cNvSpPr/>
          <p:nvPr/>
        </p:nvSpPr>
        <p:spPr>
          <a:xfrm>
            <a:off x="777240" y="5623560"/>
            <a:ext cx="10607040" cy="64008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Cebu Business Park · Mandaue CBD · Mactan CBD · South Road Properties · Talisay Tabunok · Consolacion · Naga City (anchor only) · Mactan-Cebu International Airport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MCRAI: Built From OHANA, Rebuilt For Valuation</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Text 4"/>
          <p:cNvSpPr/>
          <p:nvPr/>
        </p:nvSpPr>
        <p:spPr>
          <a:xfrm>
            <a:off x="548640" y="1508760"/>
            <a:ext cx="11091672" cy="548640"/>
          </a:xfrm>
          <a:prstGeom prst="rect">
            <a:avLst/>
          </a:prstGeom>
          <a:noFill/>
          <a:ln/>
        </p:spPr>
        <p:txBody>
          <a:bodyPr wrap="square" rtlCol="0" anchor="ctr"/>
          <a:lstStyle/>
          <a:p>
            <a:pPr indent="0" marL="0">
              <a:buNone/>
            </a:pPr>
            <a:r>
              <a:rPr lang="en-US" sz="1400" i="1" dirty="0">
                <a:solidFill>
                  <a:srgbClr val="7A8699"/>
                </a:solidFill>
                <a:latin typeface="Calibri" pitchFamily="34" charset="0"/>
                <a:ea typeface="Calibri" pitchFamily="34" charset="-122"/>
                <a:cs typeface="Calibri" pitchFamily="34" charset="-120"/>
              </a:rPr>
              <a:t>Methodological lineage from Project OHANA — Hansen gravity structure kept, every implementation detail rebuilt for residential valuation.</a:t>
            </a:r>
            <a:endParaRPr lang="en-US" sz="1400" dirty="0"/>
          </a:p>
        </p:txBody>
      </p:sp>
      <p:sp>
        <p:nvSpPr>
          <p:cNvPr id="8" name="Shape 5"/>
          <p:cNvSpPr/>
          <p:nvPr/>
        </p:nvSpPr>
        <p:spPr>
          <a:xfrm>
            <a:off x="548640" y="2194560"/>
            <a:ext cx="5486400" cy="4114800"/>
          </a:xfrm>
          <a:prstGeom prst="roundRect">
            <a:avLst>
              <a:gd name="adj" fmla="val 1778"/>
            </a:avLst>
          </a:prstGeom>
          <a:solidFill>
            <a:srgbClr val="EEF1F6"/>
          </a:solidFill>
          <a:ln w="12700">
            <a:solidFill>
              <a:srgbClr val="C9D1DD"/>
            </a:solidFill>
            <a:prstDash val="solid"/>
          </a:ln>
        </p:spPr>
      </p:sp>
      <p:sp>
        <p:nvSpPr>
          <p:cNvPr id="9" name="Shape 6"/>
          <p:cNvSpPr/>
          <p:nvPr/>
        </p:nvSpPr>
        <p:spPr>
          <a:xfrm>
            <a:off x="548640" y="2194560"/>
            <a:ext cx="5486400" cy="548640"/>
          </a:xfrm>
          <a:prstGeom prst="rect">
            <a:avLst/>
          </a:prstGeom>
          <a:solidFill>
            <a:srgbClr val="7A8699"/>
          </a:solidFill>
          <a:ln w="12700">
            <a:solidFill>
              <a:srgbClr val="7A8699"/>
            </a:solidFill>
            <a:prstDash val="solid"/>
          </a:ln>
        </p:spPr>
      </p:sp>
      <p:sp>
        <p:nvSpPr>
          <p:cNvPr id="10" name="Text 7"/>
          <p:cNvSpPr/>
          <p:nvPr/>
        </p:nvSpPr>
        <p:spPr>
          <a:xfrm>
            <a:off x="548640" y="2194560"/>
            <a:ext cx="5486400" cy="548640"/>
          </a:xfrm>
          <a:prstGeom prst="rect">
            <a:avLst/>
          </a:prstGeom>
          <a:noFill/>
          <a:ln/>
        </p:spPr>
        <p:txBody>
          <a:bodyPr wrap="square" rtlCol="0" anchor="ctr"/>
          <a:lstStyle/>
          <a:p>
            <a:pPr algn="ctr" indent="0" marL="0">
              <a:buNone/>
            </a:pPr>
            <a:r>
              <a:rPr lang="en-US" sz="1300" b="1" spc="300" kern="0" dirty="0">
                <a:solidFill>
                  <a:srgbClr val="FFFFFF"/>
                </a:solidFill>
                <a:latin typeface="Calibri" pitchFamily="34" charset="0"/>
                <a:ea typeface="Calibri" pitchFamily="34" charset="-122"/>
                <a:cs typeface="Calibri" pitchFamily="34" charset="-120"/>
              </a:rPr>
              <a:t>PROJECT OHANA  ·  inherited</a:t>
            </a:r>
            <a:endParaRPr lang="en-US" sz="1300" dirty="0"/>
          </a:p>
        </p:txBody>
      </p:sp>
      <p:sp>
        <p:nvSpPr>
          <p:cNvPr id="11" name="Text 8"/>
          <p:cNvSpPr/>
          <p:nvPr/>
        </p:nvSpPr>
        <p:spPr>
          <a:xfrm>
            <a:off x="777240" y="2971800"/>
            <a:ext cx="5120640" cy="3200400"/>
          </a:xfrm>
          <a:prstGeom prst="rect">
            <a:avLst/>
          </a:prstGeom>
          <a:noFill/>
          <a:ln/>
        </p:spPr>
        <p:txBody>
          <a:bodyPr wrap="square" rtlCol="0" anchor="t"/>
          <a:lstStyle/>
          <a:p>
            <a:pPr marL="342900" indent="-342900">
              <a:spcAft>
                <a:spcPts val="800"/>
              </a:spcAft>
              <a:buSzPct val="100000"/>
              <a:buChar char="○"/>
            </a:pPr>
            <a:r>
              <a:rPr lang="en-US" sz="1300" dirty="0">
                <a:solidFill>
                  <a:srgbClr val="7A8699"/>
                </a:solidFill>
                <a:latin typeface="Calibri" pitchFamily="34" charset="0"/>
                <a:ea typeface="Calibri" pitchFamily="34" charset="-122"/>
                <a:cs typeface="Calibri" pitchFamily="34" charset="-120"/>
              </a:rPr>
              <a:t>Normative — where services should be (equity)</a:t>
            </a:r>
            <a:endParaRPr lang="en-US" sz="1300" dirty="0"/>
          </a:p>
          <a:p>
            <a:pPr marL="342900" indent="-342900">
              <a:spcAft>
                <a:spcPts val="800"/>
              </a:spcAft>
              <a:buSzPct val="100000"/>
              <a:buChar char="○"/>
            </a:pPr>
            <a:r>
              <a:rPr lang="en-US" sz="1300" dirty="0">
                <a:solidFill>
                  <a:srgbClr val="7A8699"/>
                </a:solidFill>
                <a:latin typeface="Calibri" pitchFamily="34" charset="0"/>
                <a:ea typeface="Calibri" pitchFamily="34" charset="-122"/>
                <a:cs typeface="Calibri" pitchFamily="34" charset="-120"/>
              </a:rPr>
              <a:t>1km × 1km grid centroids</a:t>
            </a:r>
            <a:endParaRPr lang="en-US" sz="1300" dirty="0"/>
          </a:p>
          <a:p>
            <a:pPr marL="342900" indent="-342900">
              <a:spcAft>
                <a:spcPts val="800"/>
              </a:spcAft>
              <a:buSzPct val="100000"/>
              <a:buChar char="○"/>
            </a:pPr>
            <a:r>
              <a:rPr lang="en-US" sz="1300" dirty="0">
                <a:solidFill>
                  <a:srgbClr val="7A8699"/>
                </a:solidFill>
                <a:latin typeface="Calibri" pitchFamily="34" charset="0"/>
                <a:ea typeface="Calibri" pitchFamily="34" charset="-122"/>
                <a:cs typeface="Calibri" pitchFamily="34" charset="-120"/>
              </a:rPr>
              <a:t>Euclidean (straight-line) distance</a:t>
            </a:r>
            <a:endParaRPr lang="en-US" sz="1300" dirty="0"/>
          </a:p>
          <a:p>
            <a:pPr marL="342900" indent="-342900">
              <a:spcAft>
                <a:spcPts val="800"/>
              </a:spcAft>
              <a:buSzPct val="100000"/>
              <a:buChar char="○"/>
            </a:pPr>
            <a:r>
              <a:rPr lang="en-US" sz="1300" dirty="0">
                <a:solidFill>
                  <a:srgbClr val="7A8699"/>
                </a:solidFill>
                <a:latin typeface="Calibri" pitchFamily="34" charset="0"/>
                <a:ea typeface="Calibri" pitchFamily="34" charset="-122"/>
                <a:cs typeface="Calibri" pitchFamily="34" charset="-120"/>
              </a:rPr>
              <a:t>Equal weights across all categories</a:t>
            </a:r>
            <a:endParaRPr lang="en-US" sz="1300" dirty="0"/>
          </a:p>
          <a:p>
            <a:pPr marL="342900" indent="-342900">
              <a:spcAft>
                <a:spcPts val="800"/>
              </a:spcAft>
              <a:buSzPct val="100000"/>
              <a:buChar char="○"/>
            </a:pPr>
            <a:r>
              <a:rPr lang="en-US" sz="1300" dirty="0">
                <a:solidFill>
                  <a:srgbClr val="7A8699"/>
                </a:solidFill>
                <a:latin typeface="Calibri" pitchFamily="34" charset="0"/>
                <a:ea typeface="Calibri" pitchFamily="34" charset="-122"/>
                <a:cs typeface="Calibri" pitchFamily="34" charset="-120"/>
              </a:rPr>
              <a:t>Fixed β = 2.0 decay parameter</a:t>
            </a:r>
            <a:endParaRPr lang="en-US" sz="1300" dirty="0"/>
          </a:p>
        </p:txBody>
      </p:sp>
      <p:sp>
        <p:nvSpPr>
          <p:cNvPr id="12" name="Shape 9"/>
          <p:cNvSpPr/>
          <p:nvPr/>
        </p:nvSpPr>
        <p:spPr>
          <a:xfrm>
            <a:off x="5961888" y="4087368"/>
            <a:ext cx="329184" cy="329184"/>
          </a:xfrm>
          <a:prstGeom prst="rightTriangle">
            <a:avLst/>
          </a:prstGeom>
          <a:solidFill>
            <a:srgbClr val="D4A843"/>
          </a:solidFill>
          <a:ln w="12700">
            <a:solidFill>
              <a:srgbClr val="D4A843"/>
            </a:solidFill>
            <a:prstDash val="solid"/>
          </a:ln>
        </p:spPr>
      </p:sp>
      <p:sp>
        <p:nvSpPr>
          <p:cNvPr id="13" name="Shape 10"/>
          <p:cNvSpPr/>
          <p:nvPr/>
        </p:nvSpPr>
        <p:spPr>
          <a:xfrm>
            <a:off x="6153912" y="2194560"/>
            <a:ext cx="5486400" cy="4114800"/>
          </a:xfrm>
          <a:prstGeom prst="roundRect">
            <a:avLst>
              <a:gd name="adj" fmla="val 1778"/>
            </a:avLst>
          </a:prstGeom>
          <a:solidFill>
            <a:srgbClr val="FFFFFF"/>
          </a:solidFill>
          <a:ln w="25400">
            <a:solidFill>
              <a:srgbClr val="D4A843"/>
            </a:solidFill>
            <a:prstDash val="solid"/>
          </a:ln>
        </p:spPr>
      </p:sp>
      <p:sp>
        <p:nvSpPr>
          <p:cNvPr id="14" name="Shape 11"/>
          <p:cNvSpPr/>
          <p:nvPr/>
        </p:nvSpPr>
        <p:spPr>
          <a:xfrm>
            <a:off x="6153912" y="2194560"/>
            <a:ext cx="5486400" cy="548640"/>
          </a:xfrm>
          <a:prstGeom prst="rect">
            <a:avLst/>
          </a:prstGeom>
          <a:solidFill>
            <a:srgbClr val="1B2A4A"/>
          </a:solidFill>
          <a:ln w="12700">
            <a:solidFill>
              <a:srgbClr val="1B2A4A"/>
            </a:solidFill>
            <a:prstDash val="solid"/>
          </a:ln>
        </p:spPr>
      </p:sp>
      <p:sp>
        <p:nvSpPr>
          <p:cNvPr id="15" name="Text 12"/>
          <p:cNvSpPr/>
          <p:nvPr/>
        </p:nvSpPr>
        <p:spPr>
          <a:xfrm>
            <a:off x="6153912" y="2194560"/>
            <a:ext cx="5486400" cy="548640"/>
          </a:xfrm>
          <a:prstGeom prst="rect">
            <a:avLst/>
          </a:prstGeom>
          <a:noFill/>
          <a:ln/>
        </p:spPr>
        <p:txBody>
          <a:bodyPr wrap="square" rtlCol="0" anchor="ctr"/>
          <a:lstStyle/>
          <a:p>
            <a:pPr algn="ctr" indent="0" marL="0">
              <a:buNone/>
            </a:pPr>
            <a:r>
              <a:rPr lang="en-US" sz="1300" b="1" spc="300" kern="0" dirty="0">
                <a:solidFill>
                  <a:srgbClr val="D4A843"/>
                </a:solidFill>
                <a:latin typeface="Calibri" pitchFamily="34" charset="0"/>
                <a:ea typeface="Calibri" pitchFamily="34" charset="-122"/>
                <a:cs typeface="Calibri" pitchFamily="34" charset="-120"/>
              </a:rPr>
              <a:t>MCRAI  ·  rebuilt</a:t>
            </a:r>
            <a:endParaRPr lang="en-US" sz="1300" dirty="0"/>
          </a:p>
        </p:txBody>
      </p:sp>
      <p:sp>
        <p:nvSpPr>
          <p:cNvPr id="16" name="Text 13"/>
          <p:cNvSpPr/>
          <p:nvPr/>
        </p:nvSpPr>
        <p:spPr>
          <a:xfrm>
            <a:off x="6382512" y="2971800"/>
            <a:ext cx="5120640" cy="3200400"/>
          </a:xfrm>
          <a:prstGeom prst="rect">
            <a:avLst/>
          </a:prstGeom>
          <a:noFill/>
          <a:ln/>
        </p:spPr>
        <p:txBody>
          <a:bodyPr wrap="square" rtlCol="0" anchor="t"/>
          <a:lstStyle/>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Positive — what buyers pay (revealed preference)</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Parcel-level computation (avoids MAUP)</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osmnx network distance (handles Mactan)</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OLS-derived empirical weights (Decision 20)</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Category-specific radii (0.8 – 3.0 km)</a:t>
            </a:r>
            <a:endParaRPr lang="en-US" sz="1300" dirty="0"/>
          </a:p>
        </p:txBody>
      </p:sp>
      <p:sp>
        <p:nvSpPr>
          <p:cNvPr id="17" name="Text 14"/>
          <p:cNvSpPr/>
          <p:nvPr/>
        </p:nvSpPr>
        <p:spPr>
          <a:xfrm>
            <a:off x="548640" y="6446520"/>
            <a:ext cx="11091672" cy="365760"/>
          </a:xfrm>
          <a:prstGeom prst="rect">
            <a:avLst/>
          </a:prstGeom>
          <a:noFill/>
          <a:ln/>
        </p:spPr>
        <p:txBody>
          <a:bodyPr wrap="square" rtlCol="0" anchor="ctr"/>
          <a:lstStyle/>
          <a:p>
            <a:pPr algn="ctr" indent="0" marL="0">
              <a:buNone/>
            </a:pPr>
            <a:r>
              <a:rPr lang="en-US" sz="1100" i="1" dirty="0">
                <a:solidFill>
                  <a:srgbClr val="7A8699"/>
                </a:solidFill>
                <a:latin typeface="Calibri" pitchFamily="34" charset="0"/>
                <a:ea typeface="Calibri" pitchFamily="34" charset="-122"/>
                <a:cs typeface="Calibri" pitchFamily="34" charset="-120"/>
              </a:rPr>
              <a:t>Literature anchor: Tiebout (1956) · Bayer &amp; McMillan (2012) · Yang et al. (2016) · Hansen (1959)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MCRAI Categories: Which Enter the Composite</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6858000" cy="384048"/>
          </a:xfrm>
          <a:prstGeom prst="rect">
            <a:avLst/>
          </a:prstGeom>
          <a:solidFill>
            <a:srgbClr val="1B2A4A"/>
          </a:solidFill>
          <a:ln w="12700">
            <a:solidFill>
              <a:srgbClr val="1B2A4A"/>
            </a:solidFill>
            <a:prstDash val="solid"/>
          </a:ln>
        </p:spPr>
      </p:sp>
      <p:sp>
        <p:nvSpPr>
          <p:cNvPr id="8" name="Text 5"/>
          <p:cNvSpPr/>
          <p:nvPr/>
        </p:nvSpPr>
        <p:spPr>
          <a:xfrm>
            <a:off x="731520" y="1554480"/>
            <a:ext cx="3657600" cy="384048"/>
          </a:xfrm>
          <a:prstGeom prst="rect">
            <a:avLst/>
          </a:prstGeom>
          <a:noFill/>
          <a:ln/>
        </p:spPr>
        <p:txBody>
          <a:bodyPr wrap="square" rtlCol="0" anchor="ctr"/>
          <a:lstStyle/>
          <a:p>
            <a:pPr indent="0" marL="0">
              <a:buNone/>
            </a:pPr>
            <a:r>
              <a:rPr lang="en-US" sz="1100" b="1" spc="200" kern="0" dirty="0">
                <a:solidFill>
                  <a:srgbClr val="D4A843"/>
                </a:solidFill>
                <a:latin typeface="Calibri" pitchFamily="34" charset="0"/>
                <a:ea typeface="Calibri" pitchFamily="34" charset="-122"/>
                <a:cs typeface="Calibri" pitchFamily="34" charset="-120"/>
              </a:rPr>
              <a:t>CATEGORY</a:t>
            </a:r>
            <a:endParaRPr lang="en-US" sz="1100" dirty="0"/>
          </a:p>
        </p:txBody>
      </p:sp>
      <p:sp>
        <p:nvSpPr>
          <p:cNvPr id="9" name="Text 6"/>
          <p:cNvSpPr/>
          <p:nvPr/>
        </p:nvSpPr>
        <p:spPr>
          <a:xfrm>
            <a:off x="4389120" y="1554480"/>
            <a:ext cx="1371600" cy="384048"/>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RADIUS</a:t>
            </a:r>
            <a:endParaRPr lang="en-US" sz="1100" dirty="0"/>
          </a:p>
        </p:txBody>
      </p:sp>
      <p:sp>
        <p:nvSpPr>
          <p:cNvPr id="10" name="Text 7"/>
          <p:cNvSpPr/>
          <p:nvPr/>
        </p:nvSpPr>
        <p:spPr>
          <a:xfrm>
            <a:off x="5760720" y="1554480"/>
            <a:ext cx="1645920" cy="384048"/>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COMPOSITE</a:t>
            </a:r>
            <a:endParaRPr lang="en-US" sz="1100" dirty="0"/>
          </a:p>
        </p:txBody>
      </p:sp>
      <p:sp>
        <p:nvSpPr>
          <p:cNvPr id="11" name="Shape 8"/>
          <p:cNvSpPr/>
          <p:nvPr/>
        </p:nvSpPr>
        <p:spPr>
          <a:xfrm>
            <a:off x="548640" y="1938528"/>
            <a:ext cx="6858000" cy="384048"/>
          </a:xfrm>
          <a:prstGeom prst="rect">
            <a:avLst/>
          </a:prstGeom>
          <a:solidFill>
            <a:srgbClr val="F5E6B8"/>
          </a:solidFill>
          <a:ln w="12700">
            <a:solidFill>
              <a:srgbClr val="C9D1DD"/>
            </a:solidFill>
            <a:prstDash val="solid"/>
          </a:ln>
        </p:spPr>
      </p:sp>
      <p:sp>
        <p:nvSpPr>
          <p:cNvPr id="12" name="Shape 9"/>
          <p:cNvSpPr/>
          <p:nvPr/>
        </p:nvSpPr>
        <p:spPr>
          <a:xfrm>
            <a:off x="548640" y="1938528"/>
            <a:ext cx="73152" cy="384048"/>
          </a:xfrm>
          <a:prstGeom prst="rect">
            <a:avLst/>
          </a:prstGeom>
          <a:solidFill>
            <a:srgbClr val="D4A843"/>
          </a:solidFill>
          <a:ln w="12700">
            <a:solidFill>
              <a:srgbClr val="D4A843"/>
            </a:solidFill>
            <a:prstDash val="solid"/>
          </a:ln>
        </p:spPr>
      </p:sp>
      <p:sp>
        <p:nvSpPr>
          <p:cNvPr id="13" name="Text 10"/>
          <p:cNvSpPr/>
          <p:nvPr/>
        </p:nvSpPr>
        <p:spPr>
          <a:xfrm>
            <a:off x="731520" y="1938528"/>
            <a:ext cx="3657600" cy="38404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Education</a:t>
            </a:r>
            <a:endParaRPr lang="en-US" sz="1200" dirty="0"/>
          </a:p>
        </p:txBody>
      </p:sp>
      <p:sp>
        <p:nvSpPr>
          <p:cNvPr id="14" name="Text 11"/>
          <p:cNvSpPr/>
          <p:nvPr/>
        </p:nvSpPr>
        <p:spPr>
          <a:xfrm>
            <a:off x="4389120" y="1938528"/>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0.8 km</a:t>
            </a:r>
            <a:endParaRPr lang="en-US" sz="1200" dirty="0"/>
          </a:p>
        </p:txBody>
      </p:sp>
      <p:sp>
        <p:nvSpPr>
          <p:cNvPr id="15" name="Text 12"/>
          <p:cNvSpPr/>
          <p:nvPr/>
        </p:nvSpPr>
        <p:spPr>
          <a:xfrm>
            <a:off x="5760720" y="1938528"/>
            <a:ext cx="1645920" cy="384048"/>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  YES</a:t>
            </a:r>
            <a:endParaRPr lang="en-US" sz="1200" dirty="0"/>
          </a:p>
        </p:txBody>
      </p:sp>
      <p:sp>
        <p:nvSpPr>
          <p:cNvPr id="16" name="Shape 13"/>
          <p:cNvSpPr/>
          <p:nvPr/>
        </p:nvSpPr>
        <p:spPr>
          <a:xfrm>
            <a:off x="548640" y="2322576"/>
            <a:ext cx="6858000" cy="384048"/>
          </a:xfrm>
          <a:prstGeom prst="rect">
            <a:avLst/>
          </a:prstGeom>
          <a:solidFill>
            <a:srgbClr val="F5E6B8"/>
          </a:solidFill>
          <a:ln w="12700">
            <a:solidFill>
              <a:srgbClr val="C9D1DD"/>
            </a:solidFill>
            <a:prstDash val="solid"/>
          </a:ln>
        </p:spPr>
      </p:sp>
      <p:sp>
        <p:nvSpPr>
          <p:cNvPr id="17" name="Shape 14"/>
          <p:cNvSpPr/>
          <p:nvPr/>
        </p:nvSpPr>
        <p:spPr>
          <a:xfrm>
            <a:off x="548640" y="2322576"/>
            <a:ext cx="73152" cy="384048"/>
          </a:xfrm>
          <a:prstGeom prst="rect">
            <a:avLst/>
          </a:prstGeom>
          <a:solidFill>
            <a:srgbClr val="D4A843"/>
          </a:solidFill>
          <a:ln w="12700">
            <a:solidFill>
              <a:srgbClr val="D4A843"/>
            </a:solidFill>
            <a:prstDash val="solid"/>
          </a:ln>
        </p:spPr>
      </p:sp>
      <p:sp>
        <p:nvSpPr>
          <p:cNvPr id="18" name="Text 15"/>
          <p:cNvSpPr/>
          <p:nvPr/>
        </p:nvSpPr>
        <p:spPr>
          <a:xfrm>
            <a:off x="731520" y="2322576"/>
            <a:ext cx="3657600" cy="38404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Grocery</a:t>
            </a:r>
            <a:endParaRPr lang="en-US" sz="1200" dirty="0"/>
          </a:p>
        </p:txBody>
      </p:sp>
      <p:sp>
        <p:nvSpPr>
          <p:cNvPr id="19" name="Text 16"/>
          <p:cNvSpPr/>
          <p:nvPr/>
        </p:nvSpPr>
        <p:spPr>
          <a:xfrm>
            <a:off x="4389120" y="2322576"/>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2.0 km</a:t>
            </a:r>
            <a:endParaRPr lang="en-US" sz="1200" dirty="0"/>
          </a:p>
        </p:txBody>
      </p:sp>
      <p:sp>
        <p:nvSpPr>
          <p:cNvPr id="20" name="Text 17"/>
          <p:cNvSpPr/>
          <p:nvPr/>
        </p:nvSpPr>
        <p:spPr>
          <a:xfrm>
            <a:off x="5760720" y="2322576"/>
            <a:ext cx="1645920" cy="384048"/>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  YES</a:t>
            </a:r>
            <a:endParaRPr lang="en-US" sz="1200" dirty="0"/>
          </a:p>
        </p:txBody>
      </p:sp>
      <p:sp>
        <p:nvSpPr>
          <p:cNvPr id="21" name="Shape 18"/>
          <p:cNvSpPr/>
          <p:nvPr/>
        </p:nvSpPr>
        <p:spPr>
          <a:xfrm>
            <a:off x="548640" y="2706624"/>
            <a:ext cx="6858000" cy="384048"/>
          </a:xfrm>
          <a:prstGeom prst="rect">
            <a:avLst/>
          </a:prstGeom>
          <a:solidFill>
            <a:srgbClr val="F5E6B8"/>
          </a:solidFill>
          <a:ln w="12700">
            <a:solidFill>
              <a:srgbClr val="C9D1DD"/>
            </a:solidFill>
            <a:prstDash val="solid"/>
          </a:ln>
        </p:spPr>
      </p:sp>
      <p:sp>
        <p:nvSpPr>
          <p:cNvPr id="22" name="Shape 19"/>
          <p:cNvSpPr/>
          <p:nvPr/>
        </p:nvSpPr>
        <p:spPr>
          <a:xfrm>
            <a:off x="548640" y="2706624"/>
            <a:ext cx="73152" cy="384048"/>
          </a:xfrm>
          <a:prstGeom prst="rect">
            <a:avLst/>
          </a:prstGeom>
          <a:solidFill>
            <a:srgbClr val="D4A843"/>
          </a:solidFill>
          <a:ln w="12700">
            <a:solidFill>
              <a:srgbClr val="D4A843"/>
            </a:solidFill>
            <a:prstDash val="solid"/>
          </a:ln>
        </p:spPr>
      </p:sp>
      <p:sp>
        <p:nvSpPr>
          <p:cNvPr id="23" name="Text 20"/>
          <p:cNvSpPr/>
          <p:nvPr/>
        </p:nvSpPr>
        <p:spPr>
          <a:xfrm>
            <a:off x="731520" y="2706624"/>
            <a:ext cx="3657600" cy="38404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Recreation</a:t>
            </a:r>
            <a:endParaRPr lang="en-US" sz="1200" dirty="0"/>
          </a:p>
        </p:txBody>
      </p:sp>
      <p:sp>
        <p:nvSpPr>
          <p:cNvPr id="24" name="Text 21"/>
          <p:cNvSpPr/>
          <p:nvPr/>
        </p:nvSpPr>
        <p:spPr>
          <a:xfrm>
            <a:off x="4389120" y="2706624"/>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1.5 km</a:t>
            </a:r>
            <a:endParaRPr lang="en-US" sz="1200" dirty="0"/>
          </a:p>
        </p:txBody>
      </p:sp>
      <p:sp>
        <p:nvSpPr>
          <p:cNvPr id="25" name="Text 22"/>
          <p:cNvSpPr/>
          <p:nvPr/>
        </p:nvSpPr>
        <p:spPr>
          <a:xfrm>
            <a:off x="5760720" y="2706624"/>
            <a:ext cx="1645920" cy="384048"/>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  YES</a:t>
            </a:r>
            <a:endParaRPr lang="en-US" sz="1200" dirty="0"/>
          </a:p>
        </p:txBody>
      </p:sp>
      <p:sp>
        <p:nvSpPr>
          <p:cNvPr id="26" name="Shape 23"/>
          <p:cNvSpPr/>
          <p:nvPr/>
        </p:nvSpPr>
        <p:spPr>
          <a:xfrm>
            <a:off x="548640" y="3090672"/>
            <a:ext cx="6858000" cy="384048"/>
          </a:xfrm>
          <a:prstGeom prst="rect">
            <a:avLst/>
          </a:prstGeom>
          <a:solidFill>
            <a:srgbClr val="F5E6B8"/>
          </a:solidFill>
          <a:ln w="12700">
            <a:solidFill>
              <a:srgbClr val="C9D1DD"/>
            </a:solidFill>
            <a:prstDash val="solid"/>
          </a:ln>
        </p:spPr>
      </p:sp>
      <p:sp>
        <p:nvSpPr>
          <p:cNvPr id="27" name="Shape 24"/>
          <p:cNvSpPr/>
          <p:nvPr/>
        </p:nvSpPr>
        <p:spPr>
          <a:xfrm>
            <a:off x="548640" y="3090672"/>
            <a:ext cx="73152" cy="384048"/>
          </a:xfrm>
          <a:prstGeom prst="rect">
            <a:avLst/>
          </a:prstGeom>
          <a:solidFill>
            <a:srgbClr val="D4A843"/>
          </a:solidFill>
          <a:ln w="12700">
            <a:solidFill>
              <a:srgbClr val="D4A843"/>
            </a:solidFill>
            <a:prstDash val="solid"/>
          </a:ln>
        </p:spPr>
      </p:sp>
      <p:sp>
        <p:nvSpPr>
          <p:cNvPr id="28" name="Text 25"/>
          <p:cNvSpPr/>
          <p:nvPr/>
        </p:nvSpPr>
        <p:spPr>
          <a:xfrm>
            <a:off x="731520" y="3090672"/>
            <a:ext cx="3657600" cy="38404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Transport (OSM corridors)</a:t>
            </a:r>
            <a:endParaRPr lang="en-US" sz="1200" dirty="0"/>
          </a:p>
        </p:txBody>
      </p:sp>
      <p:sp>
        <p:nvSpPr>
          <p:cNvPr id="29" name="Text 26"/>
          <p:cNvSpPr/>
          <p:nvPr/>
        </p:nvSpPr>
        <p:spPr>
          <a:xfrm>
            <a:off x="4389120" y="3090672"/>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3.0 km</a:t>
            </a:r>
            <a:endParaRPr lang="en-US" sz="1200" dirty="0"/>
          </a:p>
        </p:txBody>
      </p:sp>
      <p:sp>
        <p:nvSpPr>
          <p:cNvPr id="30" name="Text 27"/>
          <p:cNvSpPr/>
          <p:nvPr/>
        </p:nvSpPr>
        <p:spPr>
          <a:xfrm>
            <a:off x="5760720" y="3090672"/>
            <a:ext cx="1645920" cy="384048"/>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  YES</a:t>
            </a:r>
            <a:endParaRPr lang="en-US" sz="1200" dirty="0"/>
          </a:p>
        </p:txBody>
      </p:sp>
      <p:sp>
        <p:nvSpPr>
          <p:cNvPr id="31" name="Shape 28"/>
          <p:cNvSpPr/>
          <p:nvPr/>
        </p:nvSpPr>
        <p:spPr>
          <a:xfrm>
            <a:off x="548640" y="3474720"/>
            <a:ext cx="6858000" cy="384048"/>
          </a:xfrm>
          <a:prstGeom prst="rect">
            <a:avLst/>
          </a:prstGeom>
          <a:solidFill>
            <a:srgbClr val="FFFFFF"/>
          </a:solidFill>
          <a:ln w="12700">
            <a:solidFill>
              <a:srgbClr val="C9D1DD"/>
            </a:solidFill>
            <a:prstDash val="solid"/>
          </a:ln>
        </p:spPr>
      </p:sp>
      <p:sp>
        <p:nvSpPr>
          <p:cNvPr id="32" name="Text 29"/>
          <p:cNvSpPr/>
          <p:nvPr/>
        </p:nvSpPr>
        <p:spPr>
          <a:xfrm>
            <a:off x="731520" y="3474720"/>
            <a:ext cx="3657600" cy="384048"/>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Health</a:t>
            </a:r>
            <a:endParaRPr lang="en-US" sz="1200" dirty="0"/>
          </a:p>
        </p:txBody>
      </p:sp>
      <p:sp>
        <p:nvSpPr>
          <p:cNvPr id="33" name="Text 30"/>
          <p:cNvSpPr/>
          <p:nvPr/>
        </p:nvSpPr>
        <p:spPr>
          <a:xfrm>
            <a:off x="4389120" y="3474720"/>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2.0 km</a:t>
            </a:r>
            <a:endParaRPr lang="en-US" sz="1200" dirty="0"/>
          </a:p>
        </p:txBody>
      </p:sp>
      <p:sp>
        <p:nvSpPr>
          <p:cNvPr id="34" name="Text 31"/>
          <p:cNvSpPr/>
          <p:nvPr/>
        </p:nvSpPr>
        <p:spPr>
          <a:xfrm>
            <a:off x="5760720" y="3474720"/>
            <a:ext cx="1645920" cy="384048"/>
          </a:xfrm>
          <a:prstGeom prst="rect">
            <a:avLst/>
          </a:prstGeom>
          <a:noFill/>
          <a:ln/>
        </p:spPr>
        <p:txBody>
          <a:bodyPr wrap="square" rtlCol="0" anchor="ctr"/>
          <a:lstStyle/>
          <a:p>
            <a:pPr algn="ctr" indent="0" marL="0">
              <a:buNone/>
            </a:pPr>
            <a:r>
              <a:rPr lang="en-US" sz="1200" dirty="0">
                <a:solidFill>
                  <a:srgbClr val="7A8699"/>
                </a:solidFill>
                <a:latin typeface="Calibri" pitchFamily="34" charset="0"/>
                <a:ea typeface="Calibri" pitchFamily="34" charset="-122"/>
                <a:cs typeface="Calibri" pitchFamily="34" charset="-120"/>
              </a:rPr>
              <a:t>—  no</a:t>
            </a:r>
            <a:endParaRPr lang="en-US" sz="1200" dirty="0"/>
          </a:p>
        </p:txBody>
      </p:sp>
      <p:sp>
        <p:nvSpPr>
          <p:cNvPr id="35" name="Shape 32"/>
          <p:cNvSpPr/>
          <p:nvPr/>
        </p:nvSpPr>
        <p:spPr>
          <a:xfrm>
            <a:off x="548640" y="3858768"/>
            <a:ext cx="6858000" cy="384048"/>
          </a:xfrm>
          <a:prstGeom prst="rect">
            <a:avLst/>
          </a:prstGeom>
          <a:solidFill>
            <a:srgbClr val="EEF1F6"/>
          </a:solidFill>
          <a:ln w="12700">
            <a:solidFill>
              <a:srgbClr val="C9D1DD"/>
            </a:solidFill>
            <a:prstDash val="solid"/>
          </a:ln>
        </p:spPr>
      </p:sp>
      <p:sp>
        <p:nvSpPr>
          <p:cNvPr id="36" name="Text 33"/>
          <p:cNvSpPr/>
          <p:nvPr/>
        </p:nvSpPr>
        <p:spPr>
          <a:xfrm>
            <a:off x="731520" y="3858768"/>
            <a:ext cx="3657600" cy="384048"/>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Finance</a:t>
            </a:r>
            <a:endParaRPr lang="en-US" sz="1200" dirty="0"/>
          </a:p>
        </p:txBody>
      </p:sp>
      <p:sp>
        <p:nvSpPr>
          <p:cNvPr id="37" name="Text 34"/>
          <p:cNvSpPr/>
          <p:nvPr/>
        </p:nvSpPr>
        <p:spPr>
          <a:xfrm>
            <a:off x="4389120" y="3858768"/>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1.5 km</a:t>
            </a:r>
            <a:endParaRPr lang="en-US" sz="1200" dirty="0"/>
          </a:p>
        </p:txBody>
      </p:sp>
      <p:sp>
        <p:nvSpPr>
          <p:cNvPr id="38" name="Text 35"/>
          <p:cNvSpPr/>
          <p:nvPr/>
        </p:nvSpPr>
        <p:spPr>
          <a:xfrm>
            <a:off x="5760720" y="3858768"/>
            <a:ext cx="1645920" cy="384048"/>
          </a:xfrm>
          <a:prstGeom prst="rect">
            <a:avLst/>
          </a:prstGeom>
          <a:noFill/>
          <a:ln/>
        </p:spPr>
        <p:txBody>
          <a:bodyPr wrap="square" rtlCol="0" anchor="ctr"/>
          <a:lstStyle/>
          <a:p>
            <a:pPr algn="ctr" indent="0" marL="0">
              <a:buNone/>
            </a:pPr>
            <a:r>
              <a:rPr lang="en-US" sz="1200" dirty="0">
                <a:solidFill>
                  <a:srgbClr val="7A8699"/>
                </a:solidFill>
                <a:latin typeface="Calibri" pitchFamily="34" charset="0"/>
                <a:ea typeface="Calibri" pitchFamily="34" charset="-122"/>
                <a:cs typeface="Calibri" pitchFamily="34" charset="-120"/>
              </a:rPr>
              <a:t>—  no</a:t>
            </a:r>
            <a:endParaRPr lang="en-US" sz="1200" dirty="0"/>
          </a:p>
        </p:txBody>
      </p:sp>
      <p:sp>
        <p:nvSpPr>
          <p:cNvPr id="39" name="Shape 36"/>
          <p:cNvSpPr/>
          <p:nvPr/>
        </p:nvSpPr>
        <p:spPr>
          <a:xfrm>
            <a:off x="548640" y="4242816"/>
            <a:ext cx="6858000" cy="384048"/>
          </a:xfrm>
          <a:prstGeom prst="rect">
            <a:avLst/>
          </a:prstGeom>
          <a:solidFill>
            <a:srgbClr val="FFFFFF"/>
          </a:solidFill>
          <a:ln w="12700">
            <a:solidFill>
              <a:srgbClr val="C9D1DD"/>
            </a:solidFill>
            <a:prstDash val="solid"/>
          </a:ln>
        </p:spPr>
      </p:sp>
      <p:sp>
        <p:nvSpPr>
          <p:cNvPr id="40" name="Text 37"/>
          <p:cNvSpPr/>
          <p:nvPr/>
        </p:nvSpPr>
        <p:spPr>
          <a:xfrm>
            <a:off x="731520" y="4242816"/>
            <a:ext cx="3657600" cy="384048"/>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Security</a:t>
            </a:r>
            <a:endParaRPr lang="en-US" sz="1200" dirty="0"/>
          </a:p>
        </p:txBody>
      </p:sp>
      <p:sp>
        <p:nvSpPr>
          <p:cNvPr id="41" name="Text 38"/>
          <p:cNvSpPr/>
          <p:nvPr/>
        </p:nvSpPr>
        <p:spPr>
          <a:xfrm>
            <a:off x="4389120" y="4242816"/>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2.0 km</a:t>
            </a:r>
            <a:endParaRPr lang="en-US" sz="1200" dirty="0"/>
          </a:p>
        </p:txBody>
      </p:sp>
      <p:sp>
        <p:nvSpPr>
          <p:cNvPr id="42" name="Text 39"/>
          <p:cNvSpPr/>
          <p:nvPr/>
        </p:nvSpPr>
        <p:spPr>
          <a:xfrm>
            <a:off x="5760720" y="4242816"/>
            <a:ext cx="1645920" cy="384048"/>
          </a:xfrm>
          <a:prstGeom prst="rect">
            <a:avLst/>
          </a:prstGeom>
          <a:noFill/>
          <a:ln/>
        </p:spPr>
        <p:txBody>
          <a:bodyPr wrap="square" rtlCol="0" anchor="ctr"/>
          <a:lstStyle/>
          <a:p>
            <a:pPr algn="ctr" indent="0" marL="0">
              <a:buNone/>
            </a:pPr>
            <a:r>
              <a:rPr lang="en-US" sz="1200" dirty="0">
                <a:solidFill>
                  <a:srgbClr val="7A8699"/>
                </a:solidFill>
                <a:latin typeface="Calibri" pitchFamily="34" charset="0"/>
                <a:ea typeface="Calibri" pitchFamily="34" charset="-122"/>
                <a:cs typeface="Calibri" pitchFamily="34" charset="-120"/>
              </a:rPr>
              <a:t>—  no</a:t>
            </a:r>
            <a:endParaRPr lang="en-US" sz="1200" dirty="0"/>
          </a:p>
        </p:txBody>
      </p:sp>
      <p:sp>
        <p:nvSpPr>
          <p:cNvPr id="43" name="Shape 40"/>
          <p:cNvSpPr/>
          <p:nvPr/>
        </p:nvSpPr>
        <p:spPr>
          <a:xfrm>
            <a:off x="548640" y="4626864"/>
            <a:ext cx="6858000" cy="384048"/>
          </a:xfrm>
          <a:prstGeom prst="rect">
            <a:avLst/>
          </a:prstGeom>
          <a:solidFill>
            <a:srgbClr val="EEF1F6"/>
          </a:solidFill>
          <a:ln w="12700">
            <a:solidFill>
              <a:srgbClr val="C9D1DD"/>
            </a:solidFill>
            <a:prstDash val="solid"/>
          </a:ln>
        </p:spPr>
      </p:sp>
      <p:sp>
        <p:nvSpPr>
          <p:cNvPr id="44" name="Text 41"/>
          <p:cNvSpPr/>
          <p:nvPr/>
        </p:nvSpPr>
        <p:spPr>
          <a:xfrm>
            <a:off x="731520" y="4626864"/>
            <a:ext cx="3657600" cy="384048"/>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Tourism</a:t>
            </a:r>
            <a:endParaRPr lang="en-US" sz="1200" dirty="0"/>
          </a:p>
        </p:txBody>
      </p:sp>
      <p:sp>
        <p:nvSpPr>
          <p:cNvPr id="45" name="Text 42"/>
          <p:cNvSpPr/>
          <p:nvPr/>
        </p:nvSpPr>
        <p:spPr>
          <a:xfrm>
            <a:off x="4389120" y="4626864"/>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3.0 km</a:t>
            </a:r>
            <a:endParaRPr lang="en-US" sz="1200" dirty="0"/>
          </a:p>
        </p:txBody>
      </p:sp>
      <p:sp>
        <p:nvSpPr>
          <p:cNvPr id="46" name="Text 43"/>
          <p:cNvSpPr/>
          <p:nvPr/>
        </p:nvSpPr>
        <p:spPr>
          <a:xfrm>
            <a:off x="5760720" y="4626864"/>
            <a:ext cx="1645920" cy="384048"/>
          </a:xfrm>
          <a:prstGeom prst="rect">
            <a:avLst/>
          </a:prstGeom>
          <a:noFill/>
          <a:ln/>
        </p:spPr>
        <p:txBody>
          <a:bodyPr wrap="square" rtlCol="0" anchor="ctr"/>
          <a:lstStyle/>
          <a:p>
            <a:pPr algn="ctr" indent="0" marL="0">
              <a:buNone/>
            </a:pPr>
            <a:r>
              <a:rPr lang="en-US" sz="1200" dirty="0">
                <a:solidFill>
                  <a:srgbClr val="7A8699"/>
                </a:solidFill>
                <a:latin typeface="Calibri" pitchFamily="34" charset="0"/>
                <a:ea typeface="Calibri" pitchFamily="34" charset="-122"/>
                <a:cs typeface="Calibri" pitchFamily="34" charset="-120"/>
              </a:rPr>
              <a:t>—  no</a:t>
            </a:r>
            <a:endParaRPr lang="en-US" sz="1200" dirty="0"/>
          </a:p>
        </p:txBody>
      </p:sp>
      <p:sp>
        <p:nvSpPr>
          <p:cNvPr id="47" name="Shape 44"/>
          <p:cNvSpPr/>
          <p:nvPr/>
        </p:nvSpPr>
        <p:spPr>
          <a:xfrm>
            <a:off x="548640" y="5010912"/>
            <a:ext cx="6858000" cy="384048"/>
          </a:xfrm>
          <a:prstGeom prst="rect">
            <a:avLst/>
          </a:prstGeom>
          <a:solidFill>
            <a:srgbClr val="FFFFFF"/>
          </a:solidFill>
          <a:ln w="12700">
            <a:solidFill>
              <a:srgbClr val="C9D1DD"/>
            </a:solidFill>
            <a:prstDash val="solid"/>
          </a:ln>
        </p:spPr>
      </p:sp>
      <p:sp>
        <p:nvSpPr>
          <p:cNvPr id="48" name="Text 45"/>
          <p:cNvSpPr/>
          <p:nvPr/>
        </p:nvSpPr>
        <p:spPr>
          <a:xfrm>
            <a:off x="731520" y="5010912"/>
            <a:ext cx="3657600" cy="384048"/>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Retail Density</a:t>
            </a:r>
            <a:endParaRPr lang="en-US" sz="1200" dirty="0"/>
          </a:p>
        </p:txBody>
      </p:sp>
      <p:sp>
        <p:nvSpPr>
          <p:cNvPr id="49" name="Text 46"/>
          <p:cNvSpPr/>
          <p:nvPr/>
        </p:nvSpPr>
        <p:spPr>
          <a:xfrm>
            <a:off x="4389120" y="5010912"/>
            <a:ext cx="1371600" cy="384048"/>
          </a:xfrm>
          <a:prstGeom prst="rect">
            <a:avLst/>
          </a:prstGeom>
          <a:noFill/>
          <a:ln/>
        </p:spPr>
        <p:txBody>
          <a:bodyPr wrap="square" rtlCol="0" anchor="ctr"/>
          <a:lstStyle/>
          <a:p>
            <a:pPr algn="ctr" indent="0" marL="0">
              <a:buNone/>
            </a:pPr>
            <a:r>
              <a:rPr lang="en-US" sz="1200" dirty="0">
                <a:solidFill>
                  <a:srgbClr val="2C3E50"/>
                </a:solidFill>
                <a:latin typeface="Calibri" pitchFamily="34" charset="0"/>
                <a:ea typeface="Calibri" pitchFamily="34" charset="-122"/>
                <a:cs typeface="Calibri" pitchFamily="34" charset="-120"/>
              </a:rPr>
              <a:t>1.0 km</a:t>
            </a:r>
            <a:endParaRPr lang="en-US" sz="1200" dirty="0"/>
          </a:p>
        </p:txBody>
      </p:sp>
      <p:sp>
        <p:nvSpPr>
          <p:cNvPr id="50" name="Text 47"/>
          <p:cNvSpPr/>
          <p:nvPr/>
        </p:nvSpPr>
        <p:spPr>
          <a:xfrm>
            <a:off x="5760720" y="5010912"/>
            <a:ext cx="1645920" cy="384048"/>
          </a:xfrm>
          <a:prstGeom prst="rect">
            <a:avLst/>
          </a:prstGeom>
          <a:noFill/>
          <a:ln/>
        </p:spPr>
        <p:txBody>
          <a:bodyPr wrap="square" rtlCol="0" anchor="ctr"/>
          <a:lstStyle/>
          <a:p>
            <a:pPr algn="ctr" indent="0" marL="0">
              <a:buNone/>
            </a:pPr>
            <a:r>
              <a:rPr lang="en-US" sz="1200" dirty="0">
                <a:solidFill>
                  <a:srgbClr val="7A8699"/>
                </a:solidFill>
                <a:latin typeface="Calibri" pitchFamily="34" charset="0"/>
                <a:ea typeface="Calibri" pitchFamily="34" charset="-122"/>
                <a:cs typeface="Calibri" pitchFamily="34" charset="-120"/>
              </a:rPr>
              <a:t>—  no</a:t>
            </a:r>
            <a:endParaRPr lang="en-US" sz="1200" dirty="0"/>
          </a:p>
        </p:txBody>
      </p:sp>
      <p:sp>
        <p:nvSpPr>
          <p:cNvPr id="51" name="Shape 48"/>
          <p:cNvSpPr/>
          <p:nvPr/>
        </p:nvSpPr>
        <p:spPr>
          <a:xfrm>
            <a:off x="7680960" y="1554480"/>
            <a:ext cx="109728" cy="4754880"/>
          </a:xfrm>
          <a:prstGeom prst="rect">
            <a:avLst/>
          </a:prstGeom>
          <a:solidFill>
            <a:srgbClr val="D4A843"/>
          </a:solidFill>
          <a:ln w="12700">
            <a:solidFill>
              <a:srgbClr val="D4A843"/>
            </a:solidFill>
            <a:prstDash val="solid"/>
          </a:ln>
        </p:spPr>
      </p:sp>
      <p:sp>
        <p:nvSpPr>
          <p:cNvPr id="52" name="Text 49"/>
          <p:cNvSpPr/>
          <p:nvPr/>
        </p:nvSpPr>
        <p:spPr>
          <a:xfrm>
            <a:off x="7955280" y="1554480"/>
            <a:ext cx="402336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DECISION 20</a:t>
            </a:r>
            <a:endParaRPr lang="en-US" sz="1100" dirty="0"/>
          </a:p>
        </p:txBody>
      </p:sp>
      <p:sp>
        <p:nvSpPr>
          <p:cNvPr id="53" name="Text 50"/>
          <p:cNvSpPr/>
          <p:nvPr/>
        </p:nvSpPr>
        <p:spPr>
          <a:xfrm>
            <a:off x="7955280" y="1874520"/>
            <a:ext cx="4023360" cy="54864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Composite restricted to positive-OLS categories</a:t>
            </a:r>
            <a:endParaRPr lang="en-US" sz="1600" dirty="0"/>
          </a:p>
        </p:txBody>
      </p:sp>
      <p:sp>
        <p:nvSpPr>
          <p:cNvPr id="54" name="Text 51"/>
          <p:cNvSpPr/>
          <p:nvPr/>
        </p:nvSpPr>
        <p:spPr>
          <a:xfrm>
            <a:off x="7955280" y="2514600"/>
            <a:ext cx="4023360" cy="1371600"/>
          </a:xfrm>
          <a:prstGeom prst="rect">
            <a:avLst/>
          </a:prstGeom>
          <a:noFill/>
          <a:ln/>
        </p:spPr>
        <p:txBody>
          <a:bodyPr wrap="square" rtlCol="0" anchor="ctr"/>
          <a:lstStyle/>
          <a:p>
            <a:pPr indent="0" marL="0">
              <a:buNone/>
            </a:pPr>
            <a:r>
              <a:rPr lang="en-US" sz="1200" i="1" dirty="0">
                <a:solidFill>
                  <a:srgbClr val="2C3E50"/>
                </a:solidFill>
                <a:latin typeface="Calibri" pitchFamily="34" charset="0"/>
                <a:ea typeface="Calibri" pitchFamily="34" charset="-122"/>
                <a:cs typeface="Calibri" pitchFamily="34" charset="-120"/>
              </a:rPr>
              <a:t>Excluded categories had negative OLS coefficients — interpreted as spatial sorting / threshold disamenity, not amenity value.</a:t>
            </a:r>
            <a:endParaRPr lang="en-US" sz="1200" dirty="0"/>
          </a:p>
        </p:txBody>
      </p:sp>
      <p:sp>
        <p:nvSpPr>
          <p:cNvPr id="55" name="Text 52"/>
          <p:cNvSpPr/>
          <p:nvPr/>
        </p:nvSpPr>
        <p:spPr>
          <a:xfrm>
            <a:off x="7955280" y="3931920"/>
            <a:ext cx="4023360" cy="365760"/>
          </a:xfrm>
          <a:prstGeom prst="rect">
            <a:avLst/>
          </a:prstGeom>
          <a:noFill/>
          <a:ln/>
        </p:spPr>
        <p:txBody>
          <a:bodyPr wrap="square"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Why negative ≠ bad</a:t>
            </a:r>
            <a:endParaRPr lang="en-US" sz="1300" dirty="0"/>
          </a:p>
        </p:txBody>
      </p:sp>
      <p:sp>
        <p:nvSpPr>
          <p:cNvPr id="56" name="Text 53"/>
          <p:cNvSpPr/>
          <p:nvPr/>
        </p:nvSpPr>
        <p:spPr>
          <a:xfrm>
            <a:off x="7955280" y="4297680"/>
            <a:ext cx="4023360" cy="201168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Tiebout (1956) — household sorting by service bundles produces income-stratified equilibria.</a:t>
            </a:r>
            <a:endParaRPr lang="en-US" sz="1100" dirty="0"/>
          </a:p>
          <a:p>
            <a:pPr indent="0" marL="0">
              <a:buNone/>
            </a:pPr>
            <a:endParaRPr lang="en-US" sz="1100" dirty="0"/>
          </a:p>
          <a:p>
            <a:pPr indent="0" marL="0">
              <a:buNone/>
            </a:pPr>
            <a:r>
              <a:rPr lang="en-US" sz="1100" dirty="0">
                <a:solidFill>
                  <a:srgbClr val="2C3E50"/>
                </a:solidFill>
                <a:latin typeface="Calibri" pitchFamily="34" charset="0"/>
                <a:ea typeface="Calibri" pitchFamily="34" charset="-122"/>
                <a:cs typeface="Calibri" pitchFamily="34" charset="-120"/>
              </a:rPr>
              <a:t>Bayer &amp; McMillan (2012) — public-good provision clusters with lower-income populations.</a:t>
            </a:r>
            <a:endParaRPr lang="en-US" sz="1100" dirty="0"/>
          </a:p>
          <a:p>
            <a:pPr indent="0" marL="0">
              <a:buNone/>
            </a:pPr>
            <a:endParaRPr lang="en-US" sz="1100" dirty="0"/>
          </a:p>
          <a:p>
            <a:pPr indent="0" marL="0">
              <a:buNone/>
            </a:pPr>
            <a:r>
              <a:rPr lang="en-US" sz="1100" dirty="0">
                <a:solidFill>
                  <a:srgbClr val="2C3E50"/>
                </a:solidFill>
                <a:latin typeface="Calibri" pitchFamily="34" charset="0"/>
                <a:ea typeface="Calibri" pitchFamily="34" charset="-122"/>
                <a:cs typeface="Calibri" pitchFamily="34" charset="-120"/>
              </a:rPr>
              <a:t>Yang et al. (2016) — inverted-U for commercial density.</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Modeling Pipeline</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85216" y="1828800"/>
            <a:ext cx="2377440" cy="1828800"/>
          </a:xfrm>
          <a:prstGeom prst="roundRect">
            <a:avLst>
              <a:gd name="adj" fmla="val 4000"/>
            </a:avLst>
          </a:prstGeom>
          <a:solidFill>
            <a:srgbClr val="FFFFFF"/>
          </a:solidFill>
          <a:ln w="19050">
            <a:solidFill>
              <a:srgbClr val="1B2A4A"/>
            </a:solidFill>
            <a:prstDash val="solid"/>
          </a:ln>
        </p:spPr>
      </p:sp>
      <p:sp>
        <p:nvSpPr>
          <p:cNvPr id="8" name="Shape 5"/>
          <p:cNvSpPr/>
          <p:nvPr/>
        </p:nvSpPr>
        <p:spPr>
          <a:xfrm>
            <a:off x="1499616" y="1554480"/>
            <a:ext cx="548640" cy="548640"/>
          </a:xfrm>
          <a:prstGeom prst="ellipse">
            <a:avLst/>
          </a:prstGeom>
          <a:solidFill>
            <a:srgbClr val="D4A843"/>
          </a:solidFill>
          <a:ln w="12700">
            <a:solidFill>
              <a:srgbClr val="D4A843"/>
            </a:solidFill>
            <a:prstDash val="solid"/>
          </a:ln>
        </p:spPr>
      </p:sp>
      <p:sp>
        <p:nvSpPr>
          <p:cNvPr id="9" name="Text 6"/>
          <p:cNvSpPr/>
          <p:nvPr/>
        </p:nvSpPr>
        <p:spPr>
          <a:xfrm>
            <a:off x="1499616" y="1554480"/>
            <a:ext cx="548640" cy="54864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722376" y="2286000"/>
            <a:ext cx="2103120" cy="457200"/>
          </a:xfrm>
          <a:prstGeom prst="rect">
            <a:avLst/>
          </a:prstGeom>
          <a:noFill/>
          <a:ln/>
        </p:spPr>
        <p:txBody>
          <a:bodyPr wrap="square"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OLS Hedonic</a:t>
            </a:r>
            <a:endParaRPr lang="en-US" sz="1500" dirty="0"/>
          </a:p>
        </p:txBody>
      </p:sp>
      <p:sp>
        <p:nvSpPr>
          <p:cNvPr id="11" name="Text 8"/>
          <p:cNvSpPr/>
          <p:nvPr/>
        </p:nvSpPr>
        <p:spPr>
          <a:xfrm>
            <a:off x="722376" y="2743200"/>
            <a:ext cx="2103120" cy="822960"/>
          </a:xfrm>
          <a:prstGeom prst="rect">
            <a:avLst/>
          </a:prstGeom>
          <a:noFill/>
          <a:ln/>
        </p:spPr>
        <p:txBody>
          <a:bodyPr wrap="square"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Log-linear baseline</a:t>
            </a:r>
            <a:endParaRPr lang="en-US" sz="1100" dirty="0"/>
          </a:p>
          <a:p>
            <a:pPr algn="ctr" indent="0" marL="0">
              <a:buNone/>
            </a:pPr>
            <a:r>
              <a:rPr lang="en-US" sz="1100" dirty="0">
                <a:solidFill>
                  <a:srgbClr val="7A8699"/>
                </a:solidFill>
                <a:latin typeface="Calibri" pitchFamily="34" charset="0"/>
                <a:ea typeface="Calibri" pitchFamily="34" charset="-122"/>
                <a:cs typeface="Calibri" pitchFamily="34" charset="-120"/>
              </a:rPr>
              <a:t>(Rosen 1974)</a:t>
            </a:r>
            <a:endParaRPr lang="en-US" sz="1100" dirty="0"/>
          </a:p>
        </p:txBody>
      </p:sp>
      <p:sp>
        <p:nvSpPr>
          <p:cNvPr id="12" name="Shape 9"/>
          <p:cNvSpPr/>
          <p:nvPr/>
        </p:nvSpPr>
        <p:spPr>
          <a:xfrm>
            <a:off x="3282696" y="2606040"/>
            <a:ext cx="182880" cy="292608"/>
          </a:xfrm>
          <a:prstGeom prst="rightTriangle">
            <a:avLst/>
          </a:prstGeom>
          <a:solidFill>
            <a:srgbClr val="D4A843"/>
          </a:solidFill>
          <a:ln w="12700">
            <a:solidFill>
              <a:srgbClr val="D4A843"/>
            </a:solidFill>
            <a:prstDash val="solid"/>
          </a:ln>
        </p:spPr>
      </p:sp>
      <p:sp>
        <p:nvSpPr>
          <p:cNvPr id="13" name="Shape 10"/>
          <p:cNvSpPr/>
          <p:nvPr/>
        </p:nvSpPr>
        <p:spPr>
          <a:xfrm>
            <a:off x="3008376" y="2697480"/>
            <a:ext cx="320040" cy="91440"/>
          </a:xfrm>
          <a:prstGeom prst="rect">
            <a:avLst/>
          </a:prstGeom>
          <a:solidFill>
            <a:srgbClr val="D4A843"/>
          </a:solidFill>
          <a:ln w="12700">
            <a:solidFill>
              <a:srgbClr val="D4A843"/>
            </a:solidFill>
            <a:prstDash val="solid"/>
          </a:ln>
        </p:spPr>
      </p:sp>
      <p:sp>
        <p:nvSpPr>
          <p:cNvPr id="14" name="Shape 11"/>
          <p:cNvSpPr/>
          <p:nvPr/>
        </p:nvSpPr>
        <p:spPr>
          <a:xfrm>
            <a:off x="3465576" y="1828800"/>
            <a:ext cx="2377440" cy="1828800"/>
          </a:xfrm>
          <a:prstGeom prst="roundRect">
            <a:avLst>
              <a:gd name="adj" fmla="val 4000"/>
            </a:avLst>
          </a:prstGeom>
          <a:solidFill>
            <a:srgbClr val="FFFFFF"/>
          </a:solidFill>
          <a:ln w="19050">
            <a:solidFill>
              <a:srgbClr val="1B2A4A"/>
            </a:solidFill>
            <a:prstDash val="solid"/>
          </a:ln>
        </p:spPr>
      </p:sp>
      <p:sp>
        <p:nvSpPr>
          <p:cNvPr id="15" name="Shape 12"/>
          <p:cNvSpPr/>
          <p:nvPr/>
        </p:nvSpPr>
        <p:spPr>
          <a:xfrm>
            <a:off x="4379976" y="1554480"/>
            <a:ext cx="548640" cy="548640"/>
          </a:xfrm>
          <a:prstGeom prst="ellipse">
            <a:avLst/>
          </a:prstGeom>
          <a:solidFill>
            <a:srgbClr val="D4A843"/>
          </a:solidFill>
          <a:ln w="12700">
            <a:solidFill>
              <a:srgbClr val="D4A843"/>
            </a:solidFill>
            <a:prstDash val="solid"/>
          </a:ln>
        </p:spPr>
      </p:sp>
      <p:sp>
        <p:nvSpPr>
          <p:cNvPr id="16" name="Text 13"/>
          <p:cNvSpPr/>
          <p:nvPr/>
        </p:nvSpPr>
        <p:spPr>
          <a:xfrm>
            <a:off x="4379976" y="1554480"/>
            <a:ext cx="548640" cy="54864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3602736" y="2286000"/>
            <a:ext cx="2103120" cy="457200"/>
          </a:xfrm>
          <a:prstGeom prst="rect">
            <a:avLst/>
          </a:prstGeom>
          <a:noFill/>
          <a:ln/>
        </p:spPr>
        <p:txBody>
          <a:bodyPr wrap="square"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Random Forest</a:t>
            </a:r>
            <a:endParaRPr lang="en-US" sz="1500" dirty="0"/>
          </a:p>
        </p:txBody>
      </p:sp>
      <p:sp>
        <p:nvSpPr>
          <p:cNvPr id="18" name="Text 15"/>
          <p:cNvSpPr/>
          <p:nvPr/>
        </p:nvSpPr>
        <p:spPr>
          <a:xfrm>
            <a:off x="3602736" y="2743200"/>
            <a:ext cx="2103120" cy="822960"/>
          </a:xfrm>
          <a:prstGeom prst="rect">
            <a:avLst/>
          </a:prstGeom>
          <a:noFill/>
          <a:ln/>
        </p:spPr>
        <p:txBody>
          <a:bodyPr wrap="square"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Non-linear, robust</a:t>
            </a:r>
            <a:endParaRPr lang="en-US" sz="1100" dirty="0"/>
          </a:p>
          <a:p>
            <a:pPr algn="ctr" indent="0" marL="0">
              <a:buNone/>
            </a:pPr>
            <a:r>
              <a:rPr lang="en-US" sz="1100" dirty="0">
                <a:solidFill>
                  <a:srgbClr val="7A8699"/>
                </a:solidFill>
                <a:latin typeface="Calibri" pitchFamily="34" charset="0"/>
                <a:ea typeface="Calibri" pitchFamily="34" charset="-122"/>
                <a:cs typeface="Calibri" pitchFamily="34" charset="-120"/>
              </a:rPr>
              <a:t>(deployed)</a:t>
            </a:r>
            <a:endParaRPr lang="en-US" sz="1100" dirty="0"/>
          </a:p>
        </p:txBody>
      </p:sp>
      <p:sp>
        <p:nvSpPr>
          <p:cNvPr id="19" name="Shape 16"/>
          <p:cNvSpPr/>
          <p:nvPr/>
        </p:nvSpPr>
        <p:spPr>
          <a:xfrm>
            <a:off x="6163056" y="2606040"/>
            <a:ext cx="182880" cy="292608"/>
          </a:xfrm>
          <a:prstGeom prst="rightTriangle">
            <a:avLst/>
          </a:prstGeom>
          <a:solidFill>
            <a:srgbClr val="D4A843"/>
          </a:solidFill>
          <a:ln w="12700">
            <a:solidFill>
              <a:srgbClr val="D4A843"/>
            </a:solidFill>
            <a:prstDash val="solid"/>
          </a:ln>
        </p:spPr>
      </p:sp>
      <p:sp>
        <p:nvSpPr>
          <p:cNvPr id="20" name="Shape 17"/>
          <p:cNvSpPr/>
          <p:nvPr/>
        </p:nvSpPr>
        <p:spPr>
          <a:xfrm>
            <a:off x="5888736" y="2697480"/>
            <a:ext cx="320040" cy="91440"/>
          </a:xfrm>
          <a:prstGeom prst="rect">
            <a:avLst/>
          </a:prstGeom>
          <a:solidFill>
            <a:srgbClr val="D4A843"/>
          </a:solidFill>
          <a:ln w="12700">
            <a:solidFill>
              <a:srgbClr val="D4A843"/>
            </a:solidFill>
            <a:prstDash val="solid"/>
          </a:ln>
        </p:spPr>
      </p:sp>
      <p:sp>
        <p:nvSpPr>
          <p:cNvPr id="21" name="Shape 18"/>
          <p:cNvSpPr/>
          <p:nvPr/>
        </p:nvSpPr>
        <p:spPr>
          <a:xfrm>
            <a:off x="6345936" y="1828800"/>
            <a:ext cx="2377440" cy="1828800"/>
          </a:xfrm>
          <a:prstGeom prst="roundRect">
            <a:avLst>
              <a:gd name="adj" fmla="val 4000"/>
            </a:avLst>
          </a:prstGeom>
          <a:solidFill>
            <a:srgbClr val="FFFFFF"/>
          </a:solidFill>
          <a:ln w="19050">
            <a:solidFill>
              <a:srgbClr val="1B2A4A"/>
            </a:solidFill>
            <a:prstDash val="solid"/>
          </a:ln>
        </p:spPr>
      </p:sp>
      <p:sp>
        <p:nvSpPr>
          <p:cNvPr id="22" name="Shape 19"/>
          <p:cNvSpPr/>
          <p:nvPr/>
        </p:nvSpPr>
        <p:spPr>
          <a:xfrm>
            <a:off x="7260336" y="1554480"/>
            <a:ext cx="548640" cy="548640"/>
          </a:xfrm>
          <a:prstGeom prst="ellipse">
            <a:avLst/>
          </a:prstGeom>
          <a:solidFill>
            <a:srgbClr val="D4A843"/>
          </a:solidFill>
          <a:ln w="12700">
            <a:solidFill>
              <a:srgbClr val="D4A843"/>
            </a:solidFill>
            <a:prstDash val="solid"/>
          </a:ln>
        </p:spPr>
      </p:sp>
      <p:sp>
        <p:nvSpPr>
          <p:cNvPr id="23" name="Text 20"/>
          <p:cNvSpPr/>
          <p:nvPr/>
        </p:nvSpPr>
        <p:spPr>
          <a:xfrm>
            <a:off x="7260336" y="1554480"/>
            <a:ext cx="548640" cy="54864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3</a:t>
            </a:r>
            <a:endParaRPr lang="en-US" sz="1800" dirty="0"/>
          </a:p>
        </p:txBody>
      </p:sp>
      <p:sp>
        <p:nvSpPr>
          <p:cNvPr id="24" name="Text 21"/>
          <p:cNvSpPr/>
          <p:nvPr/>
        </p:nvSpPr>
        <p:spPr>
          <a:xfrm>
            <a:off x="6483096" y="2286000"/>
            <a:ext cx="2103120" cy="457200"/>
          </a:xfrm>
          <a:prstGeom prst="rect">
            <a:avLst/>
          </a:prstGeom>
          <a:noFill/>
          <a:ln/>
        </p:spPr>
        <p:txBody>
          <a:bodyPr wrap="square"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XGBoost</a:t>
            </a:r>
            <a:endParaRPr lang="en-US" sz="1500" dirty="0"/>
          </a:p>
        </p:txBody>
      </p:sp>
      <p:sp>
        <p:nvSpPr>
          <p:cNvPr id="25" name="Text 22"/>
          <p:cNvSpPr/>
          <p:nvPr/>
        </p:nvSpPr>
        <p:spPr>
          <a:xfrm>
            <a:off x="6483096" y="2743200"/>
            <a:ext cx="2103120" cy="822960"/>
          </a:xfrm>
          <a:prstGeom prst="rect">
            <a:avLst/>
          </a:prstGeom>
          <a:noFill/>
          <a:ln/>
        </p:spPr>
        <p:txBody>
          <a:bodyPr wrap="square"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Gradient boosting</a:t>
            </a:r>
            <a:endParaRPr lang="en-US" sz="1100" dirty="0"/>
          </a:p>
          <a:p>
            <a:pPr algn="ctr" indent="0" marL="0">
              <a:buNone/>
            </a:pPr>
            <a:r>
              <a:rPr lang="en-US" sz="1100" dirty="0">
                <a:solidFill>
                  <a:srgbClr val="7A8699"/>
                </a:solidFill>
                <a:latin typeface="Calibri" pitchFamily="34" charset="0"/>
                <a:ea typeface="Calibri" pitchFamily="34" charset="-122"/>
                <a:cs typeface="Calibri" pitchFamily="34" charset="-120"/>
              </a:rPr>
              <a:t>on tabular data</a:t>
            </a:r>
            <a:endParaRPr lang="en-US" sz="1100" dirty="0"/>
          </a:p>
        </p:txBody>
      </p:sp>
      <p:sp>
        <p:nvSpPr>
          <p:cNvPr id="26" name="Shape 23"/>
          <p:cNvSpPr/>
          <p:nvPr/>
        </p:nvSpPr>
        <p:spPr>
          <a:xfrm>
            <a:off x="9043416" y="2606040"/>
            <a:ext cx="182880" cy="292608"/>
          </a:xfrm>
          <a:prstGeom prst="rightTriangle">
            <a:avLst/>
          </a:prstGeom>
          <a:solidFill>
            <a:srgbClr val="D4A843"/>
          </a:solidFill>
          <a:ln w="12700">
            <a:solidFill>
              <a:srgbClr val="D4A843"/>
            </a:solidFill>
            <a:prstDash val="solid"/>
          </a:ln>
        </p:spPr>
      </p:sp>
      <p:sp>
        <p:nvSpPr>
          <p:cNvPr id="27" name="Shape 24"/>
          <p:cNvSpPr/>
          <p:nvPr/>
        </p:nvSpPr>
        <p:spPr>
          <a:xfrm>
            <a:off x="8769096" y="2697480"/>
            <a:ext cx="320040" cy="91440"/>
          </a:xfrm>
          <a:prstGeom prst="rect">
            <a:avLst/>
          </a:prstGeom>
          <a:solidFill>
            <a:srgbClr val="D4A843"/>
          </a:solidFill>
          <a:ln w="12700">
            <a:solidFill>
              <a:srgbClr val="D4A843"/>
            </a:solidFill>
            <a:prstDash val="solid"/>
          </a:ln>
        </p:spPr>
      </p:sp>
      <p:sp>
        <p:nvSpPr>
          <p:cNvPr id="28" name="Shape 25"/>
          <p:cNvSpPr/>
          <p:nvPr/>
        </p:nvSpPr>
        <p:spPr>
          <a:xfrm>
            <a:off x="9226296" y="1828800"/>
            <a:ext cx="2377440" cy="1828800"/>
          </a:xfrm>
          <a:prstGeom prst="roundRect">
            <a:avLst>
              <a:gd name="adj" fmla="val 4000"/>
            </a:avLst>
          </a:prstGeom>
          <a:solidFill>
            <a:srgbClr val="FFFFFF"/>
          </a:solidFill>
          <a:ln w="19050">
            <a:solidFill>
              <a:srgbClr val="1B2A4A"/>
            </a:solidFill>
            <a:prstDash val="solid"/>
          </a:ln>
        </p:spPr>
      </p:sp>
      <p:sp>
        <p:nvSpPr>
          <p:cNvPr id="29" name="Shape 26"/>
          <p:cNvSpPr/>
          <p:nvPr/>
        </p:nvSpPr>
        <p:spPr>
          <a:xfrm>
            <a:off x="10140696" y="1554480"/>
            <a:ext cx="548640" cy="548640"/>
          </a:xfrm>
          <a:prstGeom prst="ellipse">
            <a:avLst/>
          </a:prstGeom>
          <a:solidFill>
            <a:srgbClr val="D4A843"/>
          </a:solidFill>
          <a:ln w="12700">
            <a:solidFill>
              <a:srgbClr val="D4A843"/>
            </a:solidFill>
            <a:prstDash val="solid"/>
          </a:ln>
        </p:spPr>
      </p:sp>
      <p:sp>
        <p:nvSpPr>
          <p:cNvPr id="30" name="Text 27"/>
          <p:cNvSpPr/>
          <p:nvPr/>
        </p:nvSpPr>
        <p:spPr>
          <a:xfrm>
            <a:off x="10140696" y="1554480"/>
            <a:ext cx="548640" cy="54864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4</a:t>
            </a:r>
            <a:endParaRPr lang="en-US" sz="1800" dirty="0"/>
          </a:p>
        </p:txBody>
      </p:sp>
      <p:sp>
        <p:nvSpPr>
          <p:cNvPr id="31" name="Text 28"/>
          <p:cNvSpPr/>
          <p:nvPr/>
        </p:nvSpPr>
        <p:spPr>
          <a:xfrm>
            <a:off x="9363456" y="2286000"/>
            <a:ext cx="2103120" cy="457200"/>
          </a:xfrm>
          <a:prstGeom prst="rect">
            <a:avLst/>
          </a:prstGeom>
          <a:noFill/>
          <a:ln/>
        </p:spPr>
        <p:txBody>
          <a:bodyPr wrap="square"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SHAP</a:t>
            </a:r>
            <a:endParaRPr lang="en-US" sz="1500" dirty="0"/>
          </a:p>
        </p:txBody>
      </p:sp>
      <p:sp>
        <p:nvSpPr>
          <p:cNvPr id="32" name="Text 29"/>
          <p:cNvSpPr/>
          <p:nvPr/>
        </p:nvSpPr>
        <p:spPr>
          <a:xfrm>
            <a:off x="9363456" y="2743200"/>
            <a:ext cx="2103120" cy="822960"/>
          </a:xfrm>
          <a:prstGeom prst="rect">
            <a:avLst/>
          </a:prstGeom>
          <a:noFill/>
          <a:ln/>
        </p:spPr>
        <p:txBody>
          <a:bodyPr wrap="square"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Feature-level</a:t>
            </a:r>
            <a:endParaRPr lang="en-US" sz="1100" dirty="0"/>
          </a:p>
          <a:p>
            <a:pPr algn="ctr" indent="0" marL="0">
              <a:buNone/>
            </a:pPr>
            <a:r>
              <a:rPr lang="en-US" sz="1100" dirty="0">
                <a:solidFill>
                  <a:srgbClr val="7A8699"/>
                </a:solidFill>
                <a:latin typeface="Calibri" pitchFamily="34" charset="0"/>
                <a:ea typeface="Calibri" pitchFamily="34" charset="-122"/>
                <a:cs typeface="Calibri" pitchFamily="34" charset="-120"/>
              </a:rPr>
              <a:t>explainability</a:t>
            </a:r>
            <a:endParaRPr lang="en-US" sz="1100" dirty="0"/>
          </a:p>
        </p:txBody>
      </p:sp>
      <p:sp>
        <p:nvSpPr>
          <p:cNvPr id="33" name="Shape 30"/>
          <p:cNvSpPr/>
          <p:nvPr/>
        </p:nvSpPr>
        <p:spPr>
          <a:xfrm>
            <a:off x="548640" y="4572000"/>
            <a:ext cx="11064240" cy="1783080"/>
          </a:xfrm>
          <a:prstGeom prst="rect">
            <a:avLst/>
          </a:prstGeom>
          <a:solidFill>
            <a:srgbClr val="EEF1F6"/>
          </a:solidFill>
          <a:ln w="12700">
            <a:solidFill>
              <a:srgbClr val="EEF1F6"/>
            </a:solidFill>
            <a:prstDash val="solid"/>
          </a:ln>
        </p:spPr>
      </p:sp>
      <p:sp>
        <p:nvSpPr>
          <p:cNvPr id="34" name="Text 31"/>
          <p:cNvSpPr/>
          <p:nvPr/>
        </p:nvSpPr>
        <p:spPr>
          <a:xfrm>
            <a:off x="777240" y="4663440"/>
            <a:ext cx="10607040" cy="27432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KEY MODELING CHOICES</a:t>
            </a:r>
            <a:endParaRPr lang="en-US" sz="1100" dirty="0"/>
          </a:p>
        </p:txBody>
      </p:sp>
      <p:sp>
        <p:nvSpPr>
          <p:cNvPr id="35" name="Text 32"/>
          <p:cNvSpPr/>
          <p:nvPr/>
        </p:nvSpPr>
        <p:spPr>
          <a:xfrm>
            <a:off x="868680" y="4937760"/>
            <a:ext cx="10515600" cy="1371600"/>
          </a:xfrm>
          <a:prstGeom prst="rect">
            <a:avLst/>
          </a:prstGeom>
          <a:noFill/>
          <a:ln/>
        </p:spPr>
        <p:txBody>
          <a:bodyPr wrap="square" rtlCol="0" anchor="t"/>
          <a:lstStyle/>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Target: log(total price) — right-skewed; back-transformed for the price surface.</a:t>
            </a:r>
            <a:endParaRPr lang="en-US" sz="1300" dirty="0"/>
          </a:p>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OLS uses log-log specification (Rosen 1974, Can 1992, Sirmans 2005); RF/XGB use raw features.</a:t>
            </a:r>
            <a:endParaRPr lang="en-US" sz="1300" dirty="0"/>
          </a:p>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Without log transform, OLS hit R² = −45 (worse than mean). With log, OLS → 0.394.</a:t>
            </a:r>
            <a:endParaRPr lang="en-US" sz="1300" dirty="0"/>
          </a:p>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Evaluation: R², MAPE, MAE, RMSE.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04</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FOUR</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Results</a:t>
            </a:r>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Model Comparison Results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4114800" cy="2377440"/>
          </a:xfrm>
          <a:prstGeom prst="rect">
            <a:avLst/>
          </a:prstGeom>
          <a:solidFill>
            <a:srgbClr val="1B2A4A"/>
          </a:solidFill>
          <a:ln w="12700">
            <a:solidFill>
              <a:srgbClr val="1B2A4A"/>
            </a:solidFill>
            <a:prstDash val="solid"/>
          </a:ln>
        </p:spPr>
      </p:sp>
      <p:sp>
        <p:nvSpPr>
          <p:cNvPr id="8" name="Text 5"/>
          <p:cNvSpPr/>
          <p:nvPr/>
        </p:nvSpPr>
        <p:spPr>
          <a:xfrm>
            <a:off x="548640" y="1645920"/>
            <a:ext cx="4114800" cy="1545336"/>
          </a:xfrm>
          <a:prstGeom prst="rect">
            <a:avLst/>
          </a:prstGeom>
          <a:noFill/>
          <a:ln/>
        </p:spPr>
        <p:txBody>
          <a:bodyPr wrap="square" rtlCol="0" anchor="ctr"/>
          <a:lstStyle/>
          <a:p>
            <a:pPr algn="ctr" indent="0" marL="0">
              <a:buNone/>
            </a:pPr>
            <a:r>
              <a:rPr lang="en-US" sz="6000" b="1" dirty="0">
                <a:solidFill>
                  <a:srgbClr val="D4A843"/>
                </a:solidFill>
                <a:latin typeface="Calibri" pitchFamily="34" charset="0"/>
                <a:ea typeface="Calibri" pitchFamily="34" charset="-122"/>
                <a:cs typeface="Calibri" pitchFamily="34" charset="-120"/>
              </a:rPr>
              <a:t>0.807</a:t>
            </a:r>
            <a:endParaRPr lang="en-US" sz="6000" dirty="0"/>
          </a:p>
        </p:txBody>
      </p:sp>
      <p:sp>
        <p:nvSpPr>
          <p:cNvPr id="9" name="Text 6"/>
          <p:cNvSpPr/>
          <p:nvPr/>
        </p:nvSpPr>
        <p:spPr>
          <a:xfrm>
            <a:off x="731520" y="3099816"/>
            <a:ext cx="3749040" cy="713232"/>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RANDOM FOREST R²</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Deployed model · held-out test set</a:t>
            </a:r>
            <a:endParaRPr lang="en-US" sz="1200" dirty="0"/>
          </a:p>
        </p:txBody>
      </p:sp>
      <p:sp>
        <p:nvSpPr>
          <p:cNvPr id="10" name="Shape 7"/>
          <p:cNvSpPr/>
          <p:nvPr/>
        </p:nvSpPr>
        <p:spPr>
          <a:xfrm>
            <a:off x="4937760" y="1554480"/>
            <a:ext cx="6766560" cy="457200"/>
          </a:xfrm>
          <a:prstGeom prst="rect">
            <a:avLst/>
          </a:prstGeom>
          <a:solidFill>
            <a:srgbClr val="1B2A4A"/>
          </a:solidFill>
          <a:ln w="12700">
            <a:solidFill>
              <a:srgbClr val="1B2A4A"/>
            </a:solidFill>
            <a:prstDash val="solid"/>
          </a:ln>
        </p:spPr>
      </p:sp>
      <p:sp>
        <p:nvSpPr>
          <p:cNvPr id="11" name="Text 8"/>
          <p:cNvSpPr/>
          <p:nvPr/>
        </p:nvSpPr>
        <p:spPr>
          <a:xfrm>
            <a:off x="5029200" y="1554480"/>
            <a:ext cx="2011680" cy="457200"/>
          </a:xfrm>
          <a:prstGeom prst="rect">
            <a:avLst/>
          </a:prstGeom>
          <a:noFill/>
          <a:ln/>
        </p:spPr>
        <p:txBody>
          <a:bodyPr wrap="square" rtlCol="0" anchor="ctr"/>
          <a:lstStyle/>
          <a:p>
            <a:pPr algn="l" indent="0" marL="0">
              <a:buNone/>
            </a:pPr>
            <a:r>
              <a:rPr lang="en-US" sz="1100" b="1" spc="200" kern="0" dirty="0">
                <a:solidFill>
                  <a:srgbClr val="D4A843"/>
                </a:solidFill>
                <a:latin typeface="Calibri" pitchFamily="34" charset="0"/>
                <a:ea typeface="Calibri" pitchFamily="34" charset="-122"/>
                <a:cs typeface="Calibri" pitchFamily="34" charset="-120"/>
              </a:rPr>
              <a:t>Model</a:t>
            </a:r>
            <a:endParaRPr lang="en-US" sz="1100" dirty="0"/>
          </a:p>
        </p:txBody>
      </p:sp>
      <p:sp>
        <p:nvSpPr>
          <p:cNvPr id="12" name="Text 9"/>
          <p:cNvSpPr/>
          <p:nvPr/>
        </p:nvSpPr>
        <p:spPr>
          <a:xfrm>
            <a:off x="7223760" y="1554480"/>
            <a:ext cx="731520" cy="457200"/>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R²</a:t>
            </a:r>
            <a:endParaRPr lang="en-US" sz="1100" dirty="0"/>
          </a:p>
        </p:txBody>
      </p:sp>
      <p:sp>
        <p:nvSpPr>
          <p:cNvPr id="13" name="Text 10"/>
          <p:cNvSpPr/>
          <p:nvPr/>
        </p:nvSpPr>
        <p:spPr>
          <a:xfrm>
            <a:off x="8138160" y="1554480"/>
            <a:ext cx="914400" cy="457200"/>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MAPE</a:t>
            </a:r>
            <a:endParaRPr lang="en-US" sz="1100" dirty="0"/>
          </a:p>
        </p:txBody>
      </p:sp>
      <p:sp>
        <p:nvSpPr>
          <p:cNvPr id="14" name="Text 11"/>
          <p:cNvSpPr/>
          <p:nvPr/>
        </p:nvSpPr>
        <p:spPr>
          <a:xfrm>
            <a:off x="9235440" y="1554480"/>
            <a:ext cx="1097280" cy="457200"/>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MAE</a:t>
            </a:r>
            <a:endParaRPr lang="en-US" sz="1100" dirty="0"/>
          </a:p>
        </p:txBody>
      </p:sp>
      <p:sp>
        <p:nvSpPr>
          <p:cNvPr id="15" name="Text 12"/>
          <p:cNvSpPr/>
          <p:nvPr/>
        </p:nvSpPr>
        <p:spPr>
          <a:xfrm>
            <a:off x="10515600" y="1554480"/>
            <a:ext cx="1097280" cy="457200"/>
          </a:xfrm>
          <a:prstGeom prst="rect">
            <a:avLst/>
          </a:prstGeom>
          <a:noFill/>
          <a:ln/>
        </p:spPr>
        <p:txBody>
          <a:bodyPr wrap="square" rtlCol="0" anchor="ctr"/>
          <a:lstStyle/>
          <a:p>
            <a:pPr algn="ctr" indent="0" marL="0">
              <a:buNone/>
            </a:pPr>
            <a:r>
              <a:rPr lang="en-US" sz="1100" b="1" spc="200" kern="0" dirty="0">
                <a:solidFill>
                  <a:srgbClr val="D4A843"/>
                </a:solidFill>
                <a:latin typeface="Calibri" pitchFamily="34" charset="0"/>
                <a:ea typeface="Calibri" pitchFamily="34" charset="-122"/>
                <a:cs typeface="Calibri" pitchFamily="34" charset="-120"/>
              </a:rPr>
              <a:t>RMSE</a:t>
            </a:r>
            <a:endParaRPr lang="en-US" sz="1100" dirty="0"/>
          </a:p>
        </p:txBody>
      </p:sp>
      <p:sp>
        <p:nvSpPr>
          <p:cNvPr id="16" name="Shape 13"/>
          <p:cNvSpPr/>
          <p:nvPr/>
        </p:nvSpPr>
        <p:spPr>
          <a:xfrm>
            <a:off x="4937760" y="2011680"/>
            <a:ext cx="6766560" cy="594360"/>
          </a:xfrm>
          <a:prstGeom prst="rect">
            <a:avLst/>
          </a:prstGeom>
          <a:solidFill>
            <a:srgbClr val="FFFFFF"/>
          </a:solidFill>
          <a:ln w="12700">
            <a:solidFill>
              <a:srgbClr val="C9D1DD"/>
            </a:solidFill>
            <a:prstDash val="solid"/>
          </a:ln>
        </p:spPr>
      </p:sp>
      <p:sp>
        <p:nvSpPr>
          <p:cNvPr id="17" name="Text 14"/>
          <p:cNvSpPr/>
          <p:nvPr/>
        </p:nvSpPr>
        <p:spPr>
          <a:xfrm>
            <a:off x="5029200" y="2011680"/>
            <a:ext cx="2011680" cy="594360"/>
          </a:xfrm>
          <a:prstGeom prst="rect">
            <a:avLst/>
          </a:prstGeom>
          <a:noFill/>
          <a:ln/>
        </p:spPr>
        <p:txBody>
          <a:bodyPr wrap="square" rtlCol="0" anchor="ctr"/>
          <a:lstStyle/>
          <a:p>
            <a:pPr algn="l" indent="0" marL="0">
              <a:buNone/>
            </a:pPr>
            <a:r>
              <a:rPr lang="en-US" sz="1200" dirty="0">
                <a:solidFill>
                  <a:srgbClr val="1B2A4A"/>
                </a:solidFill>
                <a:latin typeface="Calibri" pitchFamily="34" charset="0"/>
                <a:ea typeface="Calibri" pitchFamily="34" charset="-122"/>
                <a:cs typeface="Calibri" pitchFamily="34" charset="-120"/>
              </a:rPr>
              <a:t>OLS Hedonic</a:t>
            </a:r>
            <a:endParaRPr lang="en-US" sz="1200" dirty="0"/>
          </a:p>
        </p:txBody>
      </p:sp>
      <p:sp>
        <p:nvSpPr>
          <p:cNvPr id="18" name="Text 15"/>
          <p:cNvSpPr/>
          <p:nvPr/>
        </p:nvSpPr>
        <p:spPr>
          <a:xfrm>
            <a:off x="7223760" y="2011680"/>
            <a:ext cx="73152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0.083</a:t>
            </a:r>
            <a:endParaRPr lang="en-US" sz="1200" dirty="0"/>
          </a:p>
        </p:txBody>
      </p:sp>
      <p:sp>
        <p:nvSpPr>
          <p:cNvPr id="19" name="Text 16"/>
          <p:cNvSpPr/>
          <p:nvPr/>
        </p:nvSpPr>
        <p:spPr>
          <a:xfrm>
            <a:off x="8138160" y="2011680"/>
            <a:ext cx="91440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201.6%</a:t>
            </a:r>
            <a:endParaRPr lang="en-US" sz="1200" dirty="0"/>
          </a:p>
        </p:txBody>
      </p:sp>
      <p:sp>
        <p:nvSpPr>
          <p:cNvPr id="20" name="Text 17"/>
          <p:cNvSpPr/>
          <p:nvPr/>
        </p:nvSpPr>
        <p:spPr>
          <a:xfrm>
            <a:off x="9235440" y="2011680"/>
            <a:ext cx="109728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9.82M</a:t>
            </a:r>
            <a:endParaRPr lang="en-US" sz="1200" dirty="0"/>
          </a:p>
        </p:txBody>
      </p:sp>
      <p:sp>
        <p:nvSpPr>
          <p:cNvPr id="21" name="Text 18"/>
          <p:cNvSpPr/>
          <p:nvPr/>
        </p:nvSpPr>
        <p:spPr>
          <a:xfrm>
            <a:off x="10515600" y="2011680"/>
            <a:ext cx="109728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59.82M</a:t>
            </a:r>
            <a:endParaRPr lang="en-US" sz="1200" dirty="0"/>
          </a:p>
        </p:txBody>
      </p:sp>
      <p:sp>
        <p:nvSpPr>
          <p:cNvPr id="22" name="Shape 19"/>
          <p:cNvSpPr/>
          <p:nvPr/>
        </p:nvSpPr>
        <p:spPr>
          <a:xfrm>
            <a:off x="4937760" y="2606040"/>
            <a:ext cx="6766560" cy="594360"/>
          </a:xfrm>
          <a:prstGeom prst="rect">
            <a:avLst/>
          </a:prstGeom>
          <a:solidFill>
            <a:srgbClr val="F5E6B8"/>
          </a:solidFill>
          <a:ln w="12700">
            <a:solidFill>
              <a:srgbClr val="C9D1DD"/>
            </a:solidFill>
            <a:prstDash val="solid"/>
          </a:ln>
        </p:spPr>
      </p:sp>
      <p:sp>
        <p:nvSpPr>
          <p:cNvPr id="23" name="Shape 20"/>
          <p:cNvSpPr/>
          <p:nvPr/>
        </p:nvSpPr>
        <p:spPr>
          <a:xfrm>
            <a:off x="4937760" y="2606040"/>
            <a:ext cx="91440" cy="594360"/>
          </a:xfrm>
          <a:prstGeom prst="rect">
            <a:avLst/>
          </a:prstGeom>
          <a:solidFill>
            <a:srgbClr val="D4A843"/>
          </a:solidFill>
          <a:ln w="12700">
            <a:solidFill>
              <a:srgbClr val="D4A843"/>
            </a:solidFill>
            <a:prstDash val="solid"/>
          </a:ln>
        </p:spPr>
      </p:sp>
      <p:sp>
        <p:nvSpPr>
          <p:cNvPr id="24" name="Text 21"/>
          <p:cNvSpPr/>
          <p:nvPr/>
        </p:nvSpPr>
        <p:spPr>
          <a:xfrm>
            <a:off x="5029200" y="2606040"/>
            <a:ext cx="2011680" cy="594360"/>
          </a:xfrm>
          <a:prstGeom prst="rect">
            <a:avLst/>
          </a:prstGeom>
          <a:noFill/>
          <a:ln/>
        </p:spPr>
        <p:txBody>
          <a:bodyPr wrap="square" rtlCol="0" anchor="ctr"/>
          <a:lstStyle/>
          <a:p>
            <a:pPr algn="l" indent="0" marL="0">
              <a:buNone/>
            </a:pPr>
            <a:r>
              <a:rPr lang="en-US" sz="1300" b="1" dirty="0">
                <a:solidFill>
                  <a:srgbClr val="1B2A4A"/>
                </a:solidFill>
                <a:latin typeface="Calibri" pitchFamily="34" charset="0"/>
                <a:ea typeface="Calibri" pitchFamily="34" charset="-122"/>
                <a:cs typeface="Calibri" pitchFamily="34" charset="-120"/>
              </a:rPr>
              <a:t>Random Forest (deployed)</a:t>
            </a:r>
            <a:endParaRPr lang="en-US" sz="1300" dirty="0"/>
          </a:p>
        </p:txBody>
      </p:sp>
      <p:sp>
        <p:nvSpPr>
          <p:cNvPr id="25" name="Text 22"/>
          <p:cNvSpPr/>
          <p:nvPr/>
        </p:nvSpPr>
        <p:spPr>
          <a:xfrm>
            <a:off x="7223760" y="2606040"/>
            <a:ext cx="731520" cy="5943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0.807</a:t>
            </a:r>
            <a:endParaRPr lang="en-US" sz="1300" dirty="0"/>
          </a:p>
        </p:txBody>
      </p:sp>
      <p:sp>
        <p:nvSpPr>
          <p:cNvPr id="26" name="Text 23"/>
          <p:cNvSpPr/>
          <p:nvPr/>
        </p:nvSpPr>
        <p:spPr>
          <a:xfrm>
            <a:off x="8138160" y="2606040"/>
            <a:ext cx="914400" cy="5943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59.28%</a:t>
            </a:r>
            <a:endParaRPr lang="en-US" sz="1300" dirty="0"/>
          </a:p>
        </p:txBody>
      </p:sp>
      <p:sp>
        <p:nvSpPr>
          <p:cNvPr id="27" name="Text 24"/>
          <p:cNvSpPr/>
          <p:nvPr/>
        </p:nvSpPr>
        <p:spPr>
          <a:xfrm>
            <a:off x="9235440" y="2606040"/>
            <a:ext cx="1097280" cy="5943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4.95M</a:t>
            </a:r>
            <a:endParaRPr lang="en-US" sz="1300" dirty="0"/>
          </a:p>
        </p:txBody>
      </p:sp>
      <p:sp>
        <p:nvSpPr>
          <p:cNvPr id="28" name="Text 25"/>
          <p:cNvSpPr/>
          <p:nvPr/>
        </p:nvSpPr>
        <p:spPr>
          <a:xfrm>
            <a:off x="10515600" y="2606040"/>
            <a:ext cx="1097280" cy="59436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27.45M</a:t>
            </a:r>
            <a:endParaRPr lang="en-US" sz="1300" dirty="0"/>
          </a:p>
        </p:txBody>
      </p:sp>
      <p:sp>
        <p:nvSpPr>
          <p:cNvPr id="29" name="Shape 26"/>
          <p:cNvSpPr/>
          <p:nvPr/>
        </p:nvSpPr>
        <p:spPr>
          <a:xfrm>
            <a:off x="4937760" y="3200400"/>
            <a:ext cx="6766560" cy="594360"/>
          </a:xfrm>
          <a:prstGeom prst="rect">
            <a:avLst/>
          </a:prstGeom>
          <a:solidFill>
            <a:srgbClr val="FFFFFF"/>
          </a:solidFill>
          <a:ln w="12700">
            <a:solidFill>
              <a:srgbClr val="C9D1DD"/>
            </a:solidFill>
            <a:prstDash val="solid"/>
          </a:ln>
        </p:spPr>
      </p:sp>
      <p:sp>
        <p:nvSpPr>
          <p:cNvPr id="30" name="Text 27"/>
          <p:cNvSpPr/>
          <p:nvPr/>
        </p:nvSpPr>
        <p:spPr>
          <a:xfrm>
            <a:off x="5029200" y="3200400"/>
            <a:ext cx="2011680" cy="594360"/>
          </a:xfrm>
          <a:prstGeom prst="rect">
            <a:avLst/>
          </a:prstGeom>
          <a:noFill/>
          <a:ln/>
        </p:spPr>
        <p:txBody>
          <a:bodyPr wrap="square" rtlCol="0" anchor="ctr"/>
          <a:lstStyle/>
          <a:p>
            <a:pPr algn="l" indent="0" marL="0">
              <a:buNone/>
            </a:pPr>
            <a:r>
              <a:rPr lang="en-US" sz="1200" dirty="0">
                <a:solidFill>
                  <a:srgbClr val="1B2A4A"/>
                </a:solidFill>
                <a:latin typeface="Calibri" pitchFamily="34" charset="0"/>
                <a:ea typeface="Calibri" pitchFamily="34" charset="-122"/>
                <a:cs typeface="Calibri" pitchFamily="34" charset="-120"/>
              </a:rPr>
              <a:t>XGBoost (tuned)</a:t>
            </a:r>
            <a:endParaRPr lang="en-US" sz="1200" dirty="0"/>
          </a:p>
        </p:txBody>
      </p:sp>
      <p:sp>
        <p:nvSpPr>
          <p:cNvPr id="31" name="Text 28"/>
          <p:cNvSpPr/>
          <p:nvPr/>
        </p:nvSpPr>
        <p:spPr>
          <a:xfrm>
            <a:off x="7223760" y="3200400"/>
            <a:ext cx="73152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0.557</a:t>
            </a:r>
            <a:endParaRPr lang="en-US" sz="1200" dirty="0"/>
          </a:p>
        </p:txBody>
      </p:sp>
      <p:sp>
        <p:nvSpPr>
          <p:cNvPr id="32" name="Text 29"/>
          <p:cNvSpPr/>
          <p:nvPr/>
        </p:nvSpPr>
        <p:spPr>
          <a:xfrm>
            <a:off x="8138160" y="3200400"/>
            <a:ext cx="91440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58.93%</a:t>
            </a:r>
            <a:endParaRPr lang="en-US" sz="1200" dirty="0"/>
          </a:p>
        </p:txBody>
      </p:sp>
      <p:sp>
        <p:nvSpPr>
          <p:cNvPr id="33" name="Text 30"/>
          <p:cNvSpPr/>
          <p:nvPr/>
        </p:nvSpPr>
        <p:spPr>
          <a:xfrm>
            <a:off x="9235440" y="3200400"/>
            <a:ext cx="109728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6.06M</a:t>
            </a:r>
            <a:endParaRPr lang="en-US" sz="1200" dirty="0"/>
          </a:p>
        </p:txBody>
      </p:sp>
      <p:sp>
        <p:nvSpPr>
          <p:cNvPr id="34" name="Text 31"/>
          <p:cNvSpPr/>
          <p:nvPr/>
        </p:nvSpPr>
        <p:spPr>
          <a:xfrm>
            <a:off x="10515600" y="3200400"/>
            <a:ext cx="1097280" cy="594360"/>
          </a:xfrm>
          <a:prstGeom prst="rect">
            <a:avLst/>
          </a:prstGeom>
          <a:noFill/>
          <a:ln/>
        </p:spPr>
        <p:txBody>
          <a:bodyPr wrap="square" rtlCol="0" anchor="ctr"/>
          <a:lstStyle/>
          <a:p>
            <a:pPr algn="ctr" indent="0" marL="0">
              <a:buNone/>
            </a:pPr>
            <a:r>
              <a:rPr lang="en-US" sz="1200" dirty="0">
                <a:solidFill>
                  <a:srgbClr val="1B2A4A"/>
                </a:solidFill>
                <a:latin typeface="Calibri" pitchFamily="34" charset="0"/>
                <a:ea typeface="Calibri" pitchFamily="34" charset="-122"/>
                <a:cs typeface="Calibri" pitchFamily="34" charset="-120"/>
              </a:rPr>
              <a:t>41.58M</a:t>
            </a:r>
            <a:endParaRPr lang="en-US" sz="1200" dirty="0"/>
          </a:p>
        </p:txBody>
      </p:sp>
      <p:sp>
        <p:nvSpPr>
          <p:cNvPr id="35" name="Shape 32"/>
          <p:cNvSpPr/>
          <p:nvPr/>
        </p:nvSpPr>
        <p:spPr>
          <a:xfrm>
            <a:off x="548640" y="4297680"/>
            <a:ext cx="11064240" cy="2011680"/>
          </a:xfrm>
          <a:prstGeom prst="rect">
            <a:avLst/>
          </a:prstGeom>
          <a:solidFill>
            <a:srgbClr val="EEF1F6"/>
          </a:solidFill>
          <a:ln w="12700">
            <a:solidFill>
              <a:srgbClr val="EEF1F6"/>
            </a:solidFill>
            <a:prstDash val="solid"/>
          </a:ln>
        </p:spPr>
      </p:sp>
      <p:sp>
        <p:nvSpPr>
          <p:cNvPr id="36" name="Text 33"/>
          <p:cNvSpPr/>
          <p:nvPr/>
        </p:nvSpPr>
        <p:spPr>
          <a:xfrm>
            <a:off x="777240" y="4434840"/>
            <a:ext cx="10607040" cy="27432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WHY BASELINE BEATS TUNED</a:t>
            </a:r>
            <a:endParaRPr lang="en-US" sz="1100" dirty="0"/>
          </a:p>
        </p:txBody>
      </p:sp>
      <p:sp>
        <p:nvSpPr>
          <p:cNvPr id="37" name="Text 34"/>
          <p:cNvSpPr/>
          <p:nvPr/>
        </p:nvSpPr>
        <p:spPr>
          <a:xfrm>
            <a:off x="868680" y="4709160"/>
            <a:ext cx="10515600" cy="1554480"/>
          </a:xfrm>
          <a:prstGeom prst="rect">
            <a:avLst/>
          </a:prstGeom>
          <a:noFill/>
          <a:ln/>
        </p:spPr>
        <p:txBody>
          <a:bodyPr wrap="square" rtlCol="0" anchor="t"/>
          <a:lstStyle/>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Sample size (1,212 train rows) is the binding constraint, not configuration.</a:t>
            </a:r>
            <a:endParaRPr lang="en-US" sz="1300" dirty="0"/>
          </a:p>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5-fold CV on small N: fold variance dominates signal variance. Tuned parameters overfit to fold structure.</a:t>
            </a:r>
            <a:endParaRPr lang="en-US" sz="1300" dirty="0"/>
          </a:p>
          <a:p>
            <a:pPr marL="342900" indent="-342900">
              <a:spcAft>
                <a:spcPts val="400"/>
              </a:spcAft>
              <a:buSzPct val="100000"/>
              <a:buChar char="●"/>
            </a:pPr>
            <a:r>
              <a:rPr lang="en-US" sz="1300" dirty="0">
                <a:solidFill>
                  <a:srgbClr val="1B2A4A"/>
                </a:solidFill>
                <a:latin typeface="Calibri" pitchFamily="34" charset="0"/>
                <a:ea typeface="Calibri" pitchFamily="34" charset="-122"/>
                <a:cs typeface="Calibri" pitchFamily="34" charset="-120"/>
              </a:rPr>
              <a:t>Decision 25 confirmation: even with baseline params explicitly in search space, tuning did not win.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Random Forest: Actual vs. Predicted</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7315200" cy="4754880"/>
          </a:xfrm>
          <a:prstGeom prst="roundRect">
            <a:avLst>
              <a:gd name="adj" fmla="val 1538"/>
            </a:avLst>
          </a:prstGeom>
          <a:solidFill>
            <a:srgbClr val="EEF1F6"/>
          </a:solidFill>
          <a:ln w="12700">
            <a:solidFill>
              <a:srgbClr val="C9D1DD"/>
            </a:solidFill>
            <a:prstDash val="solid"/>
          </a:ln>
        </p:spPr>
      </p:sp>
      <p:sp>
        <p:nvSpPr>
          <p:cNvPr id="8" name="Text 5"/>
          <p:cNvSpPr/>
          <p:nvPr/>
        </p:nvSpPr>
        <p:spPr>
          <a:xfrm>
            <a:off x="548640" y="1828800"/>
            <a:ext cx="7315200" cy="365760"/>
          </a:xfrm>
          <a:prstGeom prst="rect">
            <a:avLst/>
          </a:prstGeom>
          <a:noFill/>
          <a:ln/>
        </p:spPr>
        <p:txBody>
          <a:bodyPr wrap="square" rtlCol="0" anchor="ctr"/>
          <a:lstStyle/>
          <a:p>
            <a:pPr algn="ctr" indent="0" marL="0">
              <a:buNone/>
            </a:pPr>
            <a:r>
              <a:rPr lang="en-US" sz="1100" b="1" spc="300" kern="0" dirty="0">
                <a:solidFill>
                  <a:srgbClr val="D4A843"/>
                </a:solidFill>
                <a:latin typeface="Calibri" pitchFamily="34" charset="0"/>
                <a:ea typeface="Calibri" pitchFamily="34" charset="-122"/>
                <a:cs typeface="Calibri" pitchFamily="34" charset="-120"/>
              </a:rPr>
              <a:t>[ DIAGRAM TO ADD ]</a:t>
            </a:r>
            <a:endParaRPr lang="en-US" sz="1100" dirty="0"/>
          </a:p>
        </p:txBody>
      </p:sp>
      <p:sp>
        <p:nvSpPr>
          <p:cNvPr id="9" name="Text 6"/>
          <p:cNvSpPr/>
          <p:nvPr/>
        </p:nvSpPr>
        <p:spPr>
          <a:xfrm>
            <a:off x="548640" y="2194560"/>
            <a:ext cx="7315200" cy="4572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RF Actual vs. Predicted Scatter</a:t>
            </a:r>
            <a:endParaRPr lang="en-US" sz="1800" dirty="0"/>
          </a:p>
        </p:txBody>
      </p:sp>
      <p:sp>
        <p:nvSpPr>
          <p:cNvPr id="10" name="Text 7"/>
          <p:cNvSpPr/>
          <p:nvPr/>
        </p:nvSpPr>
        <p:spPr>
          <a:xfrm>
            <a:off x="914400" y="2926080"/>
            <a:ext cx="6583680" cy="320040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Source: thesis_main/EDA/ (existing manuscript Chapter 7 figure)</a:t>
            </a:r>
            <a:endParaRPr lang="en-US" sz="1200" dirty="0"/>
          </a:p>
          <a:p>
            <a:pPr algn="ctr" indent="0" marL="0">
              <a:buNone/>
            </a:pP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x-axis: actual price (PHP) · y-axis: predicted price (PHP)</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Diagonal reference line · 299 held-out test points</a:t>
            </a:r>
            <a:endParaRPr lang="en-US" sz="1200" dirty="0"/>
          </a:p>
        </p:txBody>
      </p:sp>
      <p:sp>
        <p:nvSpPr>
          <p:cNvPr id="11" name="Shape 8"/>
          <p:cNvSpPr/>
          <p:nvPr/>
        </p:nvSpPr>
        <p:spPr>
          <a:xfrm>
            <a:off x="8138160" y="1554480"/>
            <a:ext cx="109728" cy="4754880"/>
          </a:xfrm>
          <a:prstGeom prst="rect">
            <a:avLst/>
          </a:prstGeom>
          <a:solidFill>
            <a:srgbClr val="D4A843"/>
          </a:solidFill>
          <a:ln w="12700">
            <a:solidFill>
              <a:srgbClr val="D4A843"/>
            </a:solidFill>
            <a:prstDash val="solid"/>
          </a:ln>
        </p:spPr>
      </p:sp>
      <p:sp>
        <p:nvSpPr>
          <p:cNvPr id="12" name="Text 9"/>
          <p:cNvSpPr/>
          <p:nvPr/>
        </p:nvSpPr>
        <p:spPr>
          <a:xfrm>
            <a:off x="8412480" y="1554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INTERPRETATION</a:t>
            </a:r>
            <a:endParaRPr lang="en-US" sz="1100" dirty="0"/>
          </a:p>
        </p:txBody>
      </p:sp>
      <p:sp>
        <p:nvSpPr>
          <p:cNvPr id="13" name="Text 10"/>
          <p:cNvSpPr/>
          <p:nvPr/>
        </p:nvSpPr>
        <p:spPr>
          <a:xfrm>
            <a:off x="8412480" y="1920240"/>
            <a:ext cx="3291840" cy="4389120"/>
          </a:xfrm>
          <a:prstGeom prst="rect">
            <a:avLst/>
          </a:prstGeom>
          <a:noFill/>
          <a:ln/>
        </p:spPr>
        <p:txBody>
          <a:bodyPr wrap="square" rtlCol="0" anchor="t"/>
          <a:lstStyle/>
          <a:p>
            <a:pPr marL="342900" indent="-342900">
              <a:spcAft>
                <a:spcPts val="1000"/>
              </a:spcAft>
              <a:buSzPct val="100000"/>
              <a:buChar char="●"/>
            </a:pPr>
            <a:r>
              <a:rPr lang="en-US" sz="1300" dirty="0">
                <a:solidFill>
                  <a:srgbClr val="2C3E50"/>
                </a:solidFill>
                <a:latin typeface="Calibri" pitchFamily="34" charset="0"/>
                <a:ea typeface="Calibri" pitchFamily="34" charset="-122"/>
                <a:cs typeface="Calibri" pitchFamily="34" charset="-120"/>
              </a:rPr>
              <a:t>Tightest cluster below PHP 10M — where the listing data is densest.</a:t>
            </a:r>
            <a:endParaRPr lang="en-US" sz="1300" dirty="0"/>
          </a:p>
          <a:p>
            <a:pPr marL="342900" indent="-342900">
              <a:spcAft>
                <a:spcPts val="1000"/>
              </a:spcAft>
              <a:buSzPct val="100000"/>
              <a:buChar char="●"/>
            </a:pPr>
            <a:r>
              <a:rPr lang="en-US" sz="1300" dirty="0">
                <a:solidFill>
                  <a:srgbClr val="2C3E50"/>
                </a:solidFill>
                <a:latin typeface="Calibri" pitchFamily="34" charset="0"/>
                <a:ea typeface="Calibri" pitchFamily="34" charset="-122"/>
                <a:cs typeface="Calibri" pitchFamily="34" charset="-120"/>
              </a:rPr>
              <a:t>Higher dispersion above PHP 20M — luxury tier where listings thin out.</a:t>
            </a:r>
            <a:endParaRPr lang="en-US" sz="1300" dirty="0"/>
          </a:p>
          <a:p>
            <a:pPr marL="342900" indent="-342900">
              <a:spcAft>
                <a:spcPts val="1000"/>
              </a:spcAft>
              <a:buSzPct val="100000"/>
              <a:buChar char="●"/>
            </a:pPr>
            <a:r>
              <a:rPr lang="en-US" sz="1300" dirty="0">
                <a:solidFill>
                  <a:srgbClr val="2C3E50"/>
                </a:solidFill>
                <a:latin typeface="Calibri" pitchFamily="34" charset="0"/>
                <a:ea typeface="Calibri" pitchFamily="34" charset="-122"/>
                <a:cs typeface="Calibri" pitchFamily="34" charset="-120"/>
              </a:rPr>
              <a:t>299 held-out test properties.</a:t>
            </a:r>
            <a:endParaRPr lang="en-US" sz="1300" dirty="0"/>
          </a:p>
          <a:p>
            <a:pPr marL="342900" indent="-342900">
              <a:spcAft>
                <a:spcPts val="1000"/>
              </a:spcAft>
              <a:buSzPct val="100000"/>
              <a:buChar char="●"/>
            </a:pPr>
            <a:r>
              <a:rPr lang="en-US" sz="1300" dirty="0">
                <a:solidFill>
                  <a:srgbClr val="2C3E50"/>
                </a:solidFill>
                <a:latin typeface="Calibri" pitchFamily="34" charset="0"/>
                <a:ea typeface="Calibri" pitchFamily="34" charset="-122"/>
                <a:cs typeface="Calibri" pitchFamily="34" charset="-120"/>
              </a:rPr>
              <a:t>Random_state = 42 for reproducibility.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SHAP Top 10 Features (Random Forest)</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Text 4"/>
          <p:cNvSpPr/>
          <p:nvPr/>
        </p:nvSpPr>
        <p:spPr>
          <a:xfrm>
            <a:off x="548640" y="1554480"/>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1</a:t>
            </a:r>
            <a:endParaRPr lang="en-US" sz="1400" dirty="0"/>
          </a:p>
        </p:txBody>
      </p:sp>
      <p:sp>
        <p:nvSpPr>
          <p:cNvPr id="8" name="Shape 5"/>
          <p:cNvSpPr/>
          <p:nvPr/>
        </p:nvSpPr>
        <p:spPr>
          <a:xfrm>
            <a:off x="1188720" y="1627632"/>
            <a:ext cx="6400800" cy="292608"/>
          </a:xfrm>
          <a:prstGeom prst="rect">
            <a:avLst/>
          </a:prstGeom>
          <a:solidFill>
            <a:srgbClr val="EEF1F6"/>
          </a:solidFill>
          <a:ln w="12700">
            <a:solidFill>
              <a:srgbClr val="EEF1F6"/>
            </a:solidFill>
            <a:prstDash val="solid"/>
          </a:ln>
        </p:spPr>
      </p:sp>
      <p:sp>
        <p:nvSpPr>
          <p:cNvPr id="9" name="Shape 6"/>
          <p:cNvSpPr/>
          <p:nvPr/>
        </p:nvSpPr>
        <p:spPr>
          <a:xfrm>
            <a:off x="1188720" y="1627632"/>
            <a:ext cx="6400800" cy="292608"/>
          </a:xfrm>
          <a:prstGeom prst="rect">
            <a:avLst/>
          </a:prstGeom>
          <a:solidFill>
            <a:srgbClr val="1B2A4A"/>
          </a:solidFill>
          <a:ln w="12700">
            <a:solidFill>
              <a:srgbClr val="1B2A4A"/>
            </a:solidFill>
            <a:prstDash val="solid"/>
          </a:ln>
        </p:spPr>
      </p:sp>
      <p:sp>
        <p:nvSpPr>
          <p:cNvPr id="10" name="Text 7"/>
          <p:cNvSpPr/>
          <p:nvPr/>
        </p:nvSpPr>
        <p:spPr>
          <a:xfrm>
            <a:off x="1325880" y="1554480"/>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property_type_Single Detached</a:t>
            </a:r>
            <a:endParaRPr lang="en-US" sz="1200" dirty="0"/>
          </a:p>
        </p:txBody>
      </p:sp>
      <p:sp>
        <p:nvSpPr>
          <p:cNvPr id="11" name="Shape 8"/>
          <p:cNvSpPr/>
          <p:nvPr/>
        </p:nvSpPr>
        <p:spPr>
          <a:xfrm>
            <a:off x="7772400" y="1627632"/>
            <a:ext cx="1645920" cy="292608"/>
          </a:xfrm>
          <a:prstGeom prst="rect">
            <a:avLst/>
          </a:prstGeom>
          <a:solidFill>
            <a:srgbClr val="EEF1F6"/>
          </a:solidFill>
          <a:ln w="12700">
            <a:solidFill>
              <a:srgbClr val="EEF1F6"/>
            </a:solidFill>
            <a:prstDash val="solid"/>
          </a:ln>
        </p:spPr>
      </p:sp>
      <p:sp>
        <p:nvSpPr>
          <p:cNvPr id="12" name="Text 9"/>
          <p:cNvSpPr/>
          <p:nvPr/>
        </p:nvSpPr>
        <p:spPr>
          <a:xfrm>
            <a:off x="7772400" y="1627632"/>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13" name="Text 10"/>
          <p:cNvSpPr/>
          <p:nvPr/>
        </p:nvSpPr>
        <p:spPr>
          <a:xfrm>
            <a:off x="548640" y="1993392"/>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2</a:t>
            </a:r>
            <a:endParaRPr lang="en-US" sz="1400" dirty="0"/>
          </a:p>
        </p:txBody>
      </p:sp>
      <p:sp>
        <p:nvSpPr>
          <p:cNvPr id="14" name="Shape 11"/>
          <p:cNvSpPr/>
          <p:nvPr/>
        </p:nvSpPr>
        <p:spPr>
          <a:xfrm>
            <a:off x="1188720" y="2066544"/>
            <a:ext cx="6400800" cy="292608"/>
          </a:xfrm>
          <a:prstGeom prst="rect">
            <a:avLst/>
          </a:prstGeom>
          <a:solidFill>
            <a:srgbClr val="EEF1F6"/>
          </a:solidFill>
          <a:ln w="12700">
            <a:solidFill>
              <a:srgbClr val="EEF1F6"/>
            </a:solidFill>
            <a:prstDash val="solid"/>
          </a:ln>
        </p:spPr>
      </p:sp>
      <p:sp>
        <p:nvSpPr>
          <p:cNvPr id="15" name="Shape 12"/>
          <p:cNvSpPr/>
          <p:nvPr/>
        </p:nvSpPr>
        <p:spPr>
          <a:xfrm>
            <a:off x="1188720" y="2066544"/>
            <a:ext cx="5504688" cy="292608"/>
          </a:xfrm>
          <a:prstGeom prst="rect">
            <a:avLst/>
          </a:prstGeom>
          <a:solidFill>
            <a:srgbClr val="1B2A4A"/>
          </a:solidFill>
          <a:ln w="12700">
            <a:solidFill>
              <a:srgbClr val="1B2A4A"/>
            </a:solidFill>
            <a:prstDash val="solid"/>
          </a:ln>
        </p:spPr>
      </p:sp>
      <p:sp>
        <p:nvSpPr>
          <p:cNvPr id="16" name="Text 13"/>
          <p:cNvSpPr/>
          <p:nvPr/>
        </p:nvSpPr>
        <p:spPr>
          <a:xfrm>
            <a:off x="1325880" y="1993392"/>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property_type_Condominium</a:t>
            </a:r>
            <a:endParaRPr lang="en-US" sz="1200" dirty="0"/>
          </a:p>
        </p:txBody>
      </p:sp>
      <p:sp>
        <p:nvSpPr>
          <p:cNvPr id="17" name="Shape 14"/>
          <p:cNvSpPr/>
          <p:nvPr/>
        </p:nvSpPr>
        <p:spPr>
          <a:xfrm>
            <a:off x="7772400" y="2066544"/>
            <a:ext cx="1645920" cy="292608"/>
          </a:xfrm>
          <a:prstGeom prst="rect">
            <a:avLst/>
          </a:prstGeom>
          <a:solidFill>
            <a:srgbClr val="EEF1F6"/>
          </a:solidFill>
          <a:ln w="12700">
            <a:solidFill>
              <a:srgbClr val="EEF1F6"/>
            </a:solidFill>
            <a:prstDash val="solid"/>
          </a:ln>
        </p:spPr>
      </p:sp>
      <p:sp>
        <p:nvSpPr>
          <p:cNvPr id="18" name="Text 15"/>
          <p:cNvSpPr/>
          <p:nvPr/>
        </p:nvSpPr>
        <p:spPr>
          <a:xfrm>
            <a:off x="7772400" y="2066544"/>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19" name="Text 16"/>
          <p:cNvSpPr/>
          <p:nvPr/>
        </p:nvSpPr>
        <p:spPr>
          <a:xfrm>
            <a:off x="548640" y="2432304"/>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3</a:t>
            </a:r>
            <a:endParaRPr lang="en-US" sz="1400" dirty="0"/>
          </a:p>
        </p:txBody>
      </p:sp>
      <p:sp>
        <p:nvSpPr>
          <p:cNvPr id="20" name="Shape 17"/>
          <p:cNvSpPr/>
          <p:nvPr/>
        </p:nvSpPr>
        <p:spPr>
          <a:xfrm>
            <a:off x="1188720" y="2505456"/>
            <a:ext cx="6400800" cy="292608"/>
          </a:xfrm>
          <a:prstGeom prst="rect">
            <a:avLst/>
          </a:prstGeom>
          <a:solidFill>
            <a:srgbClr val="EEF1F6"/>
          </a:solidFill>
          <a:ln w="12700">
            <a:solidFill>
              <a:srgbClr val="EEF1F6"/>
            </a:solidFill>
            <a:prstDash val="solid"/>
          </a:ln>
        </p:spPr>
      </p:sp>
      <p:sp>
        <p:nvSpPr>
          <p:cNvPr id="21" name="Shape 18"/>
          <p:cNvSpPr/>
          <p:nvPr/>
        </p:nvSpPr>
        <p:spPr>
          <a:xfrm>
            <a:off x="1188720" y="2505456"/>
            <a:ext cx="4608576" cy="292608"/>
          </a:xfrm>
          <a:prstGeom prst="rect">
            <a:avLst/>
          </a:prstGeom>
          <a:solidFill>
            <a:srgbClr val="1B2A4A"/>
          </a:solidFill>
          <a:ln w="12700">
            <a:solidFill>
              <a:srgbClr val="1B2A4A"/>
            </a:solidFill>
            <a:prstDash val="solid"/>
          </a:ln>
        </p:spPr>
      </p:sp>
      <p:sp>
        <p:nvSpPr>
          <p:cNvPr id="22" name="Text 19"/>
          <p:cNvSpPr/>
          <p:nvPr/>
        </p:nvSpPr>
        <p:spPr>
          <a:xfrm>
            <a:off x="1325880" y="2432304"/>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bedrooms</a:t>
            </a:r>
            <a:endParaRPr lang="en-US" sz="1200" dirty="0"/>
          </a:p>
        </p:txBody>
      </p:sp>
      <p:sp>
        <p:nvSpPr>
          <p:cNvPr id="23" name="Shape 20"/>
          <p:cNvSpPr/>
          <p:nvPr/>
        </p:nvSpPr>
        <p:spPr>
          <a:xfrm>
            <a:off x="7772400" y="2505456"/>
            <a:ext cx="1645920" cy="292608"/>
          </a:xfrm>
          <a:prstGeom prst="rect">
            <a:avLst/>
          </a:prstGeom>
          <a:solidFill>
            <a:srgbClr val="EEF1F6"/>
          </a:solidFill>
          <a:ln w="12700">
            <a:solidFill>
              <a:srgbClr val="EEF1F6"/>
            </a:solidFill>
            <a:prstDash val="solid"/>
          </a:ln>
        </p:spPr>
      </p:sp>
      <p:sp>
        <p:nvSpPr>
          <p:cNvPr id="24" name="Text 21"/>
          <p:cNvSpPr/>
          <p:nvPr/>
        </p:nvSpPr>
        <p:spPr>
          <a:xfrm>
            <a:off x="7772400" y="2505456"/>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25" name="Text 22"/>
          <p:cNvSpPr/>
          <p:nvPr/>
        </p:nvSpPr>
        <p:spPr>
          <a:xfrm>
            <a:off x="548640" y="2871216"/>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4</a:t>
            </a:r>
            <a:endParaRPr lang="en-US" sz="1400" dirty="0"/>
          </a:p>
        </p:txBody>
      </p:sp>
      <p:sp>
        <p:nvSpPr>
          <p:cNvPr id="26" name="Shape 23"/>
          <p:cNvSpPr/>
          <p:nvPr/>
        </p:nvSpPr>
        <p:spPr>
          <a:xfrm>
            <a:off x="1188720" y="2944368"/>
            <a:ext cx="6400800" cy="292608"/>
          </a:xfrm>
          <a:prstGeom prst="rect">
            <a:avLst/>
          </a:prstGeom>
          <a:solidFill>
            <a:srgbClr val="EEF1F6"/>
          </a:solidFill>
          <a:ln w="12700">
            <a:solidFill>
              <a:srgbClr val="EEF1F6"/>
            </a:solidFill>
            <a:prstDash val="solid"/>
          </a:ln>
        </p:spPr>
      </p:sp>
      <p:sp>
        <p:nvSpPr>
          <p:cNvPr id="27" name="Shape 24"/>
          <p:cNvSpPr/>
          <p:nvPr/>
        </p:nvSpPr>
        <p:spPr>
          <a:xfrm>
            <a:off x="1188720" y="2944368"/>
            <a:ext cx="4160520" cy="292608"/>
          </a:xfrm>
          <a:prstGeom prst="rect">
            <a:avLst/>
          </a:prstGeom>
          <a:solidFill>
            <a:srgbClr val="D4A843"/>
          </a:solidFill>
          <a:ln w="12700">
            <a:solidFill>
              <a:srgbClr val="D4A843"/>
            </a:solidFill>
            <a:prstDash val="solid"/>
          </a:ln>
        </p:spPr>
      </p:sp>
      <p:sp>
        <p:nvSpPr>
          <p:cNvPr id="28" name="Text 25"/>
          <p:cNvSpPr/>
          <p:nvPr/>
        </p:nvSpPr>
        <p:spPr>
          <a:xfrm>
            <a:off x="1325880" y="2871216"/>
            <a:ext cx="612648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dist_consolacion_m</a:t>
            </a:r>
            <a:endParaRPr lang="en-US" sz="1200" dirty="0"/>
          </a:p>
        </p:txBody>
      </p:sp>
      <p:sp>
        <p:nvSpPr>
          <p:cNvPr id="29" name="Shape 26"/>
          <p:cNvSpPr/>
          <p:nvPr/>
        </p:nvSpPr>
        <p:spPr>
          <a:xfrm>
            <a:off x="7772400" y="2944368"/>
            <a:ext cx="1645920" cy="292608"/>
          </a:xfrm>
          <a:prstGeom prst="rect">
            <a:avLst/>
          </a:prstGeom>
          <a:solidFill>
            <a:srgbClr val="D4A843"/>
          </a:solidFill>
          <a:ln w="12700">
            <a:solidFill>
              <a:srgbClr val="D4A843"/>
            </a:solidFill>
            <a:prstDash val="solid"/>
          </a:ln>
        </p:spPr>
      </p:sp>
      <p:sp>
        <p:nvSpPr>
          <p:cNvPr id="30" name="Text 27"/>
          <p:cNvSpPr/>
          <p:nvPr/>
        </p:nvSpPr>
        <p:spPr>
          <a:xfrm>
            <a:off x="7772400" y="2944368"/>
            <a:ext cx="1645920" cy="292608"/>
          </a:xfrm>
          <a:prstGeom prst="rect">
            <a:avLst/>
          </a:prstGeom>
          <a:noFill/>
          <a:ln/>
        </p:spPr>
        <p:txBody>
          <a:bodyPr wrap="square" rtlCol="0" anchor="ctr"/>
          <a:lstStyle/>
          <a:p>
            <a:pPr algn="ctr" indent="0" marL="0">
              <a:buNone/>
            </a:pPr>
            <a:r>
              <a:rPr lang="en-US" sz="900" b="1" spc="100" kern="0" dirty="0">
                <a:solidFill>
                  <a:srgbClr val="1B2A4A"/>
                </a:solidFill>
                <a:latin typeface="Calibri" pitchFamily="34" charset="0"/>
                <a:ea typeface="Calibri" pitchFamily="34" charset="-122"/>
                <a:cs typeface="Calibri" pitchFamily="34" charset="-120"/>
              </a:rPr>
              <a:t>CBD DISTANCE</a:t>
            </a:r>
            <a:endParaRPr lang="en-US" sz="900" dirty="0"/>
          </a:p>
        </p:txBody>
      </p:sp>
      <p:sp>
        <p:nvSpPr>
          <p:cNvPr id="31" name="Text 28"/>
          <p:cNvSpPr/>
          <p:nvPr/>
        </p:nvSpPr>
        <p:spPr>
          <a:xfrm>
            <a:off x="548640" y="3310128"/>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5</a:t>
            </a:r>
            <a:endParaRPr lang="en-US" sz="1400" dirty="0"/>
          </a:p>
        </p:txBody>
      </p:sp>
      <p:sp>
        <p:nvSpPr>
          <p:cNvPr id="32" name="Shape 29"/>
          <p:cNvSpPr/>
          <p:nvPr/>
        </p:nvSpPr>
        <p:spPr>
          <a:xfrm>
            <a:off x="1188720" y="3383280"/>
            <a:ext cx="6400800" cy="292608"/>
          </a:xfrm>
          <a:prstGeom prst="rect">
            <a:avLst/>
          </a:prstGeom>
          <a:solidFill>
            <a:srgbClr val="EEF1F6"/>
          </a:solidFill>
          <a:ln w="12700">
            <a:solidFill>
              <a:srgbClr val="EEF1F6"/>
            </a:solidFill>
            <a:prstDash val="solid"/>
          </a:ln>
        </p:spPr>
      </p:sp>
      <p:sp>
        <p:nvSpPr>
          <p:cNvPr id="33" name="Shape 30"/>
          <p:cNvSpPr/>
          <p:nvPr/>
        </p:nvSpPr>
        <p:spPr>
          <a:xfrm>
            <a:off x="1188720" y="3383280"/>
            <a:ext cx="3712464" cy="292608"/>
          </a:xfrm>
          <a:prstGeom prst="rect">
            <a:avLst/>
          </a:prstGeom>
          <a:solidFill>
            <a:srgbClr val="1B2A4A"/>
          </a:solidFill>
          <a:ln w="12700">
            <a:solidFill>
              <a:srgbClr val="1B2A4A"/>
            </a:solidFill>
            <a:prstDash val="solid"/>
          </a:ln>
        </p:spPr>
      </p:sp>
      <p:sp>
        <p:nvSpPr>
          <p:cNvPr id="34" name="Text 31"/>
          <p:cNvSpPr/>
          <p:nvPr/>
        </p:nvSpPr>
        <p:spPr>
          <a:xfrm>
            <a:off x="1325880" y="3310128"/>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city_Mandaue City</a:t>
            </a:r>
            <a:endParaRPr lang="en-US" sz="1200" dirty="0"/>
          </a:p>
        </p:txBody>
      </p:sp>
      <p:sp>
        <p:nvSpPr>
          <p:cNvPr id="35" name="Shape 32"/>
          <p:cNvSpPr/>
          <p:nvPr/>
        </p:nvSpPr>
        <p:spPr>
          <a:xfrm>
            <a:off x="7772400" y="3383280"/>
            <a:ext cx="1645920" cy="292608"/>
          </a:xfrm>
          <a:prstGeom prst="rect">
            <a:avLst/>
          </a:prstGeom>
          <a:solidFill>
            <a:srgbClr val="EEF1F6"/>
          </a:solidFill>
          <a:ln w="12700">
            <a:solidFill>
              <a:srgbClr val="EEF1F6"/>
            </a:solidFill>
            <a:prstDash val="solid"/>
          </a:ln>
        </p:spPr>
      </p:sp>
      <p:sp>
        <p:nvSpPr>
          <p:cNvPr id="36" name="Text 33"/>
          <p:cNvSpPr/>
          <p:nvPr/>
        </p:nvSpPr>
        <p:spPr>
          <a:xfrm>
            <a:off x="7772400" y="3383280"/>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37" name="Text 34"/>
          <p:cNvSpPr/>
          <p:nvPr/>
        </p:nvSpPr>
        <p:spPr>
          <a:xfrm>
            <a:off x="548640" y="3749040"/>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6</a:t>
            </a:r>
            <a:endParaRPr lang="en-US" sz="1400" dirty="0"/>
          </a:p>
        </p:txBody>
      </p:sp>
      <p:sp>
        <p:nvSpPr>
          <p:cNvPr id="38" name="Shape 35"/>
          <p:cNvSpPr/>
          <p:nvPr/>
        </p:nvSpPr>
        <p:spPr>
          <a:xfrm>
            <a:off x="1188720" y="3822192"/>
            <a:ext cx="6400800" cy="292608"/>
          </a:xfrm>
          <a:prstGeom prst="rect">
            <a:avLst/>
          </a:prstGeom>
          <a:solidFill>
            <a:srgbClr val="EEF1F6"/>
          </a:solidFill>
          <a:ln w="12700">
            <a:solidFill>
              <a:srgbClr val="EEF1F6"/>
            </a:solidFill>
            <a:prstDash val="solid"/>
          </a:ln>
        </p:spPr>
      </p:sp>
      <p:sp>
        <p:nvSpPr>
          <p:cNvPr id="39" name="Shape 36"/>
          <p:cNvSpPr/>
          <p:nvPr/>
        </p:nvSpPr>
        <p:spPr>
          <a:xfrm>
            <a:off x="1188720" y="3822192"/>
            <a:ext cx="3328416" cy="292608"/>
          </a:xfrm>
          <a:prstGeom prst="rect">
            <a:avLst/>
          </a:prstGeom>
          <a:solidFill>
            <a:srgbClr val="1B2A4A"/>
          </a:solidFill>
          <a:ln w="12700">
            <a:solidFill>
              <a:srgbClr val="1B2A4A"/>
            </a:solidFill>
            <a:prstDash val="solid"/>
          </a:ln>
        </p:spPr>
      </p:sp>
      <p:sp>
        <p:nvSpPr>
          <p:cNvPr id="40" name="Text 37"/>
          <p:cNvSpPr/>
          <p:nvPr/>
        </p:nvSpPr>
        <p:spPr>
          <a:xfrm>
            <a:off x="1325880" y="3749040"/>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is_vacant_lot</a:t>
            </a:r>
            <a:endParaRPr lang="en-US" sz="1200" dirty="0"/>
          </a:p>
        </p:txBody>
      </p:sp>
      <p:sp>
        <p:nvSpPr>
          <p:cNvPr id="41" name="Shape 38"/>
          <p:cNvSpPr/>
          <p:nvPr/>
        </p:nvSpPr>
        <p:spPr>
          <a:xfrm>
            <a:off x="7772400" y="3822192"/>
            <a:ext cx="1645920" cy="292608"/>
          </a:xfrm>
          <a:prstGeom prst="rect">
            <a:avLst/>
          </a:prstGeom>
          <a:solidFill>
            <a:srgbClr val="EEF1F6"/>
          </a:solidFill>
          <a:ln w="12700">
            <a:solidFill>
              <a:srgbClr val="EEF1F6"/>
            </a:solidFill>
            <a:prstDash val="solid"/>
          </a:ln>
        </p:spPr>
      </p:sp>
      <p:sp>
        <p:nvSpPr>
          <p:cNvPr id="42" name="Text 39"/>
          <p:cNvSpPr/>
          <p:nvPr/>
        </p:nvSpPr>
        <p:spPr>
          <a:xfrm>
            <a:off x="7772400" y="3822192"/>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43" name="Text 40"/>
          <p:cNvSpPr/>
          <p:nvPr/>
        </p:nvSpPr>
        <p:spPr>
          <a:xfrm>
            <a:off x="548640" y="4187952"/>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7</a:t>
            </a:r>
            <a:endParaRPr lang="en-US" sz="1400" dirty="0"/>
          </a:p>
        </p:txBody>
      </p:sp>
      <p:sp>
        <p:nvSpPr>
          <p:cNvPr id="44" name="Shape 41"/>
          <p:cNvSpPr/>
          <p:nvPr/>
        </p:nvSpPr>
        <p:spPr>
          <a:xfrm>
            <a:off x="1188720" y="4261104"/>
            <a:ext cx="6400800" cy="292608"/>
          </a:xfrm>
          <a:prstGeom prst="rect">
            <a:avLst/>
          </a:prstGeom>
          <a:solidFill>
            <a:srgbClr val="EEF1F6"/>
          </a:solidFill>
          <a:ln w="12700">
            <a:solidFill>
              <a:srgbClr val="EEF1F6"/>
            </a:solidFill>
            <a:prstDash val="solid"/>
          </a:ln>
        </p:spPr>
      </p:sp>
      <p:sp>
        <p:nvSpPr>
          <p:cNvPr id="45" name="Shape 42"/>
          <p:cNvSpPr/>
          <p:nvPr/>
        </p:nvSpPr>
        <p:spPr>
          <a:xfrm>
            <a:off x="1188720" y="4261104"/>
            <a:ext cx="3008376" cy="292608"/>
          </a:xfrm>
          <a:prstGeom prst="rect">
            <a:avLst/>
          </a:prstGeom>
          <a:solidFill>
            <a:srgbClr val="1B2A4A"/>
          </a:solidFill>
          <a:ln w="12700">
            <a:solidFill>
              <a:srgbClr val="1B2A4A"/>
            </a:solidFill>
            <a:prstDash val="solid"/>
          </a:ln>
        </p:spPr>
      </p:sp>
      <p:sp>
        <p:nvSpPr>
          <p:cNvPr id="46" name="Text 43"/>
          <p:cNvSpPr/>
          <p:nvPr/>
        </p:nvSpPr>
        <p:spPr>
          <a:xfrm>
            <a:off x="1325880" y="4187952"/>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property_type_Vacant Lot</a:t>
            </a:r>
            <a:endParaRPr lang="en-US" sz="1200" dirty="0"/>
          </a:p>
        </p:txBody>
      </p:sp>
      <p:sp>
        <p:nvSpPr>
          <p:cNvPr id="47" name="Shape 44"/>
          <p:cNvSpPr/>
          <p:nvPr/>
        </p:nvSpPr>
        <p:spPr>
          <a:xfrm>
            <a:off x="7772400" y="4261104"/>
            <a:ext cx="1645920" cy="292608"/>
          </a:xfrm>
          <a:prstGeom prst="rect">
            <a:avLst/>
          </a:prstGeom>
          <a:solidFill>
            <a:srgbClr val="EEF1F6"/>
          </a:solidFill>
          <a:ln w="12700">
            <a:solidFill>
              <a:srgbClr val="EEF1F6"/>
            </a:solidFill>
            <a:prstDash val="solid"/>
          </a:ln>
        </p:spPr>
      </p:sp>
      <p:sp>
        <p:nvSpPr>
          <p:cNvPr id="48" name="Text 45"/>
          <p:cNvSpPr/>
          <p:nvPr/>
        </p:nvSpPr>
        <p:spPr>
          <a:xfrm>
            <a:off x="7772400" y="4261104"/>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49" name="Text 46"/>
          <p:cNvSpPr/>
          <p:nvPr/>
        </p:nvSpPr>
        <p:spPr>
          <a:xfrm>
            <a:off x="548640" y="4626864"/>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8</a:t>
            </a:r>
            <a:endParaRPr lang="en-US" sz="1400" dirty="0"/>
          </a:p>
        </p:txBody>
      </p:sp>
      <p:sp>
        <p:nvSpPr>
          <p:cNvPr id="50" name="Shape 47"/>
          <p:cNvSpPr/>
          <p:nvPr/>
        </p:nvSpPr>
        <p:spPr>
          <a:xfrm>
            <a:off x="1188720" y="4700016"/>
            <a:ext cx="6400800" cy="292608"/>
          </a:xfrm>
          <a:prstGeom prst="rect">
            <a:avLst/>
          </a:prstGeom>
          <a:solidFill>
            <a:srgbClr val="EEF1F6"/>
          </a:solidFill>
          <a:ln w="12700">
            <a:solidFill>
              <a:srgbClr val="EEF1F6"/>
            </a:solidFill>
            <a:prstDash val="solid"/>
          </a:ln>
        </p:spPr>
      </p:sp>
      <p:sp>
        <p:nvSpPr>
          <p:cNvPr id="51" name="Shape 48"/>
          <p:cNvSpPr/>
          <p:nvPr/>
        </p:nvSpPr>
        <p:spPr>
          <a:xfrm>
            <a:off x="1188720" y="4700016"/>
            <a:ext cx="2816352" cy="292608"/>
          </a:xfrm>
          <a:prstGeom prst="rect">
            <a:avLst/>
          </a:prstGeom>
          <a:solidFill>
            <a:srgbClr val="1B2A4A"/>
          </a:solidFill>
          <a:ln w="12700">
            <a:solidFill>
              <a:srgbClr val="1B2A4A"/>
            </a:solidFill>
            <a:prstDash val="solid"/>
          </a:ln>
        </p:spPr>
      </p:sp>
      <p:sp>
        <p:nvSpPr>
          <p:cNvPr id="52" name="Text 49"/>
          <p:cNvSpPr/>
          <p:nvPr/>
        </p:nvSpPr>
        <p:spPr>
          <a:xfrm>
            <a:off x="1325880" y="4626864"/>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area_sqm</a:t>
            </a:r>
            <a:endParaRPr lang="en-US" sz="1200" dirty="0"/>
          </a:p>
        </p:txBody>
      </p:sp>
      <p:sp>
        <p:nvSpPr>
          <p:cNvPr id="53" name="Shape 50"/>
          <p:cNvSpPr/>
          <p:nvPr/>
        </p:nvSpPr>
        <p:spPr>
          <a:xfrm>
            <a:off x="7772400" y="4700016"/>
            <a:ext cx="1645920" cy="292608"/>
          </a:xfrm>
          <a:prstGeom prst="rect">
            <a:avLst/>
          </a:prstGeom>
          <a:solidFill>
            <a:srgbClr val="EEF1F6"/>
          </a:solidFill>
          <a:ln w="12700">
            <a:solidFill>
              <a:srgbClr val="EEF1F6"/>
            </a:solidFill>
            <a:prstDash val="solid"/>
          </a:ln>
        </p:spPr>
      </p:sp>
      <p:sp>
        <p:nvSpPr>
          <p:cNvPr id="54" name="Text 51"/>
          <p:cNvSpPr/>
          <p:nvPr/>
        </p:nvSpPr>
        <p:spPr>
          <a:xfrm>
            <a:off x="7772400" y="4700016"/>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55" name="Text 52"/>
          <p:cNvSpPr/>
          <p:nvPr/>
        </p:nvSpPr>
        <p:spPr>
          <a:xfrm>
            <a:off x="548640" y="5065776"/>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9</a:t>
            </a:r>
            <a:endParaRPr lang="en-US" sz="1400" dirty="0"/>
          </a:p>
        </p:txBody>
      </p:sp>
      <p:sp>
        <p:nvSpPr>
          <p:cNvPr id="56" name="Shape 53"/>
          <p:cNvSpPr/>
          <p:nvPr/>
        </p:nvSpPr>
        <p:spPr>
          <a:xfrm>
            <a:off x="1188720" y="5138928"/>
            <a:ext cx="6400800" cy="292608"/>
          </a:xfrm>
          <a:prstGeom prst="rect">
            <a:avLst/>
          </a:prstGeom>
          <a:solidFill>
            <a:srgbClr val="EEF1F6"/>
          </a:solidFill>
          <a:ln w="12700">
            <a:solidFill>
              <a:srgbClr val="EEF1F6"/>
            </a:solidFill>
            <a:prstDash val="solid"/>
          </a:ln>
        </p:spPr>
      </p:sp>
      <p:sp>
        <p:nvSpPr>
          <p:cNvPr id="57" name="Shape 54"/>
          <p:cNvSpPr/>
          <p:nvPr/>
        </p:nvSpPr>
        <p:spPr>
          <a:xfrm>
            <a:off x="1188720" y="5138928"/>
            <a:ext cx="2624328" cy="292608"/>
          </a:xfrm>
          <a:prstGeom prst="rect">
            <a:avLst/>
          </a:prstGeom>
          <a:solidFill>
            <a:srgbClr val="1B2A4A"/>
          </a:solidFill>
          <a:ln w="12700">
            <a:solidFill>
              <a:srgbClr val="1B2A4A"/>
            </a:solidFill>
            <a:prstDash val="solid"/>
          </a:ln>
        </p:spPr>
      </p:sp>
      <p:sp>
        <p:nvSpPr>
          <p:cNvPr id="58" name="Text 55"/>
          <p:cNvSpPr/>
          <p:nvPr/>
        </p:nvSpPr>
        <p:spPr>
          <a:xfrm>
            <a:off x="1325880" y="5065776"/>
            <a:ext cx="6126480" cy="4389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floor_area_sqm</a:t>
            </a:r>
            <a:endParaRPr lang="en-US" sz="1200" dirty="0"/>
          </a:p>
        </p:txBody>
      </p:sp>
      <p:sp>
        <p:nvSpPr>
          <p:cNvPr id="59" name="Shape 56"/>
          <p:cNvSpPr/>
          <p:nvPr/>
        </p:nvSpPr>
        <p:spPr>
          <a:xfrm>
            <a:off x="7772400" y="5138928"/>
            <a:ext cx="1645920" cy="292608"/>
          </a:xfrm>
          <a:prstGeom prst="rect">
            <a:avLst/>
          </a:prstGeom>
          <a:solidFill>
            <a:srgbClr val="EEF1F6"/>
          </a:solidFill>
          <a:ln w="12700">
            <a:solidFill>
              <a:srgbClr val="EEF1F6"/>
            </a:solidFill>
            <a:prstDash val="solid"/>
          </a:ln>
        </p:spPr>
      </p:sp>
      <p:sp>
        <p:nvSpPr>
          <p:cNvPr id="60" name="Text 57"/>
          <p:cNvSpPr/>
          <p:nvPr/>
        </p:nvSpPr>
        <p:spPr>
          <a:xfrm>
            <a:off x="7772400" y="5138928"/>
            <a:ext cx="1645920" cy="292608"/>
          </a:xfrm>
          <a:prstGeom prst="rect">
            <a:avLst/>
          </a:prstGeom>
          <a:noFill/>
          <a:ln/>
        </p:spPr>
        <p:txBody>
          <a:bodyPr wrap="square" rtlCol="0" anchor="ctr"/>
          <a:lstStyle/>
          <a:p>
            <a:pPr algn="ctr" indent="0" marL="0">
              <a:buNone/>
            </a:pPr>
            <a:r>
              <a:rPr lang="en-US" sz="900" b="1" spc="100" kern="0" dirty="0">
                <a:solidFill>
                  <a:srgbClr val="7A8699"/>
                </a:solidFill>
                <a:latin typeface="Calibri" pitchFamily="34" charset="0"/>
                <a:ea typeface="Calibri" pitchFamily="34" charset="-122"/>
                <a:cs typeface="Calibri" pitchFamily="34" charset="-120"/>
              </a:rPr>
              <a:t>STRUCTURAL</a:t>
            </a:r>
            <a:endParaRPr lang="en-US" sz="900" dirty="0"/>
          </a:p>
        </p:txBody>
      </p:sp>
      <p:sp>
        <p:nvSpPr>
          <p:cNvPr id="61" name="Text 58"/>
          <p:cNvSpPr/>
          <p:nvPr/>
        </p:nvSpPr>
        <p:spPr>
          <a:xfrm>
            <a:off x="548640" y="5504688"/>
            <a:ext cx="548640" cy="438912"/>
          </a:xfrm>
          <a:prstGeom prst="rect">
            <a:avLst/>
          </a:prstGeom>
          <a:noFill/>
          <a:ln/>
        </p:spPr>
        <p:txBody>
          <a:bodyPr wrap="square" rtlCol="0" anchor="ctr"/>
          <a:lstStyle/>
          <a:p>
            <a:pPr algn="ctr" indent="0" marL="0">
              <a:buNone/>
            </a:pPr>
            <a:r>
              <a:rPr lang="en-US" sz="1400" b="1" dirty="0">
                <a:solidFill>
                  <a:srgbClr val="7A8699"/>
                </a:solidFill>
                <a:latin typeface="Calibri" pitchFamily="34" charset="0"/>
                <a:ea typeface="Calibri" pitchFamily="34" charset="-122"/>
                <a:cs typeface="Calibri" pitchFamily="34" charset="-120"/>
              </a:rPr>
              <a:t>10</a:t>
            </a:r>
            <a:endParaRPr lang="en-US" sz="1400" dirty="0"/>
          </a:p>
        </p:txBody>
      </p:sp>
      <p:sp>
        <p:nvSpPr>
          <p:cNvPr id="62" name="Shape 59"/>
          <p:cNvSpPr/>
          <p:nvPr/>
        </p:nvSpPr>
        <p:spPr>
          <a:xfrm>
            <a:off x="1188720" y="5577840"/>
            <a:ext cx="6400800" cy="292608"/>
          </a:xfrm>
          <a:prstGeom prst="rect">
            <a:avLst/>
          </a:prstGeom>
          <a:solidFill>
            <a:srgbClr val="EEF1F6"/>
          </a:solidFill>
          <a:ln w="12700">
            <a:solidFill>
              <a:srgbClr val="EEF1F6"/>
            </a:solidFill>
            <a:prstDash val="solid"/>
          </a:ln>
        </p:spPr>
      </p:sp>
      <p:sp>
        <p:nvSpPr>
          <p:cNvPr id="63" name="Shape 60"/>
          <p:cNvSpPr/>
          <p:nvPr/>
        </p:nvSpPr>
        <p:spPr>
          <a:xfrm>
            <a:off x="1188720" y="5577840"/>
            <a:ext cx="2368296" cy="292608"/>
          </a:xfrm>
          <a:prstGeom prst="rect">
            <a:avLst/>
          </a:prstGeom>
          <a:solidFill>
            <a:srgbClr val="D4A843"/>
          </a:solidFill>
          <a:ln w="12700">
            <a:solidFill>
              <a:srgbClr val="D4A843"/>
            </a:solidFill>
            <a:prstDash val="solid"/>
          </a:ln>
        </p:spPr>
      </p:sp>
      <p:sp>
        <p:nvSpPr>
          <p:cNvPr id="64" name="Text 61"/>
          <p:cNvSpPr/>
          <p:nvPr/>
        </p:nvSpPr>
        <p:spPr>
          <a:xfrm>
            <a:off x="1325880" y="5504688"/>
            <a:ext cx="612648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dist_cebu_business_park_m</a:t>
            </a:r>
            <a:endParaRPr lang="en-US" sz="1200" dirty="0"/>
          </a:p>
        </p:txBody>
      </p:sp>
      <p:sp>
        <p:nvSpPr>
          <p:cNvPr id="65" name="Shape 62"/>
          <p:cNvSpPr/>
          <p:nvPr/>
        </p:nvSpPr>
        <p:spPr>
          <a:xfrm>
            <a:off x="7772400" y="5577840"/>
            <a:ext cx="1645920" cy="292608"/>
          </a:xfrm>
          <a:prstGeom prst="rect">
            <a:avLst/>
          </a:prstGeom>
          <a:solidFill>
            <a:srgbClr val="D4A843"/>
          </a:solidFill>
          <a:ln w="12700">
            <a:solidFill>
              <a:srgbClr val="D4A843"/>
            </a:solidFill>
            <a:prstDash val="solid"/>
          </a:ln>
        </p:spPr>
      </p:sp>
      <p:sp>
        <p:nvSpPr>
          <p:cNvPr id="66" name="Text 63"/>
          <p:cNvSpPr/>
          <p:nvPr/>
        </p:nvSpPr>
        <p:spPr>
          <a:xfrm>
            <a:off x="7772400" y="5577840"/>
            <a:ext cx="1645920" cy="292608"/>
          </a:xfrm>
          <a:prstGeom prst="rect">
            <a:avLst/>
          </a:prstGeom>
          <a:noFill/>
          <a:ln/>
        </p:spPr>
        <p:txBody>
          <a:bodyPr wrap="square" rtlCol="0" anchor="ctr"/>
          <a:lstStyle/>
          <a:p>
            <a:pPr algn="ctr" indent="0" marL="0">
              <a:buNone/>
            </a:pPr>
            <a:r>
              <a:rPr lang="en-US" sz="900" b="1" spc="100" kern="0" dirty="0">
                <a:solidFill>
                  <a:srgbClr val="1B2A4A"/>
                </a:solidFill>
                <a:latin typeface="Calibri" pitchFamily="34" charset="0"/>
                <a:ea typeface="Calibri" pitchFamily="34" charset="-122"/>
                <a:cs typeface="Calibri" pitchFamily="34" charset="-120"/>
              </a:rPr>
              <a:t>CBD DISTANCE</a:t>
            </a:r>
            <a:endParaRPr lang="en-US" sz="900" dirty="0"/>
          </a:p>
        </p:txBody>
      </p:sp>
      <p:sp>
        <p:nvSpPr>
          <p:cNvPr id="67" name="Shape 64"/>
          <p:cNvSpPr/>
          <p:nvPr/>
        </p:nvSpPr>
        <p:spPr>
          <a:xfrm>
            <a:off x="9601200" y="1554480"/>
            <a:ext cx="2103120" cy="4389120"/>
          </a:xfrm>
          <a:prstGeom prst="rect">
            <a:avLst/>
          </a:prstGeom>
          <a:solidFill>
            <a:srgbClr val="EEF1F6"/>
          </a:solidFill>
          <a:ln w="12700">
            <a:solidFill>
              <a:srgbClr val="EEF1F6"/>
            </a:solidFill>
            <a:prstDash val="solid"/>
          </a:ln>
        </p:spPr>
      </p:sp>
      <p:sp>
        <p:nvSpPr>
          <p:cNvPr id="68" name="Text 65"/>
          <p:cNvSpPr/>
          <p:nvPr/>
        </p:nvSpPr>
        <p:spPr>
          <a:xfrm>
            <a:off x="9738360" y="1691640"/>
            <a:ext cx="1828800" cy="274320"/>
          </a:xfrm>
          <a:prstGeom prst="rect">
            <a:avLst/>
          </a:prstGeom>
          <a:noFill/>
          <a:ln/>
        </p:spPr>
        <p:txBody>
          <a:bodyPr wrap="square" rtlCol="0" anchor="ctr"/>
          <a:lstStyle/>
          <a:p>
            <a:pPr indent="0" marL="0">
              <a:buNone/>
            </a:pPr>
            <a:r>
              <a:rPr lang="en-US" sz="1000" b="1" spc="300" kern="0" dirty="0">
                <a:solidFill>
                  <a:srgbClr val="D4A843"/>
                </a:solidFill>
                <a:latin typeface="Calibri" pitchFamily="34" charset="0"/>
                <a:ea typeface="Calibri" pitchFamily="34" charset="-122"/>
                <a:cs typeface="Calibri" pitchFamily="34" charset="-120"/>
              </a:rPr>
              <a:t>LEGEND</a:t>
            </a:r>
            <a:endParaRPr lang="en-US" sz="1000" dirty="0"/>
          </a:p>
        </p:txBody>
      </p:sp>
      <p:sp>
        <p:nvSpPr>
          <p:cNvPr id="69" name="Shape 66"/>
          <p:cNvSpPr/>
          <p:nvPr/>
        </p:nvSpPr>
        <p:spPr>
          <a:xfrm>
            <a:off x="9784080" y="2103120"/>
            <a:ext cx="365760" cy="228600"/>
          </a:xfrm>
          <a:prstGeom prst="rect">
            <a:avLst/>
          </a:prstGeom>
          <a:solidFill>
            <a:srgbClr val="1B2A4A"/>
          </a:solidFill>
          <a:ln w="12700">
            <a:solidFill>
              <a:srgbClr val="1B2A4A"/>
            </a:solidFill>
            <a:prstDash val="solid"/>
          </a:ln>
        </p:spPr>
      </p:sp>
      <p:sp>
        <p:nvSpPr>
          <p:cNvPr id="70" name="Text 67"/>
          <p:cNvSpPr/>
          <p:nvPr/>
        </p:nvSpPr>
        <p:spPr>
          <a:xfrm>
            <a:off x="10241280" y="2057400"/>
            <a:ext cx="1371600" cy="274320"/>
          </a:xfrm>
          <a:prstGeom prst="rect">
            <a:avLst/>
          </a:prstGeom>
          <a:noFill/>
          <a:ln/>
        </p:spPr>
        <p:txBody>
          <a:bodyPr wrap="square" rtlCol="0" anchor="ctr"/>
          <a:lstStyle/>
          <a:p>
            <a:pPr indent="0" marL="0">
              <a:buNone/>
            </a:pPr>
            <a:r>
              <a:rPr lang="en-US" sz="1100" dirty="0">
                <a:solidFill>
                  <a:srgbClr val="1B2A4A"/>
                </a:solidFill>
                <a:latin typeface="Calibri" pitchFamily="34" charset="0"/>
                <a:ea typeface="Calibri" pitchFamily="34" charset="-122"/>
                <a:cs typeface="Calibri" pitchFamily="34" charset="-120"/>
              </a:rPr>
              <a:t>Structural</a:t>
            </a:r>
            <a:endParaRPr lang="en-US" sz="1100" dirty="0"/>
          </a:p>
        </p:txBody>
      </p:sp>
      <p:sp>
        <p:nvSpPr>
          <p:cNvPr id="71" name="Shape 68"/>
          <p:cNvSpPr/>
          <p:nvPr/>
        </p:nvSpPr>
        <p:spPr>
          <a:xfrm>
            <a:off x="9784080" y="2468880"/>
            <a:ext cx="365760" cy="228600"/>
          </a:xfrm>
          <a:prstGeom prst="rect">
            <a:avLst/>
          </a:prstGeom>
          <a:solidFill>
            <a:srgbClr val="D4A843"/>
          </a:solidFill>
          <a:ln w="12700">
            <a:solidFill>
              <a:srgbClr val="D4A843"/>
            </a:solidFill>
            <a:prstDash val="solid"/>
          </a:ln>
        </p:spPr>
      </p:sp>
      <p:sp>
        <p:nvSpPr>
          <p:cNvPr id="72" name="Text 69"/>
          <p:cNvSpPr/>
          <p:nvPr/>
        </p:nvSpPr>
        <p:spPr>
          <a:xfrm>
            <a:off x="10241280" y="2423160"/>
            <a:ext cx="1371600" cy="274320"/>
          </a:xfrm>
          <a:prstGeom prst="rect">
            <a:avLst/>
          </a:prstGeom>
          <a:noFill/>
          <a:ln/>
        </p:spPr>
        <p:txBody>
          <a:bodyPr wrap="square" rtlCol="0" anchor="ctr"/>
          <a:lstStyle/>
          <a:p>
            <a:pPr indent="0" marL="0">
              <a:buNone/>
            </a:pPr>
            <a:r>
              <a:rPr lang="en-US" sz="1100" dirty="0">
                <a:solidFill>
                  <a:srgbClr val="1B2A4A"/>
                </a:solidFill>
                <a:latin typeface="Calibri" pitchFamily="34" charset="0"/>
                <a:ea typeface="Calibri" pitchFamily="34" charset="-122"/>
                <a:cs typeface="Calibri" pitchFamily="34" charset="-120"/>
              </a:rPr>
              <a:t>CBD distance</a:t>
            </a:r>
            <a:endParaRPr lang="en-US" sz="1100" dirty="0"/>
          </a:p>
        </p:txBody>
      </p:sp>
      <p:sp>
        <p:nvSpPr>
          <p:cNvPr id="73" name="Text 70"/>
          <p:cNvSpPr/>
          <p:nvPr/>
        </p:nvSpPr>
        <p:spPr>
          <a:xfrm>
            <a:off x="9738360" y="3108960"/>
            <a:ext cx="1828800" cy="2743200"/>
          </a:xfrm>
          <a:prstGeom prst="rect">
            <a:avLst/>
          </a:prstGeom>
          <a:noFill/>
          <a:ln/>
        </p:spPr>
        <p:txBody>
          <a:bodyPr wrap="square" rtlCol="0" anchor="t"/>
          <a:lstStyle/>
          <a:p>
            <a:pPr indent="0" marL="0">
              <a:buNone/>
            </a:pPr>
            <a:r>
              <a:rPr lang="en-US" sz="1100" i="1" dirty="0">
                <a:solidFill>
                  <a:srgbClr val="7A8699"/>
                </a:solidFill>
                <a:latin typeface="Calibri" pitchFamily="34" charset="0"/>
                <a:ea typeface="Calibri" pitchFamily="34" charset="-122"/>
                <a:cs typeface="Calibri" pitchFamily="34" charset="-120"/>
              </a:rPr>
              <a:t>CBD distances enter at #4 (Consolacion) and #10 (CBP). Spatial signal is real but lives in CBD distances, not MCRAI.</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SHAP Importance — by Block</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2194560"/>
            <a:ext cx="10058400" cy="365760"/>
          </a:xfrm>
          <a:prstGeom prst="rect">
            <a:avLst/>
          </a:prstGeom>
          <a:solidFill>
            <a:srgbClr val="EEF1F6"/>
          </a:solidFill>
          <a:ln w="12700">
            <a:solidFill>
              <a:srgbClr val="EEF1F6"/>
            </a:solidFill>
            <a:prstDash val="solid"/>
          </a:ln>
        </p:spPr>
      </p:sp>
      <p:sp>
        <p:nvSpPr>
          <p:cNvPr id="8" name="Shape 5"/>
          <p:cNvSpPr/>
          <p:nvPr/>
        </p:nvSpPr>
        <p:spPr>
          <a:xfrm>
            <a:off x="548640" y="2194560"/>
            <a:ext cx="7604150" cy="365760"/>
          </a:xfrm>
          <a:prstGeom prst="rect">
            <a:avLst/>
          </a:prstGeom>
          <a:solidFill>
            <a:srgbClr val="1B2A4A"/>
          </a:solidFill>
          <a:ln w="12700">
            <a:solidFill>
              <a:srgbClr val="1B2A4A"/>
            </a:solidFill>
            <a:prstDash val="solid"/>
          </a:ln>
        </p:spPr>
      </p:sp>
      <p:sp>
        <p:nvSpPr>
          <p:cNvPr id="9" name="Text 6"/>
          <p:cNvSpPr/>
          <p:nvPr/>
        </p:nvSpPr>
        <p:spPr>
          <a:xfrm>
            <a:off x="548640" y="1737360"/>
            <a:ext cx="731520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Structural + property type</a:t>
            </a:r>
            <a:endParaRPr lang="en-US" sz="1600" dirty="0"/>
          </a:p>
        </p:txBody>
      </p:sp>
      <p:sp>
        <p:nvSpPr>
          <p:cNvPr id="10" name="Text 7"/>
          <p:cNvSpPr/>
          <p:nvPr/>
        </p:nvSpPr>
        <p:spPr>
          <a:xfrm>
            <a:off x="9720072" y="1737360"/>
            <a:ext cx="1828800" cy="457200"/>
          </a:xfrm>
          <a:prstGeom prst="rect">
            <a:avLst/>
          </a:prstGeom>
          <a:noFill/>
          <a:ln/>
        </p:spPr>
        <p:txBody>
          <a:bodyPr wrap="square" rtlCol="0" anchor="ctr"/>
          <a:lstStyle/>
          <a:p>
            <a:pPr algn="r" indent="0" marL="0">
              <a:buNone/>
            </a:pPr>
            <a:r>
              <a:rPr lang="en-US" sz="2800" b="1" dirty="0">
                <a:solidFill>
                  <a:srgbClr val="1B2A4A"/>
                </a:solidFill>
                <a:latin typeface="Calibri" pitchFamily="34" charset="0"/>
                <a:ea typeface="Calibri" pitchFamily="34" charset="-122"/>
                <a:cs typeface="Calibri" pitchFamily="34" charset="-120"/>
              </a:rPr>
              <a:t>75.6%</a:t>
            </a:r>
            <a:endParaRPr lang="en-US" sz="2800" dirty="0"/>
          </a:p>
        </p:txBody>
      </p:sp>
      <p:sp>
        <p:nvSpPr>
          <p:cNvPr id="11" name="Shape 8"/>
          <p:cNvSpPr/>
          <p:nvPr/>
        </p:nvSpPr>
        <p:spPr>
          <a:xfrm>
            <a:off x="548640" y="3657600"/>
            <a:ext cx="10058400" cy="365760"/>
          </a:xfrm>
          <a:prstGeom prst="rect">
            <a:avLst/>
          </a:prstGeom>
          <a:solidFill>
            <a:srgbClr val="EEF1F6"/>
          </a:solidFill>
          <a:ln w="12700">
            <a:solidFill>
              <a:srgbClr val="EEF1F6"/>
            </a:solidFill>
            <a:prstDash val="solid"/>
          </a:ln>
        </p:spPr>
      </p:sp>
      <p:sp>
        <p:nvSpPr>
          <p:cNvPr id="12" name="Shape 9"/>
          <p:cNvSpPr/>
          <p:nvPr/>
        </p:nvSpPr>
        <p:spPr>
          <a:xfrm>
            <a:off x="548640" y="3657600"/>
            <a:ext cx="2152498" cy="365760"/>
          </a:xfrm>
          <a:prstGeom prst="rect">
            <a:avLst/>
          </a:prstGeom>
          <a:solidFill>
            <a:srgbClr val="D4A843"/>
          </a:solidFill>
          <a:ln w="12700">
            <a:solidFill>
              <a:srgbClr val="D4A843"/>
            </a:solidFill>
            <a:prstDash val="solid"/>
          </a:ln>
        </p:spPr>
      </p:sp>
      <p:sp>
        <p:nvSpPr>
          <p:cNvPr id="13" name="Text 10"/>
          <p:cNvSpPr/>
          <p:nvPr/>
        </p:nvSpPr>
        <p:spPr>
          <a:xfrm>
            <a:off x="548640" y="3200400"/>
            <a:ext cx="731520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CBD distance block (8 nodes combined)</a:t>
            </a:r>
            <a:endParaRPr lang="en-US" sz="1600" dirty="0"/>
          </a:p>
        </p:txBody>
      </p:sp>
      <p:sp>
        <p:nvSpPr>
          <p:cNvPr id="14" name="Text 11"/>
          <p:cNvSpPr/>
          <p:nvPr/>
        </p:nvSpPr>
        <p:spPr>
          <a:xfrm>
            <a:off x="9720072" y="3200400"/>
            <a:ext cx="1828800" cy="457200"/>
          </a:xfrm>
          <a:prstGeom prst="rect">
            <a:avLst/>
          </a:prstGeom>
          <a:noFill/>
          <a:ln/>
        </p:spPr>
        <p:txBody>
          <a:bodyPr wrap="square" rtlCol="0" anchor="ctr"/>
          <a:lstStyle/>
          <a:p>
            <a:pPr algn="r" indent="0" marL="0">
              <a:buNone/>
            </a:pPr>
            <a:r>
              <a:rPr lang="en-US" sz="2800" b="1" dirty="0">
                <a:solidFill>
                  <a:srgbClr val="D4A843"/>
                </a:solidFill>
                <a:latin typeface="Calibri" pitchFamily="34" charset="0"/>
                <a:ea typeface="Calibri" pitchFamily="34" charset="-122"/>
                <a:cs typeface="Calibri" pitchFamily="34" charset="-120"/>
              </a:rPr>
              <a:t>21.4%</a:t>
            </a:r>
            <a:endParaRPr lang="en-US" sz="2800" dirty="0"/>
          </a:p>
        </p:txBody>
      </p:sp>
      <p:sp>
        <p:nvSpPr>
          <p:cNvPr id="15" name="Shape 12"/>
          <p:cNvSpPr/>
          <p:nvPr/>
        </p:nvSpPr>
        <p:spPr>
          <a:xfrm>
            <a:off x="548640" y="5120640"/>
            <a:ext cx="10058400" cy="365760"/>
          </a:xfrm>
          <a:prstGeom prst="rect">
            <a:avLst/>
          </a:prstGeom>
          <a:solidFill>
            <a:srgbClr val="EEF1F6"/>
          </a:solidFill>
          <a:ln w="12700">
            <a:solidFill>
              <a:srgbClr val="EEF1F6"/>
            </a:solidFill>
            <a:prstDash val="solid"/>
          </a:ln>
        </p:spPr>
      </p:sp>
      <p:sp>
        <p:nvSpPr>
          <p:cNvPr id="16" name="Shape 13"/>
          <p:cNvSpPr/>
          <p:nvPr/>
        </p:nvSpPr>
        <p:spPr>
          <a:xfrm>
            <a:off x="548640" y="5120640"/>
            <a:ext cx="301752" cy="365760"/>
          </a:xfrm>
          <a:prstGeom prst="rect">
            <a:avLst/>
          </a:prstGeom>
          <a:solidFill>
            <a:srgbClr val="7A8699"/>
          </a:solidFill>
          <a:ln w="12700">
            <a:solidFill>
              <a:srgbClr val="7A8699"/>
            </a:solidFill>
            <a:prstDash val="solid"/>
          </a:ln>
        </p:spPr>
      </p:sp>
      <p:sp>
        <p:nvSpPr>
          <p:cNvPr id="17" name="Text 14"/>
          <p:cNvSpPr/>
          <p:nvPr/>
        </p:nvSpPr>
        <p:spPr>
          <a:xfrm>
            <a:off x="548640" y="4663440"/>
            <a:ext cx="731520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MCRAI 9 categories combined</a:t>
            </a:r>
            <a:endParaRPr lang="en-US" sz="1600" dirty="0"/>
          </a:p>
        </p:txBody>
      </p:sp>
      <p:sp>
        <p:nvSpPr>
          <p:cNvPr id="18" name="Text 15"/>
          <p:cNvSpPr/>
          <p:nvPr/>
        </p:nvSpPr>
        <p:spPr>
          <a:xfrm>
            <a:off x="9720072" y="4663440"/>
            <a:ext cx="1828800" cy="457200"/>
          </a:xfrm>
          <a:prstGeom prst="rect">
            <a:avLst/>
          </a:prstGeom>
          <a:noFill/>
          <a:ln/>
        </p:spPr>
        <p:txBody>
          <a:bodyPr wrap="square" rtlCol="0" anchor="ctr"/>
          <a:lstStyle/>
          <a:p>
            <a:pPr algn="r" indent="0" marL="0">
              <a:buNone/>
            </a:pPr>
            <a:r>
              <a:rPr lang="en-US" sz="2800" b="1" dirty="0">
                <a:solidFill>
                  <a:srgbClr val="7A8699"/>
                </a:solidFill>
                <a:latin typeface="Calibri" pitchFamily="34" charset="0"/>
                <a:ea typeface="Calibri" pitchFamily="34" charset="-122"/>
                <a:cs typeface="Calibri" pitchFamily="34" charset="-120"/>
              </a:rPr>
              <a:t>3%</a:t>
            </a:r>
            <a:endParaRPr lang="en-US" sz="2800" dirty="0"/>
          </a:p>
        </p:txBody>
      </p:sp>
      <p:sp>
        <p:nvSpPr>
          <p:cNvPr id="19" name="Shape 16"/>
          <p:cNvSpPr/>
          <p:nvPr/>
        </p:nvSpPr>
        <p:spPr>
          <a:xfrm>
            <a:off x="548640" y="5577840"/>
            <a:ext cx="11064240" cy="777240"/>
          </a:xfrm>
          <a:prstGeom prst="rect">
            <a:avLst/>
          </a:prstGeom>
          <a:solidFill>
            <a:srgbClr val="F5E6B8"/>
          </a:solidFill>
          <a:ln w="12700">
            <a:solidFill>
              <a:srgbClr val="D4A843"/>
            </a:solidFill>
            <a:prstDash val="solid"/>
          </a:ln>
        </p:spPr>
      </p:sp>
      <p:sp>
        <p:nvSpPr>
          <p:cNvPr id="20" name="Shape 17"/>
          <p:cNvSpPr/>
          <p:nvPr/>
        </p:nvSpPr>
        <p:spPr>
          <a:xfrm>
            <a:off x="548640" y="5577840"/>
            <a:ext cx="109728" cy="777240"/>
          </a:xfrm>
          <a:prstGeom prst="rect">
            <a:avLst/>
          </a:prstGeom>
          <a:solidFill>
            <a:srgbClr val="D4A843"/>
          </a:solidFill>
          <a:ln w="12700">
            <a:solidFill>
              <a:srgbClr val="D4A843"/>
            </a:solidFill>
            <a:prstDash val="solid"/>
          </a:ln>
        </p:spPr>
      </p:sp>
      <p:sp>
        <p:nvSpPr>
          <p:cNvPr id="21" name="Text 18"/>
          <p:cNvSpPr/>
          <p:nvPr/>
        </p:nvSpPr>
        <p:spPr>
          <a:xfrm>
            <a:off x="868680" y="5577840"/>
            <a:ext cx="10607040" cy="777240"/>
          </a:xfrm>
          <a:prstGeom prst="rect">
            <a:avLst/>
          </a:prstGeom>
          <a:noFill/>
          <a:ln/>
        </p:spPr>
        <p:txBody>
          <a:bodyPr wrap="square" rtlCol="0" anchor="ctr"/>
          <a:lstStyle/>
          <a:p>
            <a:pPr indent="0" marL="0">
              <a:buNone/>
            </a:pPr>
            <a:r>
              <a:rPr lang="en-US" sz="1300" i="1" dirty="0">
                <a:solidFill>
                  <a:srgbClr val="1B2A4A"/>
                </a:solidFill>
                <a:latin typeface="Calibri" pitchFamily="34" charset="0"/>
                <a:ea typeface="Calibri" pitchFamily="34" charset="-122"/>
                <a:cs typeface="Calibri" pitchFamily="34" charset="-120"/>
              </a:rPr>
              <a:t>MCRAI's individual signal is muted because the CBD distance block absorbs the same spatial accessibility variation. Expected collinearity, not failure — the geospatial signal lives in CBD distances.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On the 59.28% MAPE</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5486400" cy="4754880"/>
          </a:xfrm>
          <a:prstGeom prst="rect">
            <a:avLst/>
          </a:prstGeom>
          <a:solidFill>
            <a:srgbClr val="1B2A4A"/>
          </a:solidFill>
          <a:ln w="12700">
            <a:solidFill>
              <a:srgbClr val="1B2A4A"/>
            </a:solidFill>
            <a:prstDash val="solid"/>
          </a:ln>
        </p:spPr>
      </p:sp>
      <p:sp>
        <p:nvSpPr>
          <p:cNvPr id="8" name="Text 5"/>
          <p:cNvSpPr/>
          <p:nvPr/>
        </p:nvSpPr>
        <p:spPr>
          <a:xfrm>
            <a:off x="548640" y="1737360"/>
            <a:ext cx="5486400" cy="365760"/>
          </a:xfrm>
          <a:prstGeom prst="rect">
            <a:avLst/>
          </a:prstGeom>
          <a:noFill/>
          <a:ln/>
        </p:spPr>
        <p:txBody>
          <a:bodyPr wrap="square" rtlCol="0" anchor="ctr"/>
          <a:lstStyle/>
          <a:p>
            <a:pPr algn="ctr" indent="0" marL="0">
              <a:buNone/>
            </a:pPr>
            <a:r>
              <a:rPr lang="en-US" sz="1200" b="1" spc="300" kern="0" dirty="0">
                <a:solidFill>
                  <a:srgbClr val="D4A843"/>
                </a:solidFill>
                <a:latin typeface="Calibri" pitchFamily="34" charset="0"/>
                <a:ea typeface="Calibri" pitchFamily="34" charset="-122"/>
                <a:cs typeface="Calibri" pitchFamily="34" charset="-120"/>
              </a:rPr>
              <a:t>HEADLINE METRIC</a:t>
            </a:r>
            <a:endParaRPr lang="en-US" sz="1200" dirty="0"/>
          </a:p>
        </p:txBody>
      </p:sp>
      <p:sp>
        <p:nvSpPr>
          <p:cNvPr id="9" name="Text 6"/>
          <p:cNvSpPr/>
          <p:nvPr/>
        </p:nvSpPr>
        <p:spPr>
          <a:xfrm>
            <a:off x="548640" y="2194560"/>
            <a:ext cx="5486400" cy="1463040"/>
          </a:xfrm>
          <a:prstGeom prst="rect">
            <a:avLst/>
          </a:prstGeom>
          <a:noFill/>
          <a:ln/>
        </p:spPr>
        <p:txBody>
          <a:bodyPr wrap="square" rtlCol="0" anchor="ctr"/>
          <a:lstStyle/>
          <a:p>
            <a:pPr algn="ctr" indent="0" marL="0">
              <a:buNone/>
            </a:pPr>
            <a:r>
              <a:rPr lang="en-US" sz="9200" b="1" dirty="0">
                <a:solidFill>
                  <a:srgbClr val="D4A843"/>
                </a:solidFill>
                <a:latin typeface="Calibri" pitchFamily="34" charset="0"/>
                <a:ea typeface="Calibri" pitchFamily="34" charset="-122"/>
                <a:cs typeface="Calibri" pitchFamily="34" charset="-120"/>
              </a:rPr>
              <a:t>59.28%</a:t>
            </a:r>
            <a:endParaRPr lang="en-US" sz="9200" dirty="0"/>
          </a:p>
        </p:txBody>
      </p:sp>
      <p:sp>
        <p:nvSpPr>
          <p:cNvPr id="10" name="Text 7"/>
          <p:cNvSpPr/>
          <p:nvPr/>
        </p:nvSpPr>
        <p:spPr>
          <a:xfrm>
            <a:off x="548640" y="3657600"/>
            <a:ext cx="54864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Total-price MAPE</a:t>
            </a:r>
            <a:endParaRPr lang="en-US" sz="1600" dirty="0"/>
          </a:p>
        </p:txBody>
      </p:sp>
      <p:sp>
        <p:nvSpPr>
          <p:cNvPr id="11" name="Text 8"/>
          <p:cNvSpPr/>
          <p:nvPr/>
        </p:nvSpPr>
        <p:spPr>
          <a:xfrm>
            <a:off x="548640" y="4023360"/>
            <a:ext cx="5486400" cy="274320"/>
          </a:xfrm>
          <a:prstGeom prst="rect">
            <a:avLst/>
          </a:prstGeom>
          <a:noFill/>
          <a:ln/>
        </p:spPr>
        <p:txBody>
          <a:bodyPr wrap="square" rtlCol="0" anchor="ctr"/>
          <a:lstStyle/>
          <a:p>
            <a:pPr algn="ctr" indent="0" marL="0">
              <a:buNone/>
            </a:pPr>
            <a:r>
              <a:rPr lang="en-US" sz="1100" i="1" dirty="0">
                <a:solidFill>
                  <a:srgbClr val="C9D1DD"/>
                </a:solidFill>
                <a:latin typeface="Calibri" pitchFamily="34" charset="0"/>
                <a:ea typeface="Calibri" pitchFamily="34" charset="-122"/>
                <a:cs typeface="Calibri" pitchFamily="34" charset="-120"/>
              </a:rPr>
              <a:t>Chapter 7 Table 1</a:t>
            </a:r>
            <a:endParaRPr lang="en-US" sz="1100" dirty="0"/>
          </a:p>
        </p:txBody>
      </p:sp>
      <p:sp>
        <p:nvSpPr>
          <p:cNvPr id="12" name="Shape 9"/>
          <p:cNvSpPr/>
          <p:nvPr/>
        </p:nvSpPr>
        <p:spPr>
          <a:xfrm>
            <a:off x="1463040" y="4572000"/>
            <a:ext cx="3657600" cy="18288"/>
          </a:xfrm>
          <a:prstGeom prst="rect">
            <a:avLst/>
          </a:prstGeom>
          <a:solidFill>
            <a:srgbClr val="D4A843"/>
          </a:solidFill>
          <a:ln w="12700">
            <a:solidFill>
              <a:srgbClr val="D4A843"/>
            </a:solidFill>
            <a:prstDash val="solid"/>
          </a:ln>
        </p:spPr>
      </p:sp>
      <p:sp>
        <p:nvSpPr>
          <p:cNvPr id="13" name="Text 10"/>
          <p:cNvSpPr/>
          <p:nvPr/>
        </p:nvSpPr>
        <p:spPr>
          <a:xfrm>
            <a:off x="548640" y="4754880"/>
            <a:ext cx="5486400" cy="365760"/>
          </a:xfrm>
          <a:prstGeom prst="rect">
            <a:avLst/>
          </a:prstGeom>
          <a:noFill/>
          <a:ln/>
        </p:spPr>
        <p:txBody>
          <a:bodyPr wrap="square" rtlCol="0" anchor="ctr"/>
          <a:lstStyle/>
          <a:p>
            <a:pPr algn="ctr" indent="0" marL="0">
              <a:buNone/>
            </a:pPr>
            <a:r>
              <a:rPr lang="en-US" sz="1200" b="1" spc="200" kern="0" dirty="0">
                <a:solidFill>
                  <a:srgbClr val="D4A843"/>
                </a:solidFill>
                <a:latin typeface="Calibri" pitchFamily="34" charset="0"/>
                <a:ea typeface="Calibri" pitchFamily="34" charset="-122"/>
                <a:cs typeface="Calibri" pitchFamily="34" charset="-120"/>
              </a:rPr>
              <a:t>Per-sqm reframing</a:t>
            </a:r>
            <a:endParaRPr lang="en-US" sz="1200" dirty="0"/>
          </a:p>
        </p:txBody>
      </p:sp>
      <p:sp>
        <p:nvSpPr>
          <p:cNvPr id="14" name="Text 11"/>
          <p:cNvSpPr/>
          <p:nvPr/>
        </p:nvSpPr>
        <p:spPr>
          <a:xfrm>
            <a:off x="548640" y="5120640"/>
            <a:ext cx="548640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 PHP 19,743 / sqm MAE</a:t>
            </a:r>
            <a:endParaRPr lang="en-US" sz="2200" dirty="0"/>
          </a:p>
        </p:txBody>
      </p:sp>
      <p:sp>
        <p:nvSpPr>
          <p:cNvPr id="15" name="Text 12"/>
          <p:cNvSpPr/>
          <p:nvPr/>
        </p:nvSpPr>
        <p:spPr>
          <a:xfrm>
            <a:off x="548640" y="5623560"/>
            <a:ext cx="5486400" cy="365760"/>
          </a:xfrm>
          <a:prstGeom prst="rect">
            <a:avLst/>
          </a:prstGeom>
          <a:noFill/>
          <a:ln/>
        </p:spPr>
        <p:txBody>
          <a:bodyPr wrap="square" rtlCol="0" anchor="ctr"/>
          <a:lstStyle/>
          <a:p>
            <a:pPr algn="ctr" indent="0" marL="0">
              <a:buNone/>
            </a:pPr>
            <a:r>
              <a:rPr lang="en-US" sz="1300" i="1" dirty="0">
                <a:solidFill>
                  <a:srgbClr val="C9D1DD"/>
                </a:solidFill>
                <a:latin typeface="Calibri" pitchFamily="34" charset="0"/>
                <a:ea typeface="Calibri" pitchFamily="34" charset="-122"/>
                <a:cs typeface="Calibri" pitchFamily="34" charset="-120"/>
              </a:rPr>
              <a:t>≈ one BIR zonal tier of error</a:t>
            </a:r>
            <a:endParaRPr lang="en-US" sz="1300" dirty="0"/>
          </a:p>
        </p:txBody>
      </p:sp>
      <p:sp>
        <p:nvSpPr>
          <p:cNvPr id="16" name="Shape 13"/>
          <p:cNvSpPr/>
          <p:nvPr/>
        </p:nvSpPr>
        <p:spPr>
          <a:xfrm>
            <a:off x="6355080" y="1664208"/>
            <a:ext cx="502920" cy="502920"/>
          </a:xfrm>
          <a:prstGeom prst="ellipse">
            <a:avLst/>
          </a:prstGeom>
          <a:solidFill>
            <a:srgbClr val="D4A843"/>
          </a:solidFill>
          <a:ln w="12700">
            <a:solidFill>
              <a:srgbClr val="D4A843"/>
            </a:solidFill>
            <a:prstDash val="solid"/>
          </a:ln>
        </p:spPr>
      </p:sp>
      <p:sp>
        <p:nvSpPr>
          <p:cNvPr id="17" name="Text 14"/>
          <p:cNvSpPr/>
          <p:nvPr/>
        </p:nvSpPr>
        <p:spPr>
          <a:xfrm>
            <a:off x="6355080" y="1664208"/>
            <a:ext cx="502920" cy="50292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1</a:t>
            </a:r>
            <a:endParaRPr lang="en-US" sz="1800" dirty="0"/>
          </a:p>
        </p:txBody>
      </p:sp>
      <p:sp>
        <p:nvSpPr>
          <p:cNvPr id="18" name="Text 15"/>
          <p:cNvSpPr/>
          <p:nvPr/>
        </p:nvSpPr>
        <p:spPr>
          <a:xfrm>
            <a:off x="6995160" y="1645920"/>
            <a:ext cx="466344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Total-price MAPE is compound</a:t>
            </a:r>
            <a:endParaRPr lang="en-US" sz="1600" dirty="0"/>
          </a:p>
        </p:txBody>
      </p:sp>
      <p:sp>
        <p:nvSpPr>
          <p:cNvPr id="19" name="Text 16"/>
          <p:cNvSpPr/>
          <p:nvPr/>
        </p:nvSpPr>
        <p:spPr>
          <a:xfrm>
            <a:off x="6995160" y="2103120"/>
            <a:ext cx="4663440" cy="100584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It mixes area mis-specification with unit-price error. Per-sqm framing isolates what practitioners actually compare.</a:t>
            </a:r>
            <a:endParaRPr lang="en-US" sz="1200" dirty="0"/>
          </a:p>
        </p:txBody>
      </p:sp>
      <p:sp>
        <p:nvSpPr>
          <p:cNvPr id="20" name="Shape 17"/>
          <p:cNvSpPr/>
          <p:nvPr/>
        </p:nvSpPr>
        <p:spPr>
          <a:xfrm>
            <a:off x="6355080" y="3291840"/>
            <a:ext cx="502920" cy="502920"/>
          </a:xfrm>
          <a:prstGeom prst="ellipse">
            <a:avLst/>
          </a:prstGeom>
          <a:solidFill>
            <a:srgbClr val="D4A843"/>
          </a:solidFill>
          <a:ln w="12700">
            <a:solidFill>
              <a:srgbClr val="D4A843"/>
            </a:solidFill>
            <a:prstDash val="solid"/>
          </a:ln>
        </p:spPr>
      </p:sp>
      <p:sp>
        <p:nvSpPr>
          <p:cNvPr id="21" name="Text 18"/>
          <p:cNvSpPr/>
          <p:nvPr/>
        </p:nvSpPr>
        <p:spPr>
          <a:xfrm>
            <a:off x="6355080" y="3291840"/>
            <a:ext cx="502920" cy="50292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2</a:t>
            </a:r>
            <a:endParaRPr lang="en-US" sz="1800" dirty="0"/>
          </a:p>
        </p:txBody>
      </p:sp>
      <p:sp>
        <p:nvSpPr>
          <p:cNvPr id="22" name="Text 19"/>
          <p:cNvSpPr/>
          <p:nvPr/>
        </p:nvSpPr>
        <p:spPr>
          <a:xfrm>
            <a:off x="6995160" y="3273552"/>
            <a:ext cx="466344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Asking-price data ceiling</a:t>
            </a:r>
            <a:endParaRPr lang="en-US" sz="1600" dirty="0"/>
          </a:p>
        </p:txBody>
      </p:sp>
      <p:sp>
        <p:nvSpPr>
          <p:cNvPr id="23" name="Text 20"/>
          <p:cNvSpPr/>
          <p:nvPr/>
        </p:nvSpPr>
        <p:spPr>
          <a:xfrm>
            <a:off x="6995160" y="3730752"/>
            <a:ext cx="4663440" cy="100584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We're trained on listings, not deed-of-sale records. No model architecture resolves data-source noise.</a:t>
            </a:r>
            <a:endParaRPr lang="en-US" sz="1200" dirty="0"/>
          </a:p>
        </p:txBody>
      </p:sp>
      <p:sp>
        <p:nvSpPr>
          <p:cNvPr id="24" name="Shape 21"/>
          <p:cNvSpPr/>
          <p:nvPr/>
        </p:nvSpPr>
        <p:spPr>
          <a:xfrm>
            <a:off x="6355080" y="4919472"/>
            <a:ext cx="502920" cy="502920"/>
          </a:xfrm>
          <a:prstGeom prst="ellipse">
            <a:avLst/>
          </a:prstGeom>
          <a:solidFill>
            <a:srgbClr val="D4A843"/>
          </a:solidFill>
          <a:ln w="12700">
            <a:solidFill>
              <a:srgbClr val="D4A843"/>
            </a:solidFill>
            <a:prstDash val="solid"/>
          </a:ln>
        </p:spPr>
      </p:sp>
      <p:sp>
        <p:nvSpPr>
          <p:cNvPr id="25" name="Text 22"/>
          <p:cNvSpPr/>
          <p:nvPr/>
        </p:nvSpPr>
        <p:spPr>
          <a:xfrm>
            <a:off x="6355080" y="4919472"/>
            <a:ext cx="502920" cy="50292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3</a:t>
            </a:r>
            <a:endParaRPr lang="en-US" sz="1800" dirty="0"/>
          </a:p>
        </p:txBody>
      </p:sp>
      <p:sp>
        <p:nvSpPr>
          <p:cNvPr id="26" name="Text 23"/>
          <p:cNvSpPr/>
          <p:nvPr/>
        </p:nvSpPr>
        <p:spPr>
          <a:xfrm>
            <a:off x="6995160" y="4901184"/>
            <a:ext cx="4663440" cy="45720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Decision-support, not appraisal</a:t>
            </a:r>
            <a:endParaRPr lang="en-US" sz="1600" dirty="0"/>
          </a:p>
        </p:txBody>
      </p:sp>
      <p:sp>
        <p:nvSpPr>
          <p:cNvPr id="27" name="Text 24"/>
          <p:cNvSpPr/>
          <p:nvPr/>
        </p:nvSpPr>
        <p:spPr>
          <a:xfrm>
            <a:off x="6995160" y="5358384"/>
            <a:ext cx="4663440" cy="100584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First-generation tool with feature-level SHAP. Banks, LGUs, planners need defensible references — not 3% error.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Performance Across LGUs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Text 4"/>
          <p:cNvSpPr/>
          <p:nvPr/>
        </p:nvSpPr>
        <p:spPr>
          <a:xfrm>
            <a:off x="548640" y="1737360"/>
            <a:ext cx="1554480" cy="45720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Consolacion</a:t>
            </a:r>
            <a:endParaRPr lang="en-US" sz="1300" dirty="0"/>
          </a:p>
        </p:txBody>
      </p:sp>
      <p:sp>
        <p:nvSpPr>
          <p:cNvPr id="8" name="Text 5"/>
          <p:cNvSpPr/>
          <p:nvPr/>
        </p:nvSpPr>
        <p:spPr>
          <a:xfrm>
            <a:off x="2103120" y="1737360"/>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n=21</a:t>
            </a:r>
            <a:endParaRPr lang="en-US" sz="1100" dirty="0"/>
          </a:p>
        </p:txBody>
      </p:sp>
      <p:sp>
        <p:nvSpPr>
          <p:cNvPr id="9" name="Shape 6"/>
          <p:cNvSpPr/>
          <p:nvPr/>
        </p:nvSpPr>
        <p:spPr>
          <a:xfrm>
            <a:off x="2926080" y="1874520"/>
            <a:ext cx="4114800" cy="274320"/>
          </a:xfrm>
          <a:prstGeom prst="rect">
            <a:avLst/>
          </a:prstGeom>
          <a:solidFill>
            <a:srgbClr val="EEF1F6"/>
          </a:solidFill>
          <a:ln w="12700">
            <a:solidFill>
              <a:srgbClr val="EEF1F6"/>
            </a:solidFill>
            <a:prstDash val="solid"/>
          </a:ln>
        </p:spPr>
      </p:sp>
      <p:sp>
        <p:nvSpPr>
          <p:cNvPr id="10" name="Shape 7"/>
          <p:cNvSpPr/>
          <p:nvPr/>
        </p:nvSpPr>
        <p:spPr>
          <a:xfrm>
            <a:off x="2926080" y="1874520"/>
            <a:ext cx="1957469" cy="274320"/>
          </a:xfrm>
          <a:prstGeom prst="rect">
            <a:avLst/>
          </a:prstGeom>
          <a:solidFill>
            <a:srgbClr val="1B2A4A"/>
          </a:solidFill>
          <a:ln w="12700">
            <a:solidFill>
              <a:srgbClr val="1B2A4A"/>
            </a:solidFill>
            <a:prstDash val="solid"/>
          </a:ln>
        </p:spPr>
      </p:sp>
      <p:sp>
        <p:nvSpPr>
          <p:cNvPr id="11" name="Text 8"/>
          <p:cNvSpPr/>
          <p:nvPr/>
        </p:nvSpPr>
        <p:spPr>
          <a:xfrm>
            <a:off x="7132320" y="1737360"/>
            <a:ext cx="731520" cy="457200"/>
          </a:xfrm>
          <a:prstGeom prst="rect">
            <a:avLst/>
          </a:prstGeom>
          <a:noFill/>
          <a:ln/>
        </p:spPr>
        <p:txBody>
          <a:bodyPr wrap="square" rtlCol="0" anchor="ctr"/>
          <a:lstStyle/>
          <a:p>
            <a:pPr algn="r" indent="0" marL="0">
              <a:buNone/>
            </a:pPr>
            <a:r>
              <a:rPr lang="en-US" sz="1300" dirty="0">
                <a:solidFill>
                  <a:srgbClr val="2C3E50"/>
                </a:solidFill>
                <a:latin typeface="Calibri" pitchFamily="34" charset="0"/>
                <a:ea typeface="Calibri" pitchFamily="34" charset="-122"/>
                <a:cs typeface="Calibri" pitchFamily="34" charset="-120"/>
              </a:rPr>
              <a:t>33.3%</a:t>
            </a:r>
            <a:endParaRPr lang="en-US" sz="1300" dirty="0"/>
          </a:p>
        </p:txBody>
      </p:sp>
      <p:sp>
        <p:nvSpPr>
          <p:cNvPr id="12" name="Text 9"/>
          <p:cNvSpPr/>
          <p:nvPr/>
        </p:nvSpPr>
        <p:spPr>
          <a:xfrm>
            <a:off x="548640" y="2395728"/>
            <a:ext cx="1554480" cy="45720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Lapu-Lapu</a:t>
            </a:r>
            <a:endParaRPr lang="en-US" sz="1300" dirty="0"/>
          </a:p>
        </p:txBody>
      </p:sp>
      <p:sp>
        <p:nvSpPr>
          <p:cNvPr id="13" name="Text 10"/>
          <p:cNvSpPr/>
          <p:nvPr/>
        </p:nvSpPr>
        <p:spPr>
          <a:xfrm>
            <a:off x="2103120" y="2395728"/>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n=108</a:t>
            </a:r>
            <a:endParaRPr lang="en-US" sz="1100" dirty="0"/>
          </a:p>
        </p:txBody>
      </p:sp>
      <p:sp>
        <p:nvSpPr>
          <p:cNvPr id="14" name="Shape 11"/>
          <p:cNvSpPr/>
          <p:nvPr/>
        </p:nvSpPr>
        <p:spPr>
          <a:xfrm>
            <a:off x="2926080" y="2532888"/>
            <a:ext cx="4114800" cy="274320"/>
          </a:xfrm>
          <a:prstGeom prst="rect">
            <a:avLst/>
          </a:prstGeom>
          <a:solidFill>
            <a:srgbClr val="EEF1F6"/>
          </a:solidFill>
          <a:ln w="12700">
            <a:solidFill>
              <a:srgbClr val="EEF1F6"/>
            </a:solidFill>
            <a:prstDash val="solid"/>
          </a:ln>
        </p:spPr>
      </p:sp>
      <p:sp>
        <p:nvSpPr>
          <p:cNvPr id="15" name="Shape 12"/>
          <p:cNvSpPr/>
          <p:nvPr/>
        </p:nvSpPr>
        <p:spPr>
          <a:xfrm>
            <a:off x="2926080" y="2532888"/>
            <a:ext cx="2351314" cy="274320"/>
          </a:xfrm>
          <a:prstGeom prst="rect">
            <a:avLst/>
          </a:prstGeom>
          <a:solidFill>
            <a:srgbClr val="D4A843"/>
          </a:solidFill>
          <a:ln w="12700">
            <a:solidFill>
              <a:srgbClr val="D4A843"/>
            </a:solidFill>
            <a:prstDash val="solid"/>
          </a:ln>
        </p:spPr>
      </p:sp>
      <p:sp>
        <p:nvSpPr>
          <p:cNvPr id="16" name="Text 13"/>
          <p:cNvSpPr/>
          <p:nvPr/>
        </p:nvSpPr>
        <p:spPr>
          <a:xfrm>
            <a:off x="7132320" y="2395728"/>
            <a:ext cx="731520" cy="457200"/>
          </a:xfrm>
          <a:prstGeom prst="rect">
            <a:avLst/>
          </a:prstGeom>
          <a:noFill/>
          <a:ln/>
        </p:spPr>
        <p:txBody>
          <a:bodyPr wrap="square"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40%</a:t>
            </a:r>
            <a:endParaRPr lang="en-US" sz="1300" dirty="0"/>
          </a:p>
        </p:txBody>
      </p:sp>
      <p:sp>
        <p:nvSpPr>
          <p:cNvPr id="17" name="Text 14"/>
          <p:cNvSpPr/>
          <p:nvPr/>
        </p:nvSpPr>
        <p:spPr>
          <a:xfrm>
            <a:off x="548640" y="3054096"/>
            <a:ext cx="1554480" cy="45720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Cebu City</a:t>
            </a:r>
            <a:endParaRPr lang="en-US" sz="1300" dirty="0"/>
          </a:p>
        </p:txBody>
      </p:sp>
      <p:sp>
        <p:nvSpPr>
          <p:cNvPr id="18" name="Text 15"/>
          <p:cNvSpPr/>
          <p:nvPr/>
        </p:nvSpPr>
        <p:spPr>
          <a:xfrm>
            <a:off x="2103120" y="3054096"/>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n=86</a:t>
            </a:r>
            <a:endParaRPr lang="en-US" sz="1100" dirty="0"/>
          </a:p>
        </p:txBody>
      </p:sp>
      <p:sp>
        <p:nvSpPr>
          <p:cNvPr id="19" name="Shape 16"/>
          <p:cNvSpPr/>
          <p:nvPr/>
        </p:nvSpPr>
        <p:spPr>
          <a:xfrm>
            <a:off x="2926080" y="3191256"/>
            <a:ext cx="4114800" cy="274320"/>
          </a:xfrm>
          <a:prstGeom prst="rect">
            <a:avLst/>
          </a:prstGeom>
          <a:solidFill>
            <a:srgbClr val="EEF1F6"/>
          </a:solidFill>
          <a:ln w="12700">
            <a:solidFill>
              <a:srgbClr val="EEF1F6"/>
            </a:solidFill>
            <a:prstDash val="solid"/>
          </a:ln>
        </p:spPr>
      </p:sp>
      <p:sp>
        <p:nvSpPr>
          <p:cNvPr id="20" name="Shape 17"/>
          <p:cNvSpPr/>
          <p:nvPr/>
        </p:nvSpPr>
        <p:spPr>
          <a:xfrm>
            <a:off x="2926080" y="3191256"/>
            <a:ext cx="2480637" cy="274320"/>
          </a:xfrm>
          <a:prstGeom prst="rect">
            <a:avLst/>
          </a:prstGeom>
          <a:solidFill>
            <a:srgbClr val="1B2A4A"/>
          </a:solidFill>
          <a:ln w="12700">
            <a:solidFill>
              <a:srgbClr val="1B2A4A"/>
            </a:solidFill>
            <a:prstDash val="solid"/>
          </a:ln>
        </p:spPr>
      </p:sp>
      <p:sp>
        <p:nvSpPr>
          <p:cNvPr id="21" name="Text 18"/>
          <p:cNvSpPr/>
          <p:nvPr/>
        </p:nvSpPr>
        <p:spPr>
          <a:xfrm>
            <a:off x="7132320" y="3054096"/>
            <a:ext cx="731520" cy="457200"/>
          </a:xfrm>
          <a:prstGeom prst="rect">
            <a:avLst/>
          </a:prstGeom>
          <a:noFill/>
          <a:ln/>
        </p:spPr>
        <p:txBody>
          <a:bodyPr wrap="square" rtlCol="0" anchor="ctr"/>
          <a:lstStyle/>
          <a:p>
            <a:pPr algn="r" indent="0" marL="0">
              <a:buNone/>
            </a:pPr>
            <a:r>
              <a:rPr lang="en-US" sz="1300" dirty="0">
                <a:solidFill>
                  <a:srgbClr val="2C3E50"/>
                </a:solidFill>
                <a:latin typeface="Calibri" pitchFamily="34" charset="0"/>
                <a:ea typeface="Calibri" pitchFamily="34" charset="-122"/>
                <a:cs typeface="Calibri" pitchFamily="34" charset="-120"/>
              </a:rPr>
              <a:t>42.2%</a:t>
            </a:r>
            <a:endParaRPr lang="en-US" sz="1300" dirty="0"/>
          </a:p>
        </p:txBody>
      </p:sp>
      <p:sp>
        <p:nvSpPr>
          <p:cNvPr id="22" name="Text 19"/>
          <p:cNvSpPr/>
          <p:nvPr/>
        </p:nvSpPr>
        <p:spPr>
          <a:xfrm>
            <a:off x="548640" y="3712464"/>
            <a:ext cx="1554480" cy="45720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Minglanilla</a:t>
            </a:r>
            <a:endParaRPr lang="en-US" sz="1300" dirty="0"/>
          </a:p>
        </p:txBody>
      </p:sp>
      <p:sp>
        <p:nvSpPr>
          <p:cNvPr id="23" name="Text 20"/>
          <p:cNvSpPr/>
          <p:nvPr/>
        </p:nvSpPr>
        <p:spPr>
          <a:xfrm>
            <a:off x="2103120" y="3712464"/>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n=12</a:t>
            </a:r>
            <a:endParaRPr lang="en-US" sz="1100" dirty="0"/>
          </a:p>
        </p:txBody>
      </p:sp>
      <p:sp>
        <p:nvSpPr>
          <p:cNvPr id="24" name="Shape 21"/>
          <p:cNvSpPr/>
          <p:nvPr/>
        </p:nvSpPr>
        <p:spPr>
          <a:xfrm>
            <a:off x="2926080" y="3849624"/>
            <a:ext cx="4114800" cy="274320"/>
          </a:xfrm>
          <a:prstGeom prst="rect">
            <a:avLst/>
          </a:prstGeom>
          <a:solidFill>
            <a:srgbClr val="EEF1F6"/>
          </a:solidFill>
          <a:ln w="12700">
            <a:solidFill>
              <a:srgbClr val="EEF1F6"/>
            </a:solidFill>
            <a:prstDash val="solid"/>
          </a:ln>
        </p:spPr>
      </p:sp>
      <p:sp>
        <p:nvSpPr>
          <p:cNvPr id="25" name="Shape 22"/>
          <p:cNvSpPr/>
          <p:nvPr/>
        </p:nvSpPr>
        <p:spPr>
          <a:xfrm>
            <a:off x="2926080" y="3849624"/>
            <a:ext cx="2774551" cy="274320"/>
          </a:xfrm>
          <a:prstGeom prst="rect">
            <a:avLst/>
          </a:prstGeom>
          <a:solidFill>
            <a:srgbClr val="1B2A4A"/>
          </a:solidFill>
          <a:ln w="12700">
            <a:solidFill>
              <a:srgbClr val="1B2A4A"/>
            </a:solidFill>
            <a:prstDash val="solid"/>
          </a:ln>
        </p:spPr>
      </p:sp>
      <p:sp>
        <p:nvSpPr>
          <p:cNvPr id="26" name="Text 23"/>
          <p:cNvSpPr/>
          <p:nvPr/>
        </p:nvSpPr>
        <p:spPr>
          <a:xfrm>
            <a:off x="7132320" y="3712464"/>
            <a:ext cx="731520" cy="457200"/>
          </a:xfrm>
          <a:prstGeom prst="rect">
            <a:avLst/>
          </a:prstGeom>
          <a:noFill/>
          <a:ln/>
        </p:spPr>
        <p:txBody>
          <a:bodyPr wrap="square" rtlCol="0" anchor="ctr"/>
          <a:lstStyle/>
          <a:p>
            <a:pPr algn="r" indent="0" marL="0">
              <a:buNone/>
            </a:pPr>
            <a:r>
              <a:rPr lang="en-US" sz="1300" dirty="0">
                <a:solidFill>
                  <a:srgbClr val="2C3E50"/>
                </a:solidFill>
                <a:latin typeface="Calibri" pitchFamily="34" charset="0"/>
                <a:ea typeface="Calibri" pitchFamily="34" charset="-122"/>
                <a:cs typeface="Calibri" pitchFamily="34" charset="-120"/>
              </a:rPr>
              <a:t>47.2%</a:t>
            </a:r>
            <a:endParaRPr lang="en-US" sz="1300" dirty="0"/>
          </a:p>
        </p:txBody>
      </p:sp>
      <p:sp>
        <p:nvSpPr>
          <p:cNvPr id="27" name="Text 24"/>
          <p:cNvSpPr/>
          <p:nvPr/>
        </p:nvSpPr>
        <p:spPr>
          <a:xfrm>
            <a:off x="548640" y="4370832"/>
            <a:ext cx="1554480" cy="45720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Mandaue</a:t>
            </a:r>
            <a:endParaRPr lang="en-US" sz="1300" dirty="0"/>
          </a:p>
        </p:txBody>
      </p:sp>
      <p:sp>
        <p:nvSpPr>
          <p:cNvPr id="28" name="Text 25"/>
          <p:cNvSpPr/>
          <p:nvPr/>
        </p:nvSpPr>
        <p:spPr>
          <a:xfrm>
            <a:off x="2103120" y="4370832"/>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n=64</a:t>
            </a:r>
            <a:endParaRPr lang="en-US" sz="1100" dirty="0"/>
          </a:p>
        </p:txBody>
      </p:sp>
      <p:sp>
        <p:nvSpPr>
          <p:cNvPr id="29" name="Shape 26"/>
          <p:cNvSpPr/>
          <p:nvPr/>
        </p:nvSpPr>
        <p:spPr>
          <a:xfrm>
            <a:off x="2926080" y="4507992"/>
            <a:ext cx="4114800" cy="274320"/>
          </a:xfrm>
          <a:prstGeom prst="rect">
            <a:avLst/>
          </a:prstGeom>
          <a:solidFill>
            <a:srgbClr val="EEF1F6"/>
          </a:solidFill>
          <a:ln w="12700">
            <a:solidFill>
              <a:srgbClr val="EEF1F6"/>
            </a:solidFill>
            <a:prstDash val="solid"/>
          </a:ln>
        </p:spPr>
      </p:sp>
      <p:sp>
        <p:nvSpPr>
          <p:cNvPr id="30" name="Shape 27"/>
          <p:cNvSpPr/>
          <p:nvPr/>
        </p:nvSpPr>
        <p:spPr>
          <a:xfrm>
            <a:off x="2926080" y="4507992"/>
            <a:ext cx="3021439" cy="274320"/>
          </a:xfrm>
          <a:prstGeom prst="rect">
            <a:avLst/>
          </a:prstGeom>
          <a:solidFill>
            <a:srgbClr val="1B2A4A"/>
          </a:solidFill>
          <a:ln w="12700">
            <a:solidFill>
              <a:srgbClr val="1B2A4A"/>
            </a:solidFill>
            <a:prstDash val="solid"/>
          </a:ln>
        </p:spPr>
      </p:sp>
      <p:sp>
        <p:nvSpPr>
          <p:cNvPr id="31" name="Text 28"/>
          <p:cNvSpPr/>
          <p:nvPr/>
        </p:nvSpPr>
        <p:spPr>
          <a:xfrm>
            <a:off x="7132320" y="4370832"/>
            <a:ext cx="731520" cy="457200"/>
          </a:xfrm>
          <a:prstGeom prst="rect">
            <a:avLst/>
          </a:prstGeom>
          <a:noFill/>
          <a:ln/>
        </p:spPr>
        <p:txBody>
          <a:bodyPr wrap="square" rtlCol="0" anchor="ctr"/>
          <a:lstStyle/>
          <a:p>
            <a:pPr algn="r" indent="0" marL="0">
              <a:buNone/>
            </a:pPr>
            <a:r>
              <a:rPr lang="en-US" sz="1300" dirty="0">
                <a:solidFill>
                  <a:srgbClr val="2C3E50"/>
                </a:solidFill>
                <a:latin typeface="Calibri" pitchFamily="34" charset="0"/>
                <a:ea typeface="Calibri" pitchFamily="34" charset="-122"/>
                <a:cs typeface="Calibri" pitchFamily="34" charset="-120"/>
              </a:rPr>
              <a:t>51.4%</a:t>
            </a:r>
            <a:endParaRPr lang="en-US" sz="1300" dirty="0"/>
          </a:p>
        </p:txBody>
      </p:sp>
      <p:sp>
        <p:nvSpPr>
          <p:cNvPr id="32" name="Text 29"/>
          <p:cNvSpPr/>
          <p:nvPr/>
        </p:nvSpPr>
        <p:spPr>
          <a:xfrm>
            <a:off x="548640" y="5029200"/>
            <a:ext cx="1554480" cy="45720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Talisay</a:t>
            </a:r>
            <a:endParaRPr lang="en-US" sz="1300" dirty="0"/>
          </a:p>
        </p:txBody>
      </p:sp>
      <p:sp>
        <p:nvSpPr>
          <p:cNvPr id="33" name="Text 30"/>
          <p:cNvSpPr/>
          <p:nvPr/>
        </p:nvSpPr>
        <p:spPr>
          <a:xfrm>
            <a:off x="2103120" y="5029200"/>
            <a:ext cx="731520" cy="457200"/>
          </a:xfrm>
          <a:prstGeom prst="rect">
            <a:avLst/>
          </a:prstGeom>
          <a:noFill/>
          <a:ln/>
        </p:spPr>
        <p:txBody>
          <a:bodyPr wrap="square" rtlCol="0" anchor="ctr"/>
          <a:lstStyle/>
          <a:p>
            <a:pPr indent="0" marL="0">
              <a:buNone/>
            </a:pPr>
            <a:r>
              <a:rPr lang="en-US" sz="1100" dirty="0">
                <a:solidFill>
                  <a:srgbClr val="7A8699"/>
                </a:solidFill>
                <a:latin typeface="Calibri" pitchFamily="34" charset="0"/>
                <a:ea typeface="Calibri" pitchFamily="34" charset="-122"/>
                <a:cs typeface="Calibri" pitchFamily="34" charset="-120"/>
              </a:rPr>
              <a:t>n=13</a:t>
            </a:r>
            <a:endParaRPr lang="en-US" sz="1100" dirty="0"/>
          </a:p>
        </p:txBody>
      </p:sp>
      <p:sp>
        <p:nvSpPr>
          <p:cNvPr id="34" name="Shape 31"/>
          <p:cNvSpPr/>
          <p:nvPr/>
        </p:nvSpPr>
        <p:spPr>
          <a:xfrm>
            <a:off x="2926080" y="5166360"/>
            <a:ext cx="4114800" cy="274320"/>
          </a:xfrm>
          <a:prstGeom prst="rect">
            <a:avLst/>
          </a:prstGeom>
          <a:solidFill>
            <a:srgbClr val="EEF1F6"/>
          </a:solidFill>
          <a:ln w="12700">
            <a:solidFill>
              <a:srgbClr val="EEF1F6"/>
            </a:solidFill>
            <a:prstDash val="solid"/>
          </a:ln>
        </p:spPr>
      </p:sp>
      <p:sp>
        <p:nvSpPr>
          <p:cNvPr id="35" name="Shape 32"/>
          <p:cNvSpPr/>
          <p:nvPr/>
        </p:nvSpPr>
        <p:spPr>
          <a:xfrm>
            <a:off x="2926080" y="5166360"/>
            <a:ext cx="3867912" cy="274320"/>
          </a:xfrm>
          <a:prstGeom prst="rect">
            <a:avLst/>
          </a:prstGeom>
          <a:solidFill>
            <a:srgbClr val="1B2A4A"/>
          </a:solidFill>
          <a:ln w="12700">
            <a:solidFill>
              <a:srgbClr val="1B2A4A"/>
            </a:solidFill>
            <a:prstDash val="solid"/>
          </a:ln>
        </p:spPr>
      </p:sp>
      <p:sp>
        <p:nvSpPr>
          <p:cNvPr id="36" name="Text 33"/>
          <p:cNvSpPr/>
          <p:nvPr/>
        </p:nvSpPr>
        <p:spPr>
          <a:xfrm>
            <a:off x="7132320" y="5029200"/>
            <a:ext cx="731520" cy="457200"/>
          </a:xfrm>
          <a:prstGeom prst="rect">
            <a:avLst/>
          </a:prstGeom>
          <a:noFill/>
          <a:ln/>
        </p:spPr>
        <p:txBody>
          <a:bodyPr wrap="square" rtlCol="0" anchor="ctr"/>
          <a:lstStyle/>
          <a:p>
            <a:pPr algn="r" indent="0" marL="0">
              <a:buNone/>
            </a:pPr>
            <a:r>
              <a:rPr lang="en-US" sz="1300" dirty="0">
                <a:solidFill>
                  <a:srgbClr val="2C3E50"/>
                </a:solidFill>
                <a:latin typeface="Calibri" pitchFamily="34" charset="0"/>
                <a:ea typeface="Calibri" pitchFamily="34" charset="-122"/>
                <a:cs typeface="Calibri" pitchFamily="34" charset="-120"/>
              </a:rPr>
              <a:t>65.8%</a:t>
            </a:r>
            <a:endParaRPr lang="en-US" sz="1300" dirty="0"/>
          </a:p>
        </p:txBody>
      </p:sp>
      <p:sp>
        <p:nvSpPr>
          <p:cNvPr id="37" name="Text 34"/>
          <p:cNvSpPr/>
          <p:nvPr/>
        </p:nvSpPr>
        <p:spPr>
          <a:xfrm>
            <a:off x="548640" y="1508760"/>
            <a:ext cx="7315200" cy="365760"/>
          </a:xfrm>
          <a:prstGeom prst="rect">
            <a:avLst/>
          </a:prstGeom>
          <a:noFill/>
          <a:ln/>
        </p:spPr>
        <p:txBody>
          <a:bodyPr wrap="square" rtlCol="0" anchor="ctr"/>
          <a:lstStyle/>
          <a:p>
            <a:pPr indent="0" marL="0">
              <a:buNone/>
            </a:pPr>
            <a:r>
              <a:rPr lang="en-US" sz="1100" b="1" spc="200" kern="0" dirty="0">
                <a:solidFill>
                  <a:srgbClr val="7A8699"/>
                </a:solidFill>
                <a:latin typeface="Calibri" pitchFamily="34" charset="0"/>
                <a:ea typeface="Calibri" pitchFamily="34" charset="-122"/>
                <a:cs typeface="Calibri" pitchFamily="34" charset="-120"/>
              </a:rPr>
              <a:t>MAPE by LGU (test set)</a:t>
            </a:r>
            <a:endParaRPr lang="en-US" sz="1100" dirty="0"/>
          </a:p>
        </p:txBody>
      </p:sp>
      <p:sp>
        <p:nvSpPr>
          <p:cNvPr id="38" name="Shape 35"/>
          <p:cNvSpPr/>
          <p:nvPr/>
        </p:nvSpPr>
        <p:spPr>
          <a:xfrm>
            <a:off x="8138160" y="1554480"/>
            <a:ext cx="109728" cy="4754880"/>
          </a:xfrm>
          <a:prstGeom prst="rect">
            <a:avLst/>
          </a:prstGeom>
          <a:solidFill>
            <a:srgbClr val="D4A843"/>
          </a:solidFill>
          <a:ln w="12700">
            <a:solidFill>
              <a:srgbClr val="D4A843"/>
            </a:solidFill>
            <a:prstDash val="solid"/>
          </a:ln>
        </p:spPr>
      </p:sp>
      <p:sp>
        <p:nvSpPr>
          <p:cNvPr id="39" name="Text 36"/>
          <p:cNvSpPr/>
          <p:nvPr/>
        </p:nvSpPr>
        <p:spPr>
          <a:xfrm>
            <a:off x="8412480" y="1554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MOST CREDIBLE</a:t>
            </a:r>
            <a:endParaRPr lang="en-US" sz="1100" dirty="0"/>
          </a:p>
        </p:txBody>
      </p:sp>
      <p:sp>
        <p:nvSpPr>
          <p:cNvPr id="40" name="Text 37"/>
          <p:cNvSpPr/>
          <p:nvPr/>
        </p:nvSpPr>
        <p:spPr>
          <a:xfrm>
            <a:off x="8412480" y="1920240"/>
            <a:ext cx="3291840" cy="457200"/>
          </a:xfrm>
          <a:prstGeom prst="rect">
            <a:avLst/>
          </a:prstGeom>
          <a:noFill/>
          <a:ln/>
        </p:spPr>
        <p:txBody>
          <a:bodyPr wrap="square"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Lapu-Lapu</a:t>
            </a:r>
            <a:endParaRPr lang="en-US" sz="2200" dirty="0"/>
          </a:p>
        </p:txBody>
      </p:sp>
      <p:sp>
        <p:nvSpPr>
          <p:cNvPr id="41" name="Text 38"/>
          <p:cNvSpPr/>
          <p:nvPr/>
        </p:nvSpPr>
        <p:spPr>
          <a:xfrm>
            <a:off x="8412480" y="2423160"/>
            <a:ext cx="3291840" cy="9144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40.0% MAPE on n=108 — largest sample, best-evidenced LGU benchmark.</a:t>
            </a:r>
            <a:endParaRPr lang="en-US" sz="1200" dirty="0"/>
          </a:p>
        </p:txBody>
      </p:sp>
      <p:sp>
        <p:nvSpPr>
          <p:cNvPr id="42" name="Text 39"/>
          <p:cNvSpPr/>
          <p:nvPr/>
        </p:nvSpPr>
        <p:spPr>
          <a:xfrm>
            <a:off x="8412480" y="3657600"/>
            <a:ext cx="3291840" cy="320040"/>
          </a:xfrm>
          <a:prstGeom prst="rect">
            <a:avLst/>
          </a:prstGeom>
          <a:noFill/>
          <a:ln/>
        </p:spPr>
        <p:txBody>
          <a:bodyPr wrap="square" rtlCol="0" anchor="ctr"/>
          <a:lstStyle/>
          <a:p>
            <a:pPr indent="0" marL="0">
              <a:buNone/>
            </a:pPr>
            <a:r>
              <a:rPr lang="en-US" sz="1100" b="1" spc="300" kern="0" dirty="0">
                <a:solidFill>
                  <a:srgbClr val="7A8699"/>
                </a:solidFill>
                <a:latin typeface="Calibri" pitchFamily="34" charset="0"/>
                <a:ea typeface="Calibri" pitchFamily="34" charset="-122"/>
                <a:cs typeface="Calibri" pitchFamily="34" charset="-120"/>
              </a:rPr>
              <a:t>CAUTION</a:t>
            </a:r>
            <a:endParaRPr lang="en-US" sz="1100" dirty="0"/>
          </a:p>
        </p:txBody>
      </p:sp>
      <p:sp>
        <p:nvSpPr>
          <p:cNvPr id="43" name="Text 40"/>
          <p:cNvSpPr/>
          <p:nvPr/>
        </p:nvSpPr>
        <p:spPr>
          <a:xfrm>
            <a:off x="8412480" y="4023360"/>
            <a:ext cx="3291840" cy="1371600"/>
          </a:xfrm>
          <a:prstGeom prst="rect">
            <a:avLst/>
          </a:prstGeom>
          <a:noFill/>
          <a:ln/>
        </p:spPr>
        <p:txBody>
          <a:bodyPr wrap="square" rtlCol="0" anchor="ctr"/>
          <a:lstStyle/>
          <a:p>
            <a:pPr indent="0" marL="0">
              <a:buNone/>
            </a:pPr>
            <a:r>
              <a:rPr lang="en-US" sz="1200" i="1" dirty="0">
                <a:solidFill>
                  <a:srgbClr val="2C3E50"/>
                </a:solidFill>
                <a:latin typeface="Calibri" pitchFamily="34" charset="0"/>
                <a:ea typeface="Calibri" pitchFamily="34" charset="-122"/>
                <a:cs typeface="Calibri" pitchFamily="34" charset="-120"/>
              </a:rPr>
              <a:t>Talisay (n=13) and Minglanilla (n=12): too small for reliable single-LGU estimates. Reported as indicative only.</a:t>
            </a:r>
            <a:endParaRPr lang="en-US" sz="1200" dirty="0"/>
          </a:p>
        </p:txBody>
      </p:sp>
      <p:sp>
        <p:nvSpPr>
          <p:cNvPr id="44" name="Text 41"/>
          <p:cNvSpPr/>
          <p:nvPr/>
        </p:nvSpPr>
        <p:spPr>
          <a:xfrm>
            <a:off x="8412480" y="5852160"/>
            <a:ext cx="3291840" cy="365760"/>
          </a:xfrm>
          <a:prstGeom prst="rect">
            <a:avLst/>
          </a:prstGeom>
          <a:noFill/>
          <a:ln/>
        </p:spPr>
        <p:txBody>
          <a:bodyPr wrap="square" rtlCol="0" anchor="ctr"/>
          <a:lstStyle/>
          <a:p>
            <a:pPr indent="0" marL="0">
              <a:buNone/>
            </a:pPr>
            <a:r>
              <a:rPr lang="en-US" sz="1000" dirty="0">
                <a:solidFill>
                  <a:srgbClr val="7A8699"/>
                </a:solidFill>
                <a:latin typeface="Calibri" pitchFamily="34" charset="0"/>
                <a:ea typeface="Calibri" pitchFamily="34" charset="-122"/>
                <a:cs typeface="Calibri" pitchFamily="34" charset="-120"/>
              </a:rPr>
              <a:t>Source: chapter7_eval_summary_2026-05-05.json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Valuation Gap: Model Prediction vs. BIR Zonal</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7315200" cy="4754880"/>
          </a:xfrm>
          <a:prstGeom prst="roundRect">
            <a:avLst>
              <a:gd name="adj" fmla="val 1538"/>
            </a:avLst>
          </a:prstGeom>
          <a:solidFill>
            <a:srgbClr val="EEF1F6"/>
          </a:solidFill>
          <a:ln w="12700">
            <a:solidFill>
              <a:srgbClr val="C9D1DD"/>
            </a:solidFill>
            <a:prstDash val="solid"/>
          </a:ln>
        </p:spPr>
      </p:sp>
      <p:sp>
        <p:nvSpPr>
          <p:cNvPr id="8" name="Text 5"/>
          <p:cNvSpPr/>
          <p:nvPr/>
        </p:nvSpPr>
        <p:spPr>
          <a:xfrm>
            <a:off x="548640" y="1828800"/>
            <a:ext cx="7315200" cy="365760"/>
          </a:xfrm>
          <a:prstGeom prst="rect">
            <a:avLst/>
          </a:prstGeom>
          <a:noFill/>
          <a:ln/>
        </p:spPr>
        <p:txBody>
          <a:bodyPr wrap="square" rtlCol="0" anchor="ctr"/>
          <a:lstStyle/>
          <a:p>
            <a:pPr algn="ctr" indent="0" marL="0">
              <a:buNone/>
            </a:pPr>
            <a:r>
              <a:rPr lang="en-US" sz="1100" b="1" spc="300" kern="0" dirty="0">
                <a:solidFill>
                  <a:srgbClr val="D4A843"/>
                </a:solidFill>
                <a:latin typeface="Calibri" pitchFamily="34" charset="0"/>
                <a:ea typeface="Calibri" pitchFamily="34" charset="-122"/>
                <a:cs typeface="Calibri" pitchFamily="34" charset="-120"/>
              </a:rPr>
              <a:t>[ DIAGRAM TO ADD ]</a:t>
            </a:r>
            <a:endParaRPr lang="en-US" sz="1100" dirty="0"/>
          </a:p>
        </p:txBody>
      </p:sp>
      <p:sp>
        <p:nvSpPr>
          <p:cNvPr id="9" name="Text 6"/>
          <p:cNvSpPr/>
          <p:nvPr/>
        </p:nvSpPr>
        <p:spPr>
          <a:xfrm>
            <a:off x="548640" y="2194560"/>
            <a:ext cx="7315200" cy="4572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Valuation Gap Map</a:t>
            </a:r>
            <a:endParaRPr lang="en-US" sz="1800" dirty="0"/>
          </a:p>
        </p:txBody>
      </p:sp>
      <p:sp>
        <p:nvSpPr>
          <p:cNvPr id="10" name="Text 7"/>
          <p:cNvSpPr/>
          <p:nvPr/>
        </p:nvSpPr>
        <p:spPr>
          <a:xfrm>
            <a:off x="914400" y="2926080"/>
            <a:ext cx="6583680" cy="320040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Source: build in QGIS using BIR zonal vs. RF model prediction</a:t>
            </a:r>
            <a:endParaRPr lang="en-US" sz="1200" dirty="0"/>
          </a:p>
          <a:p>
            <a:pPr algn="ctr" indent="0" marL="0">
              <a:buNone/>
            </a:pP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Choropleth by barangay: (model_pred − bir_zonal_median) / bir_zonal_median</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Darker = larger upward gap (BIR underestimates market)</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Numeric callouts on top 3–5 gap barangays</a:t>
            </a:r>
            <a:endParaRPr lang="en-US" sz="1200" dirty="0"/>
          </a:p>
        </p:txBody>
      </p:sp>
      <p:sp>
        <p:nvSpPr>
          <p:cNvPr id="11" name="Shape 8"/>
          <p:cNvSpPr/>
          <p:nvPr/>
        </p:nvSpPr>
        <p:spPr>
          <a:xfrm>
            <a:off x="8138160" y="1554480"/>
            <a:ext cx="109728" cy="4754880"/>
          </a:xfrm>
          <a:prstGeom prst="rect">
            <a:avLst/>
          </a:prstGeom>
          <a:solidFill>
            <a:srgbClr val="D4A843"/>
          </a:solidFill>
          <a:ln w="12700">
            <a:solidFill>
              <a:srgbClr val="D4A843"/>
            </a:solidFill>
            <a:prstDash val="solid"/>
          </a:ln>
        </p:spPr>
      </p:sp>
      <p:sp>
        <p:nvSpPr>
          <p:cNvPr id="12" name="Text 9"/>
          <p:cNvSpPr/>
          <p:nvPr/>
        </p:nvSpPr>
        <p:spPr>
          <a:xfrm>
            <a:off x="8412480" y="1554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RQ 4 ANSWER</a:t>
            </a:r>
            <a:endParaRPr lang="en-US" sz="1100" dirty="0"/>
          </a:p>
        </p:txBody>
      </p:sp>
      <p:sp>
        <p:nvSpPr>
          <p:cNvPr id="13" name="Text 10"/>
          <p:cNvSpPr/>
          <p:nvPr/>
        </p:nvSpPr>
        <p:spPr>
          <a:xfrm>
            <a:off x="8412480" y="1920240"/>
            <a:ext cx="3291840" cy="4297680"/>
          </a:xfrm>
          <a:prstGeom prst="rect">
            <a:avLst/>
          </a:prstGeom>
          <a:noFill/>
          <a:ln/>
        </p:spPr>
        <p:txBody>
          <a:bodyPr wrap="square" rtlCol="0" anchor="t"/>
          <a:lstStyle/>
          <a:p>
            <a:pPr marL="342900" indent="-342900">
              <a:spcAft>
                <a:spcPts val="1400"/>
              </a:spcAft>
              <a:buSzPct val="100000"/>
              <a:buChar char="●"/>
            </a:pPr>
            <a:r>
              <a:rPr lang="en-US" sz="1300" dirty="0">
                <a:solidFill>
                  <a:srgbClr val="2C3E50"/>
                </a:solidFill>
                <a:latin typeface="Calibri" pitchFamily="34" charset="0"/>
                <a:ea typeface="Calibri" pitchFamily="34" charset="-122"/>
                <a:cs typeface="Calibri" pitchFamily="34" charset="-120"/>
              </a:rPr>
              <a:t>BIR zonal systematically below model prediction in fast-moving barangays.</a:t>
            </a:r>
            <a:endParaRPr lang="en-US" sz="1300" dirty="0"/>
          </a:p>
          <a:p>
            <a:pPr marL="342900" indent="-342900">
              <a:spcAft>
                <a:spcPts val="1400"/>
              </a:spcAft>
              <a:buSzPct val="100000"/>
              <a:buChar char="●"/>
            </a:pPr>
            <a:r>
              <a:rPr lang="en-US" sz="1300" dirty="0">
                <a:solidFill>
                  <a:srgbClr val="2C3E50"/>
                </a:solidFill>
                <a:latin typeface="Calibri" pitchFamily="34" charset="0"/>
                <a:ea typeface="Calibri" pitchFamily="34" charset="-122"/>
                <a:cs typeface="Calibri" pitchFamily="34" charset="-120"/>
              </a:rPr>
              <a:t>Implication: candidates for LGU zonal-value revision.</a:t>
            </a:r>
            <a:endParaRPr lang="en-US" sz="1300" dirty="0"/>
          </a:p>
          <a:p>
            <a:pPr marL="342900" indent="-342900">
              <a:spcAft>
                <a:spcPts val="1400"/>
              </a:spcAft>
              <a:buSzPct val="100000"/>
              <a:buChar char="●"/>
            </a:pPr>
            <a:r>
              <a:rPr lang="en-US" sz="1300" dirty="0">
                <a:solidFill>
                  <a:srgbClr val="2C3E50"/>
                </a:solidFill>
                <a:latin typeface="Calibri" pitchFamily="34" charset="0"/>
                <a:ea typeface="Calibri" pitchFamily="34" charset="-122"/>
                <a:cs typeface="Calibri" pitchFamily="34" charset="-120"/>
              </a:rPr>
              <a:t>Directly answers RQ4 — the size of the valuation gap.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05</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FIVE</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The Tool</a:t>
            </a:r>
            <a:endParaRPr lang="en-US" sz="4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TOOL</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Streamlit App  ·  Property Predictor</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7315200" cy="4754880"/>
          </a:xfrm>
          <a:prstGeom prst="roundRect">
            <a:avLst>
              <a:gd name="adj" fmla="val 1538"/>
            </a:avLst>
          </a:prstGeom>
          <a:solidFill>
            <a:srgbClr val="EEF1F6"/>
          </a:solidFill>
          <a:ln w="12700">
            <a:solidFill>
              <a:srgbClr val="C9D1DD"/>
            </a:solidFill>
            <a:prstDash val="solid"/>
          </a:ln>
        </p:spPr>
      </p:sp>
      <p:sp>
        <p:nvSpPr>
          <p:cNvPr id="8" name="Text 5"/>
          <p:cNvSpPr/>
          <p:nvPr/>
        </p:nvSpPr>
        <p:spPr>
          <a:xfrm>
            <a:off x="548640" y="1828800"/>
            <a:ext cx="7315200" cy="365760"/>
          </a:xfrm>
          <a:prstGeom prst="rect">
            <a:avLst/>
          </a:prstGeom>
          <a:noFill/>
          <a:ln/>
        </p:spPr>
        <p:txBody>
          <a:bodyPr wrap="square" rtlCol="0" anchor="ctr"/>
          <a:lstStyle/>
          <a:p>
            <a:pPr algn="ctr" indent="0" marL="0">
              <a:buNone/>
            </a:pPr>
            <a:r>
              <a:rPr lang="en-US" sz="1100" b="1" spc="300" kern="0" dirty="0">
                <a:solidFill>
                  <a:srgbClr val="D4A843"/>
                </a:solidFill>
                <a:latin typeface="Calibri" pitchFamily="34" charset="0"/>
                <a:ea typeface="Calibri" pitchFamily="34" charset="-122"/>
                <a:cs typeface="Calibri" pitchFamily="34" charset="-120"/>
              </a:rPr>
              <a:t>[ SCREENSHOT TO ADD ]</a:t>
            </a:r>
            <a:endParaRPr lang="en-US" sz="1100" dirty="0"/>
          </a:p>
        </p:txBody>
      </p:sp>
      <p:sp>
        <p:nvSpPr>
          <p:cNvPr id="9" name="Text 6"/>
          <p:cNvSpPr/>
          <p:nvPr/>
        </p:nvSpPr>
        <p:spPr>
          <a:xfrm>
            <a:off x="548640" y="2194560"/>
            <a:ext cx="7315200" cy="4572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Streamlit Predictor Page</a:t>
            </a:r>
            <a:endParaRPr lang="en-US" sz="1800" dirty="0"/>
          </a:p>
        </p:txBody>
      </p:sp>
      <p:sp>
        <p:nvSpPr>
          <p:cNvPr id="10" name="Text 7"/>
          <p:cNvSpPr/>
          <p:nvPr/>
        </p:nvSpPr>
        <p:spPr>
          <a:xfrm>
            <a:off x="914400" y="2926080"/>
            <a:ext cx="6583680" cy="320040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Source: thesis_main/app/streamlit_app.py</a:t>
            </a:r>
            <a:endParaRPr lang="en-US" sz="1200" dirty="0"/>
          </a:p>
          <a:p>
            <a:pPr algn="ctr" indent="0" marL="0">
              <a:buNone/>
            </a:pP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Capture: input form (property type, area, bedrooms,</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bathrooms, city/barangay) + output (price_per_sqm,</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total price, SHAP waterfall)</a:t>
            </a:r>
            <a:endParaRPr lang="en-US" sz="1200" dirty="0"/>
          </a:p>
        </p:txBody>
      </p:sp>
      <p:sp>
        <p:nvSpPr>
          <p:cNvPr id="11" name="Text 8"/>
          <p:cNvSpPr/>
          <p:nvPr/>
        </p:nvSpPr>
        <p:spPr>
          <a:xfrm>
            <a:off x="8412480" y="1554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INPUTS</a:t>
            </a:r>
            <a:endParaRPr lang="en-US" sz="1100" dirty="0"/>
          </a:p>
        </p:txBody>
      </p:sp>
      <p:sp>
        <p:nvSpPr>
          <p:cNvPr id="12" name="Text 9"/>
          <p:cNvSpPr/>
          <p:nvPr/>
        </p:nvSpPr>
        <p:spPr>
          <a:xfrm>
            <a:off x="8412480" y="1874520"/>
            <a:ext cx="3291840" cy="64008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Property type · Area · Bedrooms · Bathrooms · City / barangay</a:t>
            </a:r>
            <a:endParaRPr lang="en-US" sz="1300" dirty="0"/>
          </a:p>
        </p:txBody>
      </p:sp>
      <p:sp>
        <p:nvSpPr>
          <p:cNvPr id="13" name="Text 10"/>
          <p:cNvSpPr/>
          <p:nvPr/>
        </p:nvSpPr>
        <p:spPr>
          <a:xfrm>
            <a:off x="8412480" y="2697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OUTPUTS</a:t>
            </a:r>
            <a:endParaRPr lang="en-US" sz="1100" dirty="0"/>
          </a:p>
        </p:txBody>
      </p:sp>
      <p:sp>
        <p:nvSpPr>
          <p:cNvPr id="14" name="Text 11"/>
          <p:cNvSpPr/>
          <p:nvPr/>
        </p:nvSpPr>
        <p:spPr>
          <a:xfrm>
            <a:off x="8412480" y="3017520"/>
            <a:ext cx="3291840" cy="64008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price_per_sqm · total price · SHAP waterfall (15 bars)</a:t>
            </a:r>
            <a:endParaRPr lang="en-US" sz="1300" dirty="0"/>
          </a:p>
        </p:txBody>
      </p:sp>
      <p:sp>
        <p:nvSpPr>
          <p:cNvPr id="15" name="Text 12"/>
          <p:cNvSpPr/>
          <p:nvPr/>
        </p:nvSpPr>
        <p:spPr>
          <a:xfrm>
            <a:off x="8412480" y="3840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DEMO</a:t>
            </a:r>
            <a:endParaRPr lang="en-US" sz="1100" dirty="0"/>
          </a:p>
        </p:txBody>
      </p:sp>
      <p:sp>
        <p:nvSpPr>
          <p:cNvPr id="16" name="Shape 13"/>
          <p:cNvSpPr/>
          <p:nvPr/>
        </p:nvSpPr>
        <p:spPr>
          <a:xfrm>
            <a:off x="8412480" y="4160520"/>
            <a:ext cx="3291840" cy="1463040"/>
          </a:xfrm>
          <a:prstGeom prst="roundRect">
            <a:avLst>
              <a:gd name="adj" fmla="val 3750"/>
            </a:avLst>
          </a:prstGeom>
          <a:solidFill>
            <a:srgbClr val="1B2A4A"/>
          </a:solidFill>
          <a:ln w="12700">
            <a:solidFill>
              <a:srgbClr val="1B2A4A"/>
            </a:solidFill>
            <a:prstDash val="solid"/>
          </a:ln>
        </p:spPr>
      </p:sp>
      <p:sp>
        <p:nvSpPr>
          <p:cNvPr id="17" name="Text 14"/>
          <p:cNvSpPr/>
          <p:nvPr/>
        </p:nvSpPr>
        <p:spPr>
          <a:xfrm>
            <a:off x="8412480" y="4206240"/>
            <a:ext cx="3291840" cy="640080"/>
          </a:xfrm>
          <a:prstGeom prst="rect">
            <a:avLst/>
          </a:prstGeom>
          <a:noFill/>
          <a:ln/>
        </p:spPr>
        <p:txBody>
          <a:bodyPr wrap="square" rtlCol="0" anchor="ctr"/>
          <a:lstStyle/>
          <a:p>
            <a:pPr algn="ctr" indent="0" marL="0">
              <a:buNone/>
            </a:pPr>
            <a:r>
              <a:rPr lang="en-US" sz="1100" dirty="0">
                <a:solidFill>
                  <a:srgbClr val="C9D1DD"/>
                </a:solidFill>
                <a:latin typeface="Calibri" pitchFamily="34" charset="0"/>
                <a:ea typeface="Calibri" pitchFamily="34" charset="-122"/>
                <a:cs typeface="Calibri" pitchFamily="34" charset="-120"/>
              </a:rPr>
              <a:t>Single Detached</a:t>
            </a:r>
            <a:endParaRPr lang="en-US" sz="1100" dirty="0"/>
          </a:p>
          <a:p>
            <a:pPr algn="ctr" indent="0" marL="0">
              <a:buNone/>
            </a:pPr>
            <a:r>
              <a:rPr lang="en-US" sz="1100" dirty="0">
                <a:solidFill>
                  <a:srgbClr val="C9D1DD"/>
                </a:solidFill>
                <a:latin typeface="Calibri" pitchFamily="34" charset="0"/>
                <a:ea typeface="Calibri" pitchFamily="34" charset="-122"/>
                <a:cs typeface="Calibri" pitchFamily="34" charset="-120"/>
              </a:rPr>
              <a:t>4 br / 2 ba</a:t>
            </a:r>
            <a:endParaRPr lang="en-US" sz="1100" dirty="0"/>
          </a:p>
          <a:p>
            <a:pPr algn="ctr" indent="0" marL="0">
              <a:buNone/>
            </a:pPr>
            <a:r>
              <a:rPr lang="en-US" sz="1100" dirty="0">
                <a:solidFill>
                  <a:srgbClr val="C9D1DD"/>
                </a:solidFill>
                <a:latin typeface="Calibri" pitchFamily="34" charset="0"/>
                <a:ea typeface="Calibri" pitchFamily="34" charset="-122"/>
                <a:cs typeface="Calibri" pitchFamily="34" charset="-120"/>
              </a:rPr>
              <a:t>Cebu City</a:t>
            </a:r>
            <a:endParaRPr lang="en-US" sz="1100" dirty="0"/>
          </a:p>
        </p:txBody>
      </p:sp>
      <p:sp>
        <p:nvSpPr>
          <p:cNvPr id="18" name="Text 15"/>
          <p:cNvSpPr/>
          <p:nvPr/>
        </p:nvSpPr>
        <p:spPr>
          <a:xfrm>
            <a:off x="8412480" y="4846320"/>
            <a:ext cx="3291840" cy="777240"/>
          </a:xfrm>
          <a:prstGeom prst="rect">
            <a:avLst/>
          </a:prstGeom>
          <a:noFill/>
          <a:ln/>
        </p:spPr>
        <p:txBody>
          <a:bodyPr wrap="square" rtlCol="0" anchor="ctr"/>
          <a:lstStyle/>
          <a:p>
            <a:pPr algn="ctr" indent="0" marL="0">
              <a:buNone/>
            </a:pPr>
            <a:r>
              <a:rPr lang="en-US" sz="1300" b="1" dirty="0">
                <a:solidFill>
                  <a:srgbClr val="D4A843"/>
                </a:solidFill>
                <a:latin typeface="Calibri" pitchFamily="34" charset="0"/>
                <a:ea typeface="Calibri" pitchFamily="34" charset="-122"/>
                <a:cs typeface="Calibri" pitchFamily="34" charset="-120"/>
              </a:rPr>
              <a:t>PHP 176,661 / sqm</a:t>
            </a:r>
            <a:endParaRPr lang="en-US" sz="1300" dirty="0"/>
          </a:p>
          <a:p>
            <a:pPr algn="ctr" indent="0" marL="0">
              <a:buNone/>
            </a:pPr>
            <a:r>
              <a:rPr lang="en-US" sz="1300" b="1" dirty="0">
                <a:solidFill>
                  <a:srgbClr val="D4A843"/>
                </a:solidFill>
                <a:latin typeface="Calibri" pitchFamily="34" charset="0"/>
                <a:ea typeface="Calibri" pitchFamily="34" charset="-122"/>
                <a:cs typeface="Calibri" pitchFamily="34" charset="-120"/>
              </a:rPr>
              <a:t>PHP 17.67 M total</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TOOL</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Streamlit App  ·  Price Surface</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7315200" cy="4754880"/>
          </a:xfrm>
          <a:prstGeom prst="roundRect">
            <a:avLst>
              <a:gd name="adj" fmla="val 1538"/>
            </a:avLst>
          </a:prstGeom>
          <a:solidFill>
            <a:srgbClr val="EEF1F6"/>
          </a:solidFill>
          <a:ln w="12700">
            <a:solidFill>
              <a:srgbClr val="C9D1DD"/>
            </a:solidFill>
            <a:prstDash val="solid"/>
          </a:ln>
        </p:spPr>
      </p:sp>
      <p:sp>
        <p:nvSpPr>
          <p:cNvPr id="8" name="Text 5"/>
          <p:cNvSpPr/>
          <p:nvPr/>
        </p:nvSpPr>
        <p:spPr>
          <a:xfrm>
            <a:off x="548640" y="1828800"/>
            <a:ext cx="7315200" cy="365760"/>
          </a:xfrm>
          <a:prstGeom prst="rect">
            <a:avLst/>
          </a:prstGeom>
          <a:noFill/>
          <a:ln/>
        </p:spPr>
        <p:txBody>
          <a:bodyPr wrap="square" rtlCol="0" anchor="ctr"/>
          <a:lstStyle/>
          <a:p>
            <a:pPr algn="ctr" indent="0" marL="0">
              <a:buNone/>
            </a:pPr>
            <a:r>
              <a:rPr lang="en-US" sz="1100" b="1" spc="300" kern="0" dirty="0">
                <a:solidFill>
                  <a:srgbClr val="D4A843"/>
                </a:solidFill>
                <a:latin typeface="Calibri" pitchFamily="34" charset="0"/>
                <a:ea typeface="Calibri" pitchFamily="34" charset="-122"/>
                <a:cs typeface="Calibri" pitchFamily="34" charset="-120"/>
              </a:rPr>
              <a:t>[ SCREENSHOT TO ADD ]</a:t>
            </a:r>
            <a:endParaRPr lang="en-US" sz="1100" dirty="0"/>
          </a:p>
        </p:txBody>
      </p:sp>
      <p:sp>
        <p:nvSpPr>
          <p:cNvPr id="9" name="Text 6"/>
          <p:cNvSpPr/>
          <p:nvPr/>
        </p:nvSpPr>
        <p:spPr>
          <a:xfrm>
            <a:off x="548640" y="2194560"/>
            <a:ext cx="7315200" cy="457200"/>
          </a:xfrm>
          <a:prstGeom prst="rect">
            <a:avLst/>
          </a:prstGeom>
          <a:noFill/>
          <a:ln/>
        </p:spPr>
        <p:txBody>
          <a:bodyPr wrap="square" rtlCol="0" anchor="ctr"/>
          <a:lstStyle/>
          <a:p>
            <a:pPr algn="ctr" indent="0" marL="0">
              <a:buNone/>
            </a:pPr>
            <a:r>
              <a:rPr lang="en-US" sz="1800" b="1" dirty="0">
                <a:solidFill>
                  <a:srgbClr val="1B2A4A"/>
                </a:solidFill>
                <a:latin typeface="Calibri" pitchFamily="34" charset="0"/>
                <a:ea typeface="Calibri" pitchFamily="34" charset="-122"/>
                <a:cs typeface="Calibri" pitchFamily="34" charset="-120"/>
              </a:rPr>
              <a:t>Streamlit Price Surface Map</a:t>
            </a:r>
            <a:endParaRPr lang="en-US" sz="1800" dirty="0"/>
          </a:p>
        </p:txBody>
      </p:sp>
      <p:sp>
        <p:nvSpPr>
          <p:cNvPr id="10" name="Text 7"/>
          <p:cNvSpPr/>
          <p:nvPr/>
        </p:nvSpPr>
        <p:spPr>
          <a:xfrm>
            <a:off x="914400" y="2926080"/>
            <a:ext cx="6583680" cy="3200400"/>
          </a:xfrm>
          <a:prstGeom prst="rect">
            <a:avLst/>
          </a:prstGeom>
          <a:noFill/>
          <a:ln/>
        </p:spPr>
        <p:txBody>
          <a:bodyPr wrap="square" rtlCol="0" anchor="t"/>
          <a:lstStyle/>
          <a:p>
            <a:pPr algn="ctr" indent="0" marL="0">
              <a:buNone/>
            </a:pPr>
            <a:r>
              <a:rPr lang="en-US" sz="1200" i="1" dirty="0">
                <a:solidFill>
                  <a:srgbClr val="7A8699"/>
                </a:solidFill>
                <a:latin typeface="Calibri" pitchFamily="34" charset="0"/>
                <a:ea typeface="Calibri" pitchFamily="34" charset="-122"/>
                <a:cs typeface="Calibri" pitchFamily="34" charset="-120"/>
              </a:rPr>
              <a:t>Source: thesis_main/app/streamlit_app.py · Price Surface page</a:t>
            </a:r>
            <a:endParaRPr lang="en-US" sz="1200" dirty="0"/>
          </a:p>
          <a:p>
            <a:pPr algn="ctr" indent="0" marL="0">
              <a:buNone/>
            </a:pP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Capture: hex/point layer over Metro Cebu basemap</a:t>
            </a:r>
            <a:endParaRPr lang="en-US" sz="1200" dirty="0"/>
          </a:p>
          <a:p>
            <a:pPr algn="ctr" indent="0" marL="0">
              <a:buNone/>
            </a:pPr>
            <a:r>
              <a:rPr lang="en-US" sz="1200" i="1" dirty="0">
                <a:solidFill>
                  <a:srgbClr val="7A8699"/>
                </a:solidFill>
                <a:latin typeface="Calibri" pitchFamily="34" charset="0"/>
                <a:ea typeface="Calibri" pitchFamily="34" charset="-122"/>
                <a:cs typeface="Calibri" pitchFamily="34" charset="-120"/>
              </a:rPr>
              <a:t>colored by RF predicted price_per_sqm</a:t>
            </a:r>
            <a:endParaRPr lang="en-US" sz="1200" dirty="0"/>
          </a:p>
        </p:txBody>
      </p:sp>
      <p:sp>
        <p:nvSpPr>
          <p:cNvPr id="11" name="Shape 8"/>
          <p:cNvSpPr/>
          <p:nvPr/>
        </p:nvSpPr>
        <p:spPr>
          <a:xfrm>
            <a:off x="8138160" y="1554480"/>
            <a:ext cx="109728" cy="4754880"/>
          </a:xfrm>
          <a:prstGeom prst="rect">
            <a:avLst/>
          </a:prstGeom>
          <a:solidFill>
            <a:srgbClr val="D4A843"/>
          </a:solidFill>
          <a:ln w="12700">
            <a:solidFill>
              <a:srgbClr val="D4A843"/>
            </a:solidFill>
            <a:prstDash val="solid"/>
          </a:ln>
        </p:spPr>
      </p:sp>
      <p:sp>
        <p:nvSpPr>
          <p:cNvPr id="12" name="Text 9"/>
          <p:cNvSpPr/>
          <p:nvPr/>
        </p:nvSpPr>
        <p:spPr>
          <a:xfrm>
            <a:off x="8412480" y="1554480"/>
            <a:ext cx="3291840" cy="32004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WHAT IT SHOWS</a:t>
            </a:r>
            <a:endParaRPr lang="en-US" sz="1100" dirty="0"/>
          </a:p>
        </p:txBody>
      </p:sp>
      <p:sp>
        <p:nvSpPr>
          <p:cNvPr id="13" name="Text 10"/>
          <p:cNvSpPr/>
          <p:nvPr/>
        </p:nvSpPr>
        <p:spPr>
          <a:xfrm>
            <a:off x="8412480" y="1920240"/>
            <a:ext cx="3291840" cy="4389120"/>
          </a:xfrm>
          <a:prstGeom prst="rect">
            <a:avLst/>
          </a:prstGeom>
          <a:noFill/>
          <a:ln/>
        </p:spPr>
        <p:txBody>
          <a:bodyPr wrap="square" rtlCol="0" anchor="t"/>
          <a:lstStyle/>
          <a:p>
            <a:pPr marL="342900" indent="-342900">
              <a:spcAft>
                <a:spcPts val="1200"/>
              </a:spcAft>
              <a:buSzPct val="100000"/>
              <a:buChar char="●"/>
            </a:pPr>
            <a:r>
              <a:rPr lang="en-US" sz="1300" dirty="0">
                <a:solidFill>
                  <a:srgbClr val="2C3E50"/>
                </a:solidFill>
                <a:latin typeface="Calibri" pitchFamily="34" charset="0"/>
                <a:ea typeface="Calibri" pitchFamily="34" charset="-122"/>
                <a:cs typeface="Calibri" pitchFamily="34" charset="-120"/>
              </a:rPr>
              <a:t>Predicted open-market price across Metro Cebu (open_market scope)</a:t>
            </a:r>
            <a:endParaRPr lang="en-US" sz="1300" dirty="0"/>
          </a:p>
          <a:p>
            <a:pPr marL="342900" indent="-342900">
              <a:spcAft>
                <a:spcPts val="1200"/>
              </a:spcAft>
              <a:buSzPct val="100000"/>
              <a:buChar char="●"/>
            </a:pPr>
            <a:r>
              <a:rPr lang="en-US" sz="1300" dirty="0">
                <a:solidFill>
                  <a:srgbClr val="2C3E50"/>
                </a:solidFill>
                <a:latin typeface="Calibri" pitchFamily="34" charset="0"/>
                <a:ea typeface="Calibri" pitchFamily="34" charset="-122"/>
                <a:cs typeface="Calibri" pitchFamily="34" charset="-120"/>
              </a:rPr>
              <a:t>Hex / point layer over basemap</a:t>
            </a:r>
            <a:endParaRPr lang="en-US" sz="1300" dirty="0"/>
          </a:p>
          <a:p>
            <a:pPr marL="342900" indent="-342900">
              <a:spcAft>
                <a:spcPts val="1200"/>
              </a:spcAft>
              <a:buSzPct val="100000"/>
              <a:buChar char="●"/>
            </a:pPr>
            <a:r>
              <a:rPr lang="en-US" sz="1300" dirty="0">
                <a:solidFill>
                  <a:srgbClr val="2C3E50"/>
                </a:solidFill>
                <a:latin typeface="Calibri" pitchFamily="34" charset="0"/>
                <a:ea typeface="Calibri" pitchFamily="34" charset="-122"/>
                <a:cs typeface="Calibri" pitchFamily="34" charset="-120"/>
              </a:rPr>
              <a:t>Spatial scan of relative price levels — including barangays without current listings</a:t>
            </a:r>
            <a:endParaRPr lang="en-US" sz="1300" dirty="0"/>
          </a:p>
          <a:p>
            <a:pPr marL="342900" indent="-342900">
              <a:spcAft>
                <a:spcPts val="1200"/>
              </a:spcAft>
              <a:buSzPct val="100000"/>
              <a:buChar char="●"/>
            </a:pPr>
            <a:r>
              <a:rPr lang="en-US" sz="1300" dirty="0">
                <a:solidFill>
                  <a:srgbClr val="2C3E50"/>
                </a:solidFill>
                <a:latin typeface="Calibri" pitchFamily="34" charset="0"/>
                <a:ea typeface="Calibri" pitchFamily="34" charset="-122"/>
                <a:cs typeface="Calibri" pitchFamily="34" charset="-120"/>
              </a:rPr>
              <a:t>Backed by deployed Random Forest model (rf_model.pkl)</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THE TOOL</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How Practitioners Would Use This</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85216" y="1554480"/>
            <a:ext cx="5349240" cy="2103120"/>
          </a:xfrm>
          <a:prstGeom prst="roundRect">
            <a:avLst>
              <a:gd name="adj" fmla="val 3478"/>
            </a:avLst>
          </a:prstGeom>
          <a:solidFill>
            <a:srgbClr val="FFFFFF"/>
          </a:solidFill>
          <a:ln w="12700">
            <a:solidFill>
              <a:srgbClr val="C9D1DD"/>
            </a:solidFill>
            <a:prstDash val="solid"/>
          </a:ln>
        </p:spPr>
      </p:sp>
      <p:sp>
        <p:nvSpPr>
          <p:cNvPr id="8" name="Shape 5"/>
          <p:cNvSpPr/>
          <p:nvPr/>
        </p:nvSpPr>
        <p:spPr>
          <a:xfrm>
            <a:off x="585216" y="1554480"/>
            <a:ext cx="109728" cy="2103120"/>
          </a:xfrm>
          <a:prstGeom prst="rect">
            <a:avLst/>
          </a:prstGeom>
          <a:solidFill>
            <a:srgbClr val="D4A843"/>
          </a:solidFill>
          <a:ln w="12700">
            <a:solidFill>
              <a:srgbClr val="D4A843"/>
            </a:solidFill>
            <a:prstDash val="solid"/>
          </a:ln>
        </p:spPr>
      </p:sp>
      <p:sp>
        <p:nvSpPr>
          <p:cNvPr id="9" name="Shape 6"/>
          <p:cNvSpPr/>
          <p:nvPr/>
        </p:nvSpPr>
        <p:spPr>
          <a:xfrm>
            <a:off x="859536" y="1828800"/>
            <a:ext cx="457200" cy="457200"/>
          </a:xfrm>
          <a:prstGeom prst="ellipse">
            <a:avLst/>
          </a:prstGeom>
          <a:solidFill>
            <a:srgbClr val="D4A843"/>
          </a:solidFill>
          <a:ln w="12700">
            <a:solidFill>
              <a:srgbClr val="D4A843"/>
            </a:solidFill>
            <a:prstDash val="solid"/>
          </a:ln>
        </p:spPr>
      </p:sp>
      <p:sp>
        <p:nvSpPr>
          <p:cNvPr id="10" name="Text 7"/>
          <p:cNvSpPr/>
          <p:nvPr/>
        </p:nvSpPr>
        <p:spPr>
          <a:xfrm>
            <a:off x="85953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a:t>
            </a:r>
            <a:endParaRPr lang="en-US" sz="1600" dirty="0"/>
          </a:p>
        </p:txBody>
      </p:sp>
      <p:sp>
        <p:nvSpPr>
          <p:cNvPr id="11" name="Text 8"/>
          <p:cNvSpPr/>
          <p:nvPr/>
        </p:nvSpPr>
        <p:spPr>
          <a:xfrm>
            <a:off x="1453896" y="1828800"/>
            <a:ext cx="425196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Banks</a:t>
            </a:r>
            <a:endParaRPr lang="en-US" sz="1600" dirty="0"/>
          </a:p>
        </p:txBody>
      </p:sp>
      <p:sp>
        <p:nvSpPr>
          <p:cNvPr id="12" name="Text 9"/>
          <p:cNvSpPr/>
          <p:nvPr/>
        </p:nvSpPr>
        <p:spPr>
          <a:xfrm>
            <a:off x="859536" y="2423160"/>
            <a:ext cx="480060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First-pass collateral benchmark before full appraisal engagement.</a:t>
            </a:r>
            <a:endParaRPr lang="en-US" sz="1300" dirty="0"/>
          </a:p>
        </p:txBody>
      </p:sp>
      <p:sp>
        <p:nvSpPr>
          <p:cNvPr id="13" name="Shape 10"/>
          <p:cNvSpPr/>
          <p:nvPr/>
        </p:nvSpPr>
        <p:spPr>
          <a:xfrm>
            <a:off x="6254496" y="1554480"/>
            <a:ext cx="5349240" cy="2103120"/>
          </a:xfrm>
          <a:prstGeom prst="roundRect">
            <a:avLst>
              <a:gd name="adj" fmla="val 3478"/>
            </a:avLst>
          </a:prstGeom>
          <a:solidFill>
            <a:srgbClr val="FFFFFF"/>
          </a:solidFill>
          <a:ln w="12700">
            <a:solidFill>
              <a:srgbClr val="C9D1DD"/>
            </a:solidFill>
            <a:prstDash val="solid"/>
          </a:ln>
        </p:spPr>
      </p:sp>
      <p:sp>
        <p:nvSpPr>
          <p:cNvPr id="14" name="Shape 11"/>
          <p:cNvSpPr/>
          <p:nvPr/>
        </p:nvSpPr>
        <p:spPr>
          <a:xfrm>
            <a:off x="6254496" y="1554480"/>
            <a:ext cx="109728" cy="2103120"/>
          </a:xfrm>
          <a:prstGeom prst="rect">
            <a:avLst/>
          </a:prstGeom>
          <a:solidFill>
            <a:srgbClr val="D4A843"/>
          </a:solidFill>
          <a:ln w="12700">
            <a:solidFill>
              <a:srgbClr val="D4A843"/>
            </a:solidFill>
            <a:prstDash val="solid"/>
          </a:ln>
        </p:spPr>
      </p:sp>
      <p:sp>
        <p:nvSpPr>
          <p:cNvPr id="15" name="Shape 12"/>
          <p:cNvSpPr/>
          <p:nvPr/>
        </p:nvSpPr>
        <p:spPr>
          <a:xfrm>
            <a:off x="6528816" y="1828800"/>
            <a:ext cx="457200" cy="457200"/>
          </a:xfrm>
          <a:prstGeom prst="ellipse">
            <a:avLst/>
          </a:prstGeom>
          <a:solidFill>
            <a:srgbClr val="D4A843"/>
          </a:solidFill>
          <a:ln w="12700">
            <a:solidFill>
              <a:srgbClr val="D4A843"/>
            </a:solidFill>
            <a:prstDash val="solid"/>
          </a:ln>
        </p:spPr>
      </p:sp>
      <p:sp>
        <p:nvSpPr>
          <p:cNvPr id="16" name="Text 13"/>
          <p:cNvSpPr/>
          <p:nvPr/>
        </p:nvSpPr>
        <p:spPr>
          <a:xfrm>
            <a:off x="6528816" y="182880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L</a:t>
            </a:r>
            <a:endParaRPr lang="en-US" sz="1600" dirty="0"/>
          </a:p>
        </p:txBody>
      </p:sp>
      <p:sp>
        <p:nvSpPr>
          <p:cNvPr id="17" name="Text 14"/>
          <p:cNvSpPr/>
          <p:nvPr/>
        </p:nvSpPr>
        <p:spPr>
          <a:xfrm>
            <a:off x="7123176" y="1828800"/>
            <a:ext cx="425196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LGUs</a:t>
            </a:r>
            <a:endParaRPr lang="en-US" sz="1600" dirty="0"/>
          </a:p>
        </p:txBody>
      </p:sp>
      <p:sp>
        <p:nvSpPr>
          <p:cNvPr id="18" name="Text 15"/>
          <p:cNvSpPr/>
          <p:nvPr/>
        </p:nvSpPr>
        <p:spPr>
          <a:xfrm>
            <a:off x="6528816" y="2423160"/>
            <a:ext cx="480060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Barangay-level evidence base for zonal-value revision.</a:t>
            </a:r>
            <a:endParaRPr lang="en-US" sz="1300" dirty="0"/>
          </a:p>
        </p:txBody>
      </p:sp>
      <p:sp>
        <p:nvSpPr>
          <p:cNvPr id="19" name="Shape 16"/>
          <p:cNvSpPr/>
          <p:nvPr/>
        </p:nvSpPr>
        <p:spPr>
          <a:xfrm>
            <a:off x="585216" y="4023360"/>
            <a:ext cx="5349240" cy="2103120"/>
          </a:xfrm>
          <a:prstGeom prst="roundRect">
            <a:avLst>
              <a:gd name="adj" fmla="val 3478"/>
            </a:avLst>
          </a:prstGeom>
          <a:solidFill>
            <a:srgbClr val="FFFFFF"/>
          </a:solidFill>
          <a:ln w="12700">
            <a:solidFill>
              <a:srgbClr val="C9D1DD"/>
            </a:solidFill>
            <a:prstDash val="solid"/>
          </a:ln>
        </p:spPr>
      </p:sp>
      <p:sp>
        <p:nvSpPr>
          <p:cNvPr id="20" name="Shape 17"/>
          <p:cNvSpPr/>
          <p:nvPr/>
        </p:nvSpPr>
        <p:spPr>
          <a:xfrm>
            <a:off x="585216" y="4023360"/>
            <a:ext cx="109728" cy="2103120"/>
          </a:xfrm>
          <a:prstGeom prst="rect">
            <a:avLst/>
          </a:prstGeom>
          <a:solidFill>
            <a:srgbClr val="D4A843"/>
          </a:solidFill>
          <a:ln w="12700">
            <a:solidFill>
              <a:srgbClr val="D4A843"/>
            </a:solidFill>
            <a:prstDash val="solid"/>
          </a:ln>
        </p:spPr>
      </p:sp>
      <p:sp>
        <p:nvSpPr>
          <p:cNvPr id="21" name="Shape 18"/>
          <p:cNvSpPr/>
          <p:nvPr/>
        </p:nvSpPr>
        <p:spPr>
          <a:xfrm>
            <a:off x="859536" y="4297680"/>
            <a:ext cx="457200" cy="457200"/>
          </a:xfrm>
          <a:prstGeom prst="ellipse">
            <a:avLst/>
          </a:prstGeom>
          <a:solidFill>
            <a:srgbClr val="D4A843"/>
          </a:solidFill>
          <a:ln w="12700">
            <a:solidFill>
              <a:srgbClr val="D4A843"/>
            </a:solidFill>
            <a:prstDash val="solid"/>
          </a:ln>
        </p:spPr>
      </p:sp>
      <p:sp>
        <p:nvSpPr>
          <p:cNvPr id="22" name="Text 19"/>
          <p:cNvSpPr/>
          <p:nvPr/>
        </p:nvSpPr>
        <p:spPr>
          <a:xfrm>
            <a:off x="859536" y="429768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B/S</a:t>
            </a:r>
            <a:endParaRPr lang="en-US" sz="1600" dirty="0"/>
          </a:p>
        </p:txBody>
      </p:sp>
      <p:sp>
        <p:nvSpPr>
          <p:cNvPr id="23" name="Text 20"/>
          <p:cNvSpPr/>
          <p:nvPr/>
        </p:nvSpPr>
        <p:spPr>
          <a:xfrm>
            <a:off x="1453896" y="4297680"/>
            <a:ext cx="425196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Buyers / Sellers</a:t>
            </a:r>
            <a:endParaRPr lang="en-US" sz="1600" dirty="0"/>
          </a:p>
        </p:txBody>
      </p:sp>
      <p:sp>
        <p:nvSpPr>
          <p:cNvPr id="24" name="Text 21"/>
          <p:cNvSpPr/>
          <p:nvPr/>
        </p:nvSpPr>
        <p:spPr>
          <a:xfrm>
            <a:off x="859536" y="4892040"/>
            <a:ext cx="480060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Transparent reference price with feature-level explanation (SHAP).</a:t>
            </a:r>
            <a:endParaRPr lang="en-US" sz="1300" dirty="0"/>
          </a:p>
        </p:txBody>
      </p:sp>
      <p:sp>
        <p:nvSpPr>
          <p:cNvPr id="25" name="Shape 22"/>
          <p:cNvSpPr/>
          <p:nvPr/>
        </p:nvSpPr>
        <p:spPr>
          <a:xfrm>
            <a:off x="6254496" y="4023360"/>
            <a:ext cx="5349240" cy="2103120"/>
          </a:xfrm>
          <a:prstGeom prst="roundRect">
            <a:avLst>
              <a:gd name="adj" fmla="val 3478"/>
            </a:avLst>
          </a:prstGeom>
          <a:solidFill>
            <a:srgbClr val="FFFFFF"/>
          </a:solidFill>
          <a:ln w="12700">
            <a:solidFill>
              <a:srgbClr val="C9D1DD"/>
            </a:solidFill>
            <a:prstDash val="solid"/>
          </a:ln>
        </p:spPr>
      </p:sp>
      <p:sp>
        <p:nvSpPr>
          <p:cNvPr id="26" name="Shape 23"/>
          <p:cNvSpPr/>
          <p:nvPr/>
        </p:nvSpPr>
        <p:spPr>
          <a:xfrm>
            <a:off x="6254496" y="4023360"/>
            <a:ext cx="109728" cy="2103120"/>
          </a:xfrm>
          <a:prstGeom prst="rect">
            <a:avLst/>
          </a:prstGeom>
          <a:solidFill>
            <a:srgbClr val="D4A843"/>
          </a:solidFill>
          <a:ln w="12700">
            <a:solidFill>
              <a:srgbClr val="D4A843"/>
            </a:solidFill>
            <a:prstDash val="solid"/>
          </a:ln>
        </p:spPr>
      </p:sp>
      <p:sp>
        <p:nvSpPr>
          <p:cNvPr id="27" name="Shape 24"/>
          <p:cNvSpPr/>
          <p:nvPr/>
        </p:nvSpPr>
        <p:spPr>
          <a:xfrm>
            <a:off x="6528816" y="4297680"/>
            <a:ext cx="457200" cy="457200"/>
          </a:xfrm>
          <a:prstGeom prst="ellipse">
            <a:avLst/>
          </a:prstGeom>
          <a:solidFill>
            <a:srgbClr val="D4A843"/>
          </a:solidFill>
          <a:ln w="12700">
            <a:solidFill>
              <a:srgbClr val="D4A843"/>
            </a:solidFill>
            <a:prstDash val="solid"/>
          </a:ln>
        </p:spPr>
      </p:sp>
      <p:sp>
        <p:nvSpPr>
          <p:cNvPr id="28" name="Text 25"/>
          <p:cNvSpPr/>
          <p:nvPr/>
        </p:nvSpPr>
        <p:spPr>
          <a:xfrm>
            <a:off x="6528816" y="4297680"/>
            <a:ext cx="457200" cy="457200"/>
          </a:xfrm>
          <a:prstGeom prst="rect">
            <a:avLst/>
          </a:prstGeom>
          <a:noFill/>
          <a:ln/>
        </p:spPr>
        <p:txBody>
          <a:bodyPr wrap="square"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U</a:t>
            </a:r>
            <a:endParaRPr lang="en-US" sz="1600" dirty="0"/>
          </a:p>
        </p:txBody>
      </p:sp>
      <p:sp>
        <p:nvSpPr>
          <p:cNvPr id="29" name="Text 26"/>
          <p:cNvSpPr/>
          <p:nvPr/>
        </p:nvSpPr>
        <p:spPr>
          <a:xfrm>
            <a:off x="7123176" y="4297680"/>
            <a:ext cx="4251960" cy="457200"/>
          </a:xfrm>
          <a:prstGeom prst="rect">
            <a:avLst/>
          </a:prstGeom>
          <a:noFill/>
          <a:ln/>
        </p:spPr>
        <p:txBody>
          <a:bodyPr wrap="square" rtlCol="0" anchor="ctr"/>
          <a:lstStyle/>
          <a:p>
            <a:pPr algn="l" indent="0" marL="0">
              <a:buNone/>
            </a:pPr>
            <a:r>
              <a:rPr lang="en-US" sz="1600" b="1" dirty="0">
                <a:solidFill>
                  <a:srgbClr val="1B2A4A"/>
                </a:solidFill>
                <a:latin typeface="Calibri" pitchFamily="34" charset="0"/>
                <a:ea typeface="Calibri" pitchFamily="34" charset="-122"/>
                <a:cs typeface="Calibri" pitchFamily="34" charset="-120"/>
              </a:rPr>
              <a:t>Urban Planners</a:t>
            </a:r>
            <a:endParaRPr lang="en-US" sz="1600" dirty="0"/>
          </a:p>
        </p:txBody>
      </p:sp>
      <p:sp>
        <p:nvSpPr>
          <p:cNvPr id="30" name="Text 27"/>
          <p:cNvSpPr/>
          <p:nvPr/>
        </p:nvSpPr>
        <p:spPr>
          <a:xfrm>
            <a:off x="6528816" y="4892040"/>
            <a:ext cx="4800600" cy="1097280"/>
          </a:xfrm>
          <a:prstGeom prst="rect">
            <a:avLst/>
          </a:prstGeom>
          <a:noFill/>
          <a:ln/>
        </p:spPr>
        <p:txBody>
          <a:bodyPr wrap="square" rtlCol="0" anchor="t"/>
          <a:lstStyle/>
          <a:p>
            <a:pPr algn="l" indent="0" marL="0">
              <a:spcAft>
                <a:spcPts val="400"/>
              </a:spcAft>
              <a:buNone/>
            </a:pPr>
            <a:r>
              <a:rPr lang="en-US" sz="1300" dirty="0">
                <a:solidFill>
                  <a:srgbClr val="2C3E50"/>
                </a:solidFill>
                <a:latin typeface="Calibri" pitchFamily="34" charset="0"/>
                <a:ea typeface="Calibri" pitchFamily="34" charset="-122"/>
                <a:cs typeface="Calibri" pitchFamily="34" charset="-120"/>
              </a:rPr>
              <a:t>Accessibility-premium mapping — which infrastructure moves prices, where.</a:t>
            </a:r>
            <a:endParaRPr lang="en-US" sz="1300" dirty="0"/>
          </a:p>
        </p:txBody>
      </p:sp>
      <p:sp>
        <p:nvSpPr>
          <p:cNvPr id="31" name="Text 28"/>
          <p:cNvSpPr/>
          <p:nvPr/>
        </p:nvSpPr>
        <p:spPr>
          <a:xfrm>
            <a:off x="548640" y="6035040"/>
            <a:ext cx="11091672" cy="365760"/>
          </a:xfrm>
          <a:prstGeom prst="rect">
            <a:avLst/>
          </a:prstGeom>
          <a:noFill/>
          <a:ln/>
        </p:spPr>
        <p:txBody>
          <a:bodyPr wrap="square" rtlCol="0" anchor="ctr"/>
          <a:lstStyle/>
          <a:p>
            <a:pPr algn="ctr" indent="0" marL="0">
              <a:buNone/>
            </a:pPr>
            <a:r>
              <a:rPr lang="en-US" sz="1400" b="1" i="1" dirty="0">
                <a:solidFill>
                  <a:srgbClr val="1B2A4A"/>
                </a:solidFill>
                <a:latin typeface="Calibri" pitchFamily="34" charset="0"/>
                <a:ea typeface="Calibri" pitchFamily="34" charset="-122"/>
                <a:cs typeface="Calibri" pitchFamily="34" charset="-120"/>
              </a:rPr>
              <a:t>Decision-support layer  ·  not an appraisal substitute  ·  SHAP transparency at every prediction.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EF1F6"/>
        </a:solidFill>
      </p:bgPr>
    </p:bg>
    <p:spTree>
      <p:nvGrpSpPr>
        <p:cNvPr id="1" name=""/>
        <p:cNvGrpSpPr/>
        <p:nvPr/>
      </p:nvGrpSpPr>
      <p:grpSpPr>
        <a:xfrm>
          <a:off x="0" y="0"/>
          <a:ext cx="0" cy="0"/>
          <a:chOff x="0" y="0"/>
          <a:chExt cx="0" cy="0"/>
        </a:xfrm>
      </p:grpSpPr>
      <p:sp>
        <p:nvSpPr>
          <p:cNvPr id="2" name="Shape 0"/>
          <p:cNvSpPr/>
          <p:nvPr/>
        </p:nvSpPr>
        <p:spPr>
          <a:xfrm>
            <a:off x="0" y="0"/>
            <a:ext cx="4144244" cy="6858000"/>
          </a:xfrm>
          <a:prstGeom prst="rect">
            <a:avLst/>
          </a:prstGeom>
          <a:solidFill>
            <a:srgbClr val="1B2A4A"/>
          </a:solidFill>
          <a:ln w="12700">
            <a:solidFill>
              <a:srgbClr val="1B2A4A"/>
            </a:solidFill>
            <a:prstDash val="solid"/>
          </a:ln>
        </p:spPr>
      </p:sp>
      <p:sp>
        <p:nvSpPr>
          <p:cNvPr id="3" name="Text 1"/>
          <p:cNvSpPr/>
          <p:nvPr/>
        </p:nvSpPr>
        <p:spPr>
          <a:xfrm>
            <a:off x="548640" y="5577840"/>
            <a:ext cx="2743200" cy="640080"/>
          </a:xfrm>
          <a:prstGeom prst="rect">
            <a:avLst/>
          </a:prstGeom>
          <a:noFill/>
          <a:ln/>
        </p:spPr>
        <p:txBody>
          <a:bodyPr wrap="square" rtlCol="0" anchor="b"/>
          <a:lstStyle/>
          <a:p>
            <a:pPr algn="l" indent="0" marL="0">
              <a:buNone/>
            </a:pPr>
            <a:r>
              <a:rPr lang="en-US" sz="11000" b="1" dirty="0">
                <a:solidFill>
                  <a:srgbClr val="D4A843"/>
                </a:solidFill>
                <a:latin typeface="Calibri" pitchFamily="34" charset="0"/>
                <a:ea typeface="Calibri" pitchFamily="34" charset="-122"/>
                <a:cs typeface="Calibri" pitchFamily="34" charset="-120"/>
              </a:rPr>
              <a:t>06</a:t>
            </a:r>
            <a:endParaRPr lang="en-US" sz="11000" dirty="0"/>
          </a:p>
        </p:txBody>
      </p:sp>
      <p:sp>
        <p:nvSpPr>
          <p:cNvPr id="4" name="Text 2"/>
          <p:cNvSpPr/>
          <p:nvPr/>
        </p:nvSpPr>
        <p:spPr>
          <a:xfrm>
            <a:off x="4875764" y="2377440"/>
            <a:ext cx="7557150" cy="365760"/>
          </a:xfrm>
          <a:prstGeom prst="rect">
            <a:avLst/>
          </a:prstGeom>
          <a:noFill/>
          <a:ln/>
        </p:spPr>
        <p:txBody>
          <a:bodyPr wrap="square" rtlCol="0" anchor="ctr"/>
          <a:lstStyle/>
          <a:p>
            <a:pPr algn="l" indent="0" marL="0">
              <a:buNone/>
            </a:pPr>
            <a:r>
              <a:rPr lang="en-US" sz="1300" b="1" spc="300" kern="0" dirty="0">
                <a:solidFill>
                  <a:srgbClr val="D4A843"/>
                </a:solidFill>
                <a:latin typeface="Calibri" pitchFamily="34" charset="0"/>
                <a:ea typeface="Calibri" pitchFamily="34" charset="-122"/>
                <a:cs typeface="Calibri" pitchFamily="34" charset="-120"/>
              </a:rPr>
              <a:t>PART SIX</a:t>
            </a:r>
            <a:endParaRPr lang="en-US" sz="1300" dirty="0"/>
          </a:p>
        </p:txBody>
      </p:sp>
      <p:sp>
        <p:nvSpPr>
          <p:cNvPr id="5" name="Text 3"/>
          <p:cNvSpPr/>
          <p:nvPr/>
        </p:nvSpPr>
        <p:spPr>
          <a:xfrm>
            <a:off x="4875764" y="2743200"/>
            <a:ext cx="7557150" cy="1645920"/>
          </a:xfrm>
          <a:prstGeom prst="rect">
            <a:avLst/>
          </a:prstGeom>
          <a:noFill/>
          <a:ln/>
        </p:spPr>
        <p:txBody>
          <a:bodyPr wrap="square" rtlCol="0" anchor="t"/>
          <a:lstStyle/>
          <a:p>
            <a:pPr algn="l" indent="0" marL="0">
              <a:buNone/>
            </a:pPr>
            <a:r>
              <a:rPr lang="en-US" sz="4400" b="1" dirty="0">
                <a:solidFill>
                  <a:srgbClr val="1B2A4A"/>
                </a:solidFill>
                <a:latin typeface="Calibri" pitchFamily="34" charset="0"/>
                <a:ea typeface="Calibri" pitchFamily="34" charset="-122"/>
                <a:cs typeface="Calibri" pitchFamily="34" charset="-120"/>
              </a:rPr>
              <a:t>Conclusion</a:t>
            </a:r>
            <a:endParaRPr lang="en-US" sz="4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811512" y="292608"/>
            <a:ext cx="2103120" cy="292608"/>
          </a:xfrm>
          <a:prstGeom prst="rect">
            <a:avLst/>
          </a:prstGeom>
          <a:solidFill>
            <a:srgbClr val="EEF1F6"/>
          </a:solidFill>
          <a:ln w="12700">
            <a:solidFill>
              <a:srgbClr val="EEF1F6"/>
            </a:solidFill>
            <a:prstDash val="solid"/>
          </a:ln>
        </p:spPr>
      </p:sp>
      <p:sp>
        <p:nvSpPr>
          <p:cNvPr id="3" name="Text 1"/>
          <p:cNvSpPr/>
          <p:nvPr/>
        </p:nvSpPr>
        <p:spPr>
          <a:xfrm>
            <a:off x="9811512" y="292608"/>
            <a:ext cx="2103120" cy="292608"/>
          </a:xfrm>
          <a:prstGeom prst="rect">
            <a:avLst/>
          </a:prstGeom>
          <a:noFill/>
          <a:ln/>
        </p:spPr>
        <p:txBody>
          <a:bodyPr wrap="square" rtlCol="0" anchor="ctr"/>
          <a:lstStyle/>
          <a:p>
            <a:pPr algn="ctr" indent="0" marL="0">
              <a:buNone/>
            </a:pPr>
            <a:r>
              <a:rPr lang="en-US" sz="1000" b="1" spc="200" kern="0" dirty="0">
                <a:solidFill>
                  <a:srgbClr val="1B2A4A"/>
                </a:solidFill>
                <a:latin typeface="Calibri" pitchFamily="34" charset="0"/>
                <a:ea typeface="Calibri" pitchFamily="34" charset="-122"/>
                <a:cs typeface="Calibri" pitchFamily="34" charset="-120"/>
              </a:rPr>
              <a:t>CONCLUSION</a:t>
            </a:r>
            <a:endParaRPr lang="en-US" sz="1000" dirty="0"/>
          </a:p>
        </p:txBody>
      </p:sp>
      <p:sp>
        <p:nvSpPr>
          <p:cNvPr id="4" name="Text 2"/>
          <p:cNvSpPr/>
          <p:nvPr/>
        </p:nvSpPr>
        <p:spPr>
          <a:xfrm>
            <a:off x="548640" y="411480"/>
            <a:ext cx="11091672" cy="777240"/>
          </a:xfrm>
          <a:prstGeom prst="rect">
            <a:avLst/>
          </a:prstGeom>
          <a:noFill/>
          <a:ln/>
        </p:spPr>
        <p:txBody>
          <a:bodyPr wrap="square"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Limitations &amp; Future Work</a:t>
            </a:r>
            <a:endParaRPr lang="en-US" sz="3000" dirty="0"/>
          </a:p>
        </p:txBody>
      </p:sp>
      <p:sp>
        <p:nvSpPr>
          <p:cNvPr id="5" name="Shape 3"/>
          <p:cNvSpPr/>
          <p:nvPr/>
        </p:nvSpPr>
        <p:spPr>
          <a:xfrm>
            <a:off x="548640" y="365760"/>
            <a:ext cx="164592" cy="164592"/>
          </a:xfrm>
          <a:prstGeom prst="ellipse">
            <a:avLst/>
          </a:prstGeom>
          <a:solidFill>
            <a:srgbClr val="D4A843"/>
          </a:solidFill>
          <a:ln w="12700">
            <a:solidFill>
              <a:srgbClr val="D4A843"/>
            </a:solidFill>
            <a:prstDash val="solid"/>
          </a:ln>
        </p:spPr>
      </p:sp>
      <p:sp>
        <p:nvSpPr>
          <p:cNvPr id="7" name="Shape 4"/>
          <p:cNvSpPr/>
          <p:nvPr/>
        </p:nvSpPr>
        <p:spPr>
          <a:xfrm>
            <a:off x="548640" y="1554480"/>
            <a:ext cx="5440680" cy="411480"/>
          </a:xfrm>
          <a:prstGeom prst="rect">
            <a:avLst/>
          </a:prstGeom>
          <a:solidFill>
            <a:srgbClr val="1B2A4A"/>
          </a:solidFill>
          <a:ln w="12700">
            <a:solidFill>
              <a:srgbClr val="1B2A4A"/>
            </a:solidFill>
            <a:prstDash val="solid"/>
          </a:ln>
        </p:spPr>
      </p:sp>
      <p:sp>
        <p:nvSpPr>
          <p:cNvPr id="8" name="Text 5"/>
          <p:cNvSpPr/>
          <p:nvPr/>
        </p:nvSpPr>
        <p:spPr>
          <a:xfrm>
            <a:off x="777240" y="1554480"/>
            <a:ext cx="5212080" cy="411480"/>
          </a:xfrm>
          <a:prstGeom prst="rect">
            <a:avLst/>
          </a:prstGeom>
          <a:noFill/>
          <a:ln/>
        </p:spPr>
        <p:txBody>
          <a:bodyPr wrap="square" rtlCol="0" anchor="ctr"/>
          <a:lstStyle/>
          <a:p>
            <a:pPr indent="0" marL="0">
              <a:buNone/>
            </a:pPr>
            <a:r>
              <a:rPr lang="en-US" sz="1200" b="1" spc="300" kern="0" dirty="0">
                <a:solidFill>
                  <a:srgbClr val="D4A843"/>
                </a:solidFill>
                <a:latin typeface="Calibri" pitchFamily="34" charset="0"/>
                <a:ea typeface="Calibri" pitchFamily="34" charset="-122"/>
                <a:cs typeface="Calibri" pitchFamily="34" charset="-120"/>
              </a:rPr>
              <a:t>LIMITATION</a:t>
            </a:r>
            <a:endParaRPr lang="en-US" sz="1200" dirty="0"/>
          </a:p>
        </p:txBody>
      </p:sp>
      <p:sp>
        <p:nvSpPr>
          <p:cNvPr id="9" name="Shape 6"/>
          <p:cNvSpPr/>
          <p:nvPr/>
        </p:nvSpPr>
        <p:spPr>
          <a:xfrm>
            <a:off x="6126480" y="1554480"/>
            <a:ext cx="5486400" cy="411480"/>
          </a:xfrm>
          <a:prstGeom prst="rect">
            <a:avLst/>
          </a:prstGeom>
          <a:solidFill>
            <a:srgbClr val="D4A843"/>
          </a:solidFill>
          <a:ln w="12700">
            <a:solidFill>
              <a:srgbClr val="D4A843"/>
            </a:solidFill>
            <a:prstDash val="solid"/>
          </a:ln>
        </p:spPr>
      </p:sp>
      <p:sp>
        <p:nvSpPr>
          <p:cNvPr id="10" name="Text 7"/>
          <p:cNvSpPr/>
          <p:nvPr/>
        </p:nvSpPr>
        <p:spPr>
          <a:xfrm>
            <a:off x="6355080" y="1554480"/>
            <a:ext cx="5257800" cy="411480"/>
          </a:xfrm>
          <a:prstGeom prst="rect">
            <a:avLst/>
          </a:prstGeom>
          <a:noFill/>
          <a:ln/>
        </p:spPr>
        <p:txBody>
          <a:bodyPr wrap="square" rtlCol="0" anchor="ctr"/>
          <a:lstStyle/>
          <a:p>
            <a:pPr indent="0" marL="0">
              <a:buNone/>
            </a:pPr>
            <a:r>
              <a:rPr lang="en-US" sz="1200" b="1" spc="300" kern="0" dirty="0">
                <a:solidFill>
                  <a:srgbClr val="1B2A4A"/>
                </a:solidFill>
                <a:latin typeface="Calibri" pitchFamily="34" charset="0"/>
                <a:ea typeface="Calibri" pitchFamily="34" charset="-122"/>
                <a:cs typeface="Calibri" pitchFamily="34" charset="-120"/>
              </a:rPr>
              <a:t>PATH FORWARD</a:t>
            </a:r>
            <a:endParaRPr lang="en-US" sz="1200" dirty="0"/>
          </a:p>
        </p:txBody>
      </p:sp>
      <p:sp>
        <p:nvSpPr>
          <p:cNvPr id="11" name="Shape 8"/>
          <p:cNvSpPr/>
          <p:nvPr/>
        </p:nvSpPr>
        <p:spPr>
          <a:xfrm>
            <a:off x="548640" y="2057400"/>
            <a:ext cx="5440680" cy="777240"/>
          </a:xfrm>
          <a:prstGeom prst="roundRect">
            <a:avLst>
              <a:gd name="adj" fmla="val 4706"/>
            </a:avLst>
          </a:prstGeom>
          <a:solidFill>
            <a:srgbClr val="EEF1F6"/>
          </a:solidFill>
          <a:ln w="12700">
            <a:solidFill>
              <a:srgbClr val="EEF1F6"/>
            </a:solidFill>
            <a:prstDash val="solid"/>
          </a:ln>
        </p:spPr>
      </p:sp>
      <p:sp>
        <p:nvSpPr>
          <p:cNvPr id="12" name="Text 9"/>
          <p:cNvSpPr/>
          <p:nvPr/>
        </p:nvSpPr>
        <p:spPr>
          <a:xfrm>
            <a:off x="777240" y="2057400"/>
            <a:ext cx="5212080" cy="77724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Asking-price data, not deed-of-sale</a:t>
            </a:r>
            <a:endParaRPr lang="en-US" sz="1300" dirty="0"/>
          </a:p>
        </p:txBody>
      </p:sp>
      <p:sp>
        <p:nvSpPr>
          <p:cNvPr id="13" name="Shape 10"/>
          <p:cNvSpPr/>
          <p:nvPr/>
        </p:nvSpPr>
        <p:spPr>
          <a:xfrm>
            <a:off x="5733288" y="2327148"/>
            <a:ext cx="182880" cy="237744"/>
          </a:xfrm>
          <a:prstGeom prst="rightTriangle">
            <a:avLst/>
          </a:prstGeom>
          <a:solidFill>
            <a:srgbClr val="D4A843"/>
          </a:solidFill>
          <a:ln w="12700">
            <a:solidFill>
              <a:srgbClr val="D4A843"/>
            </a:solidFill>
            <a:prstDash val="solid"/>
          </a:ln>
        </p:spPr>
      </p:sp>
      <p:sp>
        <p:nvSpPr>
          <p:cNvPr id="14" name="Shape 11"/>
          <p:cNvSpPr/>
          <p:nvPr/>
        </p:nvSpPr>
        <p:spPr>
          <a:xfrm>
            <a:off x="6126480" y="2057400"/>
            <a:ext cx="5486400" cy="777240"/>
          </a:xfrm>
          <a:prstGeom prst="roundRect">
            <a:avLst>
              <a:gd name="adj" fmla="val 4706"/>
            </a:avLst>
          </a:prstGeom>
          <a:solidFill>
            <a:srgbClr val="FFFFFF"/>
          </a:solidFill>
          <a:ln w="12700">
            <a:solidFill>
              <a:srgbClr val="D4A843"/>
            </a:solidFill>
            <a:prstDash val="solid"/>
          </a:ln>
        </p:spPr>
      </p:sp>
      <p:sp>
        <p:nvSpPr>
          <p:cNvPr id="15" name="Text 12"/>
          <p:cNvSpPr/>
          <p:nvPr/>
        </p:nvSpPr>
        <p:spPr>
          <a:xfrm>
            <a:off x="6355080" y="2057400"/>
            <a:ext cx="5257800" cy="7772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Future: Registry of Deeds, BIR eFPS transaction records</a:t>
            </a:r>
            <a:endParaRPr lang="en-US" sz="1300" dirty="0"/>
          </a:p>
        </p:txBody>
      </p:sp>
      <p:sp>
        <p:nvSpPr>
          <p:cNvPr id="16" name="Shape 13"/>
          <p:cNvSpPr/>
          <p:nvPr/>
        </p:nvSpPr>
        <p:spPr>
          <a:xfrm>
            <a:off x="548640" y="2907792"/>
            <a:ext cx="5440680" cy="777240"/>
          </a:xfrm>
          <a:prstGeom prst="roundRect">
            <a:avLst>
              <a:gd name="adj" fmla="val 4706"/>
            </a:avLst>
          </a:prstGeom>
          <a:solidFill>
            <a:srgbClr val="EEF1F6"/>
          </a:solidFill>
          <a:ln w="12700">
            <a:solidFill>
              <a:srgbClr val="EEF1F6"/>
            </a:solidFill>
            <a:prstDash val="solid"/>
          </a:ln>
        </p:spPr>
      </p:sp>
      <p:sp>
        <p:nvSpPr>
          <p:cNvPr id="17" name="Text 14"/>
          <p:cNvSpPr/>
          <p:nvPr/>
        </p:nvSpPr>
        <p:spPr>
          <a:xfrm>
            <a:off x="777240" y="2907792"/>
            <a:ext cx="5212080" cy="77724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Cross-sectional snapshot (late 2025)</a:t>
            </a:r>
            <a:endParaRPr lang="en-US" sz="1300" dirty="0"/>
          </a:p>
        </p:txBody>
      </p:sp>
      <p:sp>
        <p:nvSpPr>
          <p:cNvPr id="18" name="Shape 15"/>
          <p:cNvSpPr/>
          <p:nvPr/>
        </p:nvSpPr>
        <p:spPr>
          <a:xfrm>
            <a:off x="5733288" y="3177540"/>
            <a:ext cx="182880" cy="237744"/>
          </a:xfrm>
          <a:prstGeom prst="rightTriangle">
            <a:avLst/>
          </a:prstGeom>
          <a:solidFill>
            <a:srgbClr val="D4A843"/>
          </a:solidFill>
          <a:ln w="12700">
            <a:solidFill>
              <a:srgbClr val="D4A843"/>
            </a:solidFill>
            <a:prstDash val="solid"/>
          </a:ln>
        </p:spPr>
      </p:sp>
      <p:sp>
        <p:nvSpPr>
          <p:cNvPr id="19" name="Shape 16"/>
          <p:cNvSpPr/>
          <p:nvPr/>
        </p:nvSpPr>
        <p:spPr>
          <a:xfrm>
            <a:off x="6126480" y="2907792"/>
            <a:ext cx="5486400" cy="777240"/>
          </a:xfrm>
          <a:prstGeom prst="roundRect">
            <a:avLst>
              <a:gd name="adj" fmla="val 4706"/>
            </a:avLst>
          </a:prstGeom>
          <a:solidFill>
            <a:srgbClr val="FFFFFF"/>
          </a:solidFill>
          <a:ln w="12700">
            <a:solidFill>
              <a:srgbClr val="D4A843"/>
            </a:solidFill>
            <a:prstDash val="solid"/>
          </a:ln>
        </p:spPr>
      </p:sp>
      <p:sp>
        <p:nvSpPr>
          <p:cNvPr id="20" name="Text 17"/>
          <p:cNvSpPr/>
          <p:nvPr/>
        </p:nvSpPr>
        <p:spPr>
          <a:xfrm>
            <a:off x="6355080" y="2907792"/>
            <a:ext cx="5257800" cy="7772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Quarterly listing snapshots, time-series extension</a:t>
            </a:r>
            <a:endParaRPr lang="en-US" sz="1300" dirty="0"/>
          </a:p>
        </p:txBody>
      </p:sp>
      <p:sp>
        <p:nvSpPr>
          <p:cNvPr id="21" name="Shape 18"/>
          <p:cNvSpPr/>
          <p:nvPr/>
        </p:nvSpPr>
        <p:spPr>
          <a:xfrm>
            <a:off x="548640" y="3758184"/>
            <a:ext cx="5440680" cy="777240"/>
          </a:xfrm>
          <a:prstGeom prst="roundRect">
            <a:avLst>
              <a:gd name="adj" fmla="val 4706"/>
            </a:avLst>
          </a:prstGeom>
          <a:solidFill>
            <a:srgbClr val="EEF1F6"/>
          </a:solidFill>
          <a:ln w="12700">
            <a:solidFill>
              <a:srgbClr val="EEF1F6"/>
            </a:solidFill>
            <a:prstDash val="solid"/>
          </a:ln>
        </p:spPr>
      </p:sp>
      <p:sp>
        <p:nvSpPr>
          <p:cNvPr id="22" name="Text 19"/>
          <p:cNvSpPr/>
          <p:nvPr/>
        </p:nvSpPr>
        <p:spPr>
          <a:xfrm>
            <a:off x="777240" y="3758184"/>
            <a:ext cx="5212080" cy="77724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Vacant lots: 76.9% MAPE</a:t>
            </a:r>
            <a:endParaRPr lang="en-US" sz="1300" dirty="0"/>
          </a:p>
        </p:txBody>
      </p:sp>
      <p:sp>
        <p:nvSpPr>
          <p:cNvPr id="23" name="Shape 20"/>
          <p:cNvSpPr/>
          <p:nvPr/>
        </p:nvSpPr>
        <p:spPr>
          <a:xfrm>
            <a:off x="5733288" y="4027932"/>
            <a:ext cx="182880" cy="237744"/>
          </a:xfrm>
          <a:prstGeom prst="rightTriangle">
            <a:avLst/>
          </a:prstGeom>
          <a:solidFill>
            <a:srgbClr val="D4A843"/>
          </a:solidFill>
          <a:ln w="12700">
            <a:solidFill>
              <a:srgbClr val="D4A843"/>
            </a:solidFill>
            <a:prstDash val="solid"/>
          </a:ln>
        </p:spPr>
      </p:sp>
      <p:sp>
        <p:nvSpPr>
          <p:cNvPr id="24" name="Shape 21"/>
          <p:cNvSpPr/>
          <p:nvPr/>
        </p:nvSpPr>
        <p:spPr>
          <a:xfrm>
            <a:off x="6126480" y="3758184"/>
            <a:ext cx="5486400" cy="777240"/>
          </a:xfrm>
          <a:prstGeom prst="roundRect">
            <a:avLst>
              <a:gd name="adj" fmla="val 4706"/>
            </a:avLst>
          </a:prstGeom>
          <a:solidFill>
            <a:srgbClr val="FFFFFF"/>
          </a:solidFill>
          <a:ln w="12700">
            <a:solidFill>
              <a:srgbClr val="D4A843"/>
            </a:solidFill>
            <a:prstDash val="solid"/>
          </a:ln>
        </p:spPr>
      </p:sp>
      <p:sp>
        <p:nvSpPr>
          <p:cNvPr id="25" name="Text 22"/>
          <p:cNvSpPr/>
          <p:nvPr/>
        </p:nvSpPr>
        <p:spPr>
          <a:xfrm>
            <a:off x="6355080" y="3758184"/>
            <a:ext cx="5257800" cy="7772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Separate land valuation model</a:t>
            </a:r>
            <a:endParaRPr lang="en-US" sz="1300" dirty="0"/>
          </a:p>
        </p:txBody>
      </p:sp>
      <p:sp>
        <p:nvSpPr>
          <p:cNvPr id="26" name="Shape 23"/>
          <p:cNvSpPr/>
          <p:nvPr/>
        </p:nvSpPr>
        <p:spPr>
          <a:xfrm>
            <a:off x="548640" y="4608576"/>
            <a:ext cx="5440680" cy="777240"/>
          </a:xfrm>
          <a:prstGeom prst="roundRect">
            <a:avLst>
              <a:gd name="adj" fmla="val 4706"/>
            </a:avLst>
          </a:prstGeom>
          <a:solidFill>
            <a:srgbClr val="EEF1F6"/>
          </a:solidFill>
          <a:ln w="12700">
            <a:solidFill>
              <a:srgbClr val="EEF1F6"/>
            </a:solidFill>
            <a:prstDash val="solid"/>
          </a:ln>
        </p:spPr>
      </p:sp>
      <p:sp>
        <p:nvSpPr>
          <p:cNvPr id="27" name="Text 24"/>
          <p:cNvSpPr/>
          <p:nvPr/>
        </p:nvSpPr>
        <p:spPr>
          <a:xfrm>
            <a:off x="777240" y="4608576"/>
            <a:ext cx="5212080" cy="77724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MCRAI marginal (3% SHAP weight)</a:t>
            </a:r>
            <a:endParaRPr lang="en-US" sz="1300" dirty="0"/>
          </a:p>
        </p:txBody>
      </p:sp>
      <p:sp>
        <p:nvSpPr>
          <p:cNvPr id="28" name="Shape 25"/>
          <p:cNvSpPr/>
          <p:nvPr/>
        </p:nvSpPr>
        <p:spPr>
          <a:xfrm>
            <a:off x="5733288" y="4878324"/>
            <a:ext cx="182880" cy="237744"/>
          </a:xfrm>
          <a:prstGeom prst="rightTriangle">
            <a:avLst/>
          </a:prstGeom>
          <a:solidFill>
            <a:srgbClr val="D4A843"/>
          </a:solidFill>
          <a:ln w="12700">
            <a:solidFill>
              <a:srgbClr val="D4A843"/>
            </a:solidFill>
            <a:prstDash val="solid"/>
          </a:ln>
        </p:spPr>
      </p:sp>
      <p:sp>
        <p:nvSpPr>
          <p:cNvPr id="29" name="Shape 26"/>
          <p:cNvSpPr/>
          <p:nvPr/>
        </p:nvSpPr>
        <p:spPr>
          <a:xfrm>
            <a:off x="6126480" y="4608576"/>
            <a:ext cx="5486400" cy="777240"/>
          </a:xfrm>
          <a:prstGeom prst="roundRect">
            <a:avLst>
              <a:gd name="adj" fmla="val 4706"/>
            </a:avLst>
          </a:prstGeom>
          <a:solidFill>
            <a:srgbClr val="FFFFFF"/>
          </a:solidFill>
          <a:ln w="12700">
            <a:solidFill>
              <a:srgbClr val="D4A843"/>
            </a:solidFill>
            <a:prstDash val="solid"/>
          </a:ln>
        </p:spPr>
      </p:sp>
      <p:sp>
        <p:nvSpPr>
          <p:cNvPr id="30" name="Text 27"/>
          <p:cNvSpPr/>
          <p:nvPr/>
        </p:nvSpPr>
        <p:spPr>
          <a:xfrm>
            <a:off x="6355080" y="4608576"/>
            <a:ext cx="5257800" cy="7772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Stronger signal expected with transaction-grade data</a:t>
            </a:r>
            <a:endParaRPr lang="en-US" sz="1300" dirty="0"/>
          </a:p>
        </p:txBody>
      </p:sp>
      <p:sp>
        <p:nvSpPr>
          <p:cNvPr id="31" name="Shape 28"/>
          <p:cNvSpPr/>
          <p:nvPr/>
        </p:nvSpPr>
        <p:spPr>
          <a:xfrm>
            <a:off x="548640" y="5458968"/>
            <a:ext cx="5440680" cy="777240"/>
          </a:xfrm>
          <a:prstGeom prst="roundRect">
            <a:avLst>
              <a:gd name="adj" fmla="val 4706"/>
            </a:avLst>
          </a:prstGeom>
          <a:solidFill>
            <a:srgbClr val="EEF1F6"/>
          </a:solidFill>
          <a:ln w="12700">
            <a:solidFill>
              <a:srgbClr val="EEF1F6"/>
            </a:solidFill>
            <a:prstDash val="solid"/>
          </a:ln>
        </p:spPr>
      </p:sp>
      <p:sp>
        <p:nvSpPr>
          <p:cNvPr id="32" name="Text 29"/>
          <p:cNvSpPr/>
          <p:nvPr/>
        </p:nvSpPr>
        <p:spPr>
          <a:xfrm>
            <a:off x="777240" y="5458968"/>
            <a:ext cx="5212080" cy="77724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1,200 training rows = binding constraint</a:t>
            </a:r>
            <a:endParaRPr lang="en-US" sz="1300" dirty="0"/>
          </a:p>
        </p:txBody>
      </p:sp>
      <p:sp>
        <p:nvSpPr>
          <p:cNvPr id="33" name="Shape 30"/>
          <p:cNvSpPr/>
          <p:nvPr/>
        </p:nvSpPr>
        <p:spPr>
          <a:xfrm>
            <a:off x="5733288" y="5728716"/>
            <a:ext cx="182880" cy="237744"/>
          </a:xfrm>
          <a:prstGeom prst="rightTriangle">
            <a:avLst/>
          </a:prstGeom>
          <a:solidFill>
            <a:srgbClr val="D4A843"/>
          </a:solidFill>
          <a:ln w="12700">
            <a:solidFill>
              <a:srgbClr val="D4A843"/>
            </a:solidFill>
            <a:prstDash val="solid"/>
          </a:ln>
        </p:spPr>
      </p:sp>
      <p:sp>
        <p:nvSpPr>
          <p:cNvPr id="34" name="Shape 31"/>
          <p:cNvSpPr/>
          <p:nvPr/>
        </p:nvSpPr>
        <p:spPr>
          <a:xfrm>
            <a:off x="6126480" y="5458968"/>
            <a:ext cx="5486400" cy="777240"/>
          </a:xfrm>
          <a:prstGeom prst="roundRect">
            <a:avLst>
              <a:gd name="adj" fmla="val 4706"/>
            </a:avLst>
          </a:prstGeom>
          <a:solidFill>
            <a:srgbClr val="FFFFFF"/>
          </a:solidFill>
          <a:ln w="12700">
            <a:solidFill>
              <a:srgbClr val="D4A843"/>
            </a:solidFill>
            <a:prstDash val="solid"/>
          </a:ln>
        </p:spPr>
      </p:sp>
      <p:sp>
        <p:nvSpPr>
          <p:cNvPr id="35" name="Text 32"/>
          <p:cNvSpPr/>
          <p:nvPr/>
        </p:nvSpPr>
        <p:spPr>
          <a:xfrm>
            <a:off x="6355080" y="5458968"/>
            <a:ext cx="5257800" cy="7772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Cross-validation with bank ROPA + Naga City scrape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548640" y="548640"/>
            <a:ext cx="731520" cy="54864"/>
          </a:xfrm>
          <a:prstGeom prst="rect">
            <a:avLst/>
          </a:prstGeom>
          <a:solidFill>
            <a:srgbClr val="D4A843"/>
          </a:solidFill>
          <a:ln w="12700">
            <a:solidFill>
              <a:srgbClr val="D4A843"/>
            </a:solidFill>
            <a:prstDash val="solid"/>
          </a:ln>
        </p:spPr>
      </p:sp>
      <p:sp>
        <p:nvSpPr>
          <p:cNvPr id="3" name="Text 1"/>
          <p:cNvSpPr/>
          <p:nvPr/>
        </p:nvSpPr>
        <p:spPr>
          <a:xfrm>
            <a:off x="548640" y="685800"/>
            <a:ext cx="10972800" cy="457200"/>
          </a:xfrm>
          <a:prstGeom prst="rect">
            <a:avLst/>
          </a:prstGeom>
          <a:noFill/>
          <a:ln/>
        </p:spPr>
        <p:txBody>
          <a:bodyPr wrap="square" rtlCol="0" anchor="ctr"/>
          <a:lstStyle/>
          <a:p>
            <a:pPr indent="0" marL="0">
              <a:buNone/>
            </a:pPr>
            <a:r>
              <a:rPr lang="en-US" sz="1300" b="1" spc="400" kern="0" dirty="0">
                <a:solidFill>
                  <a:srgbClr val="D4A843"/>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1188720"/>
            <a:ext cx="10972800" cy="2468880"/>
          </a:xfrm>
          <a:prstGeom prst="rect">
            <a:avLst/>
          </a:prstGeom>
          <a:noFill/>
          <a:ln/>
        </p:spPr>
        <p:txBody>
          <a:bodyPr wrap="square" rtlCol="0" anchor="t"/>
          <a:lstStyle/>
          <a:p>
            <a:pPr algn="l" indent="0" marL="0">
              <a:buNone/>
            </a:pPr>
            <a:r>
              <a:rPr lang="en-US" sz="2600" b="1" dirty="0">
                <a:solidFill>
                  <a:srgbClr val="FFFFFF"/>
                </a:solidFill>
                <a:latin typeface="Calibri" pitchFamily="34" charset="0"/>
                <a:ea typeface="Calibri" pitchFamily="34" charset="-122"/>
                <a:cs typeface="Calibri" pitchFamily="34" charset="-120"/>
              </a:rPr>
              <a:t>Metro Cebu's property market is moving faster than any existing benchmark can track.</a:t>
            </a:r>
            <a:endParaRPr lang="en-US" sz="2600" dirty="0"/>
          </a:p>
          <a:p>
            <a:pPr algn="l" indent="0" marL="0">
              <a:buNone/>
            </a:pP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This thesis delivers a geospatially grounded, machine-learning-powered decision-support tool — transparent, reproducible, and locally calibrated.</a:t>
            </a:r>
            <a:endParaRPr lang="en-US" sz="2600" dirty="0"/>
          </a:p>
        </p:txBody>
      </p:sp>
      <p:sp>
        <p:nvSpPr>
          <p:cNvPr id="5" name="Text 3"/>
          <p:cNvSpPr/>
          <p:nvPr/>
        </p:nvSpPr>
        <p:spPr>
          <a:xfrm>
            <a:off x="548640" y="3840480"/>
            <a:ext cx="10972800" cy="365760"/>
          </a:xfrm>
          <a:prstGeom prst="rect">
            <a:avLst/>
          </a:prstGeom>
          <a:noFill/>
          <a:ln/>
        </p:spPr>
        <p:txBody>
          <a:bodyPr wrap="square" rtlCol="0" anchor="ctr"/>
          <a:lstStyle/>
          <a:p>
            <a:pPr indent="0" marL="0">
              <a:buNone/>
            </a:pPr>
            <a:r>
              <a:rPr lang="en-US" sz="1100" b="1" spc="300" kern="0" dirty="0">
                <a:solidFill>
                  <a:srgbClr val="D4A843"/>
                </a:solidFill>
                <a:latin typeface="Calibri" pitchFamily="34" charset="0"/>
                <a:ea typeface="Calibri" pitchFamily="34" charset="-122"/>
                <a:cs typeface="Calibri" pitchFamily="34" charset="-120"/>
              </a:rPr>
              <a:t>KEY CONTRIBUTIONS</a:t>
            </a:r>
            <a:endParaRPr lang="en-US" sz="1100" dirty="0"/>
          </a:p>
        </p:txBody>
      </p:sp>
      <p:sp>
        <p:nvSpPr>
          <p:cNvPr id="6" name="Text 4"/>
          <p:cNvSpPr/>
          <p:nvPr/>
        </p:nvSpPr>
        <p:spPr>
          <a:xfrm>
            <a:off x="777240" y="4206240"/>
            <a:ext cx="10972800" cy="1463040"/>
          </a:xfrm>
          <a:prstGeom prst="rect">
            <a:avLst/>
          </a:prstGeom>
          <a:noFill/>
          <a:ln/>
        </p:spPr>
        <p:txBody>
          <a:bodyPr wrap="square" rtlCol="0" anchor="t"/>
          <a:lstStyle/>
          <a:p>
            <a:pPr marL="342900" indent="-342900">
              <a:spcAft>
                <a:spcPts val="500"/>
              </a:spcAft>
              <a:buSzPct val="100000"/>
              <a:buChar char="●"/>
            </a:pPr>
            <a:r>
              <a:rPr lang="en-US" sz="1300" dirty="0">
                <a:solidFill>
                  <a:srgbClr val="C9D1DD"/>
                </a:solidFill>
                <a:latin typeface="Calibri" pitchFamily="34" charset="0"/>
                <a:ea typeface="Calibri" pitchFamily="34" charset="-122"/>
                <a:cs typeface="Calibri" pitchFamily="34" charset="-120"/>
              </a:rPr>
              <a:t>First property-level ML valuation grounded in Metro Cebu's open market</a:t>
            </a:r>
            <a:endParaRPr lang="en-US" sz="1300" dirty="0"/>
          </a:p>
          <a:p>
            <a:pPr marL="342900" indent="-342900">
              <a:spcAft>
                <a:spcPts val="500"/>
              </a:spcAft>
              <a:buSzPct val="100000"/>
              <a:buChar char="●"/>
            </a:pPr>
            <a:r>
              <a:rPr lang="en-US" sz="1300" dirty="0">
                <a:solidFill>
                  <a:srgbClr val="C9D1DD"/>
                </a:solidFill>
                <a:latin typeface="Calibri" pitchFamily="34" charset="0"/>
                <a:ea typeface="Calibri" pitchFamily="34" charset="-122"/>
                <a:cs typeface="Calibri" pitchFamily="34" charset="-120"/>
              </a:rPr>
              <a:t>Custom MCRAI accessibility framework — derived from but rebuilt beyond Project OHANA</a:t>
            </a:r>
            <a:endParaRPr lang="en-US" sz="1300" dirty="0"/>
          </a:p>
          <a:p>
            <a:pPr marL="342900" indent="-342900">
              <a:spcAft>
                <a:spcPts val="500"/>
              </a:spcAft>
              <a:buSzPct val="100000"/>
              <a:buChar char="●"/>
            </a:pPr>
            <a:r>
              <a:rPr lang="en-US" sz="1300" dirty="0">
                <a:solidFill>
                  <a:srgbClr val="C9D1DD"/>
                </a:solidFill>
                <a:latin typeface="Calibri" pitchFamily="34" charset="0"/>
                <a:ea typeface="Calibri" pitchFamily="34" charset="-122"/>
                <a:cs typeface="Calibri" pitchFamily="34" charset="-120"/>
              </a:rPr>
              <a:t>Deployed Streamlit tool with feature-level SHAP at the prediction level</a:t>
            </a:r>
            <a:endParaRPr lang="en-US" sz="1300" dirty="0"/>
          </a:p>
          <a:p>
            <a:pPr marL="342900" indent="-342900">
              <a:spcAft>
                <a:spcPts val="500"/>
              </a:spcAft>
              <a:buSzPct val="100000"/>
              <a:buChar char="●"/>
            </a:pPr>
            <a:r>
              <a:rPr lang="en-US" sz="1300" dirty="0">
                <a:solidFill>
                  <a:srgbClr val="C9D1DD"/>
                </a:solidFill>
                <a:latin typeface="Calibri" pitchFamily="34" charset="0"/>
                <a:ea typeface="Calibri" pitchFamily="34" charset="-122"/>
                <a:cs typeface="Calibri" pitchFamily="34" charset="-120"/>
              </a:rPr>
              <a:t>Methodologically aligned with IVS 2025 Market Value definition</a:t>
            </a:r>
            <a:endParaRPr lang="en-US" sz="1300" dirty="0"/>
          </a:p>
        </p:txBody>
      </p:sp>
      <p:sp>
        <p:nvSpPr>
          <p:cNvPr id="7" name="Shape 5"/>
          <p:cNvSpPr/>
          <p:nvPr/>
        </p:nvSpPr>
        <p:spPr>
          <a:xfrm>
            <a:off x="548640" y="5943600"/>
            <a:ext cx="11064240" cy="18288"/>
          </a:xfrm>
          <a:prstGeom prst="rect">
            <a:avLst/>
          </a:prstGeom>
          <a:solidFill>
            <a:srgbClr val="D4A843"/>
          </a:solidFill>
          <a:ln w="12700">
            <a:solidFill>
              <a:srgbClr val="D4A843"/>
            </a:solidFill>
            <a:prstDash val="solid"/>
          </a:ln>
        </p:spPr>
      </p:sp>
      <p:sp>
        <p:nvSpPr>
          <p:cNvPr id="8" name="Text 6"/>
          <p:cNvSpPr/>
          <p:nvPr/>
        </p:nvSpPr>
        <p:spPr>
          <a:xfrm>
            <a:off x="548640" y="6080760"/>
            <a:ext cx="7315200" cy="640080"/>
          </a:xfrm>
          <a:prstGeom prst="rect">
            <a:avLst/>
          </a:prstGeom>
          <a:noFill/>
          <a:ln/>
        </p:spPr>
        <p:txBody>
          <a:bodyPr wrap="square" rtlCol="0" anchor="ctr"/>
          <a:lstStyle/>
          <a:p>
            <a:pPr indent="0" marL="0">
              <a:buNone/>
            </a:pPr>
            <a:r>
              <a:rPr lang="en-US" sz="2200" b="1" i="1" dirty="0">
                <a:solidFill>
                  <a:srgbClr val="D4A843"/>
                </a:solidFill>
                <a:latin typeface="Calibri" pitchFamily="34" charset="0"/>
                <a:ea typeface="Calibri" pitchFamily="34" charset="-122"/>
                <a:cs typeface="Calibri" pitchFamily="34" charset="-120"/>
              </a:rPr>
              <a:t>Thank you. I welcome your questions.</a:t>
            </a:r>
            <a:endParaRPr lang="en-US" sz="2200" dirty="0"/>
          </a:p>
        </p:txBody>
      </p:sp>
      <p:sp>
        <p:nvSpPr>
          <p:cNvPr id="9" name="Text 7"/>
          <p:cNvSpPr/>
          <p:nvPr/>
        </p:nvSpPr>
        <p:spPr>
          <a:xfrm>
            <a:off x="7955280" y="6080760"/>
            <a:ext cx="3657600" cy="640080"/>
          </a:xfrm>
          <a:prstGeom prst="rect">
            <a:avLst/>
          </a:prstGeom>
          <a:noFill/>
          <a:ln/>
        </p:spPr>
        <p:txBody>
          <a:bodyPr wrap="square" rtlCol="0" anchor="ctr"/>
          <a:lstStyle/>
          <a:p>
            <a:pPr algn="r" indent="0" marL="0">
              <a:buNone/>
            </a:pPr>
            <a:r>
              <a:rPr lang="en-US" sz="1200" dirty="0">
                <a:solidFill>
                  <a:srgbClr val="C9D1DD"/>
                </a:solidFill>
                <a:latin typeface="Calibri" pitchFamily="34" charset="0"/>
                <a:ea typeface="Calibri" pitchFamily="34" charset="-122"/>
                <a:cs typeface="Calibri" pitchFamily="34" charset="-120"/>
              </a:rPr>
              <a:t>Nico Estreba  ·  May 9,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Defense - Metro Cebu Property Valuation</dc:title>
  <dc:subject>UA&amp;P Data Science Thesis Defense</dc:subject>
  <dc:creator>Nico Estreba</dc:creator>
  <cp:lastModifiedBy>Nico Estreba</cp:lastModifiedBy>
  <cp:revision>1</cp:revision>
  <dcterms:created xsi:type="dcterms:W3CDTF">2026-05-09T00:21:20Z</dcterms:created>
  <dcterms:modified xsi:type="dcterms:W3CDTF">2026-05-09T00:21:20Z</dcterms:modified>
</cp:coreProperties>
</file>