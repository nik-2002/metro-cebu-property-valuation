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4"/>
  </p:notesMasterIdLst>
  <p:sldIdLst>
    <p:sldId id="296" r:id="rId2"/>
    <p:sldId id="297" r:id="rId3"/>
    <p:sldId id="258" r:id="rId4"/>
    <p:sldId id="298" r:id="rId5"/>
    <p:sldId id="299" r:id="rId6"/>
    <p:sldId id="300" r:id="rId7"/>
    <p:sldId id="262" r:id="rId8"/>
    <p:sldId id="301" r:id="rId9"/>
    <p:sldId id="302" r:id="rId10"/>
    <p:sldId id="265" r:id="rId11"/>
    <p:sldId id="303" r:id="rId12"/>
    <p:sldId id="304" r:id="rId13"/>
    <p:sldId id="305" r:id="rId14"/>
    <p:sldId id="306" r:id="rId15"/>
    <p:sldId id="270" r:id="rId16"/>
    <p:sldId id="307" r:id="rId17"/>
    <p:sldId id="308" r:id="rId18"/>
    <p:sldId id="326" r:id="rId19"/>
    <p:sldId id="325" r:id="rId20"/>
    <p:sldId id="273" r:id="rId21"/>
    <p:sldId id="309" r:id="rId22"/>
    <p:sldId id="310" r:id="rId23"/>
    <p:sldId id="276" r:id="rId24"/>
    <p:sldId id="311" r:id="rId25"/>
    <p:sldId id="312" r:id="rId26"/>
    <p:sldId id="313" r:id="rId27"/>
    <p:sldId id="280" r:id="rId28"/>
    <p:sldId id="314" r:id="rId29"/>
    <p:sldId id="315" r:id="rId30"/>
    <p:sldId id="316" r:id="rId31"/>
    <p:sldId id="284" r:id="rId32"/>
    <p:sldId id="317" r:id="rId33"/>
    <p:sldId id="318" r:id="rId34"/>
    <p:sldId id="319" r:id="rId35"/>
    <p:sldId id="288" r:id="rId36"/>
    <p:sldId id="320" r:id="rId37"/>
    <p:sldId id="290" r:id="rId38"/>
    <p:sldId id="321" r:id="rId39"/>
    <p:sldId id="292" r:id="rId40"/>
    <p:sldId id="322" r:id="rId41"/>
    <p:sldId id="323" r:id="rId42"/>
    <p:sldId id="295" r:id="rId43"/>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445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410"/>
    <p:restoredTop sz="85714"/>
  </p:normalViewPr>
  <p:slideViewPr>
    <p:cSldViewPr snapToGrid="0" snapToObjects="1">
      <p:cViewPr>
        <p:scale>
          <a:sx n="61" d="100"/>
          <a:sy n="61" d="100"/>
        </p:scale>
        <p:origin x="144" y="3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83253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Title, your name, program, and the framing: an open-market residential valuation study for Metro Cebu using machine learning plus geospatial features.</a:t>
            </a:r>
          </a:p>
          <a:p>
            <a:r>
              <a:rPr lang="en-US" dirty="0"/>
              <a:t>Defend: This is a decision-support tool for triangulation, not a replacement for professional appraisal.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talk follows the CRISP-DM arc mapped to the thesis chapters — problem, literature gap, methodology, data, modeling, evaluation, results, and the tool.</a:t>
            </a:r>
          </a:p>
          <a:p>
            <a:r>
              <a:rPr lang="en-US" dirty="0"/>
              <a:t>Defend: This order shows the study is not just a model; it moves from problem evidence to a reproducible decision-support prototype.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 — Introduction.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study is set in six Metro Cebu LGUs: Cebu City, Mandaue, Lapu-Lapu, Talisay, Minglanilla, and Consolacion.</a:t>
            </a:r>
          </a:p>
          <a:p>
            <a:r>
              <a:rPr lang="en-US" dirty="0"/>
              <a:t>Defend: Timing matters: Cebu grew 7.3% in 2024 (PSA) and residential prices rose 11.5% in 2025 (BSP), so prices are moving faster than the references people use.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There is no single public answer to “what is this property worth.” Buyers and sellers piece together broker opinions, bank appraisals, BIR zonal values, and online listings.</a:t>
            </a:r>
          </a:p>
          <a:p>
            <a:r>
              <a:rPr lang="en-US" dirty="0"/>
              <a:t>Defend: Each reference is built for a different purpose. BIR zonal values are for taxation, not live market value, and can be stale; that gap is exactly what RQ4 measures.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problem is the missing transparent, property-level, spatially detailed reference for interpreting Metro Cebu residential prices.</a:t>
            </a:r>
          </a:p>
          <a:p>
            <a:r>
              <a:rPr lang="en-US" dirty="0"/>
              <a:t>Defend: Keep the scope disciplined: open-market listings only for the deployed model, a late-2025 cross-sectional snapshot, and a prototype decision-support tool — not a substitute for appraisal.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 Review of Related Literature.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In developing-market valuation, the binding constraint is data scarcity, not simply valuer judgment. Kenya and Nigeria studies both point to limited market evidence.</a:t>
            </a:r>
          </a:p>
          <a:p>
            <a:r>
              <a:rPr lang="en-US" dirty="0"/>
              <a:t>Defend: The gap here is local and reproducible: no published Metro Cebu model combines property-level listings, geospatial accessibility, and explainable ML.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Hedonic regression gives interpretable attribute effects; machine learning captures nonlinear and interacting effects, with tree ensembles strong on tabular data.</a:t>
            </a:r>
          </a:p>
          <a:p>
            <a:r>
              <a:rPr lang="en-US" dirty="0"/>
              <a:t>Defend: We stratify because property types price differently. Prior work shows submarket models lifting R² from 0.637 to 0.782 and segmentation improving fit about 7% while cutting error more than 10%. Pooling would blur the markets.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 Methodology.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design is quantitative and non-experimental: predictive because it estimates price, and prescriptive because it surfaces the benchmark gap.</a:t>
            </a:r>
          </a:p>
          <a:p>
            <a:r>
              <a:rPr lang="en-US" dirty="0"/>
              <a:t>Defend: Walk the pipeline — Ingest, Clean, Geocode, BIR join, Geospatial features, ABT. It starts with 16,561 raw listings from Lamudi, FilipinoHomes, and DotProperty; OnePropertee was excluded for geocoding and per-sqm contamination. The clean ABT has 3,616 rows and 51 columns. Cleaning and scope filters prune rows; the later steps mainly add columns.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distance features are shortest-path road-network distances, not straight-line distances, to eight economic nodes.</a:t>
            </a:r>
          </a:p>
          <a:p>
            <a:r>
              <a:rPr lang="en-US" dirty="0"/>
              <a:t>Defend: The node set is grounded in polycentric urban economics and the JICA Mega Cebu roadmap, not chosen arbitrarily. Road distance captures real travel cost, including the Mactan bridge; that is why Mactan-island distances inflate. Transport accessibility is carried through these node distances.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MCRAI is a gravity-style accessibility score: nearby amenities count more, weighted by 1 over road distance squared, with a 0.5 km floor and category-specific reach.</a:t>
            </a:r>
          </a:p>
          <a:p>
            <a:r>
              <a:rPr lang="en-US" dirty="0"/>
              <a:t>Defend: The logic follows Hansen accessibility. The squared-distance decay and floor are a defensible baseline; the floor avoids extreme values beside an amenity. Be honest that beta and radii are sensible conventions, not estimated from Cebu data yet.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MCRAI weights are revealed from the data, not assumed: OLS estimates implicit prices, then positive significant categories are normalized.</a:t>
            </a:r>
          </a:p>
          <a:p>
            <a:r>
              <a:rPr lang="en-US" dirty="0"/>
              <a:t>Defend: The composite weights are education 0.447, grocery 0.345, recreation 0.222; security, tourism, and retail stay outside the composite. Evaluation uses GroupKFold(5) by coordinate cluster so the same location cannot appear in train and test. A plain random split leaks co-located listings and was optimistic, especially for lots.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4 — Data Understanding.</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funnel is intentionally conservative: 16,561 raw listings became 3,616 clean ABT rows, roughly one in five kept.</a:t>
            </a:r>
          </a:p>
          <a:p>
            <a:r>
              <a:rPr lang="en-US" dirty="0"/>
              <a:t>Defend: Retention is Lamudi 1,578 plus 270 browser rows, FilipinoHomes 1,203, and DotProperty 565; OnePropertee was excluded to avoid contamination. The small N is the data-scarcity reality the literature describes, so the study uses Random Forest and grouped CV rather than overstating precision.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Price per square meter is right-skewed, so the target is modeled in log. Prices also spread sharply by geography.</a:t>
            </a:r>
          </a:p>
          <a:p>
            <a:r>
              <a:rPr lang="en-US" dirty="0"/>
              <a:t>Defend: Cebu City is about ₱113,600 per sqm, Mandaue ₱96,100, and Lapu-Lapu ₱92,100, with a lower southern band around ₱47,100–56,800. Some CBD distances are collinear; that matters for OLS and is handled with VIF trimming, while trees can tolerate correlated predictors. MCRAI zero rates were checked before modeling, with security the sparsest layer.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08306-12DB-94B6-EB3B-98CFCF89F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C78175-DCF7-A625-3491-62F5196958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0CA226-A9E0-DC25-21DE-011F94D7FF7F}"/>
              </a:ext>
            </a:extLst>
          </p:cNvPr>
          <p:cNvSpPr>
            <a:spLocks noGrp="1"/>
          </p:cNvSpPr>
          <p:nvPr>
            <p:ph type="body" idx="1"/>
          </p:nvPr>
        </p:nvSpPr>
        <p:spPr/>
        <p:txBody>
          <a:bodyPr/>
          <a:lstStyle/>
          <a:p>
            <a:r>
              <a:rPr lang="en-US" dirty="0"/>
              <a:t>Say: Price per square meter is right-skewed, so the target is modeled in log. Prices also spread sharply by geography.</a:t>
            </a:r>
          </a:p>
          <a:p>
            <a:r>
              <a:rPr lang="en-US" dirty="0"/>
              <a:t>Defend: Cebu City is about ₱113,600 per sqm, Mandaue ₱96,100, and Lapu-Lapu ₱92,100, with a lower southern band around ₱47,100–56,800. Some CBD distances are collinear; that matters for OLS and is handled with VIF trimming, while trees can tolerate correlated predictors. MCRAI zero rates were checked before modeling, with security the sparsest layer.</a:t>
            </a:r>
          </a:p>
        </p:txBody>
      </p:sp>
      <p:sp>
        <p:nvSpPr>
          <p:cNvPr id="4" name="Slide Number Placeholder 3">
            <a:extLst>
              <a:ext uri="{FF2B5EF4-FFF2-40B4-BE49-F238E27FC236}">
                <a16:creationId xmlns:a16="http://schemas.microsoft.com/office/drawing/2014/main" id="{6191B0D1-5218-4CAC-6512-C974D1BF5094}"/>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23014448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9F0540-98C1-9B41-2887-389EADA759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9AEEE3-25B4-2F2F-2EDD-EA572DA115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F30AFB-0C14-2AD7-5713-5FB223BFD0E8}"/>
              </a:ext>
            </a:extLst>
          </p:cNvPr>
          <p:cNvSpPr>
            <a:spLocks noGrp="1"/>
          </p:cNvSpPr>
          <p:nvPr>
            <p:ph type="body" idx="1"/>
          </p:nvPr>
        </p:nvSpPr>
        <p:spPr/>
        <p:txBody>
          <a:bodyPr/>
          <a:lstStyle/>
          <a:p>
            <a:r>
              <a:rPr lang="en-US" dirty="0"/>
              <a:t>Say: Price per square meter is right-skewed, so the target is modeled in log. Prices also spread sharply by geography.</a:t>
            </a:r>
          </a:p>
          <a:p>
            <a:r>
              <a:rPr lang="en-US" dirty="0"/>
              <a:t>Defend: Cebu City is about ₱113,600 per sqm, Mandaue ₱96,100, and Lapu-Lapu ₱92,100, with a lower southern band around ₱47,100–56,800. Some CBD distances are collinear; that matters for OLS and is handled with VIF trimming, while trees can tolerate correlated predictors. MCRAI zero rates were checked before modeling, with security the sparsest layer.</a:t>
            </a:r>
          </a:p>
        </p:txBody>
      </p:sp>
      <p:sp>
        <p:nvSpPr>
          <p:cNvPr id="4" name="Slide Number Placeholder 3">
            <a:extLst>
              <a:ext uri="{FF2B5EF4-FFF2-40B4-BE49-F238E27FC236}">
                <a16:creationId xmlns:a16="http://schemas.microsoft.com/office/drawing/2014/main" id="{03333E4F-C98C-036F-0B9E-6645C3E2B116}"/>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22845828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 — Data Preparation.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Cleaning kept every decision visible: imputed values were flagged, structurally absent fields were not faked, duplicates were removed, and price-per-sqm sanity checks caught area-entry errors.</a:t>
            </a:r>
          </a:p>
          <a:p>
            <a:endParaRPr lang="en-US" dirty="0"/>
          </a:p>
          <a:p>
            <a:r>
              <a:rPr lang="en-US" dirty="0"/>
              <a:t>Defend: Distressed or “For Assume” listings were removed because they quote loan balances, not market value. The integrity story is important: an early SHAP-dominant feature exposed a target-definition problem across scrape batches, and fixing the target to log price per sqm is why the final metrics are dependable.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Preparing for modeling has three moves: split by property type, encode and assemble the feature blocks, then select features per stratum.</a:t>
            </a:r>
          </a:p>
          <a:p>
            <a:r>
              <a:rPr lang="en-US" dirty="0"/>
              <a:t>Defend: The selection screens were VIF, OLS significance, leave-one-block ablation, and MCRAI zero rates. They produced tailored feature counts of 21, 24, and 22. One common feature set would be weaker because the screens gave different answers for condos, houses, and lots.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6 — Modeling.</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One pooled model cannot price three markets. Condo unit prices are about 5.8 times the vacant-lot median, and built homes versus bare land follow different price logic.</a:t>
            </a:r>
          </a:p>
          <a:p>
            <a:r>
              <a:rPr lang="en-US" dirty="0"/>
              <a:t>Defend: The three separate models are evidence-based, not just convenient. The literature shows stratified submarket models fit better, and this deck’s own feature-selection results show that each property type behaves differently.</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shared core is eight CBD distances, BIR zonal benchmark, spatial lag, and city indicators. </a:t>
            </a:r>
          </a:p>
          <a:p>
            <a:r>
              <a:rPr lang="en-US" dirty="0"/>
              <a:t>The differences reflect what each property type actually has: built homes get structure and an MCRAI composite; vacant lots get land area and individual amenity categories.</a:t>
            </a:r>
          </a:p>
          <a:p>
            <a:endParaRPr lang="en-US" dirty="0"/>
          </a:p>
          <a:p>
            <a:r>
              <a:rPr lang="en-US" dirty="0"/>
              <a:t>Defend MCRAI: For condos and houses, the MCRAI categories are highly inter-correlated, roughly 0.57–0.96, so the composite is the parsimonious accessibility summary. For vacant lots, specific amenities carry distinct signal, so education, grocery, health, hospitals, recreation, and tourism stay separate; the lot model drops the composite, security, and retail density.</a:t>
            </a:r>
          </a:p>
          <a:p>
            <a:endParaRPr lang="en-US" dirty="0"/>
          </a:p>
          <a:p>
            <a:r>
              <a:rPr lang="en-US" dirty="0"/>
              <a:t>Defend imputation flags: bedrooms_imputed and bathrooms_imputed are 0/1 flags. Observed beds/baths use the reported value and flag 0; missing values are median-imputed by property type and city and flag 1. This lets the model distinguish observed from filled values. Lots have no flags because beds/baths are structurally absent, not missing.</a:t>
            </a:r>
          </a:p>
          <a:p>
            <a:r>
              <a:rPr lang="en-US" dirty="0"/>
              <a:t>Close: Same selection procedure, different strata-specific answers — that difference is a finding.</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model lineup spans interpretability to accuracy: OLS hedonic with HC3 as the baseline, Random Forest as the deployed model, XGBoost as a tree-boosting comparator, and SHAP for explanations.</a:t>
            </a:r>
          </a:p>
          <a:p>
            <a:r>
              <a:rPr lang="en-US" dirty="0"/>
              <a:t>Defend: SVR, LASSO/Ridge, and deep nets were set aside for clear reasons — tuning burden, overlap with OLS, or sample-size and interpretability limits. The deployed RF was tuned per stratum with 300 trees; comparators ran at standard settings so the head-to-head stayed fair.</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7 — Evaluation.</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Under identical leak-free folds, Random Forest gives the best typical error: MdAPE 19.3% for condos, 22.7% for houses, and 38.4% for vacant lots.</a:t>
            </a:r>
          </a:p>
          <a:p>
            <a:r>
              <a:rPr lang="en-US" dirty="0"/>
              <a:t>Defend: OLS is worse at 24.5 / 25.1 / 44.8, and XGBoost is close at 19.8 / 23.6 / 40.2. MdAPE is robust to extreme listings; PE20 is the practical hit-rate. Do not claim IAAO assessment-grade compliance. Vacant lots are weakest because key parcel attributes are missing from listings.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RQ2 answer: both tree models beat OLS in every stratum, and Random Forest is best-or-tied under grouped cross-validation.</a:t>
            </a:r>
          </a:p>
          <a:p>
            <a:r>
              <a:rPr lang="en-US" dirty="0"/>
              <a:t>Defend: RF only edges XGBoost slightly — 19.3 vs 19.8, 22.7 vs 23.6, 38.4 vs 40.2 — so the point is not a big accuracy gap. RF was deployed because it is robust on small samples and simpler to maintain.</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RQ3 answer: geospatial features earn their place. The ablation moves from structural only, to administrative location, to geospatial features.</a:t>
            </a:r>
          </a:p>
          <a:p>
            <a:r>
              <a:rPr lang="en-US" dirty="0"/>
              <a:t>Defend: Against structural-only, geospatial improves every stratum — condo +5.7 points, houses +4.2, vacant lot +13.0. Even after city and BIR benchmark, it still adds for condo (+3.7) and lot (+3.8), while houses are roughly flat. Errors concentrate in the tails: atypically cheap listings with condition, title, terrain, or distress signals the data never captured.</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8 — Results and Discussion.</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SHAP results give three findings: location dominates, drivers differ by property type, and MCRAI is selective.</a:t>
            </a:r>
          </a:p>
          <a:p>
            <a:r>
              <a:rPr lang="en-US" dirty="0"/>
              <a:t>Defend: Condos track neighborhood price through spatial lag; houses and lots are driven most by distance to CBP; bare land also responds to individual amenity access. Negative signs on some amenities are not “amenities lower value” — they reflect spatial sorting where congestion or commercial intensity deters some buyers.</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price surface is polycentric, not monocentric. CBP anchors land and detached housing, but condo weight spreads across the Mactan-airport corridor and Mandaue–Consolacion nodes.</a:t>
            </a:r>
          </a:p>
          <a:p>
            <a:r>
              <a:rPr lang="en-US" dirty="0"/>
              <a:t>Defend: Read the Mactan signal as a submarket bundle — airport access, bridge connectivity, and tourism-adjacent demand — not a raw island premium. Negative security, tourism, or retail signs are spatial sorting signals, not proof those amenities harm value.</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RQ4 answer: on the clean land-to-land comparison, vacant-lot market price runs about three times the BIR benchmark overall.</a:t>
            </a:r>
          </a:p>
          <a:p>
            <a:r>
              <a:rPr lang="en-US" dirty="0"/>
              <a:t>Defend: The gap ranges from about 2.2× in Cebu City to about 4.8× in Mandaue, and listings exceed the benchmark in nearly every LGU. Frame this carefully as a research signal that benchmarks are stale, not a correction factor to apply. The tool supports triangulation; it does not settle final appraisal value.</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decision-support tool — the applied deliverable.</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prototype has three views: Market Map for listings and filters, Price Surface for predicted price per sqm by barangay, and Property Predictor for a property-level estimate with SHAP breakdown.</a:t>
            </a:r>
          </a:p>
          <a:p>
            <a:r>
              <a:rPr lang="en-US" dirty="0"/>
              <a:t>Defend: The backend runs the exact deployed Random Forest models, so the tool always shows its reasoning. Keep the scope clear: market_segment is fixed to open_market for the deployed surface. Switch to the live demo here.</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9 — Conclusions.</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Close the thesis answers: location dominates, tree models win, geospatial features help, and the BIR gap is systematic.</a:t>
            </a:r>
          </a:p>
          <a:p>
            <a:r>
              <a:rPr lang="en-US" dirty="0"/>
              <a:t>Defend: Contributions are per-type modeling, evidence-based feature selection, a polycentric distance set, two-stage MCRAI, leak-free grouped CV, and an explainable web prototype. Volunteer the limits: asking prices rather than deeds, cross-sectional snapshot, vacant-lot data ceiling, and thin LGU-by-type cells. Owning the limits is the strongest defense.</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10 — Recommendations.</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For practice, read the surface as a triangulation tool alongside zonal values and comparables — not as a final appraisal.</a:t>
            </a:r>
          </a:p>
          <a:p>
            <a:r>
              <a:rPr lang="en-US" dirty="0"/>
              <a:t>Defend: Weight polycentric distance and property type before the amenity composite. For policy, keep recognizing secondary and corridor subcenters such as Mactan, Consolacion, and Naga. Treat the valuation gap as a research signal and validate it against transactions before operational use.</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Future work should put MCRAI on an empirical footing: estimate the decay rate, category radii, and weights from data rather than fixing them.</a:t>
            </a:r>
          </a:p>
          <a:p>
            <a:r>
              <a:rPr lang="en-US" dirty="0"/>
              <a:t>Defend: Next steps are GWR or MGWR for spatial heterogeneity, richer inputs such as frontage, zoning, slope, titling, time, and macro indicators, and triangulation against complementary reference prices. Closing line: the thesis is a demonstrated, reproducible workflow — a defensible template for local valuation analytics in Philippine secondary cities.</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References.</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2.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BFC"/>
        </a:solidFill>
        <a:effectLst/>
      </p:bgPr>
    </p:bg>
    <p:spTree>
      <p:nvGrpSpPr>
        <p:cNvPr id="1" name=""/>
        <p:cNvGrpSpPr/>
        <p:nvPr/>
      </p:nvGrpSpPr>
      <p:grpSpPr>
        <a:xfrm>
          <a:off x="0" y="0"/>
          <a:ext cx="0" cy="0"/>
          <a:chOff x="0" y="0"/>
          <a:chExt cx="0" cy="0"/>
        </a:xfrm>
      </p:grpSpPr>
      <p:sp>
        <p:nvSpPr>
          <p:cNvPr id="2" name="Text 0"/>
          <p:cNvSpPr/>
          <p:nvPr/>
        </p:nvSpPr>
        <p:spPr>
          <a:xfrm>
            <a:off x="4188310" y="2925812"/>
            <a:ext cx="9911306" cy="366713"/>
          </a:xfrm>
          <a:prstGeom prst="rect">
            <a:avLst/>
          </a:prstGeom>
          <a:noFill/>
          <a:ln/>
        </p:spPr>
        <p:txBody>
          <a:bodyPr wrap="square" lIns="25400" tIns="25400" rIns="25400" bIns="25400" rtlCol="0" anchor="t">
            <a:normAutofit lnSpcReduction="10000"/>
          </a:bodyPr>
          <a:lstStyle/>
          <a:p>
            <a:pPr marL="0" indent="0" algn="ctr">
              <a:buNone/>
            </a:pPr>
            <a:r>
              <a:rPr lang="en-US" sz="2250" b="1" kern="0" spc="45" dirty="0">
                <a:solidFill>
                  <a:srgbClr val="33455E"/>
                </a:solidFill>
                <a:latin typeface="Arial" pitchFamily="34" charset="0"/>
                <a:ea typeface="Arial" pitchFamily="34" charset="-122"/>
                <a:cs typeface="Arial" pitchFamily="34" charset="-120"/>
              </a:rPr>
              <a:t>University of Asia and the Pacific · BS Data Science · June 2026</a:t>
            </a:r>
            <a:endParaRPr lang="en-US" sz="2250" dirty="0"/>
          </a:p>
        </p:txBody>
      </p:sp>
      <p:sp>
        <p:nvSpPr>
          <p:cNvPr id="3" name="Text 1"/>
          <p:cNvSpPr/>
          <p:nvPr/>
        </p:nvSpPr>
        <p:spPr>
          <a:xfrm>
            <a:off x="1785938" y="3578275"/>
            <a:ext cx="14716125" cy="1601688"/>
          </a:xfrm>
          <a:prstGeom prst="rect">
            <a:avLst/>
          </a:prstGeom>
          <a:noFill/>
          <a:ln/>
        </p:spPr>
        <p:txBody>
          <a:bodyPr wrap="square" lIns="25400" tIns="25400" rIns="25400" bIns="25400" rtlCol="0" anchor="t">
            <a:normAutofit fontScale="92500" lnSpcReduction="20000"/>
          </a:bodyPr>
          <a:lstStyle/>
          <a:p>
            <a:pPr marL="0" indent="0" algn="ctr">
              <a:lnSpc>
                <a:spcPct val="108000"/>
              </a:lnSpc>
              <a:buNone/>
            </a:pPr>
            <a:r>
              <a:rPr lang="en-US" sz="5700" b="1" dirty="0">
                <a:solidFill>
                  <a:srgbClr val="1E2530"/>
                </a:solidFill>
                <a:latin typeface="Arial" pitchFamily="34" charset="0"/>
                <a:ea typeface="Arial" pitchFamily="34" charset="-122"/>
                <a:cs typeface="Arial" pitchFamily="34" charset="-120"/>
              </a:rPr>
              <a:t>Predicting Open-Market Residential Property Values in Metro Cebu</a:t>
            </a:r>
            <a:endParaRPr lang="en-US" sz="5700" dirty="0"/>
          </a:p>
        </p:txBody>
      </p:sp>
      <p:sp>
        <p:nvSpPr>
          <p:cNvPr id="4" name="Text 2"/>
          <p:cNvSpPr/>
          <p:nvPr/>
        </p:nvSpPr>
        <p:spPr>
          <a:xfrm>
            <a:off x="4531117" y="5313313"/>
            <a:ext cx="9225766" cy="476250"/>
          </a:xfrm>
          <a:prstGeom prst="rect">
            <a:avLst/>
          </a:prstGeom>
          <a:noFill/>
          <a:ln/>
        </p:spPr>
        <p:txBody>
          <a:bodyPr wrap="square" lIns="25400" tIns="25400" rIns="25400" bIns="25400" rtlCol="0" anchor="t">
            <a:normAutofit lnSpcReduction="10000"/>
          </a:bodyPr>
          <a:lstStyle/>
          <a:p>
            <a:pPr marL="0" indent="0" algn="ctr">
              <a:buNone/>
            </a:pPr>
            <a:r>
              <a:rPr lang="en-US" sz="3000" dirty="0">
                <a:solidFill>
                  <a:srgbClr val="5B7A99"/>
                </a:solidFill>
                <a:latin typeface="Arial" pitchFamily="34" charset="0"/>
                <a:ea typeface="Arial" pitchFamily="34" charset="-122"/>
                <a:cs typeface="Arial" pitchFamily="34" charset="-120"/>
              </a:rPr>
              <a:t>Using Machine Learning and Geospatial Features</a:t>
            </a:r>
            <a:endParaRPr lang="en-US" sz="3000" dirty="0"/>
          </a:p>
        </p:txBody>
      </p:sp>
      <p:sp>
        <p:nvSpPr>
          <p:cNvPr id="5" name="Shape 3"/>
          <p:cNvSpPr/>
          <p:nvPr/>
        </p:nvSpPr>
        <p:spPr>
          <a:xfrm>
            <a:off x="8572500" y="6189613"/>
            <a:ext cx="1143000" cy="47625"/>
          </a:xfrm>
          <a:prstGeom prst="rect">
            <a:avLst/>
          </a:prstGeom>
          <a:solidFill>
            <a:srgbClr val="33455E"/>
          </a:solidFill>
          <a:ln/>
        </p:spPr>
        <p:txBody>
          <a:bodyPr/>
          <a:lstStyle/>
          <a:p>
            <a:endParaRPr lang="en-US"/>
          </a:p>
        </p:txBody>
      </p:sp>
      <p:sp>
        <p:nvSpPr>
          <p:cNvPr id="6" name="Text 4"/>
          <p:cNvSpPr/>
          <p:nvPr/>
        </p:nvSpPr>
        <p:spPr>
          <a:xfrm>
            <a:off x="7233657" y="6618238"/>
            <a:ext cx="3820686" cy="409575"/>
          </a:xfrm>
          <a:prstGeom prst="rect">
            <a:avLst/>
          </a:prstGeom>
          <a:noFill/>
          <a:ln/>
        </p:spPr>
        <p:txBody>
          <a:bodyPr wrap="square" lIns="25400" tIns="25400" rIns="25400" bIns="25400" rtlCol="0" anchor="t">
            <a:normAutofit lnSpcReduction="10000"/>
          </a:bodyPr>
          <a:lstStyle/>
          <a:p>
            <a:pPr marL="0" indent="0" algn="ctr">
              <a:buNone/>
            </a:pPr>
            <a:r>
              <a:rPr lang="en-US" sz="2550" b="1" dirty="0">
                <a:solidFill>
                  <a:srgbClr val="1E2530"/>
                </a:solidFill>
                <a:latin typeface="Arial" pitchFamily="34" charset="0"/>
                <a:ea typeface="Arial" pitchFamily="34" charset="-122"/>
                <a:cs typeface="Arial" pitchFamily="34" charset="-120"/>
              </a:rPr>
              <a:t>Chris Dominic Estreba</a:t>
            </a:r>
            <a:endParaRPr lang="en-US" sz="2550" dirty="0"/>
          </a:p>
        </p:txBody>
      </p:sp>
      <p:sp>
        <p:nvSpPr>
          <p:cNvPr id="7" name="Text 5"/>
          <p:cNvSpPr/>
          <p:nvPr/>
        </p:nvSpPr>
        <p:spPr>
          <a:xfrm>
            <a:off x="7429868" y="7065913"/>
            <a:ext cx="3428189" cy="333375"/>
          </a:xfrm>
          <a:prstGeom prst="rect">
            <a:avLst/>
          </a:prstGeom>
          <a:noFill/>
          <a:ln/>
        </p:spPr>
        <p:txBody>
          <a:bodyPr wrap="square" lIns="25400" tIns="25400" rIns="25400" bIns="25400" rtlCol="0" anchor="t">
            <a:normAutofit lnSpcReduction="10000"/>
          </a:bodyPr>
          <a:lstStyle/>
          <a:p>
            <a:pPr marL="0" indent="0" algn="ctr">
              <a:buNone/>
            </a:pPr>
            <a:r>
              <a:rPr lang="en-US" sz="2025" dirty="0">
                <a:solidFill>
                  <a:srgbClr val="6E7686"/>
                </a:solidFill>
                <a:latin typeface="Arial" pitchFamily="34" charset="0"/>
                <a:ea typeface="Arial" pitchFamily="34" charset="-122"/>
                <a:cs typeface="Arial" pitchFamily="34" charset="-120"/>
              </a:rPr>
              <a:t>BS Data Science Capstone</a:t>
            </a:r>
            <a:endParaRPr lang="en-US" sz="2025" dirty="0"/>
          </a:p>
        </p:txBody>
      </p:sp>
    </p:spTree>
    <p:extLst>
      <p:ext uri="{BB962C8B-B14F-4D97-AF65-F5344CB8AC3E}">
        <p14:creationId xmlns:p14="http://schemas.microsoft.com/office/powerpoint/2010/main" val="24263796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BFC"/>
        </a:solidFill>
        <a:effectLst/>
      </p:bgPr>
    </p:bg>
    <p:spTree>
      <p:nvGrpSpPr>
        <p:cNvPr id="1" name=""/>
        <p:cNvGrpSpPr/>
        <p:nvPr/>
      </p:nvGrpSpPr>
      <p:grpSpPr>
        <a:xfrm>
          <a:off x="0" y="0"/>
          <a:ext cx="0" cy="0"/>
          <a:chOff x="0" y="0"/>
          <a:chExt cx="0" cy="0"/>
        </a:xfrm>
      </p:grpSpPr>
      <p:sp>
        <p:nvSpPr>
          <p:cNvPr id="2" name="Text 0"/>
          <p:cNvSpPr/>
          <p:nvPr/>
        </p:nvSpPr>
        <p:spPr>
          <a:xfrm>
            <a:off x="847725" y="552450"/>
            <a:ext cx="1369688" cy="347663"/>
          </a:xfrm>
          <a:prstGeom prst="rect">
            <a:avLst/>
          </a:prstGeom>
          <a:noFill/>
          <a:ln/>
        </p:spPr>
        <p:txBody>
          <a:bodyPr wrap="square" lIns="25400" tIns="25400" rIns="25400" bIns="25400" rtlCol="0" anchor="t">
            <a:normAutofit lnSpcReduction="10000"/>
          </a:bodyPr>
          <a:lstStyle/>
          <a:p>
            <a:pPr marL="0" indent="0" algn="l">
              <a:buNone/>
            </a:pPr>
            <a:r>
              <a:rPr lang="en-US" sz="2100" b="1" kern="0" spc="84" dirty="0">
                <a:solidFill>
                  <a:srgbClr val="33455E"/>
                </a:solidFill>
                <a:latin typeface="Arial" pitchFamily="34" charset="0"/>
                <a:ea typeface="Arial" pitchFamily="34" charset="-122"/>
                <a:cs typeface="Arial" pitchFamily="34" charset="-120"/>
              </a:rPr>
              <a:t>OUTLINE</a:t>
            </a:r>
            <a:endParaRPr lang="en-US" sz="2100" dirty="0"/>
          </a:p>
        </p:txBody>
      </p:sp>
      <p:sp>
        <p:nvSpPr>
          <p:cNvPr id="3" name="Text 1"/>
          <p:cNvSpPr/>
          <p:nvPr/>
        </p:nvSpPr>
        <p:spPr>
          <a:xfrm>
            <a:off x="16844442" y="552450"/>
            <a:ext cx="672033" cy="314325"/>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6E7686"/>
                </a:solidFill>
                <a:latin typeface="Arial" pitchFamily="34" charset="0"/>
                <a:ea typeface="Arial" pitchFamily="34" charset="-122"/>
                <a:cs typeface="Arial" pitchFamily="34" charset="-120"/>
              </a:rPr>
              <a:t>2 / 40</a:t>
            </a:r>
            <a:endParaRPr lang="en-US" sz="1875" dirty="0"/>
          </a:p>
        </p:txBody>
      </p:sp>
      <p:sp>
        <p:nvSpPr>
          <p:cNvPr id="4" name="Shape 2"/>
          <p:cNvSpPr/>
          <p:nvPr/>
        </p:nvSpPr>
        <p:spPr>
          <a:xfrm>
            <a:off x="847725" y="985838"/>
            <a:ext cx="16592550" cy="28575"/>
          </a:xfrm>
          <a:prstGeom prst="rect">
            <a:avLst/>
          </a:prstGeom>
          <a:solidFill>
            <a:srgbClr val="33455E"/>
          </a:solidFill>
          <a:ln/>
        </p:spPr>
        <p:txBody>
          <a:bodyPr/>
          <a:lstStyle/>
          <a:p>
            <a:endParaRPr lang="en-US"/>
          </a:p>
        </p:txBody>
      </p:sp>
      <p:sp>
        <p:nvSpPr>
          <p:cNvPr id="5" name="Text 3"/>
          <p:cNvSpPr/>
          <p:nvPr/>
        </p:nvSpPr>
        <p:spPr>
          <a:xfrm>
            <a:off x="847725" y="1243013"/>
            <a:ext cx="18251805" cy="55810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3900" b="1" dirty="0">
                <a:solidFill>
                  <a:srgbClr val="1E2530"/>
                </a:solidFill>
                <a:latin typeface="Arial" pitchFamily="34" charset="0"/>
                <a:ea typeface="Arial" pitchFamily="34" charset="-122"/>
                <a:cs typeface="Arial" pitchFamily="34" charset="-120"/>
              </a:rPr>
              <a:t>Outline</a:t>
            </a:r>
            <a:endParaRPr lang="en-US" sz="3900" dirty="0"/>
          </a:p>
        </p:txBody>
      </p:sp>
      <p:sp>
        <p:nvSpPr>
          <p:cNvPr id="6" name="Text 4"/>
          <p:cNvSpPr/>
          <p:nvPr/>
        </p:nvSpPr>
        <p:spPr>
          <a:xfrm>
            <a:off x="847725" y="1877318"/>
            <a:ext cx="18251805" cy="366713"/>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5B7A99"/>
                </a:solidFill>
                <a:latin typeface="Arial" pitchFamily="34" charset="0"/>
                <a:ea typeface="Arial" pitchFamily="34" charset="-122"/>
                <a:cs typeface="Arial" pitchFamily="34" charset="-120"/>
              </a:rPr>
              <a:t>The study follows the CRISP-DM arc, mapped to the thesis chapters.</a:t>
            </a:r>
            <a:endParaRPr lang="en-US" sz="2250" dirty="0"/>
          </a:p>
        </p:txBody>
      </p:sp>
      <p:sp>
        <p:nvSpPr>
          <p:cNvPr id="7" name="Text 5"/>
          <p:cNvSpPr/>
          <p:nvPr/>
        </p:nvSpPr>
        <p:spPr>
          <a:xfrm>
            <a:off x="847725" y="4178424"/>
            <a:ext cx="514350" cy="333375"/>
          </a:xfrm>
          <a:prstGeom prst="rect">
            <a:avLst/>
          </a:prstGeom>
          <a:noFill/>
          <a:ln/>
        </p:spPr>
        <p:txBody>
          <a:bodyPr wrap="square" lIns="25400" tIns="25400" rIns="25400" bIns="25400" rtlCol="0" anchor="t">
            <a:normAutofit lnSpcReduction="10000"/>
          </a:bodyPr>
          <a:lstStyle/>
          <a:p>
            <a:pPr marL="0" indent="0" algn="l">
              <a:buNone/>
            </a:pPr>
            <a:r>
              <a:rPr lang="en-US" sz="2025" b="1" dirty="0">
                <a:solidFill>
                  <a:srgbClr val="5B7A99"/>
                </a:solidFill>
                <a:latin typeface="Arial" pitchFamily="34" charset="0"/>
                <a:ea typeface="Arial" pitchFamily="34" charset="-122"/>
                <a:cs typeface="Arial" pitchFamily="34" charset="-120"/>
              </a:rPr>
              <a:t>1</a:t>
            </a:r>
            <a:endParaRPr lang="en-US" sz="2025" dirty="0"/>
          </a:p>
        </p:txBody>
      </p:sp>
      <p:sp>
        <p:nvSpPr>
          <p:cNvPr id="8" name="Text 6"/>
          <p:cNvSpPr/>
          <p:nvPr/>
        </p:nvSpPr>
        <p:spPr>
          <a:xfrm>
            <a:off x="1419225" y="4121274"/>
            <a:ext cx="7635478" cy="427806"/>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2325" b="1" dirty="0">
                <a:solidFill>
                  <a:srgbClr val="33455E"/>
                </a:solidFill>
                <a:latin typeface="Arial" pitchFamily="34" charset="0"/>
                <a:ea typeface="Arial" pitchFamily="34" charset="-122"/>
                <a:cs typeface="Arial" pitchFamily="34" charset="-120"/>
              </a:rPr>
              <a:t>Introduction </a:t>
            </a:r>
            <a:r>
              <a:rPr lang="en-US" sz="2325" dirty="0">
                <a:solidFill>
                  <a:srgbClr val="1E2530"/>
                </a:solidFill>
                <a:latin typeface="Arial" pitchFamily="34" charset="0"/>
                <a:ea typeface="Arial" pitchFamily="34" charset="-122"/>
                <a:cs typeface="Arial" pitchFamily="34" charset="-120"/>
              </a:rPr>
              <a:t>— the valuation problem in Metro Cebu</a:t>
            </a:r>
            <a:endParaRPr lang="en-US" sz="2325" dirty="0"/>
          </a:p>
        </p:txBody>
      </p:sp>
      <p:sp>
        <p:nvSpPr>
          <p:cNvPr id="9" name="Text 7"/>
          <p:cNvSpPr/>
          <p:nvPr/>
        </p:nvSpPr>
        <p:spPr>
          <a:xfrm>
            <a:off x="9525000" y="4178424"/>
            <a:ext cx="514350" cy="333375"/>
          </a:xfrm>
          <a:prstGeom prst="rect">
            <a:avLst/>
          </a:prstGeom>
          <a:noFill/>
          <a:ln/>
        </p:spPr>
        <p:txBody>
          <a:bodyPr wrap="square" lIns="25400" tIns="25400" rIns="25400" bIns="25400" rtlCol="0" anchor="t">
            <a:normAutofit lnSpcReduction="10000"/>
          </a:bodyPr>
          <a:lstStyle/>
          <a:p>
            <a:pPr marL="0" indent="0" algn="l">
              <a:buNone/>
            </a:pPr>
            <a:r>
              <a:rPr lang="en-US" sz="2025" b="1" dirty="0">
                <a:solidFill>
                  <a:srgbClr val="5B7A99"/>
                </a:solidFill>
                <a:latin typeface="Arial" pitchFamily="34" charset="0"/>
                <a:ea typeface="Arial" pitchFamily="34" charset="-122"/>
                <a:cs typeface="Arial" pitchFamily="34" charset="-120"/>
              </a:rPr>
              <a:t>6</a:t>
            </a:r>
            <a:endParaRPr lang="en-US" sz="2025" dirty="0"/>
          </a:p>
        </p:txBody>
      </p:sp>
      <p:sp>
        <p:nvSpPr>
          <p:cNvPr id="10" name="Text 8"/>
          <p:cNvSpPr/>
          <p:nvPr/>
        </p:nvSpPr>
        <p:spPr>
          <a:xfrm>
            <a:off x="10096500" y="4121274"/>
            <a:ext cx="6823308" cy="427806"/>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2325" b="1" dirty="0">
                <a:solidFill>
                  <a:srgbClr val="33455E"/>
                </a:solidFill>
                <a:latin typeface="Arial" pitchFamily="34" charset="0"/>
                <a:ea typeface="Arial" pitchFamily="34" charset="-122"/>
                <a:cs typeface="Arial" pitchFamily="34" charset="-120"/>
              </a:rPr>
              <a:t>Modeling </a:t>
            </a:r>
            <a:r>
              <a:rPr lang="en-US" sz="2325" dirty="0">
                <a:solidFill>
                  <a:srgbClr val="1E2530"/>
                </a:solidFill>
                <a:latin typeface="Arial" pitchFamily="34" charset="0"/>
                <a:ea typeface="Arial" pitchFamily="34" charset="-122"/>
                <a:cs typeface="Arial" pitchFamily="34" charset="-120"/>
              </a:rPr>
              <a:t>— stratified models, selection, tuning</a:t>
            </a:r>
            <a:endParaRPr lang="en-US" sz="2325" dirty="0"/>
          </a:p>
        </p:txBody>
      </p:sp>
      <p:sp>
        <p:nvSpPr>
          <p:cNvPr id="11" name="Text 9"/>
          <p:cNvSpPr/>
          <p:nvPr/>
        </p:nvSpPr>
        <p:spPr>
          <a:xfrm>
            <a:off x="847725" y="4720530"/>
            <a:ext cx="514350" cy="333375"/>
          </a:xfrm>
          <a:prstGeom prst="rect">
            <a:avLst/>
          </a:prstGeom>
          <a:noFill/>
          <a:ln/>
        </p:spPr>
        <p:txBody>
          <a:bodyPr wrap="square" lIns="25400" tIns="25400" rIns="25400" bIns="25400" rtlCol="0" anchor="t">
            <a:normAutofit lnSpcReduction="10000"/>
          </a:bodyPr>
          <a:lstStyle/>
          <a:p>
            <a:pPr marL="0" indent="0" algn="l">
              <a:buNone/>
            </a:pPr>
            <a:r>
              <a:rPr lang="en-US" sz="2025" b="1" dirty="0">
                <a:solidFill>
                  <a:srgbClr val="5B7A99"/>
                </a:solidFill>
                <a:latin typeface="Arial" pitchFamily="34" charset="0"/>
                <a:ea typeface="Arial" pitchFamily="34" charset="-122"/>
                <a:cs typeface="Arial" pitchFamily="34" charset="-120"/>
              </a:rPr>
              <a:t>2</a:t>
            </a:r>
            <a:endParaRPr lang="en-US" sz="2025" dirty="0"/>
          </a:p>
        </p:txBody>
      </p:sp>
      <p:sp>
        <p:nvSpPr>
          <p:cNvPr id="12" name="Text 10"/>
          <p:cNvSpPr/>
          <p:nvPr/>
        </p:nvSpPr>
        <p:spPr>
          <a:xfrm>
            <a:off x="1419225" y="4663380"/>
            <a:ext cx="7564088" cy="817513"/>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2325" b="1" dirty="0">
                <a:solidFill>
                  <a:srgbClr val="33455E"/>
                </a:solidFill>
                <a:latin typeface="Arial" pitchFamily="34" charset="0"/>
                <a:ea typeface="Arial" pitchFamily="34" charset="-122"/>
                <a:cs typeface="Arial" pitchFamily="34" charset="-120"/>
              </a:rPr>
              <a:t>Review of Related Literature </a:t>
            </a:r>
            <a:r>
              <a:rPr lang="en-US" sz="2325" dirty="0">
                <a:solidFill>
                  <a:srgbClr val="1E2530"/>
                </a:solidFill>
                <a:latin typeface="Arial" pitchFamily="34" charset="0"/>
                <a:ea typeface="Arial" pitchFamily="34" charset="-122"/>
                <a:cs typeface="Arial" pitchFamily="34" charset="-120"/>
              </a:rPr>
              <a:t>— what is known, and the gap</a:t>
            </a:r>
            <a:endParaRPr lang="en-US" sz="2325" dirty="0"/>
          </a:p>
        </p:txBody>
      </p:sp>
      <p:sp>
        <p:nvSpPr>
          <p:cNvPr id="13" name="Text 11"/>
          <p:cNvSpPr/>
          <p:nvPr/>
        </p:nvSpPr>
        <p:spPr>
          <a:xfrm>
            <a:off x="9525000" y="4720530"/>
            <a:ext cx="514350" cy="333375"/>
          </a:xfrm>
          <a:prstGeom prst="rect">
            <a:avLst/>
          </a:prstGeom>
          <a:noFill/>
          <a:ln/>
        </p:spPr>
        <p:txBody>
          <a:bodyPr wrap="square" lIns="25400" tIns="25400" rIns="25400" bIns="25400" rtlCol="0" anchor="t">
            <a:normAutofit lnSpcReduction="10000"/>
          </a:bodyPr>
          <a:lstStyle/>
          <a:p>
            <a:pPr marL="0" indent="0" algn="l">
              <a:buNone/>
            </a:pPr>
            <a:r>
              <a:rPr lang="en-US" sz="2025" b="1" dirty="0">
                <a:solidFill>
                  <a:srgbClr val="5B7A99"/>
                </a:solidFill>
                <a:latin typeface="Arial" pitchFamily="34" charset="0"/>
                <a:ea typeface="Arial" pitchFamily="34" charset="-122"/>
                <a:cs typeface="Arial" pitchFamily="34" charset="-120"/>
              </a:rPr>
              <a:t>7</a:t>
            </a:r>
            <a:endParaRPr lang="en-US" sz="2025" dirty="0"/>
          </a:p>
        </p:txBody>
      </p:sp>
      <p:sp>
        <p:nvSpPr>
          <p:cNvPr id="14" name="Text 12"/>
          <p:cNvSpPr/>
          <p:nvPr/>
        </p:nvSpPr>
        <p:spPr>
          <a:xfrm>
            <a:off x="10096500" y="4663380"/>
            <a:ext cx="7575805" cy="427806"/>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2325" b="1" dirty="0">
                <a:solidFill>
                  <a:srgbClr val="33455E"/>
                </a:solidFill>
                <a:latin typeface="Arial" pitchFamily="34" charset="0"/>
                <a:ea typeface="Arial" pitchFamily="34" charset="-122"/>
                <a:cs typeface="Arial" pitchFamily="34" charset="-120"/>
              </a:rPr>
              <a:t>Evaluation </a:t>
            </a:r>
            <a:r>
              <a:rPr lang="en-US" sz="2325" dirty="0">
                <a:solidFill>
                  <a:srgbClr val="1E2530"/>
                </a:solidFill>
                <a:latin typeface="Arial" pitchFamily="34" charset="0"/>
                <a:ea typeface="Arial" pitchFamily="34" charset="-122"/>
                <a:cs typeface="Arial" pitchFamily="34" charset="-120"/>
              </a:rPr>
              <a:t>— accuracy, model comparison, ablation</a:t>
            </a:r>
            <a:endParaRPr lang="en-US" sz="2325" dirty="0"/>
          </a:p>
        </p:txBody>
      </p:sp>
      <p:sp>
        <p:nvSpPr>
          <p:cNvPr id="15" name="Text 13"/>
          <p:cNvSpPr/>
          <p:nvPr/>
        </p:nvSpPr>
        <p:spPr>
          <a:xfrm>
            <a:off x="847725" y="5652343"/>
            <a:ext cx="514350" cy="333375"/>
          </a:xfrm>
          <a:prstGeom prst="rect">
            <a:avLst/>
          </a:prstGeom>
          <a:noFill/>
          <a:ln/>
        </p:spPr>
        <p:txBody>
          <a:bodyPr wrap="square" lIns="25400" tIns="25400" rIns="25400" bIns="25400" rtlCol="0" anchor="t">
            <a:normAutofit lnSpcReduction="10000"/>
          </a:bodyPr>
          <a:lstStyle/>
          <a:p>
            <a:pPr marL="0" indent="0" algn="l">
              <a:buNone/>
            </a:pPr>
            <a:r>
              <a:rPr lang="en-US" sz="2025" b="1" dirty="0">
                <a:solidFill>
                  <a:srgbClr val="5B7A99"/>
                </a:solidFill>
                <a:latin typeface="Arial" pitchFamily="34" charset="0"/>
                <a:ea typeface="Arial" pitchFamily="34" charset="-122"/>
                <a:cs typeface="Arial" pitchFamily="34" charset="-120"/>
              </a:rPr>
              <a:t>3</a:t>
            </a:r>
            <a:endParaRPr lang="en-US" sz="2025" dirty="0"/>
          </a:p>
        </p:txBody>
      </p:sp>
      <p:sp>
        <p:nvSpPr>
          <p:cNvPr id="16" name="Text 14"/>
          <p:cNvSpPr/>
          <p:nvPr/>
        </p:nvSpPr>
        <p:spPr>
          <a:xfrm>
            <a:off x="1419225" y="5595193"/>
            <a:ext cx="7564088" cy="817513"/>
          </a:xfrm>
          <a:prstGeom prst="rect">
            <a:avLst/>
          </a:prstGeom>
          <a:noFill/>
          <a:ln/>
        </p:spPr>
        <p:txBody>
          <a:bodyPr wrap="square" lIns="25400" tIns="25400" rIns="25400" bIns="25400" rtlCol="0" anchor="t">
            <a:normAutofit fontScale="92500"/>
          </a:bodyPr>
          <a:lstStyle/>
          <a:p>
            <a:pPr marL="0" indent="0" algn="l">
              <a:lnSpc>
                <a:spcPct val="132000"/>
              </a:lnSpc>
              <a:buNone/>
            </a:pPr>
            <a:r>
              <a:rPr lang="en-US" sz="2325" b="1" dirty="0">
                <a:solidFill>
                  <a:srgbClr val="33455E"/>
                </a:solidFill>
                <a:latin typeface="Arial" pitchFamily="34" charset="0"/>
                <a:ea typeface="Arial" pitchFamily="34" charset="-122"/>
                <a:cs typeface="Arial" pitchFamily="34" charset="-120"/>
              </a:rPr>
              <a:t>Methodology </a:t>
            </a:r>
            <a:r>
              <a:rPr lang="en-US" sz="2325" dirty="0">
                <a:solidFill>
                  <a:srgbClr val="1E2530"/>
                </a:solidFill>
                <a:latin typeface="Arial" pitchFamily="34" charset="0"/>
                <a:ea typeface="Arial" pitchFamily="34" charset="-122"/>
                <a:cs typeface="Arial" pitchFamily="34" charset="-120"/>
              </a:rPr>
              <a:t>— data, geospatial features, modeling design</a:t>
            </a:r>
            <a:endParaRPr lang="en-US" sz="2325" dirty="0"/>
          </a:p>
        </p:txBody>
      </p:sp>
      <p:sp>
        <p:nvSpPr>
          <p:cNvPr id="17" name="Text 15"/>
          <p:cNvSpPr/>
          <p:nvPr/>
        </p:nvSpPr>
        <p:spPr>
          <a:xfrm>
            <a:off x="9525000" y="5652343"/>
            <a:ext cx="514350" cy="333375"/>
          </a:xfrm>
          <a:prstGeom prst="rect">
            <a:avLst/>
          </a:prstGeom>
          <a:noFill/>
          <a:ln/>
        </p:spPr>
        <p:txBody>
          <a:bodyPr wrap="square" lIns="25400" tIns="25400" rIns="25400" bIns="25400" rtlCol="0" anchor="t">
            <a:normAutofit lnSpcReduction="10000"/>
          </a:bodyPr>
          <a:lstStyle/>
          <a:p>
            <a:pPr marL="0" indent="0" algn="l">
              <a:buNone/>
            </a:pPr>
            <a:r>
              <a:rPr lang="en-US" sz="2025" b="1" dirty="0">
                <a:solidFill>
                  <a:srgbClr val="5B7A99"/>
                </a:solidFill>
                <a:latin typeface="Arial" pitchFamily="34" charset="0"/>
                <a:ea typeface="Arial" pitchFamily="34" charset="-122"/>
                <a:cs typeface="Arial" pitchFamily="34" charset="-120"/>
              </a:rPr>
              <a:t>8</a:t>
            </a:r>
            <a:endParaRPr lang="en-US" sz="2025" dirty="0"/>
          </a:p>
        </p:txBody>
      </p:sp>
      <p:sp>
        <p:nvSpPr>
          <p:cNvPr id="18" name="Text 16"/>
          <p:cNvSpPr/>
          <p:nvPr/>
        </p:nvSpPr>
        <p:spPr>
          <a:xfrm>
            <a:off x="10096500" y="5595193"/>
            <a:ext cx="7816133" cy="427806"/>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2325" b="1" dirty="0">
                <a:solidFill>
                  <a:srgbClr val="33455E"/>
                </a:solidFill>
                <a:latin typeface="Arial" pitchFamily="34" charset="0"/>
                <a:ea typeface="Arial" pitchFamily="34" charset="-122"/>
                <a:cs typeface="Arial" pitchFamily="34" charset="-120"/>
              </a:rPr>
              <a:t>Results &amp; Discussion </a:t>
            </a:r>
            <a:r>
              <a:rPr lang="en-US" sz="2325" dirty="0">
                <a:solidFill>
                  <a:srgbClr val="1E2530"/>
                </a:solidFill>
                <a:latin typeface="Arial" pitchFamily="34" charset="0"/>
                <a:ea typeface="Arial" pitchFamily="34" charset="-122"/>
                <a:cs typeface="Arial" pitchFamily="34" charset="-120"/>
              </a:rPr>
              <a:t>— drivers and spatial structure</a:t>
            </a:r>
            <a:endParaRPr lang="en-US" sz="2325" dirty="0"/>
          </a:p>
        </p:txBody>
      </p:sp>
      <p:sp>
        <p:nvSpPr>
          <p:cNvPr id="19" name="Text 17"/>
          <p:cNvSpPr/>
          <p:nvPr/>
        </p:nvSpPr>
        <p:spPr>
          <a:xfrm>
            <a:off x="847725" y="6584156"/>
            <a:ext cx="514350" cy="333375"/>
          </a:xfrm>
          <a:prstGeom prst="rect">
            <a:avLst/>
          </a:prstGeom>
          <a:noFill/>
          <a:ln/>
        </p:spPr>
        <p:txBody>
          <a:bodyPr wrap="square" lIns="25400" tIns="25400" rIns="25400" bIns="25400" rtlCol="0" anchor="t">
            <a:normAutofit lnSpcReduction="10000"/>
          </a:bodyPr>
          <a:lstStyle/>
          <a:p>
            <a:pPr marL="0" indent="0" algn="l">
              <a:buNone/>
            </a:pPr>
            <a:r>
              <a:rPr lang="en-US" sz="2025" b="1" dirty="0">
                <a:solidFill>
                  <a:srgbClr val="5B7A99"/>
                </a:solidFill>
                <a:latin typeface="Arial" pitchFamily="34" charset="0"/>
                <a:ea typeface="Arial" pitchFamily="34" charset="-122"/>
                <a:cs typeface="Arial" pitchFamily="34" charset="-120"/>
              </a:rPr>
              <a:t>4</a:t>
            </a:r>
            <a:endParaRPr lang="en-US" sz="2025" dirty="0"/>
          </a:p>
        </p:txBody>
      </p:sp>
      <p:sp>
        <p:nvSpPr>
          <p:cNvPr id="20" name="Text 18"/>
          <p:cNvSpPr/>
          <p:nvPr/>
        </p:nvSpPr>
        <p:spPr>
          <a:xfrm>
            <a:off x="1419225" y="6527006"/>
            <a:ext cx="7564088" cy="817513"/>
          </a:xfrm>
          <a:prstGeom prst="rect">
            <a:avLst/>
          </a:prstGeom>
          <a:noFill/>
          <a:ln/>
        </p:spPr>
        <p:txBody>
          <a:bodyPr wrap="square" lIns="25400" tIns="25400" rIns="25400" bIns="25400" rtlCol="0" anchor="t">
            <a:normAutofit fontScale="92500"/>
          </a:bodyPr>
          <a:lstStyle/>
          <a:p>
            <a:pPr marL="0" indent="0" algn="l">
              <a:lnSpc>
                <a:spcPct val="132000"/>
              </a:lnSpc>
              <a:buNone/>
            </a:pPr>
            <a:r>
              <a:rPr lang="en-US" sz="2325" b="1" dirty="0">
                <a:solidFill>
                  <a:srgbClr val="33455E"/>
                </a:solidFill>
                <a:latin typeface="Arial" pitchFamily="34" charset="0"/>
                <a:ea typeface="Arial" pitchFamily="34" charset="-122"/>
                <a:cs typeface="Arial" pitchFamily="34" charset="-120"/>
              </a:rPr>
              <a:t>Data Understanding </a:t>
            </a:r>
            <a:r>
              <a:rPr lang="en-US" sz="2325" dirty="0">
                <a:solidFill>
                  <a:srgbClr val="1E2530"/>
                </a:solidFill>
                <a:latin typeface="Arial" pitchFamily="34" charset="0"/>
                <a:ea typeface="Arial" pitchFamily="34" charset="-122"/>
                <a:cs typeface="Arial" pitchFamily="34" charset="-120"/>
              </a:rPr>
              <a:t>— collection and exploratory analysis</a:t>
            </a:r>
            <a:endParaRPr lang="en-US" sz="2325" dirty="0"/>
          </a:p>
        </p:txBody>
      </p:sp>
      <p:sp>
        <p:nvSpPr>
          <p:cNvPr id="21" name="Text 19"/>
          <p:cNvSpPr/>
          <p:nvPr/>
        </p:nvSpPr>
        <p:spPr>
          <a:xfrm>
            <a:off x="9525000" y="6584156"/>
            <a:ext cx="514350" cy="333375"/>
          </a:xfrm>
          <a:prstGeom prst="rect">
            <a:avLst/>
          </a:prstGeom>
          <a:noFill/>
          <a:ln/>
        </p:spPr>
        <p:txBody>
          <a:bodyPr wrap="square" lIns="25400" tIns="25400" rIns="25400" bIns="25400" rtlCol="0" anchor="t">
            <a:normAutofit lnSpcReduction="10000"/>
          </a:bodyPr>
          <a:lstStyle/>
          <a:p>
            <a:pPr marL="0" indent="0" algn="l">
              <a:buNone/>
            </a:pPr>
            <a:r>
              <a:rPr lang="en-US" sz="2025" b="1" dirty="0">
                <a:solidFill>
                  <a:srgbClr val="5B7A99"/>
                </a:solidFill>
                <a:latin typeface="Arial" pitchFamily="34" charset="0"/>
                <a:ea typeface="Arial" pitchFamily="34" charset="-122"/>
                <a:cs typeface="Arial" pitchFamily="34" charset="-120"/>
              </a:rPr>
              <a:t>9</a:t>
            </a:r>
            <a:endParaRPr lang="en-US" sz="2025" dirty="0"/>
          </a:p>
        </p:txBody>
      </p:sp>
      <p:sp>
        <p:nvSpPr>
          <p:cNvPr id="22" name="Text 20"/>
          <p:cNvSpPr/>
          <p:nvPr/>
        </p:nvSpPr>
        <p:spPr>
          <a:xfrm>
            <a:off x="10096500" y="6527006"/>
            <a:ext cx="6605982" cy="427806"/>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2325" b="1" dirty="0">
                <a:solidFill>
                  <a:srgbClr val="33455E"/>
                </a:solidFill>
                <a:latin typeface="Arial" pitchFamily="34" charset="0"/>
                <a:ea typeface="Arial" pitchFamily="34" charset="-122"/>
                <a:cs typeface="Arial" pitchFamily="34" charset="-120"/>
              </a:rPr>
              <a:t>Conclusions </a:t>
            </a:r>
            <a:r>
              <a:rPr lang="en-US" sz="2325" dirty="0">
                <a:solidFill>
                  <a:srgbClr val="1E2530"/>
                </a:solidFill>
                <a:latin typeface="Arial" pitchFamily="34" charset="0"/>
                <a:ea typeface="Arial" pitchFamily="34" charset="-122"/>
                <a:cs typeface="Arial" pitchFamily="34" charset="-120"/>
              </a:rPr>
              <a:t>— answers, contributions, limits</a:t>
            </a:r>
            <a:endParaRPr lang="en-US" sz="2325" dirty="0"/>
          </a:p>
        </p:txBody>
      </p:sp>
      <p:sp>
        <p:nvSpPr>
          <p:cNvPr id="23" name="Text 21"/>
          <p:cNvSpPr/>
          <p:nvPr/>
        </p:nvSpPr>
        <p:spPr>
          <a:xfrm>
            <a:off x="847725" y="7515969"/>
            <a:ext cx="514350" cy="333375"/>
          </a:xfrm>
          <a:prstGeom prst="rect">
            <a:avLst/>
          </a:prstGeom>
          <a:noFill/>
          <a:ln/>
        </p:spPr>
        <p:txBody>
          <a:bodyPr wrap="square" lIns="25400" tIns="25400" rIns="25400" bIns="25400" rtlCol="0" anchor="t">
            <a:normAutofit lnSpcReduction="10000"/>
          </a:bodyPr>
          <a:lstStyle/>
          <a:p>
            <a:pPr marL="0" indent="0" algn="l">
              <a:buNone/>
            </a:pPr>
            <a:r>
              <a:rPr lang="en-US" sz="2025" b="1" dirty="0">
                <a:solidFill>
                  <a:srgbClr val="5B7A99"/>
                </a:solidFill>
                <a:latin typeface="Arial" pitchFamily="34" charset="0"/>
                <a:ea typeface="Arial" pitchFamily="34" charset="-122"/>
                <a:cs typeface="Arial" pitchFamily="34" charset="-120"/>
              </a:rPr>
              <a:t>5</a:t>
            </a:r>
            <a:endParaRPr lang="en-US" sz="2025" dirty="0"/>
          </a:p>
        </p:txBody>
      </p:sp>
      <p:sp>
        <p:nvSpPr>
          <p:cNvPr id="24" name="Text 22"/>
          <p:cNvSpPr/>
          <p:nvPr/>
        </p:nvSpPr>
        <p:spPr>
          <a:xfrm>
            <a:off x="1419225" y="7458819"/>
            <a:ext cx="7564088" cy="817513"/>
          </a:xfrm>
          <a:prstGeom prst="rect">
            <a:avLst/>
          </a:prstGeom>
          <a:noFill/>
          <a:ln/>
        </p:spPr>
        <p:txBody>
          <a:bodyPr wrap="square" lIns="25400" tIns="25400" rIns="25400" bIns="25400" rtlCol="0" anchor="t">
            <a:normAutofit/>
          </a:bodyPr>
          <a:lstStyle/>
          <a:p>
            <a:pPr marL="0" indent="0" algn="l">
              <a:lnSpc>
                <a:spcPct val="132000"/>
              </a:lnSpc>
              <a:buNone/>
            </a:pPr>
            <a:r>
              <a:rPr lang="en-US" sz="2325" b="1" dirty="0">
                <a:solidFill>
                  <a:srgbClr val="33455E"/>
                </a:solidFill>
                <a:latin typeface="Arial" pitchFamily="34" charset="0"/>
                <a:ea typeface="Arial" pitchFamily="34" charset="-122"/>
                <a:cs typeface="Arial" pitchFamily="34" charset="-120"/>
              </a:rPr>
              <a:t>Data Preparation </a:t>
            </a:r>
            <a:r>
              <a:rPr lang="en-US" sz="2325" dirty="0">
                <a:solidFill>
                  <a:srgbClr val="1E2530"/>
                </a:solidFill>
                <a:latin typeface="Arial" pitchFamily="34" charset="0"/>
                <a:ea typeface="Arial" pitchFamily="34" charset="-122"/>
                <a:cs typeface="Arial" pitchFamily="34" charset="-120"/>
              </a:rPr>
              <a:t>— cleaning, preparing data for models</a:t>
            </a:r>
            <a:endParaRPr lang="en-US" sz="2325" dirty="0"/>
          </a:p>
        </p:txBody>
      </p:sp>
      <p:sp>
        <p:nvSpPr>
          <p:cNvPr id="25" name="Text 23"/>
          <p:cNvSpPr/>
          <p:nvPr/>
        </p:nvSpPr>
        <p:spPr>
          <a:xfrm>
            <a:off x="9525000" y="7515969"/>
            <a:ext cx="514350" cy="333375"/>
          </a:xfrm>
          <a:prstGeom prst="rect">
            <a:avLst/>
          </a:prstGeom>
          <a:noFill/>
          <a:ln/>
        </p:spPr>
        <p:txBody>
          <a:bodyPr wrap="square" lIns="25400" tIns="25400" rIns="25400" bIns="25400" rtlCol="0" anchor="t">
            <a:normAutofit lnSpcReduction="10000"/>
          </a:bodyPr>
          <a:lstStyle/>
          <a:p>
            <a:pPr marL="0" indent="0" algn="l">
              <a:buNone/>
            </a:pPr>
            <a:r>
              <a:rPr lang="en-US" sz="2025" b="1" dirty="0">
                <a:solidFill>
                  <a:srgbClr val="5B7A99"/>
                </a:solidFill>
                <a:latin typeface="Arial" pitchFamily="34" charset="0"/>
                <a:ea typeface="Arial" pitchFamily="34" charset="-122"/>
                <a:cs typeface="Arial" pitchFamily="34" charset="-120"/>
              </a:rPr>
              <a:t>10</a:t>
            </a:r>
            <a:endParaRPr lang="en-US" sz="2025" dirty="0"/>
          </a:p>
        </p:txBody>
      </p:sp>
      <p:sp>
        <p:nvSpPr>
          <p:cNvPr id="26" name="Text 24"/>
          <p:cNvSpPr/>
          <p:nvPr/>
        </p:nvSpPr>
        <p:spPr>
          <a:xfrm>
            <a:off x="10096500" y="7458819"/>
            <a:ext cx="7322217" cy="427806"/>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2325" b="1" dirty="0">
                <a:solidFill>
                  <a:srgbClr val="33455E"/>
                </a:solidFill>
                <a:latin typeface="Arial" pitchFamily="34" charset="0"/>
                <a:ea typeface="Arial" pitchFamily="34" charset="-122"/>
                <a:cs typeface="Arial" pitchFamily="34" charset="-120"/>
              </a:rPr>
              <a:t>Recommendations </a:t>
            </a:r>
            <a:r>
              <a:rPr lang="en-US" sz="2325" dirty="0">
                <a:solidFill>
                  <a:srgbClr val="1E2530"/>
                </a:solidFill>
                <a:latin typeface="Arial" pitchFamily="34" charset="0"/>
                <a:ea typeface="Arial" pitchFamily="34" charset="-122"/>
                <a:cs typeface="Arial" pitchFamily="34" charset="-120"/>
              </a:rPr>
              <a:t>— practice, policy, future work</a:t>
            </a:r>
            <a:endParaRPr lang="en-US" sz="2325" dirty="0"/>
          </a:p>
        </p:txBody>
      </p:sp>
    </p:spTree>
    <p:extLst>
      <p:ext uri="{BB962C8B-B14F-4D97-AF65-F5344CB8AC3E}">
        <p14:creationId xmlns:p14="http://schemas.microsoft.com/office/powerpoint/2010/main" val="6655092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33455E"/>
        </a:solidFill>
        <a:effectLst/>
      </p:bgPr>
    </p:bg>
    <p:spTree>
      <p:nvGrpSpPr>
        <p:cNvPr id="1" name=""/>
        <p:cNvGrpSpPr/>
        <p:nvPr/>
      </p:nvGrpSpPr>
      <p:grpSpPr>
        <a:xfrm>
          <a:off x="0" y="0"/>
          <a:ext cx="0" cy="0"/>
          <a:chOff x="0" y="0"/>
          <a:chExt cx="0" cy="0"/>
        </a:xfrm>
      </p:grpSpPr>
      <p:sp>
        <p:nvSpPr>
          <p:cNvPr id="2" name="Text 0"/>
          <p:cNvSpPr/>
          <p:nvPr/>
        </p:nvSpPr>
        <p:spPr>
          <a:xfrm>
            <a:off x="1238250" y="3826669"/>
            <a:ext cx="17392650" cy="914400"/>
          </a:xfrm>
          <a:prstGeom prst="rect">
            <a:avLst/>
          </a:prstGeom>
          <a:noFill/>
          <a:ln/>
        </p:spPr>
        <p:txBody>
          <a:bodyPr wrap="square" lIns="25400" tIns="25400" rIns="25400" bIns="25400" rtlCol="0" anchor="t">
            <a:normAutofit lnSpcReduction="10000"/>
          </a:bodyPr>
          <a:lstStyle/>
          <a:p>
            <a:pPr marL="0" indent="0" algn="l">
              <a:buNone/>
            </a:pPr>
            <a:r>
              <a:rPr lang="en-US" sz="6000" b="1" dirty="0">
                <a:solidFill>
                  <a:srgbClr val="5B7A99"/>
                </a:solidFill>
                <a:latin typeface="Arial" pitchFamily="34" charset="0"/>
                <a:ea typeface="Arial" pitchFamily="34" charset="-122"/>
                <a:cs typeface="Arial" pitchFamily="34" charset="-120"/>
              </a:rPr>
              <a:t>01</a:t>
            </a:r>
            <a:endParaRPr lang="en-US" sz="6000" dirty="0"/>
          </a:p>
        </p:txBody>
      </p:sp>
      <p:sp>
        <p:nvSpPr>
          <p:cNvPr id="3" name="Text 1"/>
          <p:cNvSpPr/>
          <p:nvPr/>
        </p:nvSpPr>
        <p:spPr>
          <a:xfrm>
            <a:off x="1238250" y="4779169"/>
            <a:ext cx="17392650" cy="1133475"/>
          </a:xfrm>
          <a:prstGeom prst="rect">
            <a:avLst/>
          </a:prstGeom>
          <a:noFill/>
          <a:ln/>
        </p:spPr>
        <p:txBody>
          <a:bodyPr wrap="square" lIns="25400" tIns="25400" rIns="25400" bIns="25400" rtlCol="0" anchor="t">
            <a:normAutofit lnSpcReduction="10000"/>
          </a:bodyPr>
          <a:lstStyle/>
          <a:p>
            <a:pPr marL="0" indent="0" algn="l">
              <a:buNone/>
            </a:pPr>
            <a:r>
              <a:rPr lang="en-US" sz="7500" b="1" dirty="0">
                <a:solidFill>
                  <a:srgbClr val="FFFFFF"/>
                </a:solidFill>
                <a:latin typeface="Arial" pitchFamily="34" charset="0"/>
                <a:ea typeface="Arial" pitchFamily="34" charset="-122"/>
                <a:cs typeface="Arial" pitchFamily="34" charset="-120"/>
              </a:rPr>
              <a:t>Introduction</a:t>
            </a:r>
            <a:endParaRPr lang="en-US" sz="7500" dirty="0"/>
          </a:p>
        </p:txBody>
      </p:sp>
      <p:sp>
        <p:nvSpPr>
          <p:cNvPr id="4" name="Text 2"/>
          <p:cNvSpPr/>
          <p:nvPr/>
        </p:nvSpPr>
        <p:spPr>
          <a:xfrm>
            <a:off x="1238250" y="6045994"/>
            <a:ext cx="17392650" cy="452438"/>
          </a:xfrm>
          <a:prstGeom prst="rect">
            <a:avLst/>
          </a:prstGeom>
          <a:noFill/>
          <a:ln/>
        </p:spPr>
        <p:txBody>
          <a:bodyPr wrap="square" lIns="25400" tIns="25400" rIns="25400" bIns="25400" rtlCol="0" anchor="t">
            <a:normAutofit lnSpcReduction="10000"/>
          </a:bodyPr>
          <a:lstStyle/>
          <a:p>
            <a:pPr marL="0" indent="0" algn="l">
              <a:buNone/>
            </a:pPr>
            <a:r>
              <a:rPr lang="en-US" sz="2850" dirty="0">
                <a:solidFill>
                  <a:srgbClr val="C5D2DF"/>
                </a:solidFill>
                <a:latin typeface="Arial" pitchFamily="34" charset="0"/>
                <a:ea typeface="Arial" pitchFamily="34" charset="-122"/>
                <a:cs typeface="Arial" pitchFamily="34" charset="-120"/>
              </a:rPr>
              <a:t>The valuation problem in Metro Cebu</a:t>
            </a:r>
            <a:endParaRPr lang="en-US" sz="2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BFC"/>
        </a:solidFill>
        <a:effectLst/>
      </p:bgPr>
    </p:bg>
    <p:spTree>
      <p:nvGrpSpPr>
        <p:cNvPr id="1" name=""/>
        <p:cNvGrpSpPr/>
        <p:nvPr/>
      </p:nvGrpSpPr>
      <p:grpSpPr>
        <a:xfrm>
          <a:off x="0" y="0"/>
          <a:ext cx="0" cy="0"/>
          <a:chOff x="0" y="0"/>
          <a:chExt cx="0" cy="0"/>
        </a:xfrm>
      </p:grpSpPr>
      <p:sp>
        <p:nvSpPr>
          <p:cNvPr id="2" name="Text 0"/>
          <p:cNvSpPr/>
          <p:nvPr/>
        </p:nvSpPr>
        <p:spPr>
          <a:xfrm>
            <a:off x="847725" y="552450"/>
            <a:ext cx="2860603" cy="347663"/>
          </a:xfrm>
          <a:prstGeom prst="rect">
            <a:avLst/>
          </a:prstGeom>
          <a:noFill/>
          <a:ln/>
        </p:spPr>
        <p:txBody>
          <a:bodyPr wrap="square" lIns="25400" tIns="25400" rIns="25400" bIns="25400" rtlCol="0" anchor="t">
            <a:normAutofit lnSpcReduction="10000"/>
          </a:bodyPr>
          <a:lstStyle/>
          <a:p>
            <a:pPr marL="0" indent="0" algn="l">
              <a:buNone/>
            </a:pPr>
            <a:r>
              <a:rPr lang="en-US" sz="2100" b="1" kern="0" spc="84" dirty="0">
                <a:solidFill>
                  <a:srgbClr val="33455E"/>
                </a:solidFill>
                <a:latin typeface="Arial" pitchFamily="34" charset="0"/>
                <a:ea typeface="Arial" pitchFamily="34" charset="-122"/>
                <a:cs typeface="Arial" pitchFamily="34" charset="-120"/>
              </a:rPr>
              <a:t>1 · INTRODUCTION</a:t>
            </a:r>
            <a:endParaRPr lang="en-US" sz="2100" dirty="0"/>
          </a:p>
        </p:txBody>
      </p:sp>
      <p:sp>
        <p:nvSpPr>
          <p:cNvPr id="3" name="Text 1"/>
          <p:cNvSpPr/>
          <p:nvPr/>
        </p:nvSpPr>
        <p:spPr>
          <a:xfrm>
            <a:off x="16844442" y="552450"/>
            <a:ext cx="672033" cy="314325"/>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6E7686"/>
                </a:solidFill>
                <a:latin typeface="Arial" pitchFamily="34" charset="0"/>
                <a:ea typeface="Arial" pitchFamily="34" charset="-122"/>
                <a:cs typeface="Arial" pitchFamily="34" charset="-120"/>
              </a:rPr>
              <a:t>4 / 40</a:t>
            </a:r>
            <a:endParaRPr lang="en-US" sz="1875" dirty="0"/>
          </a:p>
        </p:txBody>
      </p:sp>
      <p:sp>
        <p:nvSpPr>
          <p:cNvPr id="4" name="Shape 2"/>
          <p:cNvSpPr/>
          <p:nvPr/>
        </p:nvSpPr>
        <p:spPr>
          <a:xfrm>
            <a:off x="847725" y="985838"/>
            <a:ext cx="16592550" cy="28575"/>
          </a:xfrm>
          <a:prstGeom prst="rect">
            <a:avLst/>
          </a:prstGeom>
          <a:solidFill>
            <a:srgbClr val="33455E"/>
          </a:solidFill>
          <a:ln/>
        </p:spPr>
        <p:txBody>
          <a:bodyPr/>
          <a:lstStyle/>
          <a:p>
            <a:endParaRPr lang="en-US"/>
          </a:p>
        </p:txBody>
      </p:sp>
      <p:sp>
        <p:nvSpPr>
          <p:cNvPr id="5" name="Text 3"/>
          <p:cNvSpPr/>
          <p:nvPr/>
        </p:nvSpPr>
        <p:spPr>
          <a:xfrm>
            <a:off x="847725" y="1243013"/>
            <a:ext cx="18251805" cy="55810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3900" b="1" dirty="0">
                <a:solidFill>
                  <a:srgbClr val="1E2530"/>
                </a:solidFill>
                <a:latin typeface="Arial" pitchFamily="34" charset="0"/>
                <a:ea typeface="Arial" pitchFamily="34" charset="-122"/>
                <a:cs typeface="Arial" pitchFamily="34" charset="-120"/>
              </a:rPr>
              <a:t>Where this study is set</a:t>
            </a:r>
            <a:endParaRPr lang="en-US" sz="3900" dirty="0"/>
          </a:p>
        </p:txBody>
      </p:sp>
      <p:pic>
        <p:nvPicPr>
          <p:cNvPr id="6" name="Image 0" descr="preencoded.png"/>
          <p:cNvPicPr>
            <a:picLocks noChangeAspect="1"/>
          </p:cNvPicPr>
          <p:nvPr/>
        </p:nvPicPr>
        <p:blipFill>
          <a:blip r:embed="rId3"/>
          <a:srcRect t="-17859" b="-17859"/>
          <a:stretch/>
        </p:blipFill>
        <p:spPr>
          <a:xfrm>
            <a:off x="847725" y="1991618"/>
            <a:ext cx="6858000" cy="6241628"/>
          </a:xfrm>
          <a:prstGeom prst="rect">
            <a:avLst/>
          </a:prstGeom>
        </p:spPr>
      </p:pic>
      <p:sp>
        <p:nvSpPr>
          <p:cNvPr id="7" name="Text 4"/>
          <p:cNvSpPr/>
          <p:nvPr/>
        </p:nvSpPr>
        <p:spPr>
          <a:xfrm>
            <a:off x="847725" y="7849081"/>
            <a:ext cx="7063740" cy="823913"/>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6E7686"/>
                </a:solidFill>
                <a:latin typeface="Arial" pitchFamily="34" charset="0"/>
                <a:ea typeface="Arial" pitchFamily="34" charset="-122"/>
                <a:cs typeface="Arial" pitchFamily="34" charset="-120"/>
              </a:rPr>
              <a:t>Central core: </a:t>
            </a:r>
            <a:r>
              <a:rPr lang="en-US" sz="1800" b="1" dirty="0">
                <a:solidFill>
                  <a:srgbClr val="33455E"/>
                </a:solidFill>
                <a:latin typeface="Arial" pitchFamily="34" charset="0"/>
                <a:ea typeface="Arial" pitchFamily="34" charset="-122"/>
                <a:cs typeface="Arial" pitchFamily="34" charset="-120"/>
              </a:rPr>
              <a:t>six LGUs </a:t>
            </a:r>
            <a:r>
              <a:rPr lang="en-US" sz="1800" dirty="0">
                <a:solidFill>
                  <a:srgbClr val="6E7686"/>
                </a:solidFill>
                <a:latin typeface="Arial" pitchFamily="34" charset="0"/>
                <a:ea typeface="Arial" pitchFamily="34" charset="-122"/>
                <a:cs typeface="Arial" pitchFamily="34" charset="-120"/>
              </a:rPr>
              <a:t>— Cebu City, Mandaue, Lapu-Lapu, Talisay, Minglanilla, Consolacion — the most active transactions and densest infrastructure.</a:t>
            </a:r>
            <a:endParaRPr lang="en-US" sz="1800" dirty="0"/>
          </a:p>
        </p:txBody>
      </p:sp>
      <p:sp>
        <p:nvSpPr>
          <p:cNvPr id="8" name="Text 5"/>
          <p:cNvSpPr/>
          <p:nvPr/>
        </p:nvSpPr>
        <p:spPr>
          <a:xfrm>
            <a:off x="8220075" y="3609008"/>
            <a:ext cx="10142220" cy="957263"/>
          </a:xfrm>
          <a:prstGeom prst="rect">
            <a:avLst/>
          </a:prstGeom>
          <a:noFill/>
          <a:ln/>
        </p:spPr>
        <p:txBody>
          <a:bodyPr wrap="square" lIns="25400" tIns="25400" rIns="25400" bIns="25400" rtlCol="0" anchor="t">
            <a:normAutofit lnSpcReduction="10000"/>
          </a:bodyPr>
          <a:lstStyle/>
          <a:p>
            <a:pPr marL="0" indent="0" algn="l">
              <a:buNone/>
            </a:pPr>
            <a:r>
              <a:rPr lang="en-US" sz="6300" b="1" dirty="0">
                <a:solidFill>
                  <a:srgbClr val="33455E"/>
                </a:solidFill>
                <a:latin typeface="Arial" pitchFamily="34" charset="0"/>
                <a:ea typeface="Arial" pitchFamily="34" charset="-122"/>
                <a:cs typeface="Arial" pitchFamily="34" charset="-120"/>
              </a:rPr>
              <a:t>7.3%</a:t>
            </a:r>
            <a:endParaRPr lang="en-US" sz="6300" dirty="0"/>
          </a:p>
        </p:txBody>
      </p:sp>
      <p:sp>
        <p:nvSpPr>
          <p:cNvPr id="9" name="Text 6"/>
          <p:cNvSpPr/>
          <p:nvPr/>
        </p:nvSpPr>
        <p:spPr>
          <a:xfrm>
            <a:off x="8220075" y="4528170"/>
            <a:ext cx="9496806" cy="720775"/>
          </a:xfrm>
          <a:prstGeom prst="rect">
            <a:avLst/>
          </a:prstGeom>
          <a:noFill/>
          <a:ln/>
        </p:spPr>
        <p:txBody>
          <a:bodyPr wrap="square" lIns="25400" tIns="25400" rIns="25400" bIns="25400" rtlCol="0" anchor="t">
            <a:normAutofit fontScale="92500" lnSpcReduction="10000"/>
          </a:bodyPr>
          <a:lstStyle/>
          <a:p>
            <a:pPr marL="0" indent="0" algn="l">
              <a:lnSpc>
                <a:spcPct val="128000"/>
              </a:lnSpc>
              <a:buNone/>
            </a:pPr>
            <a:r>
              <a:rPr lang="en-US" sz="2100" dirty="0">
                <a:solidFill>
                  <a:srgbClr val="1E2530"/>
                </a:solidFill>
                <a:latin typeface="Arial" pitchFamily="34" charset="0"/>
                <a:ea typeface="Arial" pitchFamily="34" charset="-122"/>
                <a:cs typeface="Arial" pitchFamily="34" charset="-120"/>
              </a:rPr>
              <a:t>Cebu economic growth in 2024 — among the fastest outside Metro Manila, led by IT-BPM and a tourism rebound. </a:t>
            </a:r>
            <a:r>
              <a:rPr lang="en-US" sz="2100" i="1" dirty="0">
                <a:solidFill>
                  <a:srgbClr val="979FAD"/>
                </a:solidFill>
                <a:latin typeface="Arial" pitchFamily="34" charset="0"/>
                <a:ea typeface="Arial" pitchFamily="34" charset="-122"/>
                <a:cs typeface="Arial" pitchFamily="34" charset="-120"/>
              </a:rPr>
              <a:t>(PSA Cebu, 2025)</a:t>
            </a:r>
            <a:endParaRPr lang="en-US" sz="2100" dirty="0"/>
          </a:p>
        </p:txBody>
      </p:sp>
      <p:sp>
        <p:nvSpPr>
          <p:cNvPr id="10" name="Text 7"/>
          <p:cNvSpPr/>
          <p:nvPr/>
        </p:nvSpPr>
        <p:spPr>
          <a:xfrm>
            <a:off x="8220075" y="5496595"/>
            <a:ext cx="10142220" cy="957263"/>
          </a:xfrm>
          <a:prstGeom prst="rect">
            <a:avLst/>
          </a:prstGeom>
          <a:noFill/>
          <a:ln/>
        </p:spPr>
        <p:txBody>
          <a:bodyPr wrap="square" lIns="25400" tIns="25400" rIns="25400" bIns="25400" rtlCol="0" anchor="t">
            <a:normAutofit lnSpcReduction="10000"/>
          </a:bodyPr>
          <a:lstStyle/>
          <a:p>
            <a:pPr marL="0" indent="0" algn="l">
              <a:buNone/>
            </a:pPr>
            <a:r>
              <a:rPr lang="en-US" sz="6300" b="1" dirty="0">
                <a:solidFill>
                  <a:srgbClr val="33455E"/>
                </a:solidFill>
                <a:latin typeface="Arial" pitchFamily="34" charset="0"/>
                <a:ea typeface="Arial" pitchFamily="34" charset="-122"/>
                <a:cs typeface="Arial" pitchFamily="34" charset="-120"/>
              </a:rPr>
              <a:t>11.5%</a:t>
            </a:r>
            <a:endParaRPr lang="en-US" sz="6300" dirty="0"/>
          </a:p>
        </p:txBody>
      </p:sp>
      <p:sp>
        <p:nvSpPr>
          <p:cNvPr id="11" name="Text 8"/>
          <p:cNvSpPr/>
          <p:nvPr/>
        </p:nvSpPr>
        <p:spPr>
          <a:xfrm>
            <a:off x="8220075" y="6415757"/>
            <a:ext cx="9496806" cy="1062112"/>
          </a:xfrm>
          <a:prstGeom prst="rect">
            <a:avLst/>
          </a:prstGeom>
          <a:noFill/>
          <a:ln/>
        </p:spPr>
        <p:txBody>
          <a:bodyPr wrap="square" lIns="25400" tIns="25400" rIns="25400" bIns="25400" rtlCol="0" anchor="t">
            <a:normAutofit fontScale="92500"/>
          </a:bodyPr>
          <a:lstStyle/>
          <a:p>
            <a:pPr marL="0" indent="0" algn="l">
              <a:lnSpc>
                <a:spcPct val="128000"/>
              </a:lnSpc>
              <a:buNone/>
            </a:pPr>
            <a:r>
              <a:rPr lang="en-US" sz="2100" dirty="0">
                <a:solidFill>
                  <a:srgbClr val="1E2530"/>
                </a:solidFill>
                <a:latin typeface="Arial" pitchFamily="34" charset="0"/>
                <a:ea typeface="Arial" pitchFamily="34" charset="-122"/>
                <a:cs typeface="Arial" pitchFamily="34" charset="-120"/>
              </a:rPr>
              <a:t>Metro Cebu residential price growth in 2025 — the highest rate outside the NCR. New infrastructure is redrawing which barangays count as accessible. </a:t>
            </a:r>
            <a:r>
              <a:rPr lang="en-US" sz="2100" i="1" dirty="0">
                <a:solidFill>
                  <a:srgbClr val="979FAD"/>
                </a:solidFill>
                <a:latin typeface="Arial" pitchFamily="34" charset="0"/>
                <a:ea typeface="Arial" pitchFamily="34" charset="-122"/>
                <a:cs typeface="Arial" pitchFamily="34" charset="-120"/>
              </a:rPr>
              <a:t>(BSP, 2025)</a:t>
            </a:r>
            <a:endParaRPr lang="en-US" sz="2100" dirty="0"/>
          </a:p>
        </p:txBody>
      </p:sp>
      <p:sp>
        <p:nvSpPr>
          <p:cNvPr id="12" name="Shape 9"/>
          <p:cNvSpPr/>
          <p:nvPr/>
        </p:nvSpPr>
        <p:spPr>
          <a:xfrm>
            <a:off x="847725" y="9057159"/>
            <a:ext cx="16592550" cy="696441"/>
          </a:xfrm>
          <a:prstGeom prst="rect">
            <a:avLst/>
          </a:prstGeom>
          <a:solidFill>
            <a:srgbClr val="EAEEF3"/>
          </a:solidFill>
          <a:ln/>
        </p:spPr>
        <p:txBody>
          <a:bodyPr/>
          <a:lstStyle/>
          <a:p>
            <a:endParaRPr lang="en-US"/>
          </a:p>
        </p:txBody>
      </p:sp>
      <p:sp>
        <p:nvSpPr>
          <p:cNvPr id="13" name="Shape 10"/>
          <p:cNvSpPr/>
          <p:nvPr/>
        </p:nvSpPr>
        <p:spPr>
          <a:xfrm>
            <a:off x="847725" y="9057159"/>
            <a:ext cx="76200" cy="696441"/>
          </a:xfrm>
          <a:prstGeom prst="rect">
            <a:avLst/>
          </a:prstGeom>
          <a:solidFill>
            <a:srgbClr val="33455E"/>
          </a:solidFill>
          <a:ln/>
        </p:spPr>
        <p:txBody>
          <a:bodyPr/>
          <a:lstStyle/>
          <a:p>
            <a:endParaRPr lang="en-US"/>
          </a:p>
        </p:txBody>
      </p:sp>
      <p:sp>
        <p:nvSpPr>
          <p:cNvPr id="14" name="Text 11"/>
          <p:cNvSpPr/>
          <p:nvPr/>
        </p:nvSpPr>
        <p:spPr>
          <a:xfrm>
            <a:off x="1171575" y="9290521"/>
            <a:ext cx="1544285" cy="300038"/>
          </a:xfrm>
          <a:prstGeom prst="rect">
            <a:avLst/>
          </a:prstGeom>
          <a:noFill/>
          <a:ln/>
        </p:spPr>
        <p:txBody>
          <a:bodyPr wrap="square" lIns="25400" tIns="25400" rIns="25400" bIns="25400" rtlCol="0" anchor="t">
            <a:normAutofit lnSpcReduction="10000"/>
          </a:bodyPr>
          <a:lstStyle/>
          <a:p>
            <a:pPr marL="0" indent="0" algn="l">
              <a:buNone/>
            </a:pPr>
            <a:r>
              <a:rPr lang="en-US" sz="1800" b="1" kern="0" spc="144" dirty="0">
                <a:solidFill>
                  <a:srgbClr val="5B7A99"/>
                </a:solidFill>
                <a:latin typeface="Arial" pitchFamily="34" charset="0"/>
                <a:ea typeface="Arial" pitchFamily="34" charset="-122"/>
                <a:cs typeface="Arial" pitchFamily="34" charset="-120"/>
              </a:rPr>
              <a:t>TAKEAWAY</a:t>
            </a:r>
            <a:endParaRPr lang="en-US" sz="1800" dirty="0"/>
          </a:p>
        </p:txBody>
      </p:sp>
      <p:sp>
        <p:nvSpPr>
          <p:cNvPr id="15" name="Text 12"/>
          <p:cNvSpPr/>
          <p:nvPr/>
        </p:nvSpPr>
        <p:spPr>
          <a:xfrm>
            <a:off x="2727871" y="9228609"/>
            <a:ext cx="9931033" cy="391641"/>
          </a:xfrm>
          <a:prstGeom prst="rect">
            <a:avLst/>
          </a:prstGeom>
          <a:noFill/>
          <a:ln/>
        </p:spPr>
        <p:txBody>
          <a:bodyPr wrap="square" lIns="25400" tIns="25400" rIns="25400" bIns="25400" rtlCol="0" anchor="t">
            <a:normAutofit fontScale="92500" lnSpcReduction="10000"/>
          </a:bodyPr>
          <a:lstStyle/>
          <a:p>
            <a:pPr marL="0" indent="0" algn="l">
              <a:lnSpc>
                <a:spcPct val="128000"/>
              </a:lnSpc>
              <a:buNone/>
            </a:pPr>
            <a:r>
              <a:rPr lang="en-US" sz="2175" dirty="0">
                <a:solidFill>
                  <a:srgbClr val="1E2530"/>
                </a:solidFill>
                <a:latin typeface="Arial" pitchFamily="34" charset="0"/>
                <a:ea typeface="Arial" pitchFamily="34" charset="-122"/>
                <a:cs typeface="Arial" pitchFamily="34" charset="-120"/>
              </a:rPr>
              <a:t>Prices are moving faster than the references people use to interpret them.</a:t>
            </a:r>
            <a:endParaRPr lang="en-US" sz="2175" dirty="0"/>
          </a:p>
        </p:txBody>
      </p:sp>
    </p:spTree>
    <p:extLst>
      <p:ext uri="{BB962C8B-B14F-4D97-AF65-F5344CB8AC3E}">
        <p14:creationId xmlns:p14="http://schemas.microsoft.com/office/powerpoint/2010/main" val="29916567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BFC"/>
        </a:solidFill>
        <a:effectLst/>
      </p:bgPr>
    </p:bg>
    <p:spTree>
      <p:nvGrpSpPr>
        <p:cNvPr id="1" name=""/>
        <p:cNvGrpSpPr/>
        <p:nvPr/>
      </p:nvGrpSpPr>
      <p:grpSpPr>
        <a:xfrm>
          <a:off x="0" y="0"/>
          <a:ext cx="0" cy="0"/>
          <a:chOff x="0" y="0"/>
          <a:chExt cx="0" cy="0"/>
        </a:xfrm>
      </p:grpSpPr>
      <p:sp>
        <p:nvSpPr>
          <p:cNvPr id="2" name="Text 0"/>
          <p:cNvSpPr/>
          <p:nvPr/>
        </p:nvSpPr>
        <p:spPr>
          <a:xfrm>
            <a:off x="847725" y="552450"/>
            <a:ext cx="2860603" cy="347663"/>
          </a:xfrm>
          <a:prstGeom prst="rect">
            <a:avLst/>
          </a:prstGeom>
          <a:noFill/>
          <a:ln/>
        </p:spPr>
        <p:txBody>
          <a:bodyPr wrap="square" lIns="25400" tIns="25400" rIns="25400" bIns="25400" rtlCol="0" anchor="t">
            <a:normAutofit lnSpcReduction="10000"/>
          </a:bodyPr>
          <a:lstStyle/>
          <a:p>
            <a:pPr marL="0" indent="0" algn="l">
              <a:buNone/>
            </a:pPr>
            <a:r>
              <a:rPr lang="en-US" sz="2100" b="1" kern="0" spc="84" dirty="0">
                <a:solidFill>
                  <a:srgbClr val="33455E"/>
                </a:solidFill>
                <a:latin typeface="Arial" pitchFamily="34" charset="0"/>
                <a:ea typeface="Arial" pitchFamily="34" charset="-122"/>
                <a:cs typeface="Arial" pitchFamily="34" charset="-120"/>
              </a:rPr>
              <a:t>1 · INTRODUCTION</a:t>
            </a:r>
            <a:endParaRPr lang="en-US" sz="2100" dirty="0"/>
          </a:p>
        </p:txBody>
      </p:sp>
      <p:sp>
        <p:nvSpPr>
          <p:cNvPr id="3" name="Text 1"/>
          <p:cNvSpPr/>
          <p:nvPr/>
        </p:nvSpPr>
        <p:spPr>
          <a:xfrm>
            <a:off x="16844442" y="552450"/>
            <a:ext cx="672033" cy="314325"/>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6E7686"/>
                </a:solidFill>
                <a:latin typeface="Arial" pitchFamily="34" charset="0"/>
                <a:ea typeface="Arial" pitchFamily="34" charset="-122"/>
                <a:cs typeface="Arial" pitchFamily="34" charset="-120"/>
              </a:rPr>
              <a:t>5 / 40</a:t>
            </a:r>
            <a:endParaRPr lang="en-US" sz="1875" dirty="0"/>
          </a:p>
        </p:txBody>
      </p:sp>
      <p:sp>
        <p:nvSpPr>
          <p:cNvPr id="4" name="Shape 2"/>
          <p:cNvSpPr/>
          <p:nvPr/>
        </p:nvSpPr>
        <p:spPr>
          <a:xfrm>
            <a:off x="847725" y="985838"/>
            <a:ext cx="16592550" cy="28575"/>
          </a:xfrm>
          <a:prstGeom prst="rect">
            <a:avLst/>
          </a:prstGeom>
          <a:solidFill>
            <a:srgbClr val="33455E"/>
          </a:solidFill>
          <a:ln/>
        </p:spPr>
        <p:txBody>
          <a:bodyPr/>
          <a:lstStyle/>
          <a:p>
            <a:endParaRPr lang="en-US"/>
          </a:p>
        </p:txBody>
      </p:sp>
      <p:sp>
        <p:nvSpPr>
          <p:cNvPr id="5" name="Text 3"/>
          <p:cNvSpPr/>
          <p:nvPr/>
        </p:nvSpPr>
        <p:spPr>
          <a:xfrm>
            <a:off x="847725" y="1243013"/>
            <a:ext cx="18251805" cy="55810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3900" b="1" dirty="0">
                <a:solidFill>
                  <a:srgbClr val="1E2530"/>
                </a:solidFill>
                <a:latin typeface="Arial" pitchFamily="34" charset="0"/>
                <a:ea typeface="Arial" pitchFamily="34" charset="-122"/>
                <a:cs typeface="Arial" pitchFamily="34" charset="-120"/>
              </a:rPr>
              <a:t>The fragmented-references problem</a:t>
            </a:r>
            <a:endParaRPr lang="en-US" sz="3900" dirty="0"/>
          </a:p>
        </p:txBody>
      </p:sp>
      <p:sp>
        <p:nvSpPr>
          <p:cNvPr id="6" name="Text 4"/>
          <p:cNvSpPr/>
          <p:nvPr/>
        </p:nvSpPr>
        <p:spPr>
          <a:xfrm>
            <a:off x="847725" y="1915418"/>
            <a:ext cx="16089630" cy="756196"/>
          </a:xfrm>
          <a:prstGeom prst="rect">
            <a:avLst/>
          </a:prstGeom>
          <a:noFill/>
          <a:ln/>
        </p:spPr>
        <p:txBody>
          <a:bodyPr wrap="square" lIns="25400" tIns="25400" rIns="25400" bIns="25400" rtlCol="0" anchor="t">
            <a:normAutofit fontScale="92500" lnSpcReduction="10000"/>
          </a:bodyPr>
          <a:lstStyle/>
          <a:p>
            <a:pPr marL="0" indent="0" algn="l">
              <a:lnSpc>
                <a:spcPct val="130000"/>
              </a:lnSpc>
              <a:buNone/>
            </a:pPr>
            <a:r>
              <a:rPr lang="en-US" sz="2175" dirty="0">
                <a:solidFill>
                  <a:srgbClr val="1E2530"/>
                </a:solidFill>
                <a:latin typeface="Arial" pitchFamily="34" charset="0"/>
                <a:ea typeface="Arial" pitchFamily="34" charset="-122"/>
                <a:cs typeface="Arial" pitchFamily="34" charset="-120"/>
              </a:rPr>
              <a:t>A family buying or an owner selling asks the same question — </a:t>
            </a:r>
            <a:r>
              <a:rPr lang="en-US" sz="2175" b="1" dirty="0">
                <a:solidFill>
                  <a:srgbClr val="33455E"/>
                </a:solidFill>
                <a:latin typeface="Arial" pitchFamily="34" charset="0"/>
                <a:ea typeface="Arial" pitchFamily="34" charset="-122"/>
                <a:cs typeface="Arial" pitchFamily="34" charset="-120"/>
              </a:rPr>
              <a:t>what is this property worth? </a:t>
            </a:r>
            <a:r>
              <a:rPr lang="en-US" sz="2175" dirty="0">
                <a:solidFill>
                  <a:srgbClr val="1E2530"/>
                </a:solidFill>
                <a:latin typeface="Arial" pitchFamily="34" charset="0"/>
                <a:ea typeface="Arial" pitchFamily="34" charset="-122"/>
                <a:cs typeface="Arial" pitchFamily="34" charset="-120"/>
              </a:rPr>
              <a:t>No single public source answers it. Price is pieced together from several partial references, each built to answer a </a:t>
            </a:r>
            <a:r>
              <a:rPr lang="en-US" sz="2175" i="1" dirty="0">
                <a:solidFill>
                  <a:srgbClr val="1E2530"/>
                </a:solidFill>
                <a:latin typeface="Arial" pitchFamily="34" charset="0"/>
                <a:ea typeface="Arial" pitchFamily="34" charset="-122"/>
                <a:cs typeface="Arial" pitchFamily="34" charset="-120"/>
              </a:rPr>
              <a:t>different </a:t>
            </a:r>
            <a:r>
              <a:rPr lang="en-US" sz="2175" dirty="0">
                <a:solidFill>
                  <a:srgbClr val="1E2530"/>
                </a:solidFill>
                <a:latin typeface="Arial" pitchFamily="34" charset="0"/>
                <a:ea typeface="Arial" pitchFamily="34" charset="-122"/>
                <a:cs typeface="Arial" pitchFamily="34" charset="-120"/>
              </a:rPr>
              <a:t>question.</a:t>
            </a:r>
            <a:endParaRPr lang="en-US" sz="2175" dirty="0"/>
          </a:p>
        </p:txBody>
      </p:sp>
      <p:sp>
        <p:nvSpPr>
          <p:cNvPr id="7" name="Shape 5"/>
          <p:cNvSpPr/>
          <p:nvPr/>
        </p:nvSpPr>
        <p:spPr>
          <a:xfrm>
            <a:off x="847725" y="3705634"/>
            <a:ext cx="3982194" cy="523875"/>
          </a:xfrm>
          <a:prstGeom prst="rect">
            <a:avLst/>
          </a:prstGeom>
          <a:solidFill>
            <a:srgbClr val="33455E"/>
          </a:solidFill>
          <a:ln/>
        </p:spPr>
        <p:txBody>
          <a:bodyPr/>
          <a:lstStyle/>
          <a:p>
            <a:endParaRPr lang="en-US" sz="2000"/>
          </a:p>
        </p:txBody>
      </p:sp>
      <p:sp>
        <p:nvSpPr>
          <p:cNvPr id="8" name="Text 6"/>
          <p:cNvSpPr/>
          <p:nvPr/>
        </p:nvSpPr>
        <p:spPr>
          <a:xfrm>
            <a:off x="1019175" y="3829459"/>
            <a:ext cx="3758760" cy="314325"/>
          </a:xfrm>
          <a:prstGeom prst="rect">
            <a:avLst/>
          </a:prstGeom>
          <a:noFill/>
          <a:ln/>
        </p:spPr>
        <p:txBody>
          <a:bodyPr wrap="square" lIns="25400" tIns="25400" rIns="25400" bIns="25400" rtlCol="0" anchor="ctr">
            <a:noAutofit/>
          </a:bodyPr>
          <a:lstStyle/>
          <a:p>
            <a:pPr marL="0" indent="0" algn="l">
              <a:buNone/>
            </a:pPr>
            <a:r>
              <a:rPr lang="en-US" sz="2000" b="1" dirty="0">
                <a:solidFill>
                  <a:srgbClr val="FFFFFF"/>
                </a:solidFill>
                <a:latin typeface="Arial" pitchFamily="34" charset="0"/>
                <a:ea typeface="Arial" pitchFamily="34" charset="-122"/>
                <a:cs typeface="Arial" pitchFamily="34" charset="-120"/>
              </a:rPr>
              <a:t>Reference</a:t>
            </a:r>
            <a:endParaRPr lang="en-US" sz="2000" dirty="0"/>
          </a:p>
        </p:txBody>
      </p:sp>
      <p:sp>
        <p:nvSpPr>
          <p:cNvPr id="9" name="Shape 7"/>
          <p:cNvSpPr/>
          <p:nvPr/>
        </p:nvSpPr>
        <p:spPr>
          <a:xfrm>
            <a:off x="4829919" y="3705634"/>
            <a:ext cx="4977705" cy="523875"/>
          </a:xfrm>
          <a:prstGeom prst="rect">
            <a:avLst/>
          </a:prstGeom>
          <a:solidFill>
            <a:srgbClr val="33455E"/>
          </a:solidFill>
          <a:ln/>
        </p:spPr>
        <p:txBody>
          <a:bodyPr/>
          <a:lstStyle/>
          <a:p>
            <a:endParaRPr lang="en-US" sz="2000"/>
          </a:p>
        </p:txBody>
      </p:sp>
      <p:sp>
        <p:nvSpPr>
          <p:cNvPr id="10" name="Text 8"/>
          <p:cNvSpPr/>
          <p:nvPr/>
        </p:nvSpPr>
        <p:spPr>
          <a:xfrm>
            <a:off x="5001369" y="3829459"/>
            <a:ext cx="4784137" cy="314325"/>
          </a:xfrm>
          <a:prstGeom prst="rect">
            <a:avLst/>
          </a:prstGeom>
          <a:noFill/>
          <a:ln/>
        </p:spPr>
        <p:txBody>
          <a:bodyPr wrap="square" lIns="25400" tIns="25400" rIns="25400" bIns="25400" rtlCol="0" anchor="ctr">
            <a:noAutofit/>
          </a:bodyPr>
          <a:lstStyle/>
          <a:p>
            <a:pPr marL="0" indent="0" algn="l">
              <a:buNone/>
            </a:pPr>
            <a:r>
              <a:rPr lang="en-US" sz="2000" b="1" dirty="0">
                <a:solidFill>
                  <a:srgbClr val="FFFFFF"/>
                </a:solidFill>
                <a:latin typeface="Arial" pitchFamily="34" charset="0"/>
                <a:ea typeface="Arial" pitchFamily="34" charset="-122"/>
                <a:cs typeface="Arial" pitchFamily="34" charset="-120"/>
              </a:rPr>
              <a:t>Built for</a:t>
            </a:r>
            <a:endParaRPr lang="en-US" sz="2000" dirty="0"/>
          </a:p>
        </p:txBody>
      </p:sp>
      <p:sp>
        <p:nvSpPr>
          <p:cNvPr id="11" name="Shape 9"/>
          <p:cNvSpPr/>
          <p:nvPr/>
        </p:nvSpPr>
        <p:spPr>
          <a:xfrm>
            <a:off x="9807625" y="3705634"/>
            <a:ext cx="7632650" cy="523875"/>
          </a:xfrm>
          <a:prstGeom prst="rect">
            <a:avLst/>
          </a:prstGeom>
          <a:solidFill>
            <a:srgbClr val="33455E"/>
          </a:solidFill>
          <a:ln/>
        </p:spPr>
        <p:txBody>
          <a:bodyPr/>
          <a:lstStyle/>
          <a:p>
            <a:endParaRPr lang="en-US" sz="2000"/>
          </a:p>
        </p:txBody>
      </p:sp>
      <p:sp>
        <p:nvSpPr>
          <p:cNvPr id="12" name="Text 10"/>
          <p:cNvSpPr/>
          <p:nvPr/>
        </p:nvSpPr>
        <p:spPr>
          <a:xfrm>
            <a:off x="9979075" y="3829459"/>
            <a:ext cx="7518730" cy="314325"/>
          </a:xfrm>
          <a:prstGeom prst="rect">
            <a:avLst/>
          </a:prstGeom>
          <a:noFill/>
          <a:ln/>
        </p:spPr>
        <p:txBody>
          <a:bodyPr wrap="square" lIns="25400" tIns="25400" rIns="25400" bIns="25400" rtlCol="0" anchor="ctr">
            <a:noAutofit/>
          </a:bodyPr>
          <a:lstStyle/>
          <a:p>
            <a:pPr marL="0" indent="0" algn="l">
              <a:buNone/>
            </a:pPr>
            <a:r>
              <a:rPr lang="en-US" sz="2000" b="1" dirty="0">
                <a:solidFill>
                  <a:srgbClr val="FFFFFF"/>
                </a:solidFill>
                <a:latin typeface="Arial" pitchFamily="34" charset="0"/>
                <a:ea typeface="Arial" pitchFamily="34" charset="-122"/>
                <a:cs typeface="Arial" pitchFamily="34" charset="-120"/>
              </a:rPr>
              <a:t>What it misses</a:t>
            </a:r>
            <a:endParaRPr lang="en-US" sz="2000" dirty="0"/>
          </a:p>
        </p:txBody>
      </p:sp>
      <p:sp>
        <p:nvSpPr>
          <p:cNvPr id="13" name="Shape 11"/>
          <p:cNvSpPr/>
          <p:nvPr/>
        </p:nvSpPr>
        <p:spPr>
          <a:xfrm>
            <a:off x="847725" y="4229509"/>
            <a:ext cx="3982194" cy="509587"/>
          </a:xfrm>
          <a:prstGeom prst="rect">
            <a:avLst/>
          </a:prstGeom>
          <a:solidFill>
            <a:srgbClr val="F1F4F7"/>
          </a:solidFill>
          <a:ln/>
        </p:spPr>
        <p:txBody>
          <a:bodyPr/>
          <a:lstStyle/>
          <a:p>
            <a:endParaRPr lang="en-US" sz="2000"/>
          </a:p>
        </p:txBody>
      </p:sp>
      <p:sp>
        <p:nvSpPr>
          <p:cNvPr id="14" name="Shape 12"/>
          <p:cNvSpPr/>
          <p:nvPr/>
        </p:nvSpPr>
        <p:spPr>
          <a:xfrm>
            <a:off x="847725" y="4729571"/>
            <a:ext cx="3982194" cy="9525"/>
          </a:xfrm>
          <a:prstGeom prst="rect">
            <a:avLst/>
          </a:prstGeom>
          <a:solidFill>
            <a:srgbClr val="DCE2E9"/>
          </a:solidFill>
          <a:ln/>
        </p:spPr>
        <p:txBody>
          <a:bodyPr/>
          <a:lstStyle/>
          <a:p>
            <a:endParaRPr lang="en-US" sz="2000"/>
          </a:p>
        </p:txBody>
      </p:sp>
      <p:sp>
        <p:nvSpPr>
          <p:cNvPr id="15" name="Text 13"/>
          <p:cNvSpPr/>
          <p:nvPr/>
        </p:nvSpPr>
        <p:spPr>
          <a:xfrm>
            <a:off x="1019175" y="4343809"/>
            <a:ext cx="3758760" cy="309562"/>
          </a:xfrm>
          <a:prstGeom prst="rect">
            <a:avLst/>
          </a:prstGeom>
          <a:noFill/>
          <a:ln/>
        </p:spPr>
        <p:txBody>
          <a:bodyPr wrap="square" lIns="25400" tIns="25400" rIns="25400" bIns="25400" rtlCol="0" anchor="t">
            <a:noAutofit/>
          </a:bodyPr>
          <a:lstStyle/>
          <a:p>
            <a:pPr marL="0" indent="0" algn="l">
              <a:buNone/>
            </a:pPr>
            <a:r>
              <a:rPr lang="en-US" sz="2000" dirty="0">
                <a:solidFill>
                  <a:srgbClr val="1E2530"/>
                </a:solidFill>
                <a:latin typeface="Arial" pitchFamily="34" charset="0"/>
                <a:ea typeface="Arial" pitchFamily="34" charset="-122"/>
                <a:cs typeface="Arial" pitchFamily="34" charset="-120"/>
              </a:rPr>
              <a:t>Broker &amp; agent opinion</a:t>
            </a:r>
            <a:endParaRPr lang="en-US" sz="2000" dirty="0"/>
          </a:p>
        </p:txBody>
      </p:sp>
      <p:sp>
        <p:nvSpPr>
          <p:cNvPr id="16" name="Shape 14"/>
          <p:cNvSpPr/>
          <p:nvPr/>
        </p:nvSpPr>
        <p:spPr>
          <a:xfrm>
            <a:off x="4829919" y="4229509"/>
            <a:ext cx="4977705" cy="509587"/>
          </a:xfrm>
          <a:prstGeom prst="rect">
            <a:avLst/>
          </a:prstGeom>
          <a:solidFill>
            <a:srgbClr val="F1F4F7"/>
          </a:solidFill>
          <a:ln/>
        </p:spPr>
        <p:txBody>
          <a:bodyPr/>
          <a:lstStyle/>
          <a:p>
            <a:endParaRPr lang="en-US" sz="2000"/>
          </a:p>
        </p:txBody>
      </p:sp>
      <p:sp>
        <p:nvSpPr>
          <p:cNvPr id="17" name="Shape 15"/>
          <p:cNvSpPr/>
          <p:nvPr/>
        </p:nvSpPr>
        <p:spPr>
          <a:xfrm>
            <a:off x="4829919" y="4729571"/>
            <a:ext cx="4977705" cy="9525"/>
          </a:xfrm>
          <a:prstGeom prst="rect">
            <a:avLst/>
          </a:prstGeom>
          <a:solidFill>
            <a:srgbClr val="DCE2E9"/>
          </a:solidFill>
          <a:ln/>
        </p:spPr>
        <p:txBody>
          <a:bodyPr/>
          <a:lstStyle/>
          <a:p>
            <a:endParaRPr lang="en-US" sz="2000"/>
          </a:p>
        </p:txBody>
      </p:sp>
      <p:sp>
        <p:nvSpPr>
          <p:cNvPr id="18" name="Text 16"/>
          <p:cNvSpPr/>
          <p:nvPr/>
        </p:nvSpPr>
        <p:spPr>
          <a:xfrm>
            <a:off x="5001369" y="4343809"/>
            <a:ext cx="4784137" cy="309562"/>
          </a:xfrm>
          <a:prstGeom prst="rect">
            <a:avLst/>
          </a:prstGeom>
          <a:noFill/>
          <a:ln/>
        </p:spPr>
        <p:txBody>
          <a:bodyPr wrap="square" lIns="25400" tIns="25400" rIns="25400" bIns="25400" rtlCol="0" anchor="t">
            <a:noAutofit/>
          </a:bodyPr>
          <a:lstStyle/>
          <a:p>
            <a:pPr marL="0" indent="0" algn="l">
              <a:buNone/>
            </a:pPr>
            <a:r>
              <a:rPr lang="en-US" sz="2000" dirty="0">
                <a:solidFill>
                  <a:srgbClr val="1E2530"/>
                </a:solidFill>
                <a:latin typeface="Arial" pitchFamily="34" charset="0"/>
                <a:ea typeface="Arial" pitchFamily="34" charset="-122"/>
                <a:cs typeface="Arial" pitchFamily="34" charset="-120"/>
              </a:rPr>
              <a:t>Local market knowledge</a:t>
            </a:r>
            <a:endParaRPr lang="en-US" sz="2000" dirty="0"/>
          </a:p>
        </p:txBody>
      </p:sp>
      <p:sp>
        <p:nvSpPr>
          <p:cNvPr id="19" name="Shape 17"/>
          <p:cNvSpPr/>
          <p:nvPr/>
        </p:nvSpPr>
        <p:spPr>
          <a:xfrm>
            <a:off x="9807625" y="4229509"/>
            <a:ext cx="7632650" cy="509587"/>
          </a:xfrm>
          <a:prstGeom prst="rect">
            <a:avLst/>
          </a:prstGeom>
          <a:solidFill>
            <a:srgbClr val="F1F4F7"/>
          </a:solidFill>
          <a:ln/>
        </p:spPr>
        <p:txBody>
          <a:bodyPr/>
          <a:lstStyle/>
          <a:p>
            <a:endParaRPr lang="en-US" sz="2000"/>
          </a:p>
        </p:txBody>
      </p:sp>
      <p:sp>
        <p:nvSpPr>
          <p:cNvPr id="20" name="Shape 18"/>
          <p:cNvSpPr/>
          <p:nvPr/>
        </p:nvSpPr>
        <p:spPr>
          <a:xfrm>
            <a:off x="9807625" y="4729571"/>
            <a:ext cx="7632650" cy="9525"/>
          </a:xfrm>
          <a:prstGeom prst="rect">
            <a:avLst/>
          </a:prstGeom>
          <a:solidFill>
            <a:srgbClr val="DCE2E9"/>
          </a:solidFill>
          <a:ln/>
        </p:spPr>
        <p:txBody>
          <a:bodyPr/>
          <a:lstStyle/>
          <a:p>
            <a:endParaRPr lang="en-US" sz="2000"/>
          </a:p>
        </p:txBody>
      </p:sp>
      <p:sp>
        <p:nvSpPr>
          <p:cNvPr id="21" name="Text 19"/>
          <p:cNvSpPr/>
          <p:nvPr/>
        </p:nvSpPr>
        <p:spPr>
          <a:xfrm>
            <a:off x="9979075" y="4343809"/>
            <a:ext cx="7518730" cy="309562"/>
          </a:xfrm>
          <a:prstGeom prst="rect">
            <a:avLst/>
          </a:prstGeom>
          <a:noFill/>
          <a:ln/>
        </p:spPr>
        <p:txBody>
          <a:bodyPr wrap="square" lIns="25400" tIns="25400" rIns="25400" bIns="25400" rtlCol="0" anchor="t">
            <a:noAutofit/>
          </a:bodyPr>
          <a:lstStyle/>
          <a:p>
            <a:pPr marL="0" indent="0" algn="l">
              <a:buNone/>
            </a:pPr>
            <a:r>
              <a:rPr lang="en-US" sz="2000" dirty="0">
                <a:solidFill>
                  <a:srgbClr val="1E2530"/>
                </a:solidFill>
                <a:latin typeface="Arial" pitchFamily="34" charset="0"/>
                <a:ea typeface="Arial" pitchFamily="34" charset="-122"/>
                <a:cs typeface="Arial" pitchFamily="34" charset="-120"/>
              </a:rPr>
              <a:t>Not standardized or reproducible across people</a:t>
            </a:r>
            <a:endParaRPr lang="en-US" sz="2000" dirty="0"/>
          </a:p>
        </p:txBody>
      </p:sp>
      <p:sp>
        <p:nvSpPr>
          <p:cNvPr id="22" name="Shape 20"/>
          <p:cNvSpPr/>
          <p:nvPr/>
        </p:nvSpPr>
        <p:spPr>
          <a:xfrm>
            <a:off x="847725" y="5243921"/>
            <a:ext cx="3982194" cy="9525"/>
          </a:xfrm>
          <a:prstGeom prst="rect">
            <a:avLst/>
          </a:prstGeom>
          <a:solidFill>
            <a:srgbClr val="DCE2E9"/>
          </a:solidFill>
          <a:ln/>
        </p:spPr>
        <p:txBody>
          <a:bodyPr/>
          <a:lstStyle/>
          <a:p>
            <a:endParaRPr lang="en-US" sz="2000"/>
          </a:p>
        </p:txBody>
      </p:sp>
      <p:sp>
        <p:nvSpPr>
          <p:cNvPr id="23" name="Text 21"/>
          <p:cNvSpPr/>
          <p:nvPr/>
        </p:nvSpPr>
        <p:spPr>
          <a:xfrm>
            <a:off x="1019175" y="4853396"/>
            <a:ext cx="3758760" cy="314325"/>
          </a:xfrm>
          <a:prstGeom prst="rect">
            <a:avLst/>
          </a:prstGeom>
          <a:noFill/>
          <a:ln/>
        </p:spPr>
        <p:txBody>
          <a:bodyPr wrap="square" lIns="25400" tIns="25400" rIns="25400" bIns="25400" rtlCol="0" anchor="t">
            <a:noAutofit/>
          </a:bodyPr>
          <a:lstStyle/>
          <a:p>
            <a:pPr marL="0" indent="0" algn="l">
              <a:buNone/>
            </a:pPr>
            <a:r>
              <a:rPr lang="en-US" sz="2000" dirty="0">
                <a:solidFill>
                  <a:srgbClr val="1E2530"/>
                </a:solidFill>
                <a:latin typeface="Arial" pitchFamily="34" charset="0"/>
                <a:ea typeface="Arial" pitchFamily="34" charset="-122"/>
                <a:cs typeface="Arial" pitchFamily="34" charset="-120"/>
              </a:rPr>
              <a:t>Bank appraisals</a:t>
            </a:r>
            <a:endParaRPr lang="en-US" sz="2000" dirty="0"/>
          </a:p>
        </p:txBody>
      </p:sp>
      <p:sp>
        <p:nvSpPr>
          <p:cNvPr id="24" name="Shape 22"/>
          <p:cNvSpPr/>
          <p:nvPr/>
        </p:nvSpPr>
        <p:spPr>
          <a:xfrm>
            <a:off x="4829919" y="5243921"/>
            <a:ext cx="4977705" cy="9525"/>
          </a:xfrm>
          <a:prstGeom prst="rect">
            <a:avLst/>
          </a:prstGeom>
          <a:solidFill>
            <a:srgbClr val="DCE2E9"/>
          </a:solidFill>
          <a:ln/>
        </p:spPr>
        <p:txBody>
          <a:bodyPr/>
          <a:lstStyle/>
          <a:p>
            <a:endParaRPr lang="en-US" sz="2000"/>
          </a:p>
        </p:txBody>
      </p:sp>
      <p:sp>
        <p:nvSpPr>
          <p:cNvPr id="25" name="Text 23"/>
          <p:cNvSpPr/>
          <p:nvPr/>
        </p:nvSpPr>
        <p:spPr>
          <a:xfrm>
            <a:off x="5001369" y="4853396"/>
            <a:ext cx="4784137" cy="314325"/>
          </a:xfrm>
          <a:prstGeom prst="rect">
            <a:avLst/>
          </a:prstGeom>
          <a:noFill/>
          <a:ln/>
        </p:spPr>
        <p:txBody>
          <a:bodyPr wrap="square" lIns="25400" tIns="25400" rIns="25400" bIns="25400" rtlCol="0" anchor="t">
            <a:noAutofit/>
          </a:bodyPr>
          <a:lstStyle/>
          <a:p>
            <a:pPr marL="0" indent="0" algn="l">
              <a:buNone/>
            </a:pPr>
            <a:r>
              <a:rPr lang="en-US" sz="2000" dirty="0">
                <a:solidFill>
                  <a:srgbClr val="1E2530"/>
                </a:solidFill>
                <a:latin typeface="Arial" pitchFamily="34" charset="0"/>
                <a:ea typeface="Arial" pitchFamily="34" charset="-122"/>
                <a:cs typeface="Arial" pitchFamily="34" charset="-120"/>
              </a:rPr>
              <a:t>Lending &amp; collateral risk</a:t>
            </a:r>
            <a:endParaRPr lang="en-US" sz="2000" dirty="0"/>
          </a:p>
        </p:txBody>
      </p:sp>
      <p:sp>
        <p:nvSpPr>
          <p:cNvPr id="26" name="Shape 24"/>
          <p:cNvSpPr/>
          <p:nvPr/>
        </p:nvSpPr>
        <p:spPr>
          <a:xfrm>
            <a:off x="9807625" y="5243921"/>
            <a:ext cx="7632650" cy="9525"/>
          </a:xfrm>
          <a:prstGeom prst="rect">
            <a:avLst/>
          </a:prstGeom>
          <a:solidFill>
            <a:srgbClr val="DCE2E9"/>
          </a:solidFill>
          <a:ln/>
        </p:spPr>
        <p:txBody>
          <a:bodyPr/>
          <a:lstStyle/>
          <a:p>
            <a:endParaRPr lang="en-US" sz="2000"/>
          </a:p>
        </p:txBody>
      </p:sp>
      <p:sp>
        <p:nvSpPr>
          <p:cNvPr id="27" name="Text 25"/>
          <p:cNvSpPr/>
          <p:nvPr/>
        </p:nvSpPr>
        <p:spPr>
          <a:xfrm>
            <a:off x="9979075" y="4853396"/>
            <a:ext cx="7518730" cy="314325"/>
          </a:xfrm>
          <a:prstGeom prst="rect">
            <a:avLst/>
          </a:prstGeom>
          <a:noFill/>
          <a:ln/>
        </p:spPr>
        <p:txBody>
          <a:bodyPr wrap="square" lIns="25400" tIns="25400" rIns="25400" bIns="25400" rtlCol="0" anchor="t">
            <a:noAutofit/>
          </a:bodyPr>
          <a:lstStyle/>
          <a:p>
            <a:pPr marL="0" indent="0" algn="l">
              <a:buNone/>
            </a:pPr>
            <a:r>
              <a:rPr lang="en-US" sz="2000" dirty="0">
                <a:solidFill>
                  <a:srgbClr val="1E2530"/>
                </a:solidFill>
                <a:latin typeface="Arial" pitchFamily="34" charset="0"/>
                <a:ea typeface="Arial" pitchFamily="34" charset="-122"/>
                <a:cs typeface="Arial" pitchFamily="34" charset="-120"/>
              </a:rPr>
              <a:t>Conservative; not the seller's market question</a:t>
            </a:r>
            <a:endParaRPr lang="en-US" sz="2000" dirty="0"/>
          </a:p>
        </p:txBody>
      </p:sp>
      <p:sp>
        <p:nvSpPr>
          <p:cNvPr id="28" name="Shape 26"/>
          <p:cNvSpPr/>
          <p:nvPr/>
        </p:nvSpPr>
        <p:spPr>
          <a:xfrm>
            <a:off x="847725" y="5253446"/>
            <a:ext cx="3982194" cy="514350"/>
          </a:xfrm>
          <a:prstGeom prst="rect">
            <a:avLst/>
          </a:prstGeom>
          <a:solidFill>
            <a:srgbClr val="F1F4F7"/>
          </a:solidFill>
          <a:ln/>
        </p:spPr>
        <p:txBody>
          <a:bodyPr/>
          <a:lstStyle/>
          <a:p>
            <a:endParaRPr lang="en-US" sz="2000"/>
          </a:p>
        </p:txBody>
      </p:sp>
      <p:sp>
        <p:nvSpPr>
          <p:cNvPr id="29" name="Shape 27"/>
          <p:cNvSpPr/>
          <p:nvPr/>
        </p:nvSpPr>
        <p:spPr>
          <a:xfrm>
            <a:off x="847725" y="5758271"/>
            <a:ext cx="3982194" cy="9525"/>
          </a:xfrm>
          <a:prstGeom prst="rect">
            <a:avLst/>
          </a:prstGeom>
          <a:solidFill>
            <a:srgbClr val="DCE2E9"/>
          </a:solidFill>
          <a:ln/>
        </p:spPr>
        <p:txBody>
          <a:bodyPr/>
          <a:lstStyle/>
          <a:p>
            <a:endParaRPr lang="en-US" sz="2000"/>
          </a:p>
        </p:txBody>
      </p:sp>
      <p:sp>
        <p:nvSpPr>
          <p:cNvPr id="30" name="Text 28"/>
          <p:cNvSpPr/>
          <p:nvPr/>
        </p:nvSpPr>
        <p:spPr>
          <a:xfrm>
            <a:off x="1019175" y="5367746"/>
            <a:ext cx="3758760" cy="314325"/>
          </a:xfrm>
          <a:prstGeom prst="rect">
            <a:avLst/>
          </a:prstGeom>
          <a:noFill/>
          <a:ln/>
        </p:spPr>
        <p:txBody>
          <a:bodyPr wrap="square" lIns="25400" tIns="25400" rIns="25400" bIns="25400" rtlCol="0" anchor="t">
            <a:noAutofit/>
          </a:bodyPr>
          <a:lstStyle/>
          <a:p>
            <a:pPr marL="0" indent="0" algn="l">
              <a:buNone/>
            </a:pPr>
            <a:r>
              <a:rPr lang="en-US" sz="2000" dirty="0">
                <a:solidFill>
                  <a:srgbClr val="1E2530"/>
                </a:solidFill>
                <a:latin typeface="Arial" pitchFamily="34" charset="0"/>
                <a:ea typeface="Arial" pitchFamily="34" charset="-122"/>
                <a:cs typeface="Arial" pitchFamily="34" charset="-120"/>
              </a:rPr>
              <a:t>BIR zonal values</a:t>
            </a:r>
            <a:endParaRPr lang="en-US" sz="2000" dirty="0"/>
          </a:p>
        </p:txBody>
      </p:sp>
      <p:sp>
        <p:nvSpPr>
          <p:cNvPr id="31" name="Shape 29"/>
          <p:cNvSpPr/>
          <p:nvPr/>
        </p:nvSpPr>
        <p:spPr>
          <a:xfrm>
            <a:off x="4829919" y="5253446"/>
            <a:ext cx="4977705" cy="514350"/>
          </a:xfrm>
          <a:prstGeom prst="rect">
            <a:avLst/>
          </a:prstGeom>
          <a:solidFill>
            <a:srgbClr val="F1F4F7"/>
          </a:solidFill>
          <a:ln/>
        </p:spPr>
        <p:txBody>
          <a:bodyPr/>
          <a:lstStyle/>
          <a:p>
            <a:endParaRPr lang="en-US" sz="2000"/>
          </a:p>
        </p:txBody>
      </p:sp>
      <p:sp>
        <p:nvSpPr>
          <p:cNvPr id="32" name="Shape 30"/>
          <p:cNvSpPr/>
          <p:nvPr/>
        </p:nvSpPr>
        <p:spPr>
          <a:xfrm>
            <a:off x="4829919" y="5758271"/>
            <a:ext cx="4977705" cy="9525"/>
          </a:xfrm>
          <a:prstGeom prst="rect">
            <a:avLst/>
          </a:prstGeom>
          <a:solidFill>
            <a:srgbClr val="DCE2E9"/>
          </a:solidFill>
          <a:ln/>
        </p:spPr>
        <p:txBody>
          <a:bodyPr/>
          <a:lstStyle/>
          <a:p>
            <a:endParaRPr lang="en-US" sz="2000"/>
          </a:p>
        </p:txBody>
      </p:sp>
      <p:sp>
        <p:nvSpPr>
          <p:cNvPr id="33" name="Text 31"/>
          <p:cNvSpPr/>
          <p:nvPr/>
        </p:nvSpPr>
        <p:spPr>
          <a:xfrm>
            <a:off x="5001369" y="5367746"/>
            <a:ext cx="4784137" cy="314325"/>
          </a:xfrm>
          <a:prstGeom prst="rect">
            <a:avLst/>
          </a:prstGeom>
          <a:noFill/>
          <a:ln/>
        </p:spPr>
        <p:txBody>
          <a:bodyPr wrap="square" lIns="25400" tIns="25400" rIns="25400" bIns="25400" rtlCol="0" anchor="t">
            <a:noAutofit/>
          </a:bodyPr>
          <a:lstStyle/>
          <a:p>
            <a:pPr marL="0" indent="0" algn="l">
              <a:buNone/>
            </a:pPr>
            <a:r>
              <a:rPr lang="en-US" sz="2000" dirty="0">
                <a:solidFill>
                  <a:srgbClr val="1E2530"/>
                </a:solidFill>
                <a:latin typeface="Arial" pitchFamily="34" charset="0"/>
                <a:ea typeface="Arial" pitchFamily="34" charset="-122"/>
                <a:cs typeface="Arial" pitchFamily="34" charset="-120"/>
              </a:rPr>
              <a:t>Taxation &amp; assessment</a:t>
            </a:r>
            <a:endParaRPr lang="en-US" sz="2000" dirty="0"/>
          </a:p>
        </p:txBody>
      </p:sp>
      <p:sp>
        <p:nvSpPr>
          <p:cNvPr id="34" name="Shape 32"/>
          <p:cNvSpPr/>
          <p:nvPr/>
        </p:nvSpPr>
        <p:spPr>
          <a:xfrm>
            <a:off x="9807625" y="5253446"/>
            <a:ext cx="7632650" cy="514350"/>
          </a:xfrm>
          <a:prstGeom prst="rect">
            <a:avLst/>
          </a:prstGeom>
          <a:solidFill>
            <a:srgbClr val="F1F4F7"/>
          </a:solidFill>
          <a:ln/>
        </p:spPr>
        <p:txBody>
          <a:bodyPr/>
          <a:lstStyle/>
          <a:p>
            <a:endParaRPr lang="en-US" sz="2000"/>
          </a:p>
        </p:txBody>
      </p:sp>
      <p:sp>
        <p:nvSpPr>
          <p:cNvPr id="35" name="Shape 33"/>
          <p:cNvSpPr/>
          <p:nvPr/>
        </p:nvSpPr>
        <p:spPr>
          <a:xfrm>
            <a:off x="9807625" y="5758271"/>
            <a:ext cx="7632650" cy="9525"/>
          </a:xfrm>
          <a:prstGeom prst="rect">
            <a:avLst/>
          </a:prstGeom>
          <a:solidFill>
            <a:srgbClr val="DCE2E9"/>
          </a:solidFill>
          <a:ln/>
        </p:spPr>
        <p:txBody>
          <a:bodyPr/>
          <a:lstStyle/>
          <a:p>
            <a:endParaRPr lang="en-US" sz="2000"/>
          </a:p>
        </p:txBody>
      </p:sp>
      <p:sp>
        <p:nvSpPr>
          <p:cNvPr id="36" name="Text 34"/>
          <p:cNvSpPr/>
          <p:nvPr/>
        </p:nvSpPr>
        <p:spPr>
          <a:xfrm>
            <a:off x="9979075" y="5367746"/>
            <a:ext cx="7518730" cy="314325"/>
          </a:xfrm>
          <a:prstGeom prst="rect">
            <a:avLst/>
          </a:prstGeom>
          <a:noFill/>
          <a:ln/>
        </p:spPr>
        <p:txBody>
          <a:bodyPr wrap="square" lIns="25400" tIns="25400" rIns="25400" bIns="25400" rtlCol="0" anchor="t">
            <a:noAutofit/>
          </a:bodyPr>
          <a:lstStyle/>
          <a:p>
            <a:pPr marL="0" indent="0" algn="l">
              <a:buNone/>
            </a:pPr>
            <a:r>
              <a:rPr lang="en-US" sz="2000" dirty="0">
                <a:solidFill>
                  <a:srgbClr val="1E2530"/>
                </a:solidFill>
                <a:highlight>
                  <a:srgbClr val="F1F4F7"/>
                </a:highlight>
                <a:latin typeface="Arial" pitchFamily="34" charset="0"/>
                <a:ea typeface="Arial" pitchFamily="34" charset="-122"/>
                <a:cs typeface="Arial" pitchFamily="34" charset="-120"/>
              </a:rPr>
              <a:t>Not live prices; often not updated </a:t>
            </a:r>
            <a:r>
              <a:rPr lang="en-US" sz="2000" i="1" dirty="0">
                <a:solidFill>
                  <a:srgbClr val="979FAD"/>
                </a:solidFill>
                <a:latin typeface="Arial" pitchFamily="34" charset="0"/>
                <a:ea typeface="Arial" pitchFamily="34" charset="-122"/>
                <a:cs typeface="Arial" pitchFamily="34" charset="-120"/>
              </a:rPr>
              <a:t>(BIR, n.d.; Otsuka et al., 2023)</a:t>
            </a:r>
            <a:endParaRPr lang="en-US" sz="2000" dirty="0"/>
          </a:p>
        </p:txBody>
      </p:sp>
      <p:sp>
        <p:nvSpPr>
          <p:cNvPr id="37" name="Shape 35"/>
          <p:cNvSpPr/>
          <p:nvPr/>
        </p:nvSpPr>
        <p:spPr>
          <a:xfrm>
            <a:off x="847725" y="6272621"/>
            <a:ext cx="3982194" cy="9525"/>
          </a:xfrm>
          <a:prstGeom prst="rect">
            <a:avLst/>
          </a:prstGeom>
          <a:solidFill>
            <a:srgbClr val="DCE2E9"/>
          </a:solidFill>
          <a:ln/>
        </p:spPr>
        <p:txBody>
          <a:bodyPr/>
          <a:lstStyle/>
          <a:p>
            <a:endParaRPr lang="en-US" sz="2000"/>
          </a:p>
        </p:txBody>
      </p:sp>
      <p:sp>
        <p:nvSpPr>
          <p:cNvPr id="38" name="Text 36"/>
          <p:cNvSpPr/>
          <p:nvPr/>
        </p:nvSpPr>
        <p:spPr>
          <a:xfrm>
            <a:off x="1019175" y="5882096"/>
            <a:ext cx="3758760" cy="314325"/>
          </a:xfrm>
          <a:prstGeom prst="rect">
            <a:avLst/>
          </a:prstGeom>
          <a:noFill/>
          <a:ln/>
        </p:spPr>
        <p:txBody>
          <a:bodyPr wrap="square" lIns="25400" tIns="25400" rIns="25400" bIns="25400" rtlCol="0" anchor="t">
            <a:noAutofit/>
          </a:bodyPr>
          <a:lstStyle/>
          <a:p>
            <a:pPr marL="0" indent="0" algn="l">
              <a:buNone/>
            </a:pPr>
            <a:r>
              <a:rPr lang="en-US" sz="2000" dirty="0">
                <a:solidFill>
                  <a:srgbClr val="1E2530"/>
                </a:solidFill>
                <a:latin typeface="Arial" pitchFamily="34" charset="0"/>
                <a:ea typeface="Arial" pitchFamily="34" charset="-122"/>
                <a:cs typeface="Arial" pitchFamily="34" charset="-120"/>
              </a:rPr>
              <a:t>Online listings</a:t>
            </a:r>
            <a:endParaRPr lang="en-US" sz="2000" dirty="0"/>
          </a:p>
        </p:txBody>
      </p:sp>
      <p:sp>
        <p:nvSpPr>
          <p:cNvPr id="39" name="Shape 37"/>
          <p:cNvSpPr/>
          <p:nvPr/>
        </p:nvSpPr>
        <p:spPr>
          <a:xfrm>
            <a:off x="4829919" y="6272621"/>
            <a:ext cx="4977705" cy="9525"/>
          </a:xfrm>
          <a:prstGeom prst="rect">
            <a:avLst/>
          </a:prstGeom>
          <a:solidFill>
            <a:srgbClr val="DCE2E9"/>
          </a:solidFill>
          <a:ln/>
        </p:spPr>
        <p:txBody>
          <a:bodyPr/>
          <a:lstStyle/>
          <a:p>
            <a:endParaRPr lang="en-US" sz="2000"/>
          </a:p>
        </p:txBody>
      </p:sp>
      <p:sp>
        <p:nvSpPr>
          <p:cNvPr id="40" name="Text 38"/>
          <p:cNvSpPr/>
          <p:nvPr/>
        </p:nvSpPr>
        <p:spPr>
          <a:xfrm>
            <a:off x="5001369" y="5882096"/>
            <a:ext cx="4784137" cy="314325"/>
          </a:xfrm>
          <a:prstGeom prst="rect">
            <a:avLst/>
          </a:prstGeom>
          <a:noFill/>
          <a:ln/>
        </p:spPr>
        <p:txBody>
          <a:bodyPr wrap="square" lIns="25400" tIns="25400" rIns="25400" bIns="25400" rtlCol="0" anchor="t">
            <a:noAutofit/>
          </a:bodyPr>
          <a:lstStyle/>
          <a:p>
            <a:pPr marL="0" indent="0" algn="l">
              <a:buNone/>
            </a:pPr>
            <a:r>
              <a:rPr lang="en-US" sz="2000" dirty="0">
                <a:solidFill>
                  <a:srgbClr val="1E2530"/>
                </a:solidFill>
                <a:latin typeface="Arial" pitchFamily="34" charset="0"/>
                <a:ea typeface="Arial" pitchFamily="34" charset="-122"/>
                <a:cs typeface="Arial" pitchFamily="34" charset="-120"/>
              </a:rPr>
              <a:t>Current, property-level</a:t>
            </a:r>
            <a:endParaRPr lang="en-US" sz="2000" dirty="0"/>
          </a:p>
        </p:txBody>
      </p:sp>
      <p:sp>
        <p:nvSpPr>
          <p:cNvPr id="41" name="Shape 39"/>
          <p:cNvSpPr/>
          <p:nvPr/>
        </p:nvSpPr>
        <p:spPr>
          <a:xfrm>
            <a:off x="9807625" y="6272621"/>
            <a:ext cx="7632650" cy="9525"/>
          </a:xfrm>
          <a:prstGeom prst="rect">
            <a:avLst/>
          </a:prstGeom>
          <a:solidFill>
            <a:srgbClr val="DCE2E9"/>
          </a:solidFill>
          <a:ln/>
        </p:spPr>
        <p:txBody>
          <a:bodyPr/>
          <a:lstStyle/>
          <a:p>
            <a:endParaRPr lang="en-US" sz="2000"/>
          </a:p>
        </p:txBody>
      </p:sp>
      <p:sp>
        <p:nvSpPr>
          <p:cNvPr id="42" name="Text 40"/>
          <p:cNvSpPr/>
          <p:nvPr/>
        </p:nvSpPr>
        <p:spPr>
          <a:xfrm>
            <a:off x="9979075" y="5882096"/>
            <a:ext cx="7518730" cy="314325"/>
          </a:xfrm>
          <a:prstGeom prst="rect">
            <a:avLst/>
          </a:prstGeom>
          <a:noFill/>
          <a:ln/>
        </p:spPr>
        <p:txBody>
          <a:bodyPr wrap="square" lIns="25400" tIns="25400" rIns="25400" bIns="25400" rtlCol="0" anchor="t">
            <a:noAutofit/>
          </a:bodyPr>
          <a:lstStyle/>
          <a:p>
            <a:pPr marL="0" indent="0" algn="l">
              <a:buNone/>
            </a:pPr>
            <a:r>
              <a:rPr lang="en-US" sz="2000" dirty="0">
                <a:solidFill>
                  <a:srgbClr val="1E2530"/>
                </a:solidFill>
                <a:latin typeface="Arial" pitchFamily="34" charset="0"/>
                <a:ea typeface="Arial" pitchFamily="34" charset="-122"/>
                <a:cs typeface="Arial" pitchFamily="34" charset="-120"/>
              </a:rPr>
              <a:t>Asking prices — full of seller strategy and noise</a:t>
            </a:r>
            <a:endParaRPr lang="en-US" sz="2000" dirty="0"/>
          </a:p>
        </p:txBody>
      </p:sp>
      <p:sp>
        <p:nvSpPr>
          <p:cNvPr id="43" name="Shape 41"/>
          <p:cNvSpPr/>
          <p:nvPr/>
        </p:nvSpPr>
        <p:spPr>
          <a:xfrm>
            <a:off x="847725" y="9057159"/>
            <a:ext cx="16592550" cy="696441"/>
          </a:xfrm>
          <a:prstGeom prst="rect">
            <a:avLst/>
          </a:prstGeom>
          <a:solidFill>
            <a:srgbClr val="EAEEF3"/>
          </a:solidFill>
          <a:ln/>
        </p:spPr>
        <p:txBody>
          <a:bodyPr/>
          <a:lstStyle/>
          <a:p>
            <a:endParaRPr lang="en-US"/>
          </a:p>
        </p:txBody>
      </p:sp>
      <p:sp>
        <p:nvSpPr>
          <p:cNvPr id="44" name="Shape 42"/>
          <p:cNvSpPr/>
          <p:nvPr/>
        </p:nvSpPr>
        <p:spPr>
          <a:xfrm>
            <a:off x="847725" y="9057159"/>
            <a:ext cx="76200" cy="696441"/>
          </a:xfrm>
          <a:prstGeom prst="rect">
            <a:avLst/>
          </a:prstGeom>
          <a:solidFill>
            <a:srgbClr val="33455E"/>
          </a:solidFill>
          <a:ln/>
        </p:spPr>
        <p:txBody>
          <a:bodyPr/>
          <a:lstStyle/>
          <a:p>
            <a:endParaRPr lang="en-US"/>
          </a:p>
        </p:txBody>
      </p:sp>
      <p:sp>
        <p:nvSpPr>
          <p:cNvPr id="45" name="Text 43"/>
          <p:cNvSpPr/>
          <p:nvPr/>
        </p:nvSpPr>
        <p:spPr>
          <a:xfrm>
            <a:off x="1171575" y="9290521"/>
            <a:ext cx="1544285" cy="300038"/>
          </a:xfrm>
          <a:prstGeom prst="rect">
            <a:avLst/>
          </a:prstGeom>
          <a:noFill/>
          <a:ln/>
        </p:spPr>
        <p:txBody>
          <a:bodyPr wrap="square" lIns="25400" tIns="25400" rIns="25400" bIns="25400" rtlCol="0" anchor="t">
            <a:normAutofit lnSpcReduction="10000"/>
          </a:bodyPr>
          <a:lstStyle/>
          <a:p>
            <a:pPr marL="0" indent="0" algn="l">
              <a:buNone/>
            </a:pPr>
            <a:r>
              <a:rPr lang="en-US" sz="1800" b="1" kern="0" spc="144" dirty="0">
                <a:solidFill>
                  <a:srgbClr val="5B7A99"/>
                </a:solidFill>
                <a:latin typeface="Arial" pitchFamily="34" charset="0"/>
                <a:ea typeface="Arial" pitchFamily="34" charset="-122"/>
                <a:cs typeface="Arial" pitchFamily="34" charset="-120"/>
              </a:rPr>
              <a:t>TAKEAWAY</a:t>
            </a:r>
            <a:endParaRPr lang="en-US" sz="1800" dirty="0"/>
          </a:p>
        </p:txBody>
      </p:sp>
      <p:sp>
        <p:nvSpPr>
          <p:cNvPr id="46" name="Text 44"/>
          <p:cNvSpPr/>
          <p:nvPr/>
        </p:nvSpPr>
        <p:spPr>
          <a:xfrm>
            <a:off x="2727871" y="9228609"/>
            <a:ext cx="13979113" cy="391641"/>
          </a:xfrm>
          <a:prstGeom prst="rect">
            <a:avLst/>
          </a:prstGeom>
          <a:noFill/>
          <a:ln/>
        </p:spPr>
        <p:txBody>
          <a:bodyPr wrap="square" lIns="25400" tIns="25400" rIns="25400" bIns="25400" rtlCol="0" anchor="t">
            <a:normAutofit fontScale="92500" lnSpcReduction="10000"/>
          </a:bodyPr>
          <a:lstStyle/>
          <a:p>
            <a:pPr marL="0" indent="0" algn="l">
              <a:lnSpc>
                <a:spcPct val="128000"/>
              </a:lnSpc>
              <a:buNone/>
            </a:pPr>
            <a:r>
              <a:rPr lang="en-US" sz="2175" dirty="0">
                <a:solidFill>
                  <a:srgbClr val="1E2530"/>
                </a:solidFill>
                <a:latin typeface="Arial" pitchFamily="34" charset="0"/>
                <a:ea typeface="Arial" pitchFamily="34" charset="-122"/>
                <a:cs typeface="Arial" pitchFamily="34" charset="-120"/>
              </a:rPr>
              <a:t>Metro Cebu has plenty of valuation activity, but no consistently shared, spatially detailed reference layer.</a:t>
            </a:r>
            <a:endParaRPr lang="en-US" sz="2175" dirty="0"/>
          </a:p>
        </p:txBody>
      </p:sp>
    </p:spTree>
    <p:extLst>
      <p:ext uri="{BB962C8B-B14F-4D97-AF65-F5344CB8AC3E}">
        <p14:creationId xmlns:p14="http://schemas.microsoft.com/office/powerpoint/2010/main" val="21197871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BFC"/>
        </a:solidFill>
        <a:effectLst/>
      </p:bgPr>
    </p:bg>
    <p:spTree>
      <p:nvGrpSpPr>
        <p:cNvPr id="1" name=""/>
        <p:cNvGrpSpPr/>
        <p:nvPr/>
      </p:nvGrpSpPr>
      <p:grpSpPr>
        <a:xfrm>
          <a:off x="0" y="0"/>
          <a:ext cx="0" cy="0"/>
          <a:chOff x="0" y="0"/>
          <a:chExt cx="0" cy="0"/>
        </a:xfrm>
      </p:grpSpPr>
      <p:sp>
        <p:nvSpPr>
          <p:cNvPr id="2" name="Text 0"/>
          <p:cNvSpPr/>
          <p:nvPr/>
        </p:nvSpPr>
        <p:spPr>
          <a:xfrm>
            <a:off x="847725" y="552450"/>
            <a:ext cx="2860603" cy="347663"/>
          </a:xfrm>
          <a:prstGeom prst="rect">
            <a:avLst/>
          </a:prstGeom>
          <a:noFill/>
          <a:ln/>
        </p:spPr>
        <p:txBody>
          <a:bodyPr wrap="square" lIns="25400" tIns="25400" rIns="25400" bIns="25400" rtlCol="0" anchor="t">
            <a:normAutofit lnSpcReduction="10000"/>
          </a:bodyPr>
          <a:lstStyle/>
          <a:p>
            <a:pPr marL="0" indent="0" algn="l">
              <a:buNone/>
            </a:pPr>
            <a:r>
              <a:rPr lang="en-US" sz="2100" b="1" kern="0" spc="84" dirty="0">
                <a:solidFill>
                  <a:srgbClr val="33455E"/>
                </a:solidFill>
                <a:latin typeface="Arial" pitchFamily="34" charset="0"/>
                <a:ea typeface="Arial" pitchFamily="34" charset="-122"/>
                <a:cs typeface="Arial" pitchFamily="34" charset="-120"/>
              </a:rPr>
              <a:t>1 · INTRODUCTION</a:t>
            </a:r>
            <a:endParaRPr lang="en-US" sz="2100" dirty="0"/>
          </a:p>
        </p:txBody>
      </p:sp>
      <p:sp>
        <p:nvSpPr>
          <p:cNvPr id="3" name="Text 1"/>
          <p:cNvSpPr/>
          <p:nvPr/>
        </p:nvSpPr>
        <p:spPr>
          <a:xfrm>
            <a:off x="16844442" y="552450"/>
            <a:ext cx="672033" cy="314325"/>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6E7686"/>
                </a:solidFill>
                <a:latin typeface="Arial" pitchFamily="34" charset="0"/>
                <a:ea typeface="Arial" pitchFamily="34" charset="-122"/>
                <a:cs typeface="Arial" pitchFamily="34" charset="-120"/>
              </a:rPr>
              <a:t>6 / 40</a:t>
            </a:r>
            <a:endParaRPr lang="en-US" sz="1875" dirty="0"/>
          </a:p>
        </p:txBody>
      </p:sp>
      <p:sp>
        <p:nvSpPr>
          <p:cNvPr id="4" name="Shape 2"/>
          <p:cNvSpPr/>
          <p:nvPr/>
        </p:nvSpPr>
        <p:spPr>
          <a:xfrm>
            <a:off x="847725" y="985838"/>
            <a:ext cx="16592550" cy="28575"/>
          </a:xfrm>
          <a:prstGeom prst="rect">
            <a:avLst/>
          </a:prstGeom>
          <a:solidFill>
            <a:srgbClr val="33455E"/>
          </a:solidFill>
          <a:ln/>
        </p:spPr>
        <p:txBody>
          <a:bodyPr/>
          <a:lstStyle/>
          <a:p>
            <a:endParaRPr lang="en-US"/>
          </a:p>
        </p:txBody>
      </p:sp>
      <p:sp>
        <p:nvSpPr>
          <p:cNvPr id="5" name="Text 3"/>
          <p:cNvSpPr/>
          <p:nvPr/>
        </p:nvSpPr>
        <p:spPr>
          <a:xfrm>
            <a:off x="847725" y="1243013"/>
            <a:ext cx="18251805" cy="55810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3900" b="1" dirty="0">
                <a:solidFill>
                  <a:srgbClr val="1E2530"/>
                </a:solidFill>
                <a:latin typeface="Arial" pitchFamily="34" charset="0"/>
                <a:ea typeface="Arial" pitchFamily="34" charset="-122"/>
                <a:cs typeface="Arial" pitchFamily="34" charset="-120"/>
              </a:rPr>
              <a:t>The problem, research questions &amp; scope</a:t>
            </a:r>
            <a:endParaRPr lang="en-US" sz="3900" dirty="0"/>
          </a:p>
        </p:txBody>
      </p:sp>
      <p:sp>
        <p:nvSpPr>
          <p:cNvPr id="6" name="Shape 4"/>
          <p:cNvSpPr/>
          <p:nvPr/>
        </p:nvSpPr>
        <p:spPr>
          <a:xfrm>
            <a:off x="847725" y="1953518"/>
            <a:ext cx="16592550" cy="1049982"/>
          </a:xfrm>
          <a:prstGeom prst="rect">
            <a:avLst/>
          </a:prstGeom>
          <a:solidFill>
            <a:srgbClr val="EAEEF3"/>
          </a:solidFill>
          <a:ln/>
        </p:spPr>
        <p:txBody>
          <a:bodyPr/>
          <a:lstStyle/>
          <a:p>
            <a:endParaRPr lang="en-US"/>
          </a:p>
        </p:txBody>
      </p:sp>
      <p:sp>
        <p:nvSpPr>
          <p:cNvPr id="7" name="Shape 5"/>
          <p:cNvSpPr/>
          <p:nvPr/>
        </p:nvSpPr>
        <p:spPr>
          <a:xfrm>
            <a:off x="847725" y="1953518"/>
            <a:ext cx="76200" cy="1049982"/>
          </a:xfrm>
          <a:prstGeom prst="rect">
            <a:avLst/>
          </a:prstGeom>
          <a:solidFill>
            <a:srgbClr val="33455E"/>
          </a:solidFill>
          <a:ln/>
        </p:spPr>
        <p:txBody>
          <a:bodyPr/>
          <a:lstStyle/>
          <a:p>
            <a:endParaRPr lang="en-US"/>
          </a:p>
        </p:txBody>
      </p:sp>
      <p:sp>
        <p:nvSpPr>
          <p:cNvPr id="8" name="Text 6"/>
          <p:cNvSpPr/>
          <p:nvPr/>
        </p:nvSpPr>
        <p:spPr>
          <a:xfrm>
            <a:off x="1171575" y="2186880"/>
            <a:ext cx="1398173" cy="300038"/>
          </a:xfrm>
          <a:prstGeom prst="rect">
            <a:avLst/>
          </a:prstGeom>
          <a:noFill/>
          <a:ln/>
        </p:spPr>
        <p:txBody>
          <a:bodyPr wrap="square" lIns="25400" tIns="25400" rIns="25400" bIns="25400" rtlCol="0" anchor="t">
            <a:normAutofit lnSpcReduction="10000"/>
          </a:bodyPr>
          <a:lstStyle/>
          <a:p>
            <a:pPr marL="0" indent="0" algn="l">
              <a:buNone/>
            </a:pPr>
            <a:r>
              <a:rPr lang="en-US" sz="1800" b="1" kern="0" spc="144" dirty="0">
                <a:solidFill>
                  <a:srgbClr val="5B7A99"/>
                </a:solidFill>
                <a:latin typeface="Arial" pitchFamily="34" charset="0"/>
                <a:ea typeface="Arial" pitchFamily="34" charset="-122"/>
                <a:cs typeface="Arial" pitchFamily="34" charset="-120"/>
              </a:rPr>
              <a:t>PROBLEM</a:t>
            </a:r>
            <a:endParaRPr lang="en-US" sz="1800" dirty="0"/>
          </a:p>
        </p:txBody>
      </p:sp>
      <p:sp>
        <p:nvSpPr>
          <p:cNvPr id="9" name="Text 7"/>
          <p:cNvSpPr/>
          <p:nvPr/>
        </p:nvSpPr>
        <p:spPr>
          <a:xfrm>
            <a:off x="2595042" y="2124968"/>
            <a:ext cx="15035511" cy="745182"/>
          </a:xfrm>
          <a:prstGeom prst="rect">
            <a:avLst/>
          </a:prstGeom>
          <a:noFill/>
          <a:ln/>
        </p:spPr>
        <p:txBody>
          <a:bodyPr wrap="square" lIns="25400" tIns="25400" rIns="25400" bIns="25400" rtlCol="0" anchor="t">
            <a:normAutofit fontScale="92500" lnSpcReduction="20000"/>
          </a:bodyPr>
          <a:lstStyle/>
          <a:p>
            <a:pPr marL="0" indent="0" algn="l">
              <a:lnSpc>
                <a:spcPct val="128000"/>
              </a:lnSpc>
              <a:buNone/>
            </a:pPr>
            <a:r>
              <a:rPr lang="en-US" sz="2175" dirty="0">
                <a:solidFill>
                  <a:srgbClr val="1E2530"/>
                </a:solidFill>
                <a:latin typeface="Arial" pitchFamily="34" charset="0"/>
                <a:ea typeface="Arial" pitchFamily="34" charset="-122"/>
                <a:cs typeface="Arial" pitchFamily="34" charset="-120"/>
              </a:rPr>
              <a:t>Metro Cebu lacks a transparent, property-level, spatially detailed reference for interpreting residential price evidence. This study builds that missing layer — a decision-support tool, not a replacement for professional appraisal.</a:t>
            </a:r>
            <a:endParaRPr lang="en-US" sz="2175" dirty="0"/>
          </a:p>
        </p:txBody>
      </p:sp>
      <p:sp>
        <p:nvSpPr>
          <p:cNvPr id="10" name="Shape 8"/>
          <p:cNvSpPr/>
          <p:nvPr/>
        </p:nvSpPr>
        <p:spPr>
          <a:xfrm>
            <a:off x="847725" y="3251150"/>
            <a:ext cx="832545" cy="523875"/>
          </a:xfrm>
          <a:prstGeom prst="rect">
            <a:avLst/>
          </a:prstGeom>
          <a:solidFill>
            <a:srgbClr val="33455E"/>
          </a:solidFill>
          <a:ln/>
        </p:spPr>
        <p:txBody>
          <a:bodyPr/>
          <a:lstStyle/>
          <a:p>
            <a:endParaRPr lang="en-US"/>
          </a:p>
        </p:txBody>
      </p:sp>
      <p:sp>
        <p:nvSpPr>
          <p:cNvPr id="11" name="Text 9"/>
          <p:cNvSpPr/>
          <p:nvPr/>
        </p:nvSpPr>
        <p:spPr>
          <a:xfrm>
            <a:off x="1019175" y="3374975"/>
            <a:ext cx="565845" cy="314325"/>
          </a:xfrm>
          <a:prstGeom prst="rect">
            <a:avLst/>
          </a:prstGeom>
          <a:noFill/>
          <a:ln/>
        </p:spPr>
        <p:txBody>
          <a:bodyPr wrap="square" lIns="25400" tIns="25400" rIns="25400" bIns="25400" rtlCol="0" anchor="ctr">
            <a:normAutofit lnSpcReduction="10000"/>
          </a:bodyPr>
          <a:lstStyle/>
          <a:p>
            <a:pPr marL="0" indent="0" algn="l">
              <a:buNone/>
            </a:pPr>
            <a:r>
              <a:rPr lang="en-US" sz="1875" b="1" dirty="0">
                <a:solidFill>
                  <a:srgbClr val="FFFFFF"/>
                </a:solidFill>
                <a:latin typeface="Arial" pitchFamily="34" charset="0"/>
                <a:ea typeface="Arial" pitchFamily="34" charset="-122"/>
                <a:cs typeface="Arial" pitchFamily="34" charset="-120"/>
              </a:rPr>
              <a:t>RQ</a:t>
            </a:r>
            <a:endParaRPr lang="en-US" sz="1875" dirty="0"/>
          </a:p>
        </p:txBody>
      </p:sp>
      <p:sp>
        <p:nvSpPr>
          <p:cNvPr id="12" name="Shape 10"/>
          <p:cNvSpPr/>
          <p:nvPr/>
        </p:nvSpPr>
        <p:spPr>
          <a:xfrm>
            <a:off x="1680270" y="3251150"/>
            <a:ext cx="6772870" cy="523875"/>
          </a:xfrm>
          <a:prstGeom prst="rect">
            <a:avLst/>
          </a:prstGeom>
          <a:solidFill>
            <a:srgbClr val="33455E"/>
          </a:solidFill>
          <a:ln/>
        </p:spPr>
        <p:txBody>
          <a:bodyPr/>
          <a:lstStyle/>
          <a:p>
            <a:endParaRPr lang="en-US"/>
          </a:p>
        </p:txBody>
      </p:sp>
      <p:sp>
        <p:nvSpPr>
          <p:cNvPr id="13" name="Text 11"/>
          <p:cNvSpPr/>
          <p:nvPr/>
        </p:nvSpPr>
        <p:spPr>
          <a:xfrm>
            <a:off x="1851720" y="3374975"/>
            <a:ext cx="6633156" cy="314325"/>
          </a:xfrm>
          <a:prstGeom prst="rect">
            <a:avLst/>
          </a:prstGeom>
          <a:noFill/>
          <a:ln/>
        </p:spPr>
        <p:txBody>
          <a:bodyPr wrap="square" lIns="25400" tIns="25400" rIns="25400" bIns="25400" rtlCol="0" anchor="ctr">
            <a:normAutofit lnSpcReduction="10000"/>
          </a:bodyPr>
          <a:lstStyle/>
          <a:p>
            <a:pPr marL="0" indent="0" algn="l">
              <a:buNone/>
            </a:pPr>
            <a:r>
              <a:rPr lang="en-US" sz="1875" b="1" dirty="0">
                <a:solidFill>
                  <a:srgbClr val="FFFFFF"/>
                </a:solidFill>
                <a:latin typeface="Arial" pitchFamily="34" charset="0"/>
                <a:ea typeface="Arial" pitchFamily="34" charset="-122"/>
                <a:cs typeface="Arial" pitchFamily="34" charset="-120"/>
              </a:rPr>
              <a:t>Research question</a:t>
            </a:r>
            <a:endParaRPr lang="en-US" sz="1875" dirty="0"/>
          </a:p>
        </p:txBody>
      </p:sp>
      <p:sp>
        <p:nvSpPr>
          <p:cNvPr id="14" name="Shape 12"/>
          <p:cNvSpPr/>
          <p:nvPr/>
        </p:nvSpPr>
        <p:spPr>
          <a:xfrm>
            <a:off x="8453140" y="3251150"/>
            <a:ext cx="2190750" cy="523875"/>
          </a:xfrm>
          <a:prstGeom prst="rect">
            <a:avLst/>
          </a:prstGeom>
          <a:solidFill>
            <a:srgbClr val="33455E"/>
          </a:solidFill>
          <a:ln/>
        </p:spPr>
        <p:txBody>
          <a:bodyPr/>
          <a:lstStyle/>
          <a:p>
            <a:endParaRPr lang="en-US"/>
          </a:p>
        </p:txBody>
      </p:sp>
      <p:sp>
        <p:nvSpPr>
          <p:cNvPr id="15" name="Text 13"/>
          <p:cNvSpPr/>
          <p:nvPr/>
        </p:nvSpPr>
        <p:spPr>
          <a:xfrm>
            <a:off x="8624590" y="3374975"/>
            <a:ext cx="1924050" cy="314325"/>
          </a:xfrm>
          <a:prstGeom prst="rect">
            <a:avLst/>
          </a:prstGeom>
          <a:noFill/>
          <a:ln/>
        </p:spPr>
        <p:txBody>
          <a:bodyPr wrap="square" lIns="25400" tIns="25400" rIns="25400" bIns="25400" rtlCol="0" anchor="ctr">
            <a:normAutofit lnSpcReduction="10000"/>
          </a:bodyPr>
          <a:lstStyle/>
          <a:p>
            <a:pPr marL="0" indent="0" algn="l">
              <a:buNone/>
            </a:pPr>
            <a:r>
              <a:rPr lang="en-US" sz="1875" b="1" dirty="0">
                <a:solidFill>
                  <a:srgbClr val="FFFFFF"/>
                </a:solidFill>
                <a:latin typeface="Arial" pitchFamily="34" charset="0"/>
                <a:ea typeface="Arial" pitchFamily="34" charset="-122"/>
                <a:cs typeface="Arial" pitchFamily="34" charset="-120"/>
              </a:rPr>
              <a:t>Use in study</a:t>
            </a:r>
            <a:endParaRPr lang="en-US" sz="1875" dirty="0"/>
          </a:p>
        </p:txBody>
      </p:sp>
      <p:sp>
        <p:nvSpPr>
          <p:cNvPr id="16" name="Shape 14"/>
          <p:cNvSpPr/>
          <p:nvPr/>
        </p:nvSpPr>
        <p:spPr>
          <a:xfrm>
            <a:off x="847725" y="3775025"/>
            <a:ext cx="832545" cy="785813"/>
          </a:xfrm>
          <a:prstGeom prst="rect">
            <a:avLst/>
          </a:prstGeom>
          <a:solidFill>
            <a:srgbClr val="F1F4F7"/>
          </a:solidFill>
          <a:ln/>
        </p:spPr>
        <p:txBody>
          <a:bodyPr/>
          <a:lstStyle/>
          <a:p>
            <a:endParaRPr lang="en-US"/>
          </a:p>
        </p:txBody>
      </p:sp>
      <p:sp>
        <p:nvSpPr>
          <p:cNvPr id="17" name="Shape 15"/>
          <p:cNvSpPr/>
          <p:nvPr/>
        </p:nvSpPr>
        <p:spPr>
          <a:xfrm>
            <a:off x="847725" y="4551313"/>
            <a:ext cx="832545" cy="9525"/>
          </a:xfrm>
          <a:prstGeom prst="rect">
            <a:avLst/>
          </a:prstGeom>
          <a:solidFill>
            <a:srgbClr val="DCE2E9"/>
          </a:solidFill>
          <a:ln/>
        </p:spPr>
        <p:txBody>
          <a:bodyPr/>
          <a:lstStyle/>
          <a:p>
            <a:endParaRPr lang="en-US"/>
          </a:p>
        </p:txBody>
      </p:sp>
      <p:sp>
        <p:nvSpPr>
          <p:cNvPr id="18" name="Text 16"/>
          <p:cNvSpPr/>
          <p:nvPr/>
        </p:nvSpPr>
        <p:spPr>
          <a:xfrm>
            <a:off x="1019175" y="3889325"/>
            <a:ext cx="565845" cy="585787"/>
          </a:xfrm>
          <a:prstGeom prst="rect">
            <a:avLst/>
          </a:prstGeom>
          <a:noFill/>
          <a:ln/>
        </p:spPr>
        <p:txBody>
          <a:bodyPr wrap="square" lIns="25400" tIns="25400" rIns="25400" bIns="25400" rtlCol="0" anchor="t">
            <a:normAutofit/>
          </a:bodyPr>
          <a:lstStyle/>
          <a:p>
            <a:pPr marL="0" indent="0" algn="l">
              <a:buNone/>
            </a:pPr>
            <a:r>
              <a:rPr lang="en-US" sz="1875" dirty="0">
                <a:solidFill>
                  <a:srgbClr val="1E2530"/>
                </a:solidFill>
                <a:latin typeface="Arial" pitchFamily="34" charset="0"/>
                <a:ea typeface="Arial" pitchFamily="34" charset="-122"/>
                <a:cs typeface="Arial" pitchFamily="34" charset="-120"/>
              </a:rPr>
              <a:t>RQ1</a:t>
            </a:r>
            <a:endParaRPr lang="en-US" sz="1875" dirty="0"/>
          </a:p>
        </p:txBody>
      </p:sp>
      <p:sp>
        <p:nvSpPr>
          <p:cNvPr id="19" name="Shape 17"/>
          <p:cNvSpPr/>
          <p:nvPr/>
        </p:nvSpPr>
        <p:spPr>
          <a:xfrm>
            <a:off x="1680270" y="3775025"/>
            <a:ext cx="6772870" cy="785813"/>
          </a:xfrm>
          <a:prstGeom prst="rect">
            <a:avLst/>
          </a:prstGeom>
          <a:solidFill>
            <a:srgbClr val="F1F4F7"/>
          </a:solidFill>
          <a:ln/>
        </p:spPr>
        <p:txBody>
          <a:bodyPr/>
          <a:lstStyle/>
          <a:p>
            <a:endParaRPr lang="en-US"/>
          </a:p>
        </p:txBody>
      </p:sp>
      <p:sp>
        <p:nvSpPr>
          <p:cNvPr id="20" name="Shape 18"/>
          <p:cNvSpPr/>
          <p:nvPr/>
        </p:nvSpPr>
        <p:spPr>
          <a:xfrm>
            <a:off x="1680270" y="4551313"/>
            <a:ext cx="6772870" cy="9525"/>
          </a:xfrm>
          <a:prstGeom prst="rect">
            <a:avLst/>
          </a:prstGeom>
          <a:solidFill>
            <a:srgbClr val="DCE2E9"/>
          </a:solidFill>
          <a:ln/>
        </p:spPr>
        <p:txBody>
          <a:bodyPr/>
          <a:lstStyle/>
          <a:p>
            <a:endParaRPr lang="en-US"/>
          </a:p>
        </p:txBody>
      </p:sp>
      <p:sp>
        <p:nvSpPr>
          <p:cNvPr id="21" name="Text 19"/>
          <p:cNvSpPr/>
          <p:nvPr/>
        </p:nvSpPr>
        <p:spPr>
          <a:xfrm>
            <a:off x="1851720" y="3889325"/>
            <a:ext cx="6633156" cy="585787"/>
          </a:xfrm>
          <a:prstGeom prst="rect">
            <a:avLst/>
          </a:prstGeom>
          <a:noFill/>
          <a:ln/>
        </p:spPr>
        <p:txBody>
          <a:bodyPr wrap="square" lIns="25400" tIns="25400" rIns="25400" bIns="25400" rtlCol="0" anchor="t">
            <a:normAutofit/>
          </a:bodyPr>
          <a:lstStyle/>
          <a:p>
            <a:pPr marL="0" indent="0" algn="l">
              <a:buNone/>
            </a:pPr>
            <a:r>
              <a:rPr lang="en-US" sz="1875" dirty="0">
                <a:solidFill>
                  <a:srgbClr val="1E2530"/>
                </a:solidFill>
                <a:latin typeface="Arial" pitchFamily="34" charset="0"/>
                <a:ea typeface="Arial" pitchFamily="34" charset="-122"/>
                <a:cs typeface="Arial" pitchFamily="34" charset="-120"/>
              </a:rPr>
              <a:t>Which value drivers significantly influence residential prices?</a:t>
            </a:r>
            <a:endParaRPr lang="en-US" sz="1875" dirty="0"/>
          </a:p>
        </p:txBody>
      </p:sp>
      <p:sp>
        <p:nvSpPr>
          <p:cNvPr id="22" name="Shape 20"/>
          <p:cNvSpPr/>
          <p:nvPr/>
        </p:nvSpPr>
        <p:spPr>
          <a:xfrm>
            <a:off x="8453140" y="3775025"/>
            <a:ext cx="2190750" cy="785813"/>
          </a:xfrm>
          <a:prstGeom prst="rect">
            <a:avLst/>
          </a:prstGeom>
          <a:solidFill>
            <a:srgbClr val="F1F4F7"/>
          </a:solidFill>
          <a:ln/>
        </p:spPr>
        <p:txBody>
          <a:bodyPr/>
          <a:lstStyle/>
          <a:p>
            <a:endParaRPr lang="en-US"/>
          </a:p>
        </p:txBody>
      </p:sp>
      <p:sp>
        <p:nvSpPr>
          <p:cNvPr id="23" name="Shape 21"/>
          <p:cNvSpPr/>
          <p:nvPr/>
        </p:nvSpPr>
        <p:spPr>
          <a:xfrm>
            <a:off x="8453140" y="4551313"/>
            <a:ext cx="2190750" cy="9525"/>
          </a:xfrm>
          <a:prstGeom prst="rect">
            <a:avLst/>
          </a:prstGeom>
          <a:solidFill>
            <a:srgbClr val="DCE2E9"/>
          </a:solidFill>
          <a:ln/>
        </p:spPr>
        <p:txBody>
          <a:bodyPr/>
          <a:lstStyle/>
          <a:p>
            <a:endParaRPr lang="en-US"/>
          </a:p>
        </p:txBody>
      </p:sp>
      <p:sp>
        <p:nvSpPr>
          <p:cNvPr id="24" name="Text 22"/>
          <p:cNvSpPr/>
          <p:nvPr/>
        </p:nvSpPr>
        <p:spPr>
          <a:xfrm>
            <a:off x="8624590" y="3889325"/>
            <a:ext cx="1924050" cy="585787"/>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1E2530"/>
                </a:solidFill>
                <a:latin typeface="Arial" pitchFamily="34" charset="0"/>
                <a:ea typeface="Arial" pitchFamily="34" charset="-122"/>
                <a:cs typeface="Arial" pitchFamily="34" charset="-120"/>
              </a:rPr>
              <a:t>Identify pricing variables</a:t>
            </a:r>
            <a:endParaRPr lang="en-US" sz="1875" dirty="0"/>
          </a:p>
        </p:txBody>
      </p:sp>
      <p:sp>
        <p:nvSpPr>
          <p:cNvPr id="25" name="Shape 23"/>
          <p:cNvSpPr/>
          <p:nvPr/>
        </p:nvSpPr>
        <p:spPr>
          <a:xfrm>
            <a:off x="847725" y="5618113"/>
            <a:ext cx="832545" cy="9525"/>
          </a:xfrm>
          <a:prstGeom prst="rect">
            <a:avLst/>
          </a:prstGeom>
          <a:solidFill>
            <a:srgbClr val="DCE2E9"/>
          </a:solidFill>
          <a:ln/>
        </p:spPr>
        <p:txBody>
          <a:bodyPr/>
          <a:lstStyle/>
          <a:p>
            <a:endParaRPr lang="en-US"/>
          </a:p>
        </p:txBody>
      </p:sp>
      <p:sp>
        <p:nvSpPr>
          <p:cNvPr id="26" name="Text 24"/>
          <p:cNvSpPr/>
          <p:nvPr/>
        </p:nvSpPr>
        <p:spPr>
          <a:xfrm>
            <a:off x="1019175" y="4675138"/>
            <a:ext cx="565845" cy="866775"/>
          </a:xfrm>
          <a:prstGeom prst="rect">
            <a:avLst/>
          </a:prstGeom>
          <a:noFill/>
          <a:ln/>
        </p:spPr>
        <p:txBody>
          <a:bodyPr wrap="square" lIns="25400" tIns="25400" rIns="25400" bIns="25400" rtlCol="0" anchor="t">
            <a:normAutofit/>
          </a:bodyPr>
          <a:lstStyle/>
          <a:p>
            <a:pPr marL="0" indent="0" algn="l">
              <a:buNone/>
            </a:pPr>
            <a:r>
              <a:rPr lang="en-US" sz="1875" dirty="0">
                <a:solidFill>
                  <a:srgbClr val="1E2530"/>
                </a:solidFill>
                <a:latin typeface="Arial" pitchFamily="34" charset="0"/>
                <a:ea typeface="Arial" pitchFamily="34" charset="-122"/>
                <a:cs typeface="Arial" pitchFamily="34" charset="-120"/>
              </a:rPr>
              <a:t>RQ2</a:t>
            </a:r>
            <a:endParaRPr lang="en-US" sz="1875" dirty="0"/>
          </a:p>
        </p:txBody>
      </p:sp>
      <p:sp>
        <p:nvSpPr>
          <p:cNvPr id="27" name="Shape 25"/>
          <p:cNvSpPr/>
          <p:nvPr/>
        </p:nvSpPr>
        <p:spPr>
          <a:xfrm>
            <a:off x="1680270" y="5618113"/>
            <a:ext cx="6772870" cy="9525"/>
          </a:xfrm>
          <a:prstGeom prst="rect">
            <a:avLst/>
          </a:prstGeom>
          <a:solidFill>
            <a:srgbClr val="DCE2E9"/>
          </a:solidFill>
          <a:ln/>
        </p:spPr>
        <p:txBody>
          <a:bodyPr/>
          <a:lstStyle/>
          <a:p>
            <a:endParaRPr lang="en-US"/>
          </a:p>
        </p:txBody>
      </p:sp>
      <p:sp>
        <p:nvSpPr>
          <p:cNvPr id="28" name="Text 26"/>
          <p:cNvSpPr/>
          <p:nvPr/>
        </p:nvSpPr>
        <p:spPr>
          <a:xfrm>
            <a:off x="1851720" y="4675138"/>
            <a:ext cx="6633156" cy="866775"/>
          </a:xfrm>
          <a:prstGeom prst="rect">
            <a:avLst/>
          </a:prstGeom>
          <a:noFill/>
          <a:ln/>
        </p:spPr>
        <p:txBody>
          <a:bodyPr wrap="square" lIns="25400" tIns="25400" rIns="25400" bIns="25400" rtlCol="0" anchor="t">
            <a:normAutofit/>
          </a:bodyPr>
          <a:lstStyle/>
          <a:p>
            <a:pPr marL="0" indent="0" algn="l">
              <a:buNone/>
            </a:pPr>
            <a:r>
              <a:rPr lang="en-US" sz="1875" dirty="0">
                <a:solidFill>
                  <a:srgbClr val="1E2530"/>
                </a:solidFill>
                <a:latin typeface="Arial" pitchFamily="34" charset="0"/>
                <a:ea typeface="Arial" pitchFamily="34" charset="-122"/>
                <a:cs typeface="Arial" pitchFamily="34" charset="-120"/>
              </a:rPr>
              <a:t>Which model is most suitable for deployment — Hedonic, Random Forest, or XGBoost?</a:t>
            </a:r>
            <a:endParaRPr lang="en-US" sz="1875" dirty="0"/>
          </a:p>
        </p:txBody>
      </p:sp>
      <p:sp>
        <p:nvSpPr>
          <p:cNvPr id="29" name="Shape 27"/>
          <p:cNvSpPr/>
          <p:nvPr/>
        </p:nvSpPr>
        <p:spPr>
          <a:xfrm>
            <a:off x="8453140" y="5618113"/>
            <a:ext cx="2190750" cy="9525"/>
          </a:xfrm>
          <a:prstGeom prst="rect">
            <a:avLst/>
          </a:prstGeom>
          <a:solidFill>
            <a:srgbClr val="DCE2E9"/>
          </a:solidFill>
          <a:ln/>
        </p:spPr>
        <p:txBody>
          <a:bodyPr/>
          <a:lstStyle/>
          <a:p>
            <a:endParaRPr lang="en-US"/>
          </a:p>
        </p:txBody>
      </p:sp>
      <p:sp>
        <p:nvSpPr>
          <p:cNvPr id="30" name="Text 28"/>
          <p:cNvSpPr/>
          <p:nvPr/>
        </p:nvSpPr>
        <p:spPr>
          <a:xfrm>
            <a:off x="8624590" y="4675138"/>
            <a:ext cx="1924050" cy="866775"/>
          </a:xfrm>
          <a:prstGeom prst="rect">
            <a:avLst/>
          </a:prstGeom>
          <a:noFill/>
          <a:ln/>
        </p:spPr>
        <p:txBody>
          <a:bodyPr wrap="square" lIns="25400" tIns="25400" rIns="25400" bIns="25400" rtlCol="0" anchor="t">
            <a:normAutofit/>
          </a:bodyPr>
          <a:lstStyle/>
          <a:p>
            <a:pPr marL="0" indent="0" algn="l">
              <a:buNone/>
            </a:pPr>
            <a:r>
              <a:rPr lang="en-US" sz="1875" dirty="0">
                <a:solidFill>
                  <a:srgbClr val="1E2530"/>
                </a:solidFill>
                <a:latin typeface="Arial" pitchFamily="34" charset="0"/>
                <a:ea typeface="Arial" pitchFamily="34" charset="-122"/>
                <a:cs typeface="Arial" pitchFamily="34" charset="-120"/>
              </a:rPr>
              <a:t>Select deployable model</a:t>
            </a:r>
            <a:endParaRPr lang="en-US" sz="1875" dirty="0"/>
          </a:p>
        </p:txBody>
      </p:sp>
      <p:sp>
        <p:nvSpPr>
          <p:cNvPr id="31" name="Shape 29"/>
          <p:cNvSpPr/>
          <p:nvPr/>
        </p:nvSpPr>
        <p:spPr>
          <a:xfrm>
            <a:off x="847725" y="5627638"/>
            <a:ext cx="832545" cy="790575"/>
          </a:xfrm>
          <a:prstGeom prst="rect">
            <a:avLst/>
          </a:prstGeom>
          <a:solidFill>
            <a:srgbClr val="F1F4F7"/>
          </a:solidFill>
          <a:ln/>
        </p:spPr>
        <p:txBody>
          <a:bodyPr/>
          <a:lstStyle/>
          <a:p>
            <a:endParaRPr lang="en-US"/>
          </a:p>
        </p:txBody>
      </p:sp>
      <p:sp>
        <p:nvSpPr>
          <p:cNvPr id="32" name="Shape 30"/>
          <p:cNvSpPr/>
          <p:nvPr/>
        </p:nvSpPr>
        <p:spPr>
          <a:xfrm>
            <a:off x="847725" y="6408688"/>
            <a:ext cx="832545" cy="9525"/>
          </a:xfrm>
          <a:prstGeom prst="rect">
            <a:avLst/>
          </a:prstGeom>
          <a:solidFill>
            <a:srgbClr val="DCE2E9"/>
          </a:solidFill>
          <a:ln/>
        </p:spPr>
        <p:txBody>
          <a:bodyPr/>
          <a:lstStyle/>
          <a:p>
            <a:endParaRPr lang="en-US"/>
          </a:p>
        </p:txBody>
      </p:sp>
      <p:sp>
        <p:nvSpPr>
          <p:cNvPr id="33" name="Text 31"/>
          <p:cNvSpPr/>
          <p:nvPr/>
        </p:nvSpPr>
        <p:spPr>
          <a:xfrm>
            <a:off x="1019175" y="5741938"/>
            <a:ext cx="565845" cy="590550"/>
          </a:xfrm>
          <a:prstGeom prst="rect">
            <a:avLst/>
          </a:prstGeom>
          <a:noFill/>
          <a:ln/>
        </p:spPr>
        <p:txBody>
          <a:bodyPr wrap="square" lIns="25400" tIns="25400" rIns="25400" bIns="25400" rtlCol="0" anchor="t">
            <a:normAutofit/>
          </a:bodyPr>
          <a:lstStyle/>
          <a:p>
            <a:pPr marL="0" indent="0" algn="l">
              <a:buNone/>
            </a:pPr>
            <a:r>
              <a:rPr lang="en-US" sz="1875" dirty="0">
                <a:solidFill>
                  <a:srgbClr val="1E2530"/>
                </a:solidFill>
                <a:latin typeface="Arial" pitchFamily="34" charset="0"/>
                <a:ea typeface="Arial" pitchFamily="34" charset="-122"/>
                <a:cs typeface="Arial" pitchFamily="34" charset="-120"/>
              </a:rPr>
              <a:t>RQ3</a:t>
            </a:r>
            <a:endParaRPr lang="en-US" sz="1875" dirty="0"/>
          </a:p>
        </p:txBody>
      </p:sp>
      <p:sp>
        <p:nvSpPr>
          <p:cNvPr id="34" name="Shape 32"/>
          <p:cNvSpPr/>
          <p:nvPr/>
        </p:nvSpPr>
        <p:spPr>
          <a:xfrm>
            <a:off x="1680270" y="5627638"/>
            <a:ext cx="6772870" cy="790575"/>
          </a:xfrm>
          <a:prstGeom prst="rect">
            <a:avLst/>
          </a:prstGeom>
          <a:solidFill>
            <a:srgbClr val="F1F4F7"/>
          </a:solidFill>
          <a:ln/>
        </p:spPr>
        <p:txBody>
          <a:bodyPr/>
          <a:lstStyle/>
          <a:p>
            <a:endParaRPr lang="en-US"/>
          </a:p>
        </p:txBody>
      </p:sp>
      <p:sp>
        <p:nvSpPr>
          <p:cNvPr id="35" name="Shape 33"/>
          <p:cNvSpPr/>
          <p:nvPr/>
        </p:nvSpPr>
        <p:spPr>
          <a:xfrm>
            <a:off x="1680270" y="6408688"/>
            <a:ext cx="6772870" cy="9525"/>
          </a:xfrm>
          <a:prstGeom prst="rect">
            <a:avLst/>
          </a:prstGeom>
          <a:solidFill>
            <a:srgbClr val="DCE2E9"/>
          </a:solidFill>
          <a:ln/>
        </p:spPr>
        <p:txBody>
          <a:bodyPr/>
          <a:lstStyle/>
          <a:p>
            <a:endParaRPr lang="en-US"/>
          </a:p>
        </p:txBody>
      </p:sp>
      <p:sp>
        <p:nvSpPr>
          <p:cNvPr id="36" name="Text 34"/>
          <p:cNvSpPr/>
          <p:nvPr/>
        </p:nvSpPr>
        <p:spPr>
          <a:xfrm>
            <a:off x="1851720" y="5741938"/>
            <a:ext cx="6633156" cy="590550"/>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1E2530"/>
                </a:solidFill>
                <a:latin typeface="Arial" pitchFamily="34" charset="0"/>
                <a:ea typeface="Arial" pitchFamily="34" charset="-122"/>
                <a:cs typeface="Arial" pitchFamily="34" charset="-120"/>
              </a:rPr>
              <a:t>Do geospatial features improve accuracy, and does this differ by property type?</a:t>
            </a:r>
            <a:endParaRPr lang="en-US" sz="1875" dirty="0"/>
          </a:p>
        </p:txBody>
      </p:sp>
      <p:sp>
        <p:nvSpPr>
          <p:cNvPr id="37" name="Shape 35"/>
          <p:cNvSpPr/>
          <p:nvPr/>
        </p:nvSpPr>
        <p:spPr>
          <a:xfrm>
            <a:off x="8453140" y="5627638"/>
            <a:ext cx="2190750" cy="790575"/>
          </a:xfrm>
          <a:prstGeom prst="rect">
            <a:avLst/>
          </a:prstGeom>
          <a:solidFill>
            <a:srgbClr val="F1F4F7"/>
          </a:solidFill>
          <a:ln/>
        </p:spPr>
        <p:txBody>
          <a:bodyPr/>
          <a:lstStyle/>
          <a:p>
            <a:endParaRPr lang="en-US"/>
          </a:p>
        </p:txBody>
      </p:sp>
      <p:sp>
        <p:nvSpPr>
          <p:cNvPr id="38" name="Shape 36"/>
          <p:cNvSpPr/>
          <p:nvPr/>
        </p:nvSpPr>
        <p:spPr>
          <a:xfrm>
            <a:off x="8453140" y="6408688"/>
            <a:ext cx="2190750" cy="9525"/>
          </a:xfrm>
          <a:prstGeom prst="rect">
            <a:avLst/>
          </a:prstGeom>
          <a:solidFill>
            <a:srgbClr val="DCE2E9"/>
          </a:solidFill>
          <a:ln/>
        </p:spPr>
        <p:txBody>
          <a:bodyPr/>
          <a:lstStyle/>
          <a:p>
            <a:endParaRPr lang="en-US"/>
          </a:p>
        </p:txBody>
      </p:sp>
      <p:sp>
        <p:nvSpPr>
          <p:cNvPr id="39" name="Text 37"/>
          <p:cNvSpPr/>
          <p:nvPr/>
        </p:nvSpPr>
        <p:spPr>
          <a:xfrm>
            <a:off x="8624590" y="5741938"/>
            <a:ext cx="1924050" cy="590550"/>
          </a:xfrm>
          <a:prstGeom prst="rect">
            <a:avLst/>
          </a:prstGeom>
          <a:noFill/>
          <a:ln/>
        </p:spPr>
        <p:txBody>
          <a:bodyPr wrap="square" lIns="25400" tIns="25400" rIns="25400" bIns="25400" rtlCol="0" anchor="t">
            <a:normAutofit/>
          </a:bodyPr>
          <a:lstStyle/>
          <a:p>
            <a:pPr marL="0" indent="0" algn="l">
              <a:buNone/>
            </a:pPr>
            <a:r>
              <a:rPr lang="en-US" sz="1875" dirty="0">
                <a:solidFill>
                  <a:srgbClr val="1E2530"/>
                </a:solidFill>
                <a:latin typeface="Arial" pitchFamily="34" charset="0"/>
                <a:ea typeface="Arial" pitchFamily="34" charset="-122"/>
                <a:cs typeface="Arial" pitchFamily="34" charset="-120"/>
              </a:rPr>
              <a:t>Test spatial lift</a:t>
            </a:r>
            <a:endParaRPr lang="en-US" sz="1875" dirty="0"/>
          </a:p>
        </p:txBody>
      </p:sp>
      <p:sp>
        <p:nvSpPr>
          <p:cNvPr id="40" name="Shape 38"/>
          <p:cNvSpPr/>
          <p:nvPr/>
        </p:nvSpPr>
        <p:spPr>
          <a:xfrm>
            <a:off x="847725" y="7199263"/>
            <a:ext cx="832545" cy="9525"/>
          </a:xfrm>
          <a:prstGeom prst="rect">
            <a:avLst/>
          </a:prstGeom>
          <a:solidFill>
            <a:srgbClr val="DCE2E9"/>
          </a:solidFill>
          <a:ln/>
        </p:spPr>
        <p:txBody>
          <a:bodyPr/>
          <a:lstStyle/>
          <a:p>
            <a:endParaRPr lang="en-US"/>
          </a:p>
        </p:txBody>
      </p:sp>
      <p:sp>
        <p:nvSpPr>
          <p:cNvPr id="41" name="Text 39"/>
          <p:cNvSpPr/>
          <p:nvPr/>
        </p:nvSpPr>
        <p:spPr>
          <a:xfrm>
            <a:off x="1019175" y="6532513"/>
            <a:ext cx="565845" cy="590550"/>
          </a:xfrm>
          <a:prstGeom prst="rect">
            <a:avLst/>
          </a:prstGeom>
          <a:noFill/>
          <a:ln/>
        </p:spPr>
        <p:txBody>
          <a:bodyPr wrap="square" lIns="25400" tIns="25400" rIns="25400" bIns="25400" rtlCol="0" anchor="t">
            <a:normAutofit/>
          </a:bodyPr>
          <a:lstStyle/>
          <a:p>
            <a:pPr marL="0" indent="0" algn="l">
              <a:buNone/>
            </a:pPr>
            <a:r>
              <a:rPr lang="en-US" sz="1875" dirty="0">
                <a:solidFill>
                  <a:srgbClr val="1E2530"/>
                </a:solidFill>
                <a:latin typeface="Arial" pitchFamily="34" charset="0"/>
                <a:ea typeface="Arial" pitchFamily="34" charset="-122"/>
                <a:cs typeface="Arial" pitchFamily="34" charset="-120"/>
              </a:rPr>
              <a:t>RQ4</a:t>
            </a:r>
            <a:endParaRPr lang="en-US" sz="1875" dirty="0"/>
          </a:p>
        </p:txBody>
      </p:sp>
      <p:sp>
        <p:nvSpPr>
          <p:cNvPr id="42" name="Shape 40"/>
          <p:cNvSpPr/>
          <p:nvPr/>
        </p:nvSpPr>
        <p:spPr>
          <a:xfrm>
            <a:off x="1680270" y="7199263"/>
            <a:ext cx="6772870" cy="9525"/>
          </a:xfrm>
          <a:prstGeom prst="rect">
            <a:avLst/>
          </a:prstGeom>
          <a:solidFill>
            <a:srgbClr val="DCE2E9"/>
          </a:solidFill>
          <a:ln/>
        </p:spPr>
        <p:txBody>
          <a:bodyPr/>
          <a:lstStyle/>
          <a:p>
            <a:endParaRPr lang="en-US"/>
          </a:p>
        </p:txBody>
      </p:sp>
      <p:sp>
        <p:nvSpPr>
          <p:cNvPr id="43" name="Text 41"/>
          <p:cNvSpPr/>
          <p:nvPr/>
        </p:nvSpPr>
        <p:spPr>
          <a:xfrm>
            <a:off x="1851720" y="6532513"/>
            <a:ext cx="6633156" cy="590550"/>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1E2530"/>
                </a:solidFill>
                <a:latin typeface="Arial" pitchFamily="34" charset="0"/>
                <a:ea typeface="Arial" pitchFamily="34" charset="-122"/>
                <a:cs typeface="Arial" pitchFamily="34" charset="-120"/>
              </a:rPr>
              <a:t>How large is the gap between model estimates and BIR zonal values?</a:t>
            </a:r>
            <a:endParaRPr lang="en-US" sz="1875" dirty="0"/>
          </a:p>
        </p:txBody>
      </p:sp>
      <p:sp>
        <p:nvSpPr>
          <p:cNvPr id="44" name="Shape 42"/>
          <p:cNvSpPr/>
          <p:nvPr/>
        </p:nvSpPr>
        <p:spPr>
          <a:xfrm>
            <a:off x="8453140" y="7199263"/>
            <a:ext cx="2190750" cy="9525"/>
          </a:xfrm>
          <a:prstGeom prst="rect">
            <a:avLst/>
          </a:prstGeom>
          <a:solidFill>
            <a:srgbClr val="DCE2E9"/>
          </a:solidFill>
          <a:ln/>
        </p:spPr>
        <p:txBody>
          <a:bodyPr/>
          <a:lstStyle/>
          <a:p>
            <a:endParaRPr lang="en-US"/>
          </a:p>
        </p:txBody>
      </p:sp>
      <p:sp>
        <p:nvSpPr>
          <p:cNvPr id="45" name="Text 43"/>
          <p:cNvSpPr/>
          <p:nvPr/>
        </p:nvSpPr>
        <p:spPr>
          <a:xfrm>
            <a:off x="8624590" y="6532513"/>
            <a:ext cx="1924050" cy="590550"/>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1E2530"/>
                </a:solidFill>
                <a:latin typeface="Arial" pitchFamily="34" charset="0"/>
                <a:ea typeface="Arial" pitchFamily="34" charset="-122"/>
                <a:cs typeface="Arial" pitchFamily="34" charset="-120"/>
              </a:rPr>
              <a:t>Quantify valuation gap</a:t>
            </a:r>
            <a:endParaRPr lang="en-US" sz="1875" dirty="0"/>
          </a:p>
        </p:txBody>
      </p:sp>
      <p:sp>
        <p:nvSpPr>
          <p:cNvPr id="46" name="Text 44"/>
          <p:cNvSpPr/>
          <p:nvPr/>
        </p:nvSpPr>
        <p:spPr>
          <a:xfrm>
            <a:off x="11120140" y="3251150"/>
            <a:ext cx="6952149" cy="333375"/>
          </a:xfrm>
          <a:prstGeom prst="rect">
            <a:avLst/>
          </a:prstGeom>
          <a:noFill/>
          <a:ln/>
        </p:spPr>
        <p:txBody>
          <a:bodyPr wrap="square" lIns="25400" tIns="25400" rIns="25400" bIns="25400" rtlCol="0" anchor="t">
            <a:normAutofit lnSpcReduction="10000"/>
          </a:bodyPr>
          <a:lstStyle/>
          <a:p>
            <a:pPr marL="0" indent="0" algn="l">
              <a:buNone/>
            </a:pPr>
            <a:r>
              <a:rPr lang="en-US" sz="2025" b="1" dirty="0">
                <a:solidFill>
                  <a:srgbClr val="33455E"/>
                </a:solidFill>
                <a:latin typeface="Arial" pitchFamily="34" charset="0"/>
                <a:ea typeface="Arial" pitchFamily="34" charset="-122"/>
                <a:cs typeface="Arial" pitchFamily="34" charset="-120"/>
              </a:rPr>
              <a:t>Scope</a:t>
            </a:r>
            <a:endParaRPr lang="en-US" sz="2025" dirty="0"/>
          </a:p>
        </p:txBody>
      </p:sp>
      <p:sp>
        <p:nvSpPr>
          <p:cNvPr id="47" name="Text 45"/>
          <p:cNvSpPr/>
          <p:nvPr/>
        </p:nvSpPr>
        <p:spPr>
          <a:xfrm>
            <a:off x="11120140" y="3755975"/>
            <a:ext cx="15723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b="1" dirty="0">
                <a:solidFill>
                  <a:srgbClr val="33455E"/>
                </a:solidFill>
                <a:latin typeface="Arial" pitchFamily="34" charset="0"/>
                <a:ea typeface="Arial" pitchFamily="34" charset="-122"/>
                <a:cs typeface="Arial" pitchFamily="34" charset="-120"/>
              </a:rPr>
              <a:t>▪</a:t>
            </a:r>
            <a:endParaRPr lang="en-US" sz="1800" dirty="0"/>
          </a:p>
        </p:txBody>
      </p:sp>
      <p:sp>
        <p:nvSpPr>
          <p:cNvPr id="48" name="Text 46"/>
          <p:cNvSpPr/>
          <p:nvPr/>
        </p:nvSpPr>
        <p:spPr>
          <a:xfrm>
            <a:off x="11334527" y="3698825"/>
            <a:ext cx="5740688" cy="427806"/>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2325" dirty="0">
                <a:solidFill>
                  <a:srgbClr val="1E2530"/>
                </a:solidFill>
                <a:latin typeface="Arial" pitchFamily="34" charset="0"/>
                <a:ea typeface="Arial" pitchFamily="34" charset="-122"/>
                <a:cs typeface="Arial" pitchFamily="34" charset="-120"/>
              </a:rPr>
              <a:t>Six LGUs; eight polycentric CBD nodes.</a:t>
            </a:r>
            <a:endParaRPr lang="en-US" sz="2325" dirty="0"/>
          </a:p>
        </p:txBody>
      </p:sp>
      <p:sp>
        <p:nvSpPr>
          <p:cNvPr id="49" name="Text 47"/>
          <p:cNvSpPr/>
          <p:nvPr/>
        </p:nvSpPr>
        <p:spPr>
          <a:xfrm>
            <a:off x="11120140" y="4298082"/>
            <a:ext cx="15723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b="1" dirty="0">
                <a:solidFill>
                  <a:srgbClr val="33455E"/>
                </a:solidFill>
                <a:latin typeface="Arial" pitchFamily="34" charset="0"/>
                <a:ea typeface="Arial" pitchFamily="34" charset="-122"/>
                <a:cs typeface="Arial" pitchFamily="34" charset="-120"/>
              </a:rPr>
              <a:t>▪</a:t>
            </a:r>
            <a:endParaRPr lang="en-US" sz="1800" dirty="0"/>
          </a:p>
        </p:txBody>
      </p:sp>
      <p:sp>
        <p:nvSpPr>
          <p:cNvPr id="50" name="Text 48"/>
          <p:cNvSpPr/>
          <p:nvPr/>
        </p:nvSpPr>
        <p:spPr>
          <a:xfrm>
            <a:off x="11334527" y="4240932"/>
            <a:ext cx="6288921" cy="817513"/>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2325" dirty="0">
                <a:solidFill>
                  <a:srgbClr val="1E2530"/>
                </a:solidFill>
                <a:latin typeface="Arial" pitchFamily="34" charset="0"/>
                <a:ea typeface="Arial" pitchFamily="34" charset="-122"/>
                <a:cs typeface="Arial" pitchFamily="34" charset="-120"/>
              </a:rPr>
              <a:t>Open-market segment only for the deployed model.</a:t>
            </a:r>
            <a:endParaRPr lang="en-US" sz="2325" dirty="0"/>
          </a:p>
        </p:txBody>
      </p:sp>
      <p:sp>
        <p:nvSpPr>
          <p:cNvPr id="51" name="Text 49"/>
          <p:cNvSpPr/>
          <p:nvPr/>
        </p:nvSpPr>
        <p:spPr>
          <a:xfrm>
            <a:off x="11120140" y="5229895"/>
            <a:ext cx="15723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b="1" dirty="0">
                <a:solidFill>
                  <a:srgbClr val="33455E"/>
                </a:solidFill>
                <a:latin typeface="Arial" pitchFamily="34" charset="0"/>
                <a:ea typeface="Arial" pitchFamily="34" charset="-122"/>
                <a:cs typeface="Arial" pitchFamily="34" charset="-120"/>
              </a:rPr>
              <a:t>▪</a:t>
            </a:r>
            <a:endParaRPr lang="en-US" sz="1800" dirty="0"/>
          </a:p>
        </p:txBody>
      </p:sp>
      <p:sp>
        <p:nvSpPr>
          <p:cNvPr id="52" name="Text 50"/>
          <p:cNvSpPr/>
          <p:nvPr/>
        </p:nvSpPr>
        <p:spPr>
          <a:xfrm>
            <a:off x="11334527" y="5172745"/>
            <a:ext cx="6391930" cy="427806"/>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2325" dirty="0">
                <a:solidFill>
                  <a:srgbClr val="1E2530"/>
                </a:solidFill>
                <a:latin typeface="Arial" pitchFamily="34" charset="0"/>
                <a:ea typeface="Arial" pitchFamily="34" charset="-122"/>
                <a:cs typeface="Arial" pitchFamily="34" charset="-120"/>
              </a:rPr>
              <a:t>A prototype web application for triangulation.</a:t>
            </a:r>
            <a:endParaRPr lang="en-US" sz="2325" dirty="0"/>
          </a:p>
        </p:txBody>
      </p:sp>
      <p:sp>
        <p:nvSpPr>
          <p:cNvPr id="53" name="Text 51"/>
          <p:cNvSpPr/>
          <p:nvPr/>
        </p:nvSpPr>
        <p:spPr>
          <a:xfrm>
            <a:off x="11120140" y="5772001"/>
            <a:ext cx="15723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b="1" dirty="0">
                <a:solidFill>
                  <a:srgbClr val="33455E"/>
                </a:solidFill>
                <a:latin typeface="Arial" pitchFamily="34" charset="0"/>
                <a:ea typeface="Arial" pitchFamily="34" charset="-122"/>
                <a:cs typeface="Arial" pitchFamily="34" charset="-120"/>
              </a:rPr>
              <a:t>▪</a:t>
            </a:r>
            <a:endParaRPr lang="en-US" sz="1800" dirty="0"/>
          </a:p>
        </p:txBody>
      </p:sp>
      <p:sp>
        <p:nvSpPr>
          <p:cNvPr id="54" name="Text 52"/>
          <p:cNvSpPr/>
          <p:nvPr/>
        </p:nvSpPr>
        <p:spPr>
          <a:xfrm>
            <a:off x="11334527" y="5714851"/>
            <a:ext cx="5253975" cy="427806"/>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2325" dirty="0">
                <a:solidFill>
                  <a:srgbClr val="1E2530"/>
                </a:solidFill>
                <a:latin typeface="Arial" pitchFamily="34" charset="0"/>
                <a:ea typeface="Arial" pitchFamily="34" charset="-122"/>
                <a:cs typeface="Arial" pitchFamily="34" charset="-120"/>
              </a:rPr>
              <a:t>Cross-sectional snapshot, late 2025.</a:t>
            </a:r>
            <a:endParaRPr lang="en-US" sz="2325" dirty="0"/>
          </a:p>
        </p:txBody>
      </p:sp>
      <p:sp>
        <p:nvSpPr>
          <p:cNvPr id="55" name="Text 53"/>
          <p:cNvSpPr/>
          <p:nvPr/>
        </p:nvSpPr>
        <p:spPr>
          <a:xfrm>
            <a:off x="11120140" y="6314108"/>
            <a:ext cx="6952149" cy="333375"/>
          </a:xfrm>
          <a:prstGeom prst="rect">
            <a:avLst/>
          </a:prstGeom>
          <a:noFill/>
          <a:ln/>
        </p:spPr>
        <p:txBody>
          <a:bodyPr wrap="square" lIns="25400" tIns="25400" rIns="25400" bIns="25400" rtlCol="0" anchor="t">
            <a:normAutofit lnSpcReduction="10000"/>
          </a:bodyPr>
          <a:lstStyle/>
          <a:p>
            <a:pPr marL="0" indent="0" algn="l">
              <a:buNone/>
            </a:pPr>
            <a:r>
              <a:rPr lang="en-US" sz="2025" b="1" dirty="0">
                <a:solidFill>
                  <a:srgbClr val="33455E"/>
                </a:solidFill>
                <a:latin typeface="Arial" pitchFamily="34" charset="0"/>
                <a:ea typeface="Arial" pitchFamily="34" charset="-122"/>
                <a:cs typeface="Arial" pitchFamily="34" charset="-120"/>
              </a:rPr>
              <a:t>Who benefits</a:t>
            </a:r>
            <a:endParaRPr lang="en-US" sz="2025" dirty="0"/>
          </a:p>
        </p:txBody>
      </p:sp>
      <p:sp>
        <p:nvSpPr>
          <p:cNvPr id="56" name="Text 54"/>
          <p:cNvSpPr/>
          <p:nvPr/>
        </p:nvSpPr>
        <p:spPr>
          <a:xfrm>
            <a:off x="11120140" y="6818933"/>
            <a:ext cx="15723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b="1" dirty="0">
                <a:solidFill>
                  <a:srgbClr val="33455E"/>
                </a:solidFill>
                <a:latin typeface="Arial" pitchFamily="34" charset="0"/>
                <a:ea typeface="Arial" pitchFamily="34" charset="-122"/>
                <a:cs typeface="Arial" pitchFamily="34" charset="-120"/>
              </a:rPr>
              <a:t>▪</a:t>
            </a:r>
            <a:endParaRPr lang="en-US" sz="1800" dirty="0"/>
          </a:p>
        </p:txBody>
      </p:sp>
      <p:sp>
        <p:nvSpPr>
          <p:cNvPr id="57" name="Text 55"/>
          <p:cNvSpPr/>
          <p:nvPr/>
        </p:nvSpPr>
        <p:spPr>
          <a:xfrm>
            <a:off x="11334527" y="6761783"/>
            <a:ext cx="6288921" cy="817513"/>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2325" dirty="0">
                <a:solidFill>
                  <a:srgbClr val="1E2530"/>
                </a:solidFill>
                <a:latin typeface="Arial" pitchFamily="34" charset="0"/>
                <a:ea typeface="Arial" pitchFamily="34" charset="-122"/>
                <a:cs typeface="Arial" pitchFamily="34" charset="-120"/>
              </a:rPr>
              <a:t>Brokers, buyers, sellers, banks, and LGUs — an inspectable, transparent reference layer.</a:t>
            </a:r>
            <a:endParaRPr lang="en-US" sz="2325" dirty="0"/>
          </a:p>
        </p:txBody>
      </p:sp>
    </p:spTree>
    <p:extLst>
      <p:ext uri="{BB962C8B-B14F-4D97-AF65-F5344CB8AC3E}">
        <p14:creationId xmlns:p14="http://schemas.microsoft.com/office/powerpoint/2010/main" val="27307978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33455E"/>
        </a:solidFill>
        <a:effectLst/>
      </p:bgPr>
    </p:bg>
    <p:spTree>
      <p:nvGrpSpPr>
        <p:cNvPr id="1" name=""/>
        <p:cNvGrpSpPr/>
        <p:nvPr/>
      </p:nvGrpSpPr>
      <p:grpSpPr>
        <a:xfrm>
          <a:off x="0" y="0"/>
          <a:ext cx="0" cy="0"/>
          <a:chOff x="0" y="0"/>
          <a:chExt cx="0" cy="0"/>
        </a:xfrm>
      </p:grpSpPr>
      <p:sp>
        <p:nvSpPr>
          <p:cNvPr id="2" name="Text 0"/>
          <p:cNvSpPr/>
          <p:nvPr/>
        </p:nvSpPr>
        <p:spPr>
          <a:xfrm>
            <a:off x="1238250" y="3826669"/>
            <a:ext cx="17392650" cy="914400"/>
          </a:xfrm>
          <a:prstGeom prst="rect">
            <a:avLst/>
          </a:prstGeom>
          <a:noFill/>
          <a:ln/>
        </p:spPr>
        <p:txBody>
          <a:bodyPr wrap="square" lIns="25400" tIns="25400" rIns="25400" bIns="25400" rtlCol="0" anchor="t">
            <a:normAutofit lnSpcReduction="10000"/>
          </a:bodyPr>
          <a:lstStyle/>
          <a:p>
            <a:pPr marL="0" indent="0" algn="l">
              <a:buNone/>
            </a:pPr>
            <a:r>
              <a:rPr lang="en-US" sz="6000" b="1" dirty="0">
                <a:solidFill>
                  <a:srgbClr val="5B7A99"/>
                </a:solidFill>
                <a:latin typeface="Arial" pitchFamily="34" charset="0"/>
                <a:ea typeface="Arial" pitchFamily="34" charset="-122"/>
                <a:cs typeface="Arial" pitchFamily="34" charset="-120"/>
              </a:rPr>
              <a:t>02</a:t>
            </a:r>
            <a:endParaRPr lang="en-US" sz="6000" dirty="0"/>
          </a:p>
        </p:txBody>
      </p:sp>
      <p:sp>
        <p:nvSpPr>
          <p:cNvPr id="3" name="Text 1"/>
          <p:cNvSpPr/>
          <p:nvPr/>
        </p:nvSpPr>
        <p:spPr>
          <a:xfrm>
            <a:off x="1238250" y="4779169"/>
            <a:ext cx="17392650" cy="1133475"/>
          </a:xfrm>
          <a:prstGeom prst="rect">
            <a:avLst/>
          </a:prstGeom>
          <a:noFill/>
          <a:ln/>
        </p:spPr>
        <p:txBody>
          <a:bodyPr wrap="square" lIns="25400" tIns="25400" rIns="25400" bIns="25400" rtlCol="0" anchor="t">
            <a:normAutofit lnSpcReduction="10000"/>
          </a:bodyPr>
          <a:lstStyle/>
          <a:p>
            <a:pPr marL="0" indent="0" algn="l">
              <a:buNone/>
            </a:pPr>
            <a:r>
              <a:rPr lang="en-US" sz="7500" b="1" dirty="0">
                <a:solidFill>
                  <a:srgbClr val="FFFFFF"/>
                </a:solidFill>
                <a:latin typeface="Arial" pitchFamily="34" charset="0"/>
                <a:ea typeface="Arial" pitchFamily="34" charset="-122"/>
                <a:cs typeface="Arial" pitchFamily="34" charset="-120"/>
              </a:rPr>
              <a:t>Review of Related Literature</a:t>
            </a:r>
            <a:endParaRPr lang="en-US" sz="7500" dirty="0"/>
          </a:p>
        </p:txBody>
      </p:sp>
      <p:sp>
        <p:nvSpPr>
          <p:cNvPr id="4" name="Text 2"/>
          <p:cNvSpPr/>
          <p:nvPr/>
        </p:nvSpPr>
        <p:spPr>
          <a:xfrm>
            <a:off x="1238250" y="6045994"/>
            <a:ext cx="17392650" cy="452438"/>
          </a:xfrm>
          <a:prstGeom prst="rect">
            <a:avLst/>
          </a:prstGeom>
          <a:noFill/>
          <a:ln/>
        </p:spPr>
        <p:txBody>
          <a:bodyPr wrap="square" lIns="25400" tIns="25400" rIns="25400" bIns="25400" rtlCol="0" anchor="t">
            <a:normAutofit lnSpcReduction="10000"/>
          </a:bodyPr>
          <a:lstStyle/>
          <a:p>
            <a:pPr marL="0" indent="0" algn="l">
              <a:buNone/>
            </a:pPr>
            <a:r>
              <a:rPr lang="en-US" sz="2850" dirty="0">
                <a:solidFill>
                  <a:srgbClr val="C5D2DF"/>
                </a:solidFill>
                <a:latin typeface="Arial" pitchFamily="34" charset="0"/>
                <a:ea typeface="Arial" pitchFamily="34" charset="-122"/>
                <a:cs typeface="Arial" pitchFamily="34" charset="-120"/>
              </a:rPr>
              <a:t>What is known, and the gap</a:t>
            </a:r>
            <a:endParaRPr lang="en-US" sz="2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BFC"/>
        </a:solidFill>
        <a:effectLst/>
      </p:bgPr>
    </p:bg>
    <p:spTree>
      <p:nvGrpSpPr>
        <p:cNvPr id="1" name=""/>
        <p:cNvGrpSpPr/>
        <p:nvPr/>
      </p:nvGrpSpPr>
      <p:grpSpPr>
        <a:xfrm>
          <a:off x="0" y="0"/>
          <a:ext cx="0" cy="0"/>
          <a:chOff x="0" y="0"/>
          <a:chExt cx="0" cy="0"/>
        </a:xfrm>
      </p:grpSpPr>
      <p:sp>
        <p:nvSpPr>
          <p:cNvPr id="2" name="Text 0"/>
          <p:cNvSpPr/>
          <p:nvPr/>
        </p:nvSpPr>
        <p:spPr>
          <a:xfrm>
            <a:off x="847725" y="552450"/>
            <a:ext cx="5808300" cy="347663"/>
          </a:xfrm>
          <a:prstGeom prst="rect">
            <a:avLst/>
          </a:prstGeom>
          <a:noFill/>
          <a:ln/>
        </p:spPr>
        <p:txBody>
          <a:bodyPr wrap="square" lIns="25400" tIns="25400" rIns="25400" bIns="25400" rtlCol="0" anchor="t">
            <a:normAutofit lnSpcReduction="10000"/>
          </a:bodyPr>
          <a:lstStyle/>
          <a:p>
            <a:pPr marL="0" indent="0" algn="l">
              <a:buNone/>
            </a:pPr>
            <a:r>
              <a:rPr lang="en-US" sz="2100" b="1" kern="0" spc="84" dirty="0">
                <a:solidFill>
                  <a:srgbClr val="33455E"/>
                </a:solidFill>
                <a:latin typeface="Arial" pitchFamily="34" charset="0"/>
                <a:ea typeface="Arial" pitchFamily="34" charset="-122"/>
                <a:cs typeface="Arial" pitchFamily="34" charset="-120"/>
              </a:rPr>
              <a:t>2 · REVIEW OF RELATED LITERATURE</a:t>
            </a:r>
            <a:endParaRPr lang="en-US" sz="2100" dirty="0"/>
          </a:p>
        </p:txBody>
      </p:sp>
      <p:sp>
        <p:nvSpPr>
          <p:cNvPr id="3" name="Text 1"/>
          <p:cNvSpPr/>
          <p:nvPr/>
        </p:nvSpPr>
        <p:spPr>
          <a:xfrm>
            <a:off x="16844442" y="552450"/>
            <a:ext cx="672033" cy="314325"/>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6E7686"/>
                </a:solidFill>
                <a:latin typeface="Arial" pitchFamily="34" charset="0"/>
                <a:ea typeface="Arial" pitchFamily="34" charset="-122"/>
                <a:cs typeface="Arial" pitchFamily="34" charset="-120"/>
              </a:rPr>
              <a:t>8 / 40</a:t>
            </a:r>
            <a:endParaRPr lang="en-US" sz="1875" dirty="0"/>
          </a:p>
        </p:txBody>
      </p:sp>
      <p:sp>
        <p:nvSpPr>
          <p:cNvPr id="4" name="Shape 2"/>
          <p:cNvSpPr/>
          <p:nvPr/>
        </p:nvSpPr>
        <p:spPr>
          <a:xfrm>
            <a:off x="847725" y="985838"/>
            <a:ext cx="16592550" cy="28575"/>
          </a:xfrm>
          <a:prstGeom prst="rect">
            <a:avLst/>
          </a:prstGeom>
          <a:solidFill>
            <a:srgbClr val="33455E"/>
          </a:solidFill>
          <a:ln/>
        </p:spPr>
        <p:txBody>
          <a:bodyPr/>
          <a:lstStyle/>
          <a:p>
            <a:endParaRPr lang="en-US"/>
          </a:p>
        </p:txBody>
      </p:sp>
      <p:sp>
        <p:nvSpPr>
          <p:cNvPr id="5" name="Text 3"/>
          <p:cNvSpPr/>
          <p:nvPr/>
        </p:nvSpPr>
        <p:spPr>
          <a:xfrm>
            <a:off x="847725" y="1243013"/>
            <a:ext cx="18251805" cy="55810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3900" b="1" dirty="0">
                <a:solidFill>
                  <a:srgbClr val="1E2530"/>
                </a:solidFill>
                <a:latin typeface="Arial" pitchFamily="34" charset="0"/>
                <a:ea typeface="Arial" pitchFamily="34" charset="-122"/>
                <a:cs typeface="Arial" pitchFamily="34" charset="-120"/>
              </a:rPr>
              <a:t>The core obstacle — and the gap it leaves</a:t>
            </a:r>
            <a:endParaRPr lang="en-US" sz="3900" dirty="0"/>
          </a:p>
        </p:txBody>
      </p:sp>
      <p:sp>
        <p:nvSpPr>
          <p:cNvPr id="6" name="Text 4"/>
          <p:cNvSpPr/>
          <p:nvPr/>
        </p:nvSpPr>
        <p:spPr>
          <a:xfrm>
            <a:off x="847725" y="2010668"/>
            <a:ext cx="8843010" cy="333375"/>
          </a:xfrm>
          <a:prstGeom prst="rect">
            <a:avLst/>
          </a:prstGeom>
          <a:noFill/>
          <a:ln/>
        </p:spPr>
        <p:txBody>
          <a:bodyPr wrap="square" lIns="25400" tIns="25400" rIns="25400" bIns="25400" rtlCol="0" anchor="t">
            <a:normAutofit lnSpcReduction="10000"/>
          </a:bodyPr>
          <a:lstStyle/>
          <a:p>
            <a:pPr marL="0" indent="0" algn="l">
              <a:buNone/>
            </a:pPr>
            <a:r>
              <a:rPr lang="en-US" sz="2025" b="1" dirty="0">
                <a:solidFill>
                  <a:srgbClr val="33455E"/>
                </a:solidFill>
                <a:latin typeface="Arial" pitchFamily="34" charset="0"/>
                <a:ea typeface="Arial" pitchFamily="34" charset="-122"/>
                <a:cs typeface="Arial" pitchFamily="34" charset="-120"/>
              </a:rPr>
              <a:t>Data scarcity is the obstacle</a:t>
            </a:r>
            <a:endParaRPr lang="en-US" sz="2025" dirty="0"/>
          </a:p>
        </p:txBody>
      </p:sp>
      <p:sp>
        <p:nvSpPr>
          <p:cNvPr id="7" name="Text 5"/>
          <p:cNvSpPr/>
          <p:nvPr/>
        </p:nvSpPr>
        <p:spPr>
          <a:xfrm>
            <a:off x="847725" y="2363093"/>
            <a:ext cx="8280273" cy="1078185"/>
          </a:xfrm>
          <a:prstGeom prst="rect">
            <a:avLst/>
          </a:prstGeom>
          <a:noFill/>
          <a:ln/>
        </p:spPr>
        <p:txBody>
          <a:bodyPr wrap="square" lIns="25400" tIns="25400" rIns="25400" bIns="25400" rtlCol="0" anchor="t">
            <a:normAutofit/>
          </a:bodyPr>
          <a:lstStyle/>
          <a:p>
            <a:pPr marL="0" indent="0" algn="l">
              <a:lnSpc>
                <a:spcPct val="130000"/>
              </a:lnSpc>
              <a:buNone/>
            </a:pPr>
            <a:r>
              <a:rPr lang="en-US" sz="2100" dirty="0">
                <a:solidFill>
                  <a:srgbClr val="1E2530"/>
                </a:solidFill>
                <a:latin typeface="Arial" pitchFamily="34" charset="0"/>
                <a:ea typeface="Arial" pitchFamily="34" charset="-122"/>
                <a:cs typeface="Arial" pitchFamily="34" charset="-120"/>
              </a:rPr>
              <a:t>International work finds </a:t>
            </a:r>
            <a:r>
              <a:rPr lang="en-US" sz="2100" b="1" dirty="0">
                <a:solidFill>
                  <a:srgbClr val="33455E"/>
                </a:solidFill>
                <a:latin typeface="Arial" pitchFamily="34" charset="0"/>
                <a:ea typeface="Arial" pitchFamily="34" charset="-122"/>
                <a:cs typeface="Arial" pitchFamily="34" charset="-120"/>
              </a:rPr>
              <a:t>data scarcity — not valuer misconduct </a:t>
            </a:r>
            <a:r>
              <a:rPr lang="en-US" sz="2100" dirty="0">
                <a:solidFill>
                  <a:srgbClr val="1E2530"/>
                </a:solidFill>
                <a:latin typeface="Arial" pitchFamily="34" charset="0"/>
                <a:ea typeface="Arial" pitchFamily="34" charset="-122"/>
                <a:cs typeface="Arial" pitchFamily="34" charset="-120"/>
              </a:rPr>
              <a:t>— is the primary barrier to accurate valuation in developing markets.</a:t>
            </a:r>
            <a:endParaRPr lang="en-US" sz="2100" dirty="0"/>
          </a:p>
        </p:txBody>
      </p:sp>
      <p:sp>
        <p:nvSpPr>
          <p:cNvPr id="8" name="Text 6"/>
          <p:cNvSpPr/>
          <p:nvPr/>
        </p:nvSpPr>
        <p:spPr>
          <a:xfrm>
            <a:off x="847725" y="3612728"/>
            <a:ext cx="15723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b="1" dirty="0">
                <a:solidFill>
                  <a:srgbClr val="33455E"/>
                </a:solidFill>
                <a:latin typeface="Arial" pitchFamily="34" charset="0"/>
                <a:ea typeface="Arial" pitchFamily="34" charset="-122"/>
                <a:cs typeface="Arial" pitchFamily="34" charset="-120"/>
              </a:rPr>
              <a:t>▪</a:t>
            </a:r>
            <a:endParaRPr lang="en-US" sz="1800" dirty="0"/>
          </a:p>
        </p:txBody>
      </p:sp>
      <p:sp>
        <p:nvSpPr>
          <p:cNvPr id="9" name="Text 7"/>
          <p:cNvSpPr/>
          <p:nvPr/>
        </p:nvSpPr>
        <p:spPr>
          <a:xfrm>
            <a:off x="1062112" y="3555578"/>
            <a:ext cx="8059454" cy="817513"/>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2325" b="1" dirty="0">
                <a:solidFill>
                  <a:srgbClr val="33455E"/>
                </a:solidFill>
                <a:latin typeface="Arial" pitchFamily="34" charset="0"/>
                <a:ea typeface="Arial" pitchFamily="34" charset="-122"/>
                <a:cs typeface="Arial" pitchFamily="34" charset="-120"/>
              </a:rPr>
              <a:t>Kenya </a:t>
            </a:r>
            <a:r>
              <a:rPr lang="en-US" sz="2325" dirty="0">
                <a:solidFill>
                  <a:srgbClr val="1E2530"/>
                </a:solidFill>
                <a:latin typeface="Arial" pitchFamily="34" charset="0"/>
                <a:ea typeface="Arial" pitchFamily="34" charset="-122"/>
                <a:cs typeface="Arial" pitchFamily="34" charset="-120"/>
              </a:rPr>
              <a:t>— a census of 427 Nairobi valuers ranked "limited information" the top problem. </a:t>
            </a:r>
            <a:r>
              <a:rPr lang="en-US" sz="2325" i="1" dirty="0">
                <a:solidFill>
                  <a:srgbClr val="979FAD"/>
                </a:solidFill>
                <a:latin typeface="Arial" pitchFamily="34" charset="0"/>
                <a:ea typeface="Arial" pitchFamily="34" charset="-122"/>
                <a:cs typeface="Arial" pitchFamily="34" charset="-120"/>
              </a:rPr>
              <a:t>(Cheloti, 2021)</a:t>
            </a:r>
            <a:endParaRPr lang="en-US" sz="2325" dirty="0"/>
          </a:p>
        </p:txBody>
      </p:sp>
      <p:sp>
        <p:nvSpPr>
          <p:cNvPr id="10" name="Text 8"/>
          <p:cNvSpPr/>
          <p:nvPr/>
        </p:nvSpPr>
        <p:spPr>
          <a:xfrm>
            <a:off x="847725" y="4544541"/>
            <a:ext cx="15723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b="1" dirty="0">
                <a:solidFill>
                  <a:srgbClr val="33455E"/>
                </a:solidFill>
                <a:latin typeface="Arial" pitchFamily="34" charset="0"/>
                <a:ea typeface="Arial" pitchFamily="34" charset="-122"/>
                <a:cs typeface="Arial" pitchFamily="34" charset="-120"/>
              </a:rPr>
              <a:t>▪</a:t>
            </a:r>
            <a:endParaRPr lang="en-US" sz="1800" dirty="0"/>
          </a:p>
        </p:txBody>
      </p:sp>
      <p:sp>
        <p:nvSpPr>
          <p:cNvPr id="11" name="Text 9"/>
          <p:cNvSpPr/>
          <p:nvPr/>
        </p:nvSpPr>
        <p:spPr>
          <a:xfrm>
            <a:off x="1062112" y="4487391"/>
            <a:ext cx="8059454" cy="817513"/>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2325" b="1" dirty="0">
                <a:solidFill>
                  <a:srgbClr val="33455E"/>
                </a:solidFill>
                <a:latin typeface="Arial" pitchFamily="34" charset="0"/>
                <a:ea typeface="Arial" pitchFamily="34" charset="-122"/>
                <a:cs typeface="Arial" pitchFamily="34" charset="-120"/>
              </a:rPr>
              <a:t>Nigeria (Lagos) </a:t>
            </a:r>
            <a:r>
              <a:rPr lang="en-US" sz="2325" dirty="0">
                <a:solidFill>
                  <a:srgbClr val="1E2530"/>
                </a:solidFill>
                <a:latin typeface="Arial" pitchFamily="34" charset="0"/>
                <a:ea typeface="Arial" pitchFamily="34" charset="-122"/>
                <a:cs typeface="Arial" pitchFamily="34" charset="-120"/>
              </a:rPr>
              <a:t>— of 300 valuers, </a:t>
            </a:r>
            <a:r>
              <a:rPr lang="en-US" sz="2325" b="1" dirty="0">
                <a:solidFill>
                  <a:srgbClr val="33455E"/>
                </a:solidFill>
                <a:latin typeface="Arial" pitchFamily="34" charset="0"/>
                <a:ea typeface="Arial" pitchFamily="34" charset="-122"/>
                <a:cs typeface="Arial" pitchFamily="34" charset="-120"/>
              </a:rPr>
              <a:t>92.7% </a:t>
            </a:r>
            <a:r>
              <a:rPr lang="en-US" sz="2325" dirty="0">
                <a:solidFill>
                  <a:srgbClr val="1E2530"/>
                </a:solidFill>
                <a:latin typeface="Arial" pitchFamily="34" charset="0"/>
                <a:ea typeface="Arial" pitchFamily="34" charset="-122"/>
                <a:cs typeface="Arial" pitchFamily="34" charset="-120"/>
              </a:rPr>
              <a:t>cited insufficient market evidence. </a:t>
            </a:r>
            <a:r>
              <a:rPr lang="en-US" sz="2325" i="1" dirty="0">
                <a:solidFill>
                  <a:srgbClr val="979FAD"/>
                </a:solidFill>
                <a:latin typeface="Arial" pitchFamily="34" charset="0"/>
                <a:ea typeface="Arial" pitchFamily="34" charset="-122"/>
                <a:cs typeface="Arial" pitchFamily="34" charset="-120"/>
              </a:rPr>
              <a:t>(Ajibola, 2010)</a:t>
            </a:r>
            <a:endParaRPr lang="en-US" sz="2325" dirty="0"/>
          </a:p>
        </p:txBody>
      </p:sp>
      <p:sp>
        <p:nvSpPr>
          <p:cNvPr id="12" name="Text 10"/>
          <p:cNvSpPr/>
          <p:nvPr/>
        </p:nvSpPr>
        <p:spPr>
          <a:xfrm>
            <a:off x="847725" y="5476354"/>
            <a:ext cx="15723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b="1" dirty="0">
                <a:solidFill>
                  <a:srgbClr val="33455E"/>
                </a:solidFill>
                <a:latin typeface="Arial" pitchFamily="34" charset="0"/>
                <a:ea typeface="Arial" pitchFamily="34" charset="-122"/>
                <a:cs typeface="Arial" pitchFamily="34" charset="-120"/>
              </a:rPr>
              <a:t>▪</a:t>
            </a:r>
            <a:endParaRPr lang="en-US" sz="1800" dirty="0"/>
          </a:p>
        </p:txBody>
      </p:sp>
      <p:sp>
        <p:nvSpPr>
          <p:cNvPr id="13" name="Text 11"/>
          <p:cNvSpPr/>
          <p:nvPr/>
        </p:nvSpPr>
        <p:spPr>
          <a:xfrm>
            <a:off x="1062112" y="5419204"/>
            <a:ext cx="8059454" cy="817513"/>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2325" dirty="0">
                <a:solidFill>
                  <a:srgbClr val="1E2530"/>
                </a:solidFill>
                <a:latin typeface="Arial" pitchFamily="34" charset="0"/>
                <a:ea typeface="Arial" pitchFamily="34" charset="-122"/>
                <a:cs typeface="Arial" pitchFamily="34" charset="-120"/>
              </a:rPr>
              <a:t>The fix is not better judgment but a better, shared evidence base.</a:t>
            </a:r>
            <a:endParaRPr lang="en-US" sz="2325" dirty="0"/>
          </a:p>
        </p:txBody>
      </p:sp>
      <p:sp>
        <p:nvSpPr>
          <p:cNvPr id="14" name="Text 12"/>
          <p:cNvSpPr/>
          <p:nvPr/>
        </p:nvSpPr>
        <p:spPr>
          <a:xfrm>
            <a:off x="9401175" y="2010668"/>
            <a:ext cx="8843010" cy="333375"/>
          </a:xfrm>
          <a:prstGeom prst="rect">
            <a:avLst/>
          </a:prstGeom>
          <a:noFill/>
          <a:ln/>
        </p:spPr>
        <p:txBody>
          <a:bodyPr wrap="square" lIns="25400" tIns="25400" rIns="25400" bIns="25400" rtlCol="0" anchor="t">
            <a:normAutofit lnSpcReduction="10000"/>
          </a:bodyPr>
          <a:lstStyle/>
          <a:p>
            <a:pPr marL="0" indent="0" algn="l">
              <a:buNone/>
            </a:pPr>
            <a:r>
              <a:rPr lang="en-US" sz="2025" b="1" dirty="0">
                <a:solidFill>
                  <a:srgbClr val="33455E"/>
                </a:solidFill>
                <a:latin typeface="Arial" pitchFamily="34" charset="0"/>
                <a:ea typeface="Arial" pitchFamily="34" charset="-122"/>
                <a:cs typeface="Arial" pitchFamily="34" charset="-120"/>
              </a:rPr>
              <a:t>The research gap — and the bridge</a:t>
            </a:r>
            <a:endParaRPr lang="en-US" sz="2025" dirty="0"/>
          </a:p>
        </p:txBody>
      </p:sp>
      <p:sp>
        <p:nvSpPr>
          <p:cNvPr id="15" name="Text 13"/>
          <p:cNvSpPr/>
          <p:nvPr/>
        </p:nvSpPr>
        <p:spPr>
          <a:xfrm>
            <a:off x="9401175" y="2363093"/>
            <a:ext cx="8280273" cy="731490"/>
          </a:xfrm>
          <a:prstGeom prst="rect">
            <a:avLst/>
          </a:prstGeom>
          <a:noFill/>
          <a:ln/>
        </p:spPr>
        <p:txBody>
          <a:bodyPr wrap="square" lIns="25400" tIns="25400" rIns="25400" bIns="25400" rtlCol="0" anchor="t">
            <a:normAutofit fontScale="92500" lnSpcReduction="10000"/>
          </a:bodyPr>
          <a:lstStyle/>
          <a:p>
            <a:pPr marL="0" indent="0" algn="l">
              <a:lnSpc>
                <a:spcPct val="130000"/>
              </a:lnSpc>
              <a:buNone/>
            </a:pPr>
            <a:r>
              <a:rPr lang="en-US" sz="2100" dirty="0">
                <a:solidFill>
                  <a:srgbClr val="1E2530"/>
                </a:solidFill>
                <a:latin typeface="Arial" pitchFamily="34" charset="0"/>
                <a:ea typeface="Arial" pitchFamily="34" charset="-122"/>
                <a:cs typeface="Arial" pitchFamily="34" charset="-120"/>
              </a:rPr>
              <a:t>No published, reproducible, property-level Cebu model integrates open-market listings, geospatial accessibility, and explainable ML.</a:t>
            </a:r>
            <a:endParaRPr lang="en-US" sz="2100" dirty="0"/>
          </a:p>
        </p:txBody>
      </p:sp>
      <p:sp>
        <p:nvSpPr>
          <p:cNvPr id="16" name="Text 14"/>
          <p:cNvSpPr/>
          <p:nvPr/>
        </p:nvSpPr>
        <p:spPr>
          <a:xfrm>
            <a:off x="9401175" y="3266033"/>
            <a:ext cx="15723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b="1" dirty="0">
                <a:solidFill>
                  <a:srgbClr val="33455E"/>
                </a:solidFill>
                <a:latin typeface="Arial" pitchFamily="34" charset="0"/>
                <a:ea typeface="Arial" pitchFamily="34" charset="-122"/>
                <a:cs typeface="Arial" pitchFamily="34" charset="-120"/>
              </a:rPr>
              <a:t>▪</a:t>
            </a:r>
            <a:endParaRPr lang="en-US" sz="1800" dirty="0"/>
          </a:p>
        </p:txBody>
      </p:sp>
      <p:sp>
        <p:nvSpPr>
          <p:cNvPr id="17" name="Text 15"/>
          <p:cNvSpPr/>
          <p:nvPr/>
        </p:nvSpPr>
        <p:spPr>
          <a:xfrm>
            <a:off x="9615562" y="3208883"/>
            <a:ext cx="8448467" cy="427806"/>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2325" b="1" dirty="0">
                <a:solidFill>
                  <a:srgbClr val="33455E"/>
                </a:solidFill>
                <a:latin typeface="Arial" pitchFamily="34" charset="0"/>
                <a:ea typeface="Arial" pitchFamily="34" charset="-122"/>
                <a:cs typeface="Arial" pitchFamily="34" charset="-120"/>
              </a:rPr>
              <a:t>Property-level </a:t>
            </a:r>
            <a:r>
              <a:rPr lang="en-US" sz="2325" dirty="0">
                <a:solidFill>
                  <a:srgbClr val="1E2530"/>
                </a:solidFill>
                <a:latin typeface="Arial" pitchFamily="34" charset="0"/>
                <a:ea typeface="Arial" pitchFamily="34" charset="-122"/>
                <a:cs typeface="Arial" pitchFamily="34" charset="-120"/>
              </a:rPr>
              <a:t>— every listing geocoded across six LGUs.</a:t>
            </a:r>
            <a:endParaRPr lang="en-US" sz="2325" dirty="0"/>
          </a:p>
        </p:txBody>
      </p:sp>
      <p:sp>
        <p:nvSpPr>
          <p:cNvPr id="18" name="Text 16"/>
          <p:cNvSpPr/>
          <p:nvPr/>
        </p:nvSpPr>
        <p:spPr>
          <a:xfrm>
            <a:off x="9401175" y="3808140"/>
            <a:ext cx="15723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b="1" dirty="0">
                <a:solidFill>
                  <a:srgbClr val="33455E"/>
                </a:solidFill>
                <a:latin typeface="Arial" pitchFamily="34" charset="0"/>
                <a:ea typeface="Arial" pitchFamily="34" charset="-122"/>
                <a:cs typeface="Arial" pitchFamily="34" charset="-120"/>
              </a:rPr>
              <a:t>▪</a:t>
            </a:r>
            <a:endParaRPr lang="en-US" sz="1800" dirty="0"/>
          </a:p>
        </p:txBody>
      </p:sp>
      <p:sp>
        <p:nvSpPr>
          <p:cNvPr id="19" name="Text 17"/>
          <p:cNvSpPr/>
          <p:nvPr/>
        </p:nvSpPr>
        <p:spPr>
          <a:xfrm>
            <a:off x="9615562" y="3750990"/>
            <a:ext cx="7991549" cy="427806"/>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2325" b="1" dirty="0">
                <a:solidFill>
                  <a:srgbClr val="33455E"/>
                </a:solidFill>
                <a:latin typeface="Arial" pitchFamily="34" charset="0"/>
                <a:ea typeface="Arial" pitchFamily="34" charset="-122"/>
                <a:cs typeface="Arial" pitchFamily="34" charset="-120"/>
              </a:rPr>
              <a:t>Open-market </a:t>
            </a:r>
            <a:r>
              <a:rPr lang="en-US" sz="2325" dirty="0">
                <a:solidFill>
                  <a:srgbClr val="1E2530"/>
                </a:solidFill>
                <a:latin typeface="Arial" pitchFamily="34" charset="0"/>
                <a:ea typeface="Arial" pitchFamily="34" charset="-122"/>
                <a:cs typeface="Arial" pitchFamily="34" charset="-120"/>
              </a:rPr>
              <a:t>— aligned to the IVS Market Value basis.</a:t>
            </a:r>
            <a:endParaRPr lang="en-US" sz="2325" dirty="0"/>
          </a:p>
        </p:txBody>
      </p:sp>
      <p:sp>
        <p:nvSpPr>
          <p:cNvPr id="20" name="Text 18"/>
          <p:cNvSpPr/>
          <p:nvPr/>
        </p:nvSpPr>
        <p:spPr>
          <a:xfrm>
            <a:off x="9401175" y="4350246"/>
            <a:ext cx="15723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b="1" dirty="0">
                <a:solidFill>
                  <a:srgbClr val="33455E"/>
                </a:solidFill>
                <a:latin typeface="Arial" pitchFamily="34" charset="0"/>
                <a:ea typeface="Arial" pitchFamily="34" charset="-122"/>
                <a:cs typeface="Arial" pitchFamily="34" charset="-120"/>
              </a:rPr>
              <a:t>▪</a:t>
            </a:r>
            <a:endParaRPr lang="en-US" sz="1800" dirty="0"/>
          </a:p>
        </p:txBody>
      </p:sp>
      <p:sp>
        <p:nvSpPr>
          <p:cNvPr id="21" name="Text 19"/>
          <p:cNvSpPr/>
          <p:nvPr/>
        </p:nvSpPr>
        <p:spPr>
          <a:xfrm>
            <a:off x="9615562" y="4293096"/>
            <a:ext cx="8059454" cy="817513"/>
          </a:xfrm>
          <a:prstGeom prst="rect">
            <a:avLst/>
          </a:prstGeom>
          <a:noFill/>
          <a:ln/>
        </p:spPr>
        <p:txBody>
          <a:bodyPr wrap="square" lIns="25400" tIns="25400" rIns="25400" bIns="25400" rtlCol="0" anchor="t">
            <a:normAutofit fontScale="92500"/>
          </a:bodyPr>
          <a:lstStyle/>
          <a:p>
            <a:pPr marL="0" indent="0" algn="l">
              <a:lnSpc>
                <a:spcPct val="132000"/>
              </a:lnSpc>
              <a:buNone/>
            </a:pPr>
            <a:r>
              <a:rPr lang="en-US" sz="2325" b="1" dirty="0">
                <a:solidFill>
                  <a:srgbClr val="33455E"/>
                </a:solidFill>
                <a:latin typeface="Arial" pitchFamily="34" charset="0"/>
                <a:ea typeface="Arial" pitchFamily="34" charset="-122"/>
                <a:cs typeface="Arial" pitchFamily="34" charset="-120"/>
              </a:rPr>
              <a:t>Geospatial </a:t>
            </a:r>
            <a:r>
              <a:rPr lang="en-US" sz="2325" dirty="0">
                <a:solidFill>
                  <a:srgbClr val="1E2530"/>
                </a:solidFill>
                <a:latin typeface="Arial" pitchFamily="34" charset="0"/>
                <a:ea typeface="Arial" pitchFamily="34" charset="-122"/>
                <a:cs typeface="Arial" pitchFamily="34" charset="-120"/>
              </a:rPr>
              <a:t>— the location signal is engineered, not ingested.</a:t>
            </a:r>
            <a:endParaRPr lang="en-US" sz="2325" dirty="0"/>
          </a:p>
        </p:txBody>
      </p:sp>
      <p:sp>
        <p:nvSpPr>
          <p:cNvPr id="22" name="Text 20"/>
          <p:cNvSpPr/>
          <p:nvPr/>
        </p:nvSpPr>
        <p:spPr>
          <a:xfrm>
            <a:off x="9401175" y="5282059"/>
            <a:ext cx="15723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b="1" dirty="0">
                <a:solidFill>
                  <a:srgbClr val="33455E"/>
                </a:solidFill>
                <a:latin typeface="Arial" pitchFamily="34" charset="0"/>
                <a:ea typeface="Arial" pitchFamily="34" charset="-122"/>
                <a:cs typeface="Arial" pitchFamily="34" charset="-120"/>
              </a:rPr>
              <a:t>▪</a:t>
            </a:r>
            <a:endParaRPr lang="en-US" sz="1800" dirty="0"/>
          </a:p>
        </p:txBody>
      </p:sp>
      <p:sp>
        <p:nvSpPr>
          <p:cNvPr id="23" name="Text 21"/>
          <p:cNvSpPr/>
          <p:nvPr/>
        </p:nvSpPr>
        <p:spPr>
          <a:xfrm>
            <a:off x="9615562" y="5224909"/>
            <a:ext cx="6727947" cy="427806"/>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2325" b="1" dirty="0">
                <a:solidFill>
                  <a:srgbClr val="33455E"/>
                </a:solidFill>
                <a:latin typeface="Arial" pitchFamily="34" charset="0"/>
                <a:ea typeface="Arial" pitchFamily="34" charset="-122"/>
                <a:cs typeface="Arial" pitchFamily="34" charset="-120"/>
              </a:rPr>
              <a:t>Explainable </a:t>
            </a:r>
            <a:r>
              <a:rPr lang="en-US" sz="2325" dirty="0">
                <a:solidFill>
                  <a:srgbClr val="1E2530"/>
                </a:solidFill>
                <a:latin typeface="Arial" pitchFamily="34" charset="0"/>
                <a:ea typeface="Arial" pitchFamily="34" charset="-122"/>
                <a:cs typeface="Arial" pitchFamily="34" charset="-120"/>
              </a:rPr>
              <a:t>— SHAP behind every prediction.</a:t>
            </a:r>
            <a:endParaRPr lang="en-US" sz="2325" dirty="0"/>
          </a:p>
        </p:txBody>
      </p:sp>
    </p:spTree>
    <p:extLst>
      <p:ext uri="{BB962C8B-B14F-4D97-AF65-F5344CB8AC3E}">
        <p14:creationId xmlns:p14="http://schemas.microsoft.com/office/powerpoint/2010/main" val="8751307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BFC"/>
        </a:solidFill>
        <a:effectLst/>
      </p:bgPr>
    </p:bg>
    <p:spTree>
      <p:nvGrpSpPr>
        <p:cNvPr id="1" name=""/>
        <p:cNvGrpSpPr/>
        <p:nvPr/>
      </p:nvGrpSpPr>
      <p:grpSpPr>
        <a:xfrm>
          <a:off x="0" y="0"/>
          <a:ext cx="0" cy="0"/>
          <a:chOff x="0" y="0"/>
          <a:chExt cx="0" cy="0"/>
        </a:xfrm>
      </p:grpSpPr>
      <p:sp>
        <p:nvSpPr>
          <p:cNvPr id="2" name="Text 0"/>
          <p:cNvSpPr/>
          <p:nvPr/>
        </p:nvSpPr>
        <p:spPr>
          <a:xfrm>
            <a:off x="847725" y="552450"/>
            <a:ext cx="5808300" cy="347663"/>
          </a:xfrm>
          <a:prstGeom prst="rect">
            <a:avLst/>
          </a:prstGeom>
          <a:noFill/>
          <a:ln/>
        </p:spPr>
        <p:txBody>
          <a:bodyPr wrap="square" lIns="25400" tIns="25400" rIns="25400" bIns="25400" rtlCol="0" anchor="t">
            <a:normAutofit lnSpcReduction="10000"/>
          </a:bodyPr>
          <a:lstStyle/>
          <a:p>
            <a:pPr marL="0" indent="0" algn="l">
              <a:buNone/>
            </a:pPr>
            <a:r>
              <a:rPr lang="en-US" sz="2100" b="1" kern="0" spc="84" dirty="0">
                <a:solidFill>
                  <a:srgbClr val="33455E"/>
                </a:solidFill>
                <a:latin typeface="Arial" pitchFamily="34" charset="0"/>
                <a:ea typeface="Arial" pitchFamily="34" charset="-122"/>
                <a:cs typeface="Arial" pitchFamily="34" charset="-120"/>
              </a:rPr>
              <a:t>2 · REVIEW OF RELATED LITERATURE</a:t>
            </a:r>
            <a:endParaRPr lang="en-US" sz="2100" dirty="0"/>
          </a:p>
        </p:txBody>
      </p:sp>
      <p:sp>
        <p:nvSpPr>
          <p:cNvPr id="3" name="Text 1"/>
          <p:cNvSpPr/>
          <p:nvPr/>
        </p:nvSpPr>
        <p:spPr>
          <a:xfrm>
            <a:off x="16844442" y="552450"/>
            <a:ext cx="672033" cy="314325"/>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6E7686"/>
                </a:solidFill>
                <a:latin typeface="Arial" pitchFamily="34" charset="0"/>
                <a:ea typeface="Arial" pitchFamily="34" charset="-122"/>
                <a:cs typeface="Arial" pitchFamily="34" charset="-120"/>
              </a:rPr>
              <a:t>9 / 40</a:t>
            </a:r>
            <a:endParaRPr lang="en-US" sz="1875" dirty="0"/>
          </a:p>
        </p:txBody>
      </p:sp>
      <p:sp>
        <p:nvSpPr>
          <p:cNvPr id="4" name="Shape 2"/>
          <p:cNvSpPr/>
          <p:nvPr/>
        </p:nvSpPr>
        <p:spPr>
          <a:xfrm>
            <a:off x="847725" y="985838"/>
            <a:ext cx="16592550" cy="28575"/>
          </a:xfrm>
          <a:prstGeom prst="rect">
            <a:avLst/>
          </a:prstGeom>
          <a:solidFill>
            <a:srgbClr val="33455E"/>
          </a:solidFill>
          <a:ln/>
        </p:spPr>
        <p:txBody>
          <a:bodyPr/>
          <a:lstStyle/>
          <a:p>
            <a:endParaRPr lang="en-US"/>
          </a:p>
        </p:txBody>
      </p:sp>
      <p:sp>
        <p:nvSpPr>
          <p:cNvPr id="5" name="Text 3"/>
          <p:cNvSpPr/>
          <p:nvPr/>
        </p:nvSpPr>
        <p:spPr>
          <a:xfrm>
            <a:off x="847725" y="1243013"/>
            <a:ext cx="18251805" cy="55810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3900" b="1" dirty="0">
                <a:solidFill>
                  <a:srgbClr val="1E2530"/>
                </a:solidFill>
                <a:latin typeface="Arial" pitchFamily="34" charset="0"/>
                <a:ea typeface="Arial" pitchFamily="34" charset="-122"/>
                <a:cs typeface="Arial" pitchFamily="34" charset="-120"/>
              </a:rPr>
              <a:t>Two modeling traditions — and why we stratify</a:t>
            </a:r>
            <a:endParaRPr lang="en-US" sz="3900" dirty="0"/>
          </a:p>
        </p:txBody>
      </p:sp>
      <p:sp>
        <p:nvSpPr>
          <p:cNvPr id="6" name="Text 4"/>
          <p:cNvSpPr/>
          <p:nvPr/>
        </p:nvSpPr>
        <p:spPr>
          <a:xfrm>
            <a:off x="847725" y="1877318"/>
            <a:ext cx="17090326" cy="628650"/>
          </a:xfrm>
          <a:prstGeom prst="rect">
            <a:avLst/>
          </a:prstGeom>
          <a:noFill/>
          <a:ln/>
        </p:spPr>
        <p:txBody>
          <a:bodyPr wrap="square" lIns="25400" tIns="25400" rIns="25400" bIns="25400" rtlCol="0" anchor="t">
            <a:normAutofit/>
          </a:bodyPr>
          <a:lstStyle/>
          <a:p>
            <a:pPr marL="0" indent="0" algn="l">
              <a:buNone/>
            </a:pPr>
            <a:r>
              <a:rPr lang="en-US" sz="2025" dirty="0">
                <a:solidFill>
                  <a:srgbClr val="5B7A99"/>
                </a:solidFill>
                <a:latin typeface="Arial" pitchFamily="34" charset="0"/>
                <a:ea typeface="Arial" pitchFamily="34" charset="-122"/>
                <a:cs typeface="Arial" pitchFamily="34" charset="-120"/>
              </a:rPr>
              <a:t>Location is the dominant driver, yet Cebu evidence is thin — Agosto (2020) is the only Cebu-specific study, and Philippine ML work is Manila-heavy.</a:t>
            </a:r>
            <a:endParaRPr lang="en-US" sz="2025" dirty="0"/>
          </a:p>
        </p:txBody>
      </p:sp>
      <p:sp>
        <p:nvSpPr>
          <p:cNvPr id="7" name="Text 5"/>
          <p:cNvSpPr/>
          <p:nvPr/>
        </p:nvSpPr>
        <p:spPr>
          <a:xfrm>
            <a:off x="847725" y="2658368"/>
            <a:ext cx="8843010" cy="333375"/>
          </a:xfrm>
          <a:prstGeom prst="rect">
            <a:avLst/>
          </a:prstGeom>
          <a:noFill/>
          <a:ln/>
        </p:spPr>
        <p:txBody>
          <a:bodyPr wrap="square" lIns="25400" tIns="25400" rIns="25400" bIns="25400" rtlCol="0" anchor="t">
            <a:normAutofit lnSpcReduction="10000"/>
          </a:bodyPr>
          <a:lstStyle/>
          <a:p>
            <a:pPr marL="0" indent="0" algn="l">
              <a:buNone/>
            </a:pPr>
            <a:r>
              <a:rPr lang="en-US" sz="2025" b="1" dirty="0">
                <a:solidFill>
                  <a:srgbClr val="33455E"/>
                </a:solidFill>
                <a:latin typeface="Arial" pitchFamily="34" charset="0"/>
                <a:ea typeface="Arial" pitchFamily="34" charset="-122"/>
                <a:cs typeface="Arial" pitchFamily="34" charset="-120"/>
              </a:rPr>
              <a:t>Hedonic regression</a:t>
            </a:r>
            <a:endParaRPr lang="en-US" sz="2025" dirty="0"/>
          </a:p>
        </p:txBody>
      </p:sp>
      <p:sp>
        <p:nvSpPr>
          <p:cNvPr id="8" name="Text 6"/>
          <p:cNvSpPr/>
          <p:nvPr/>
        </p:nvSpPr>
        <p:spPr>
          <a:xfrm>
            <a:off x="847725" y="3163193"/>
            <a:ext cx="15723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b="1" dirty="0">
                <a:solidFill>
                  <a:srgbClr val="33455E"/>
                </a:solidFill>
                <a:latin typeface="Arial" pitchFamily="34" charset="0"/>
                <a:ea typeface="Arial" pitchFamily="34" charset="-122"/>
                <a:cs typeface="Arial" pitchFamily="34" charset="-120"/>
              </a:rPr>
              <a:t>▪</a:t>
            </a:r>
            <a:endParaRPr lang="en-US" sz="1800" dirty="0"/>
          </a:p>
        </p:txBody>
      </p:sp>
      <p:sp>
        <p:nvSpPr>
          <p:cNvPr id="9" name="Text 7"/>
          <p:cNvSpPr/>
          <p:nvPr/>
        </p:nvSpPr>
        <p:spPr>
          <a:xfrm>
            <a:off x="1062112" y="3106043"/>
            <a:ext cx="8059454" cy="817513"/>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2325" dirty="0">
                <a:solidFill>
                  <a:srgbClr val="1E2530"/>
                </a:solidFill>
                <a:latin typeface="Arial" pitchFamily="34" charset="0"/>
                <a:ea typeface="Arial" pitchFamily="34" charset="-122"/>
                <a:cs typeface="Arial" pitchFamily="34" charset="-120"/>
              </a:rPr>
              <a:t>Interpretable; one explicit coefficient per attribute — the classic basis of valuation. </a:t>
            </a:r>
            <a:r>
              <a:rPr lang="en-US" sz="2325" i="1" dirty="0">
                <a:solidFill>
                  <a:srgbClr val="979FAD"/>
                </a:solidFill>
                <a:latin typeface="Arial" pitchFamily="34" charset="0"/>
                <a:ea typeface="Arial" pitchFamily="34" charset="-122"/>
                <a:cs typeface="Arial" pitchFamily="34" charset="-120"/>
              </a:rPr>
              <a:t>(Rosen, 1974)</a:t>
            </a:r>
            <a:endParaRPr lang="en-US" sz="2325" dirty="0"/>
          </a:p>
        </p:txBody>
      </p:sp>
      <p:sp>
        <p:nvSpPr>
          <p:cNvPr id="10" name="Text 8"/>
          <p:cNvSpPr/>
          <p:nvPr/>
        </p:nvSpPr>
        <p:spPr>
          <a:xfrm>
            <a:off x="847725" y="4095006"/>
            <a:ext cx="15723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b="1" dirty="0">
                <a:solidFill>
                  <a:srgbClr val="33455E"/>
                </a:solidFill>
                <a:latin typeface="Arial" pitchFamily="34" charset="0"/>
                <a:ea typeface="Arial" pitchFamily="34" charset="-122"/>
                <a:cs typeface="Arial" pitchFamily="34" charset="-120"/>
              </a:rPr>
              <a:t>▪</a:t>
            </a:r>
            <a:endParaRPr lang="en-US" sz="1800" dirty="0"/>
          </a:p>
        </p:txBody>
      </p:sp>
      <p:sp>
        <p:nvSpPr>
          <p:cNvPr id="11" name="Text 9"/>
          <p:cNvSpPr/>
          <p:nvPr/>
        </p:nvSpPr>
        <p:spPr>
          <a:xfrm>
            <a:off x="1062112" y="4037856"/>
            <a:ext cx="8136761" cy="427806"/>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2325" dirty="0">
                <a:solidFill>
                  <a:srgbClr val="1E2530"/>
                </a:solidFill>
                <a:latin typeface="Arial" pitchFamily="34" charset="0"/>
                <a:ea typeface="Arial" pitchFamily="34" charset="-122"/>
                <a:cs typeface="Arial" pitchFamily="34" charset="-120"/>
              </a:rPr>
              <a:t>Struggles with non-linear effects and correlated features.</a:t>
            </a:r>
            <a:endParaRPr lang="en-US" sz="2325" dirty="0"/>
          </a:p>
        </p:txBody>
      </p:sp>
      <p:sp>
        <p:nvSpPr>
          <p:cNvPr id="12" name="Text 10"/>
          <p:cNvSpPr/>
          <p:nvPr/>
        </p:nvSpPr>
        <p:spPr>
          <a:xfrm>
            <a:off x="847725" y="4599012"/>
            <a:ext cx="8843010" cy="333375"/>
          </a:xfrm>
          <a:prstGeom prst="rect">
            <a:avLst/>
          </a:prstGeom>
          <a:noFill/>
          <a:ln/>
        </p:spPr>
        <p:txBody>
          <a:bodyPr wrap="square" lIns="25400" tIns="25400" rIns="25400" bIns="25400" rtlCol="0" anchor="t">
            <a:normAutofit lnSpcReduction="10000"/>
          </a:bodyPr>
          <a:lstStyle/>
          <a:p>
            <a:pPr marL="0" indent="0" algn="l">
              <a:buNone/>
            </a:pPr>
            <a:r>
              <a:rPr lang="en-US" sz="2025" b="1" dirty="0">
                <a:solidFill>
                  <a:srgbClr val="33455E"/>
                </a:solidFill>
                <a:latin typeface="Arial" pitchFamily="34" charset="0"/>
                <a:ea typeface="Arial" pitchFamily="34" charset="-122"/>
                <a:cs typeface="Arial" pitchFamily="34" charset="-120"/>
              </a:rPr>
              <a:t>Machine learning</a:t>
            </a:r>
            <a:endParaRPr lang="en-US" sz="2025" dirty="0"/>
          </a:p>
        </p:txBody>
      </p:sp>
      <p:sp>
        <p:nvSpPr>
          <p:cNvPr id="13" name="Text 11"/>
          <p:cNvSpPr/>
          <p:nvPr/>
        </p:nvSpPr>
        <p:spPr>
          <a:xfrm>
            <a:off x="847725" y="5103837"/>
            <a:ext cx="15723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b="1" dirty="0">
                <a:solidFill>
                  <a:srgbClr val="33455E"/>
                </a:solidFill>
                <a:latin typeface="Arial" pitchFamily="34" charset="0"/>
                <a:ea typeface="Arial" pitchFamily="34" charset="-122"/>
                <a:cs typeface="Arial" pitchFamily="34" charset="-120"/>
              </a:rPr>
              <a:t>▪</a:t>
            </a:r>
            <a:endParaRPr lang="en-US" sz="1800" dirty="0"/>
          </a:p>
        </p:txBody>
      </p:sp>
      <p:sp>
        <p:nvSpPr>
          <p:cNvPr id="14" name="Text 12"/>
          <p:cNvSpPr/>
          <p:nvPr/>
        </p:nvSpPr>
        <p:spPr>
          <a:xfrm>
            <a:off x="1062112" y="5046687"/>
            <a:ext cx="8064319" cy="427806"/>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2325" dirty="0">
                <a:solidFill>
                  <a:srgbClr val="1E2530"/>
                </a:solidFill>
                <a:latin typeface="Arial" pitchFamily="34" charset="0"/>
                <a:ea typeface="Arial" pitchFamily="34" charset="-122"/>
                <a:cs typeface="Arial" pitchFamily="34" charset="-120"/>
              </a:rPr>
              <a:t>Captures non-linear, interacting effects. </a:t>
            </a:r>
            <a:r>
              <a:rPr lang="en-US" sz="2325" i="1" dirty="0">
                <a:solidFill>
                  <a:srgbClr val="979FAD"/>
                </a:solidFill>
                <a:latin typeface="Arial" pitchFamily="34" charset="0"/>
                <a:ea typeface="Arial" pitchFamily="34" charset="-122"/>
                <a:cs typeface="Arial" pitchFamily="34" charset="-120"/>
              </a:rPr>
              <a:t>(Breiman, 2001)</a:t>
            </a:r>
            <a:endParaRPr lang="en-US" sz="2325" dirty="0"/>
          </a:p>
        </p:txBody>
      </p:sp>
      <p:sp>
        <p:nvSpPr>
          <p:cNvPr id="15" name="Text 13"/>
          <p:cNvSpPr/>
          <p:nvPr/>
        </p:nvSpPr>
        <p:spPr>
          <a:xfrm>
            <a:off x="847725" y="5645944"/>
            <a:ext cx="15723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b="1" dirty="0">
                <a:solidFill>
                  <a:srgbClr val="33455E"/>
                </a:solidFill>
                <a:latin typeface="Arial" pitchFamily="34" charset="0"/>
                <a:ea typeface="Arial" pitchFamily="34" charset="-122"/>
                <a:cs typeface="Arial" pitchFamily="34" charset="-120"/>
              </a:rPr>
              <a:t>▪</a:t>
            </a:r>
            <a:endParaRPr lang="en-US" sz="1800" dirty="0"/>
          </a:p>
        </p:txBody>
      </p:sp>
      <p:sp>
        <p:nvSpPr>
          <p:cNvPr id="16" name="Text 14"/>
          <p:cNvSpPr/>
          <p:nvPr/>
        </p:nvSpPr>
        <p:spPr>
          <a:xfrm>
            <a:off x="1062112" y="5588794"/>
            <a:ext cx="8059454" cy="817513"/>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2325" dirty="0">
                <a:solidFill>
                  <a:srgbClr val="1E2530"/>
                </a:solidFill>
                <a:latin typeface="Arial" pitchFamily="34" charset="0"/>
                <a:ea typeface="Arial" pitchFamily="34" charset="-122"/>
                <a:cs typeface="Arial" pitchFamily="34" charset="-120"/>
              </a:rPr>
              <a:t>Tree ensembles tend to win on tabular data. </a:t>
            </a:r>
            <a:r>
              <a:rPr lang="en-US" sz="2325" i="1" dirty="0">
                <a:solidFill>
                  <a:srgbClr val="979FAD"/>
                </a:solidFill>
                <a:latin typeface="Arial" pitchFamily="34" charset="0"/>
                <a:ea typeface="Arial" pitchFamily="34" charset="-122"/>
                <a:cs typeface="Arial" pitchFamily="34" charset="-120"/>
              </a:rPr>
              <a:t>(Grinsztajn et al., 2022; Tanamal et al., 2023)</a:t>
            </a:r>
            <a:endParaRPr lang="en-US" sz="2325" dirty="0"/>
          </a:p>
        </p:txBody>
      </p:sp>
      <p:sp>
        <p:nvSpPr>
          <p:cNvPr id="17" name="Text 15"/>
          <p:cNvSpPr/>
          <p:nvPr/>
        </p:nvSpPr>
        <p:spPr>
          <a:xfrm>
            <a:off x="9401175" y="2658368"/>
            <a:ext cx="8843010" cy="333375"/>
          </a:xfrm>
          <a:prstGeom prst="rect">
            <a:avLst/>
          </a:prstGeom>
          <a:noFill/>
          <a:ln/>
        </p:spPr>
        <p:txBody>
          <a:bodyPr wrap="square" lIns="25400" tIns="25400" rIns="25400" bIns="25400" rtlCol="0" anchor="t">
            <a:normAutofit lnSpcReduction="10000"/>
          </a:bodyPr>
          <a:lstStyle/>
          <a:p>
            <a:pPr marL="0" indent="0" algn="l">
              <a:buNone/>
            </a:pPr>
            <a:r>
              <a:rPr lang="en-US" sz="2025" b="1" dirty="0">
                <a:solidFill>
                  <a:srgbClr val="33455E"/>
                </a:solidFill>
                <a:latin typeface="Arial" pitchFamily="34" charset="0"/>
                <a:ea typeface="Arial" pitchFamily="34" charset="-122"/>
                <a:cs typeface="Arial" pitchFamily="34" charset="-120"/>
              </a:rPr>
              <a:t>Why model property types separately?</a:t>
            </a:r>
            <a:endParaRPr lang="en-US" sz="2025" dirty="0"/>
          </a:p>
        </p:txBody>
      </p:sp>
      <p:sp>
        <p:nvSpPr>
          <p:cNvPr id="18" name="Text 16"/>
          <p:cNvSpPr/>
          <p:nvPr/>
        </p:nvSpPr>
        <p:spPr>
          <a:xfrm>
            <a:off x="9401175" y="3163193"/>
            <a:ext cx="15723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b="1" dirty="0">
                <a:solidFill>
                  <a:srgbClr val="33455E"/>
                </a:solidFill>
                <a:latin typeface="Arial" pitchFamily="34" charset="0"/>
                <a:ea typeface="Arial" pitchFamily="34" charset="-122"/>
                <a:cs typeface="Arial" pitchFamily="34" charset="-120"/>
              </a:rPr>
              <a:t>▪</a:t>
            </a:r>
            <a:endParaRPr lang="en-US" sz="1800" dirty="0"/>
          </a:p>
        </p:txBody>
      </p:sp>
      <p:sp>
        <p:nvSpPr>
          <p:cNvPr id="19" name="Text 17"/>
          <p:cNvSpPr/>
          <p:nvPr/>
        </p:nvSpPr>
        <p:spPr>
          <a:xfrm>
            <a:off x="9615562" y="3106043"/>
            <a:ext cx="8059454" cy="817513"/>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2325" b="1" dirty="0">
                <a:solidFill>
                  <a:srgbClr val="33455E"/>
                </a:solidFill>
                <a:latin typeface="Arial" pitchFamily="34" charset="0"/>
                <a:ea typeface="Arial" pitchFamily="34" charset="-122"/>
                <a:cs typeface="Arial" pitchFamily="34" charset="-120"/>
              </a:rPr>
              <a:t>Dröes, Hoesli &amp; Bourassa (2019) </a:t>
            </a:r>
            <a:r>
              <a:rPr lang="en-US" sz="2325" dirty="0">
                <a:solidFill>
                  <a:srgbClr val="1E2530"/>
                </a:solidFill>
                <a:latin typeface="Arial" pitchFamily="34" charset="0"/>
                <a:ea typeface="Arial" pitchFamily="34" charset="-122"/>
                <a:cs typeface="Arial" pitchFamily="34" charset="-120"/>
              </a:rPr>
              <a:t>— modeling submarkets separately lifted R² from </a:t>
            </a:r>
            <a:r>
              <a:rPr lang="en-US" sz="2325" b="1" dirty="0">
                <a:solidFill>
                  <a:srgbClr val="33455E"/>
                </a:solidFill>
                <a:latin typeface="Arial" pitchFamily="34" charset="0"/>
                <a:ea typeface="Arial" pitchFamily="34" charset="-122"/>
                <a:cs typeface="Arial" pitchFamily="34" charset="-120"/>
              </a:rPr>
              <a:t>0.637 to 0.782</a:t>
            </a:r>
            <a:r>
              <a:rPr lang="en-US" sz="2325" dirty="0">
                <a:solidFill>
                  <a:srgbClr val="1E2530"/>
                </a:solidFill>
                <a:latin typeface="Arial" pitchFamily="34" charset="0"/>
                <a:ea typeface="Arial" pitchFamily="34" charset="-122"/>
                <a:cs typeface="Arial" pitchFamily="34" charset="-120"/>
              </a:rPr>
              <a:t>.</a:t>
            </a:r>
            <a:endParaRPr lang="en-US" sz="2325" dirty="0"/>
          </a:p>
        </p:txBody>
      </p:sp>
      <p:sp>
        <p:nvSpPr>
          <p:cNvPr id="20" name="Text 18"/>
          <p:cNvSpPr/>
          <p:nvPr/>
        </p:nvSpPr>
        <p:spPr>
          <a:xfrm>
            <a:off x="9401175" y="4095006"/>
            <a:ext cx="15723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b="1" dirty="0">
                <a:solidFill>
                  <a:srgbClr val="33455E"/>
                </a:solidFill>
                <a:latin typeface="Arial" pitchFamily="34" charset="0"/>
                <a:ea typeface="Arial" pitchFamily="34" charset="-122"/>
                <a:cs typeface="Arial" pitchFamily="34" charset="-120"/>
              </a:rPr>
              <a:t>▪</a:t>
            </a:r>
            <a:endParaRPr lang="en-US" sz="1800" dirty="0"/>
          </a:p>
        </p:txBody>
      </p:sp>
      <p:sp>
        <p:nvSpPr>
          <p:cNvPr id="21" name="Text 19"/>
          <p:cNvSpPr/>
          <p:nvPr/>
        </p:nvSpPr>
        <p:spPr>
          <a:xfrm>
            <a:off x="9615562" y="4037856"/>
            <a:ext cx="8059454" cy="817513"/>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2325" b="1" dirty="0">
                <a:solidFill>
                  <a:srgbClr val="33455E"/>
                </a:solidFill>
                <a:latin typeface="Arial" pitchFamily="34" charset="0"/>
                <a:ea typeface="Arial" pitchFamily="34" charset="-122"/>
                <a:cs typeface="Arial" pitchFamily="34" charset="-120"/>
              </a:rPr>
              <a:t>Usman et al. (2020), Malaysia </a:t>
            </a:r>
            <a:r>
              <a:rPr lang="en-US" sz="2325" dirty="0">
                <a:solidFill>
                  <a:srgbClr val="1E2530"/>
                </a:solidFill>
                <a:latin typeface="Arial" pitchFamily="34" charset="0"/>
                <a:ea typeface="Arial" pitchFamily="34" charset="-122"/>
                <a:cs typeface="Arial" pitchFamily="34" charset="-120"/>
              </a:rPr>
              <a:t>— segmenting improved fit ~ </a:t>
            </a:r>
            <a:r>
              <a:rPr lang="en-US" sz="2325" b="1" dirty="0">
                <a:solidFill>
                  <a:srgbClr val="33455E"/>
                </a:solidFill>
                <a:latin typeface="Arial" pitchFamily="34" charset="0"/>
                <a:ea typeface="Arial" pitchFamily="34" charset="-122"/>
                <a:cs typeface="Arial" pitchFamily="34" charset="-120"/>
              </a:rPr>
              <a:t>7% </a:t>
            </a:r>
            <a:r>
              <a:rPr lang="en-US" sz="2325" dirty="0">
                <a:solidFill>
                  <a:srgbClr val="1E2530"/>
                </a:solidFill>
                <a:latin typeface="Arial" pitchFamily="34" charset="0"/>
                <a:ea typeface="Arial" pitchFamily="34" charset="-122"/>
                <a:cs typeface="Arial" pitchFamily="34" charset="-120"/>
              </a:rPr>
              <a:t>and cut error over </a:t>
            </a:r>
            <a:r>
              <a:rPr lang="en-US" sz="2325" b="1" dirty="0">
                <a:solidFill>
                  <a:srgbClr val="33455E"/>
                </a:solidFill>
                <a:latin typeface="Arial" pitchFamily="34" charset="0"/>
                <a:ea typeface="Arial" pitchFamily="34" charset="-122"/>
                <a:cs typeface="Arial" pitchFamily="34" charset="-120"/>
              </a:rPr>
              <a:t>10%</a:t>
            </a:r>
            <a:r>
              <a:rPr lang="en-US" sz="2325" dirty="0">
                <a:solidFill>
                  <a:srgbClr val="1E2530"/>
                </a:solidFill>
                <a:latin typeface="Arial" pitchFamily="34" charset="0"/>
                <a:ea typeface="Arial" pitchFamily="34" charset="-122"/>
                <a:cs typeface="Arial" pitchFamily="34" charset="-120"/>
              </a:rPr>
              <a:t>.</a:t>
            </a:r>
            <a:endParaRPr lang="en-US" sz="2325" dirty="0"/>
          </a:p>
        </p:txBody>
      </p:sp>
      <p:sp>
        <p:nvSpPr>
          <p:cNvPr id="22" name="Text 20"/>
          <p:cNvSpPr/>
          <p:nvPr/>
        </p:nvSpPr>
        <p:spPr>
          <a:xfrm>
            <a:off x="9401175" y="5026819"/>
            <a:ext cx="15723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b="1" dirty="0">
                <a:solidFill>
                  <a:srgbClr val="33455E"/>
                </a:solidFill>
                <a:latin typeface="Arial" pitchFamily="34" charset="0"/>
                <a:ea typeface="Arial" pitchFamily="34" charset="-122"/>
                <a:cs typeface="Arial" pitchFamily="34" charset="-120"/>
              </a:rPr>
              <a:t>▪</a:t>
            </a:r>
            <a:endParaRPr lang="en-US" sz="1800" dirty="0"/>
          </a:p>
        </p:txBody>
      </p:sp>
      <p:sp>
        <p:nvSpPr>
          <p:cNvPr id="23" name="Text 21"/>
          <p:cNvSpPr/>
          <p:nvPr/>
        </p:nvSpPr>
        <p:spPr>
          <a:xfrm>
            <a:off x="9615562" y="4969669"/>
            <a:ext cx="8059454" cy="817513"/>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2325" dirty="0">
                <a:solidFill>
                  <a:srgbClr val="1E2530"/>
                </a:solidFill>
                <a:latin typeface="Arial" pitchFamily="34" charset="0"/>
                <a:ea typeface="Arial" pitchFamily="34" charset="-122"/>
                <a:cs typeface="Arial" pitchFamily="34" charset="-120"/>
              </a:rPr>
              <a:t>Different property types are priced by different logic, so one pooled equation fits all of them worse.</a:t>
            </a:r>
            <a:endParaRPr lang="en-US" sz="2325" dirty="0"/>
          </a:p>
        </p:txBody>
      </p:sp>
    </p:spTree>
    <p:extLst>
      <p:ext uri="{BB962C8B-B14F-4D97-AF65-F5344CB8AC3E}">
        <p14:creationId xmlns:p14="http://schemas.microsoft.com/office/powerpoint/2010/main" val="40416094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33455E"/>
        </a:solidFill>
        <a:effectLst/>
      </p:bgPr>
    </p:bg>
    <p:spTree>
      <p:nvGrpSpPr>
        <p:cNvPr id="1" name=""/>
        <p:cNvGrpSpPr/>
        <p:nvPr/>
      </p:nvGrpSpPr>
      <p:grpSpPr>
        <a:xfrm>
          <a:off x="0" y="0"/>
          <a:ext cx="0" cy="0"/>
          <a:chOff x="0" y="0"/>
          <a:chExt cx="0" cy="0"/>
        </a:xfrm>
      </p:grpSpPr>
      <p:sp>
        <p:nvSpPr>
          <p:cNvPr id="2" name="Text 0"/>
          <p:cNvSpPr/>
          <p:nvPr/>
        </p:nvSpPr>
        <p:spPr>
          <a:xfrm>
            <a:off x="1238250" y="3826669"/>
            <a:ext cx="17392650" cy="914400"/>
          </a:xfrm>
          <a:prstGeom prst="rect">
            <a:avLst/>
          </a:prstGeom>
          <a:noFill/>
          <a:ln/>
        </p:spPr>
        <p:txBody>
          <a:bodyPr wrap="square" lIns="25400" tIns="25400" rIns="25400" bIns="25400" rtlCol="0" anchor="t">
            <a:normAutofit lnSpcReduction="10000"/>
          </a:bodyPr>
          <a:lstStyle/>
          <a:p>
            <a:pPr marL="0" indent="0" algn="l">
              <a:buNone/>
            </a:pPr>
            <a:r>
              <a:rPr lang="en-US" sz="6000" b="1" dirty="0">
                <a:solidFill>
                  <a:srgbClr val="5B7A99"/>
                </a:solidFill>
                <a:latin typeface="Arial" pitchFamily="34" charset="0"/>
                <a:ea typeface="Arial" pitchFamily="34" charset="-122"/>
                <a:cs typeface="Arial" pitchFamily="34" charset="-120"/>
              </a:rPr>
              <a:t>03</a:t>
            </a:r>
            <a:endParaRPr lang="en-US" sz="6000" dirty="0"/>
          </a:p>
        </p:txBody>
      </p:sp>
      <p:sp>
        <p:nvSpPr>
          <p:cNvPr id="3" name="Text 1"/>
          <p:cNvSpPr/>
          <p:nvPr/>
        </p:nvSpPr>
        <p:spPr>
          <a:xfrm>
            <a:off x="1238250" y="4779169"/>
            <a:ext cx="17392650" cy="1133475"/>
          </a:xfrm>
          <a:prstGeom prst="rect">
            <a:avLst/>
          </a:prstGeom>
          <a:noFill/>
          <a:ln/>
        </p:spPr>
        <p:txBody>
          <a:bodyPr wrap="square" lIns="25400" tIns="25400" rIns="25400" bIns="25400" rtlCol="0" anchor="t">
            <a:normAutofit lnSpcReduction="10000"/>
          </a:bodyPr>
          <a:lstStyle/>
          <a:p>
            <a:pPr marL="0" indent="0" algn="l">
              <a:buNone/>
            </a:pPr>
            <a:r>
              <a:rPr lang="en-US" sz="7500" b="1" dirty="0">
                <a:solidFill>
                  <a:srgbClr val="FFFFFF"/>
                </a:solidFill>
                <a:latin typeface="Arial" pitchFamily="34" charset="0"/>
                <a:ea typeface="Arial" pitchFamily="34" charset="-122"/>
                <a:cs typeface="Arial" pitchFamily="34" charset="-120"/>
              </a:rPr>
              <a:t>Methodology</a:t>
            </a:r>
            <a:endParaRPr lang="en-US" sz="7500" dirty="0"/>
          </a:p>
        </p:txBody>
      </p:sp>
      <p:sp>
        <p:nvSpPr>
          <p:cNvPr id="4" name="Text 2"/>
          <p:cNvSpPr/>
          <p:nvPr/>
        </p:nvSpPr>
        <p:spPr>
          <a:xfrm>
            <a:off x="1238250" y="6045994"/>
            <a:ext cx="17392650" cy="452438"/>
          </a:xfrm>
          <a:prstGeom prst="rect">
            <a:avLst/>
          </a:prstGeom>
          <a:noFill/>
          <a:ln/>
        </p:spPr>
        <p:txBody>
          <a:bodyPr wrap="square" lIns="25400" tIns="25400" rIns="25400" bIns="25400" rtlCol="0" anchor="t">
            <a:normAutofit lnSpcReduction="10000"/>
          </a:bodyPr>
          <a:lstStyle/>
          <a:p>
            <a:pPr marL="0" indent="0" algn="l">
              <a:buNone/>
            </a:pPr>
            <a:r>
              <a:rPr lang="en-US" sz="2850" dirty="0">
                <a:solidFill>
                  <a:srgbClr val="C5D2DF"/>
                </a:solidFill>
                <a:latin typeface="Arial" pitchFamily="34" charset="0"/>
                <a:ea typeface="Arial" pitchFamily="34" charset="-122"/>
                <a:cs typeface="Arial" pitchFamily="34" charset="-120"/>
              </a:rPr>
              <a:t>Data, geospatial features, modeling design</a:t>
            </a:r>
            <a:endParaRPr lang="en-US" sz="2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BFC"/>
        </a:solidFill>
        <a:effectLst/>
      </p:bgPr>
    </p:bg>
    <p:spTree>
      <p:nvGrpSpPr>
        <p:cNvPr id="1" name=""/>
        <p:cNvGrpSpPr/>
        <p:nvPr/>
      </p:nvGrpSpPr>
      <p:grpSpPr>
        <a:xfrm>
          <a:off x="0" y="0"/>
          <a:ext cx="0" cy="0"/>
          <a:chOff x="0" y="0"/>
          <a:chExt cx="0" cy="0"/>
        </a:xfrm>
      </p:grpSpPr>
      <p:sp>
        <p:nvSpPr>
          <p:cNvPr id="2" name="Text 0"/>
          <p:cNvSpPr/>
          <p:nvPr/>
        </p:nvSpPr>
        <p:spPr>
          <a:xfrm>
            <a:off x="847725" y="552450"/>
            <a:ext cx="2930589" cy="347663"/>
          </a:xfrm>
          <a:prstGeom prst="rect">
            <a:avLst/>
          </a:prstGeom>
          <a:noFill/>
          <a:ln/>
        </p:spPr>
        <p:txBody>
          <a:bodyPr wrap="square" lIns="25400" tIns="25400" rIns="25400" bIns="25400" rtlCol="0" anchor="t">
            <a:normAutofit lnSpcReduction="10000"/>
          </a:bodyPr>
          <a:lstStyle/>
          <a:p>
            <a:pPr marL="0" indent="0" algn="l">
              <a:buNone/>
            </a:pPr>
            <a:r>
              <a:rPr lang="en-US" sz="2100" b="1" kern="0" spc="84" dirty="0">
                <a:solidFill>
                  <a:srgbClr val="33455E"/>
                </a:solidFill>
                <a:latin typeface="Arial" pitchFamily="34" charset="0"/>
                <a:ea typeface="Arial" pitchFamily="34" charset="-122"/>
                <a:cs typeface="Arial" pitchFamily="34" charset="-120"/>
              </a:rPr>
              <a:t>3 · METHODOLOGY</a:t>
            </a:r>
            <a:endParaRPr lang="en-US" sz="2100" dirty="0"/>
          </a:p>
        </p:txBody>
      </p:sp>
      <p:sp>
        <p:nvSpPr>
          <p:cNvPr id="3" name="Text 1"/>
          <p:cNvSpPr/>
          <p:nvPr/>
        </p:nvSpPr>
        <p:spPr>
          <a:xfrm>
            <a:off x="16729695" y="552450"/>
            <a:ext cx="786780" cy="314325"/>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6E7686"/>
                </a:solidFill>
                <a:latin typeface="Arial" pitchFamily="34" charset="0"/>
                <a:ea typeface="Arial" pitchFamily="34" charset="-122"/>
                <a:cs typeface="Arial" pitchFamily="34" charset="-120"/>
              </a:rPr>
              <a:t>11 / 40</a:t>
            </a:r>
            <a:endParaRPr lang="en-US" sz="1875" dirty="0"/>
          </a:p>
        </p:txBody>
      </p:sp>
      <p:sp>
        <p:nvSpPr>
          <p:cNvPr id="4" name="Shape 2"/>
          <p:cNvSpPr/>
          <p:nvPr/>
        </p:nvSpPr>
        <p:spPr>
          <a:xfrm>
            <a:off x="847725" y="985838"/>
            <a:ext cx="16592550" cy="28575"/>
          </a:xfrm>
          <a:prstGeom prst="rect">
            <a:avLst/>
          </a:prstGeom>
          <a:solidFill>
            <a:srgbClr val="33455E"/>
          </a:solidFill>
          <a:ln/>
        </p:spPr>
        <p:txBody>
          <a:bodyPr/>
          <a:lstStyle/>
          <a:p>
            <a:endParaRPr lang="en-US"/>
          </a:p>
        </p:txBody>
      </p:sp>
      <p:sp>
        <p:nvSpPr>
          <p:cNvPr id="5" name="Text 3"/>
          <p:cNvSpPr/>
          <p:nvPr/>
        </p:nvSpPr>
        <p:spPr>
          <a:xfrm>
            <a:off x="847725" y="1243013"/>
            <a:ext cx="18251805" cy="55810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3900" b="1" dirty="0">
                <a:solidFill>
                  <a:srgbClr val="1E2530"/>
                </a:solidFill>
                <a:latin typeface="Arial" pitchFamily="34" charset="0"/>
                <a:ea typeface="Arial" pitchFamily="34" charset="-122"/>
                <a:cs typeface="Arial" pitchFamily="34" charset="-120"/>
              </a:rPr>
              <a:t>Research design and the data pipeline</a:t>
            </a:r>
            <a:endParaRPr lang="en-US" sz="3900" dirty="0"/>
          </a:p>
        </p:txBody>
      </p:sp>
      <p:sp>
        <p:nvSpPr>
          <p:cNvPr id="6" name="Text 4"/>
          <p:cNvSpPr/>
          <p:nvPr/>
        </p:nvSpPr>
        <p:spPr>
          <a:xfrm>
            <a:off x="847725" y="1896368"/>
            <a:ext cx="17090326" cy="720775"/>
          </a:xfrm>
          <a:prstGeom prst="rect">
            <a:avLst/>
          </a:prstGeom>
          <a:noFill/>
          <a:ln/>
        </p:spPr>
        <p:txBody>
          <a:bodyPr wrap="square" lIns="25400" tIns="25400" rIns="25400" bIns="25400" rtlCol="0" anchor="t">
            <a:normAutofit fontScale="92500" lnSpcReduction="10000"/>
          </a:bodyPr>
          <a:lstStyle/>
          <a:p>
            <a:pPr marL="0" indent="0" algn="l">
              <a:lnSpc>
                <a:spcPct val="128000"/>
              </a:lnSpc>
              <a:buNone/>
            </a:pPr>
            <a:r>
              <a:rPr lang="en-US" sz="2100" dirty="0">
                <a:solidFill>
                  <a:srgbClr val="1E2530"/>
                </a:solidFill>
                <a:latin typeface="Arial" pitchFamily="34" charset="0"/>
                <a:ea typeface="Arial" pitchFamily="34" charset="-122"/>
                <a:cs typeface="Arial" pitchFamily="34" charset="-120"/>
              </a:rPr>
              <a:t>A quantitative, non-experimental design — </a:t>
            </a:r>
            <a:r>
              <a:rPr lang="en-US" sz="2100" b="1" dirty="0">
                <a:solidFill>
                  <a:srgbClr val="33455E"/>
                </a:solidFill>
                <a:latin typeface="Arial" pitchFamily="34" charset="0"/>
                <a:ea typeface="Arial" pitchFamily="34" charset="-122"/>
                <a:cs typeface="Arial" pitchFamily="34" charset="-120"/>
              </a:rPr>
              <a:t>predictive </a:t>
            </a:r>
            <a:r>
              <a:rPr lang="en-US" sz="2100" dirty="0">
                <a:solidFill>
                  <a:srgbClr val="1E2530"/>
                </a:solidFill>
                <a:latin typeface="Arial" pitchFamily="34" charset="0"/>
                <a:ea typeface="Arial" pitchFamily="34" charset="-122"/>
                <a:cs typeface="Arial" pitchFamily="34" charset="-120"/>
              </a:rPr>
              <a:t>(estimate price) and </a:t>
            </a:r>
            <a:r>
              <a:rPr lang="en-US" sz="2100" b="1" dirty="0">
                <a:solidFill>
                  <a:srgbClr val="33455E"/>
                </a:solidFill>
                <a:latin typeface="Arial" pitchFamily="34" charset="0"/>
                <a:ea typeface="Arial" pitchFamily="34" charset="-122"/>
                <a:cs typeface="Arial" pitchFamily="34" charset="-120"/>
              </a:rPr>
              <a:t>prescriptive </a:t>
            </a:r>
            <a:r>
              <a:rPr lang="en-US" sz="2100" dirty="0">
                <a:solidFill>
                  <a:srgbClr val="1E2530"/>
                </a:solidFill>
                <a:latin typeface="Arial" pitchFamily="34" charset="0"/>
                <a:ea typeface="Arial" pitchFamily="34" charset="-122"/>
                <a:cs typeface="Arial" pitchFamily="34" charset="-120"/>
              </a:rPr>
              <a:t>(surface the benchmark gap). Target: price per square meter, validated by a licensed broker.</a:t>
            </a:r>
            <a:endParaRPr lang="en-US" sz="2100" dirty="0"/>
          </a:p>
        </p:txBody>
      </p:sp>
      <p:sp>
        <p:nvSpPr>
          <p:cNvPr id="7" name="Shape 5"/>
          <p:cNvSpPr/>
          <p:nvPr/>
        </p:nvSpPr>
        <p:spPr>
          <a:xfrm>
            <a:off x="847725" y="2750493"/>
            <a:ext cx="6968803" cy="523875"/>
          </a:xfrm>
          <a:prstGeom prst="rect">
            <a:avLst/>
          </a:prstGeom>
          <a:solidFill>
            <a:srgbClr val="33455E"/>
          </a:solidFill>
          <a:ln/>
        </p:spPr>
        <p:txBody>
          <a:bodyPr/>
          <a:lstStyle/>
          <a:p>
            <a:endParaRPr lang="en-US"/>
          </a:p>
        </p:txBody>
      </p:sp>
      <p:sp>
        <p:nvSpPr>
          <p:cNvPr id="8" name="Text 6"/>
          <p:cNvSpPr/>
          <p:nvPr/>
        </p:nvSpPr>
        <p:spPr>
          <a:xfrm>
            <a:off x="1019175" y="2874318"/>
            <a:ext cx="6834967" cy="314325"/>
          </a:xfrm>
          <a:prstGeom prst="rect">
            <a:avLst/>
          </a:prstGeom>
          <a:noFill/>
          <a:ln/>
        </p:spPr>
        <p:txBody>
          <a:bodyPr wrap="square" lIns="25400" tIns="25400" rIns="25400" bIns="25400" rtlCol="0" anchor="ctr">
            <a:normAutofit lnSpcReduction="10000"/>
          </a:bodyPr>
          <a:lstStyle/>
          <a:p>
            <a:pPr marL="0" indent="0" algn="l">
              <a:buNone/>
            </a:pPr>
            <a:r>
              <a:rPr lang="en-US" sz="1875" b="1" dirty="0">
                <a:solidFill>
                  <a:srgbClr val="FFFFFF"/>
                </a:solidFill>
                <a:latin typeface="Arial" pitchFamily="34" charset="0"/>
                <a:ea typeface="Arial" pitchFamily="34" charset="-122"/>
                <a:cs typeface="Arial" pitchFamily="34" charset="-120"/>
              </a:rPr>
              <a:t>Source</a:t>
            </a:r>
            <a:endParaRPr lang="en-US" sz="1875" dirty="0"/>
          </a:p>
        </p:txBody>
      </p:sp>
      <p:sp>
        <p:nvSpPr>
          <p:cNvPr id="9" name="Shape 7"/>
          <p:cNvSpPr/>
          <p:nvPr/>
        </p:nvSpPr>
        <p:spPr>
          <a:xfrm>
            <a:off x="7816528" y="2750493"/>
            <a:ext cx="9623747" cy="523875"/>
          </a:xfrm>
          <a:prstGeom prst="rect">
            <a:avLst/>
          </a:prstGeom>
          <a:solidFill>
            <a:srgbClr val="33455E"/>
          </a:solidFill>
          <a:ln/>
        </p:spPr>
        <p:txBody>
          <a:bodyPr/>
          <a:lstStyle/>
          <a:p>
            <a:endParaRPr lang="en-US"/>
          </a:p>
        </p:txBody>
      </p:sp>
      <p:sp>
        <p:nvSpPr>
          <p:cNvPr id="10" name="Text 8"/>
          <p:cNvSpPr/>
          <p:nvPr/>
        </p:nvSpPr>
        <p:spPr>
          <a:xfrm>
            <a:off x="7987978" y="2874318"/>
            <a:ext cx="9569560" cy="314325"/>
          </a:xfrm>
          <a:prstGeom prst="rect">
            <a:avLst/>
          </a:prstGeom>
          <a:noFill/>
          <a:ln/>
        </p:spPr>
        <p:txBody>
          <a:bodyPr wrap="square" lIns="25400" tIns="25400" rIns="25400" bIns="25400" rtlCol="0" anchor="ctr">
            <a:normAutofit lnSpcReduction="10000"/>
          </a:bodyPr>
          <a:lstStyle/>
          <a:p>
            <a:pPr marL="0" indent="0" algn="l">
              <a:buNone/>
            </a:pPr>
            <a:r>
              <a:rPr lang="en-US" sz="1875" b="1" dirty="0">
                <a:solidFill>
                  <a:srgbClr val="FFFFFF"/>
                </a:solidFill>
                <a:latin typeface="Arial" pitchFamily="34" charset="0"/>
                <a:ea typeface="Arial" pitchFamily="34" charset="-122"/>
                <a:cs typeface="Arial" pitchFamily="34" charset="-120"/>
              </a:rPr>
              <a:t>Role in the study</a:t>
            </a:r>
            <a:endParaRPr lang="en-US" sz="1875" dirty="0"/>
          </a:p>
        </p:txBody>
      </p:sp>
      <p:sp>
        <p:nvSpPr>
          <p:cNvPr id="11" name="Shape 9"/>
          <p:cNvSpPr/>
          <p:nvPr/>
        </p:nvSpPr>
        <p:spPr>
          <a:xfrm>
            <a:off x="847725" y="3274368"/>
            <a:ext cx="6968803" cy="509587"/>
          </a:xfrm>
          <a:prstGeom prst="rect">
            <a:avLst/>
          </a:prstGeom>
          <a:solidFill>
            <a:srgbClr val="F1F4F7"/>
          </a:solidFill>
          <a:ln/>
        </p:spPr>
        <p:txBody>
          <a:bodyPr/>
          <a:lstStyle/>
          <a:p>
            <a:endParaRPr lang="en-US"/>
          </a:p>
        </p:txBody>
      </p:sp>
      <p:sp>
        <p:nvSpPr>
          <p:cNvPr id="12" name="Shape 10"/>
          <p:cNvSpPr/>
          <p:nvPr/>
        </p:nvSpPr>
        <p:spPr>
          <a:xfrm>
            <a:off x="847725" y="3774430"/>
            <a:ext cx="6968803" cy="9525"/>
          </a:xfrm>
          <a:prstGeom prst="rect">
            <a:avLst/>
          </a:prstGeom>
          <a:solidFill>
            <a:srgbClr val="DCE2E9"/>
          </a:solidFill>
          <a:ln/>
        </p:spPr>
        <p:txBody>
          <a:bodyPr/>
          <a:lstStyle/>
          <a:p>
            <a:endParaRPr lang="en-US"/>
          </a:p>
        </p:txBody>
      </p:sp>
      <p:sp>
        <p:nvSpPr>
          <p:cNvPr id="13" name="Text 11"/>
          <p:cNvSpPr/>
          <p:nvPr/>
        </p:nvSpPr>
        <p:spPr>
          <a:xfrm>
            <a:off x="1019175" y="3388668"/>
            <a:ext cx="6834967" cy="309562"/>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1E2530"/>
                </a:solidFill>
                <a:latin typeface="Arial" pitchFamily="34" charset="0"/>
                <a:ea typeface="Arial" pitchFamily="34" charset="-122"/>
                <a:cs typeface="Arial" pitchFamily="34" charset="-120"/>
              </a:rPr>
              <a:t>Lamudi, FilipinoHomes, DotProperty</a:t>
            </a:r>
            <a:endParaRPr lang="en-US" sz="1875" dirty="0"/>
          </a:p>
        </p:txBody>
      </p:sp>
      <p:sp>
        <p:nvSpPr>
          <p:cNvPr id="14" name="Shape 12"/>
          <p:cNvSpPr/>
          <p:nvPr/>
        </p:nvSpPr>
        <p:spPr>
          <a:xfrm>
            <a:off x="7816528" y="3274368"/>
            <a:ext cx="9623747" cy="509587"/>
          </a:xfrm>
          <a:prstGeom prst="rect">
            <a:avLst/>
          </a:prstGeom>
          <a:solidFill>
            <a:srgbClr val="F1F4F7"/>
          </a:solidFill>
          <a:ln/>
        </p:spPr>
        <p:txBody>
          <a:bodyPr/>
          <a:lstStyle/>
          <a:p>
            <a:endParaRPr lang="en-US"/>
          </a:p>
        </p:txBody>
      </p:sp>
      <p:sp>
        <p:nvSpPr>
          <p:cNvPr id="15" name="Shape 13"/>
          <p:cNvSpPr/>
          <p:nvPr/>
        </p:nvSpPr>
        <p:spPr>
          <a:xfrm>
            <a:off x="7816528" y="3774430"/>
            <a:ext cx="9623747" cy="9525"/>
          </a:xfrm>
          <a:prstGeom prst="rect">
            <a:avLst/>
          </a:prstGeom>
          <a:solidFill>
            <a:srgbClr val="DCE2E9"/>
          </a:solidFill>
          <a:ln/>
        </p:spPr>
        <p:txBody>
          <a:bodyPr/>
          <a:lstStyle/>
          <a:p>
            <a:endParaRPr lang="en-US"/>
          </a:p>
        </p:txBody>
      </p:sp>
      <p:sp>
        <p:nvSpPr>
          <p:cNvPr id="16" name="Text 14"/>
          <p:cNvSpPr/>
          <p:nvPr/>
        </p:nvSpPr>
        <p:spPr>
          <a:xfrm>
            <a:off x="7987978" y="3388668"/>
            <a:ext cx="9569560" cy="309562"/>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1E2530"/>
                </a:solidFill>
                <a:latin typeface="Arial" pitchFamily="34" charset="0"/>
                <a:ea typeface="Arial" pitchFamily="34" charset="-122"/>
                <a:cs typeface="Arial" pitchFamily="34" charset="-120"/>
              </a:rPr>
              <a:t>Open-market listings — the training data</a:t>
            </a:r>
            <a:endParaRPr lang="en-US" sz="1875" dirty="0"/>
          </a:p>
        </p:txBody>
      </p:sp>
      <p:sp>
        <p:nvSpPr>
          <p:cNvPr id="17" name="Shape 15"/>
          <p:cNvSpPr/>
          <p:nvPr/>
        </p:nvSpPr>
        <p:spPr>
          <a:xfrm>
            <a:off x="847725" y="4288780"/>
            <a:ext cx="6968803" cy="9525"/>
          </a:xfrm>
          <a:prstGeom prst="rect">
            <a:avLst/>
          </a:prstGeom>
          <a:solidFill>
            <a:srgbClr val="DCE2E9"/>
          </a:solidFill>
          <a:ln/>
        </p:spPr>
        <p:txBody>
          <a:bodyPr/>
          <a:lstStyle/>
          <a:p>
            <a:endParaRPr lang="en-US"/>
          </a:p>
        </p:txBody>
      </p:sp>
      <p:sp>
        <p:nvSpPr>
          <p:cNvPr id="18" name="Text 16"/>
          <p:cNvSpPr/>
          <p:nvPr/>
        </p:nvSpPr>
        <p:spPr>
          <a:xfrm>
            <a:off x="1019175" y="3898255"/>
            <a:ext cx="6834967" cy="314325"/>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1E2530"/>
                </a:solidFill>
                <a:latin typeface="Arial" pitchFamily="34" charset="0"/>
                <a:ea typeface="Arial" pitchFamily="34" charset="-122"/>
                <a:cs typeface="Arial" pitchFamily="34" charset="-120"/>
              </a:rPr>
              <a:t>BIR zonal values</a:t>
            </a:r>
            <a:endParaRPr lang="en-US" sz="1875" dirty="0"/>
          </a:p>
        </p:txBody>
      </p:sp>
      <p:sp>
        <p:nvSpPr>
          <p:cNvPr id="19" name="Shape 17"/>
          <p:cNvSpPr/>
          <p:nvPr/>
        </p:nvSpPr>
        <p:spPr>
          <a:xfrm>
            <a:off x="7816528" y="4288780"/>
            <a:ext cx="9623747" cy="9525"/>
          </a:xfrm>
          <a:prstGeom prst="rect">
            <a:avLst/>
          </a:prstGeom>
          <a:solidFill>
            <a:srgbClr val="DCE2E9"/>
          </a:solidFill>
          <a:ln/>
        </p:spPr>
        <p:txBody>
          <a:bodyPr/>
          <a:lstStyle/>
          <a:p>
            <a:endParaRPr lang="en-US"/>
          </a:p>
        </p:txBody>
      </p:sp>
      <p:sp>
        <p:nvSpPr>
          <p:cNvPr id="20" name="Text 18"/>
          <p:cNvSpPr/>
          <p:nvPr/>
        </p:nvSpPr>
        <p:spPr>
          <a:xfrm>
            <a:off x="7987978" y="3898255"/>
            <a:ext cx="9569560" cy="314325"/>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1E2530"/>
                </a:solidFill>
                <a:latin typeface="Arial" pitchFamily="34" charset="0"/>
                <a:ea typeface="Arial" pitchFamily="34" charset="-122"/>
                <a:cs typeface="Arial" pitchFamily="34" charset="-120"/>
              </a:rPr>
              <a:t>Administrative benchmark — the valuation-gap diagnostic</a:t>
            </a:r>
            <a:endParaRPr lang="en-US" sz="1875" dirty="0"/>
          </a:p>
        </p:txBody>
      </p:sp>
      <p:sp>
        <p:nvSpPr>
          <p:cNvPr id="21" name="Shape 19"/>
          <p:cNvSpPr/>
          <p:nvPr/>
        </p:nvSpPr>
        <p:spPr>
          <a:xfrm>
            <a:off x="847725" y="4298305"/>
            <a:ext cx="6968803" cy="514350"/>
          </a:xfrm>
          <a:prstGeom prst="rect">
            <a:avLst/>
          </a:prstGeom>
          <a:solidFill>
            <a:srgbClr val="F1F4F7"/>
          </a:solidFill>
          <a:ln/>
        </p:spPr>
        <p:txBody>
          <a:bodyPr/>
          <a:lstStyle/>
          <a:p>
            <a:endParaRPr lang="en-US"/>
          </a:p>
        </p:txBody>
      </p:sp>
      <p:sp>
        <p:nvSpPr>
          <p:cNvPr id="22" name="Shape 20"/>
          <p:cNvSpPr/>
          <p:nvPr/>
        </p:nvSpPr>
        <p:spPr>
          <a:xfrm>
            <a:off x="847725" y="4803130"/>
            <a:ext cx="6968803" cy="9525"/>
          </a:xfrm>
          <a:prstGeom prst="rect">
            <a:avLst/>
          </a:prstGeom>
          <a:solidFill>
            <a:srgbClr val="DCE2E9"/>
          </a:solidFill>
          <a:ln/>
        </p:spPr>
        <p:txBody>
          <a:bodyPr/>
          <a:lstStyle/>
          <a:p>
            <a:endParaRPr lang="en-US"/>
          </a:p>
        </p:txBody>
      </p:sp>
      <p:sp>
        <p:nvSpPr>
          <p:cNvPr id="23" name="Text 21"/>
          <p:cNvSpPr/>
          <p:nvPr/>
        </p:nvSpPr>
        <p:spPr>
          <a:xfrm>
            <a:off x="1019175" y="4412605"/>
            <a:ext cx="6834967" cy="314325"/>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1E2530"/>
                </a:solidFill>
                <a:latin typeface="Arial" pitchFamily="34" charset="0"/>
                <a:ea typeface="Arial" pitchFamily="34" charset="-122"/>
                <a:cs typeface="Arial" pitchFamily="34" charset="-120"/>
              </a:rPr>
              <a:t>Google Maps &amp; OpenStreetMap</a:t>
            </a:r>
            <a:endParaRPr lang="en-US" sz="1875" dirty="0"/>
          </a:p>
        </p:txBody>
      </p:sp>
      <p:sp>
        <p:nvSpPr>
          <p:cNvPr id="24" name="Shape 22"/>
          <p:cNvSpPr/>
          <p:nvPr/>
        </p:nvSpPr>
        <p:spPr>
          <a:xfrm>
            <a:off x="7816528" y="4298305"/>
            <a:ext cx="9623747" cy="514350"/>
          </a:xfrm>
          <a:prstGeom prst="rect">
            <a:avLst/>
          </a:prstGeom>
          <a:solidFill>
            <a:srgbClr val="F1F4F7"/>
          </a:solidFill>
          <a:ln/>
        </p:spPr>
        <p:txBody>
          <a:bodyPr/>
          <a:lstStyle/>
          <a:p>
            <a:endParaRPr lang="en-US"/>
          </a:p>
        </p:txBody>
      </p:sp>
      <p:sp>
        <p:nvSpPr>
          <p:cNvPr id="25" name="Shape 23"/>
          <p:cNvSpPr/>
          <p:nvPr/>
        </p:nvSpPr>
        <p:spPr>
          <a:xfrm>
            <a:off x="7816528" y="4803130"/>
            <a:ext cx="9623747" cy="9525"/>
          </a:xfrm>
          <a:prstGeom prst="rect">
            <a:avLst/>
          </a:prstGeom>
          <a:solidFill>
            <a:srgbClr val="DCE2E9"/>
          </a:solidFill>
          <a:ln/>
        </p:spPr>
        <p:txBody>
          <a:bodyPr/>
          <a:lstStyle/>
          <a:p>
            <a:endParaRPr lang="en-US"/>
          </a:p>
        </p:txBody>
      </p:sp>
      <p:sp>
        <p:nvSpPr>
          <p:cNvPr id="26" name="Text 24"/>
          <p:cNvSpPr/>
          <p:nvPr/>
        </p:nvSpPr>
        <p:spPr>
          <a:xfrm>
            <a:off x="7987978" y="4412605"/>
            <a:ext cx="9569560" cy="314325"/>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1E2530"/>
                </a:solidFill>
                <a:latin typeface="Arial" pitchFamily="34" charset="0"/>
                <a:ea typeface="Arial" pitchFamily="34" charset="-122"/>
                <a:cs typeface="Arial" pitchFamily="34" charset="-120"/>
              </a:rPr>
              <a:t>Points of interest and geocoding for MCRAI</a:t>
            </a:r>
            <a:endParaRPr lang="en-US" sz="1875" dirty="0"/>
          </a:p>
        </p:txBody>
      </p:sp>
      <p:sp>
        <p:nvSpPr>
          <p:cNvPr id="27" name="Shape 25"/>
          <p:cNvSpPr/>
          <p:nvPr/>
        </p:nvSpPr>
        <p:spPr>
          <a:xfrm>
            <a:off x="847725" y="5317480"/>
            <a:ext cx="6968803" cy="9525"/>
          </a:xfrm>
          <a:prstGeom prst="rect">
            <a:avLst/>
          </a:prstGeom>
          <a:solidFill>
            <a:srgbClr val="DCE2E9"/>
          </a:solidFill>
          <a:ln/>
        </p:spPr>
        <p:txBody>
          <a:bodyPr/>
          <a:lstStyle/>
          <a:p>
            <a:endParaRPr lang="en-US"/>
          </a:p>
        </p:txBody>
      </p:sp>
      <p:sp>
        <p:nvSpPr>
          <p:cNvPr id="28" name="Text 26"/>
          <p:cNvSpPr/>
          <p:nvPr/>
        </p:nvSpPr>
        <p:spPr>
          <a:xfrm>
            <a:off x="1019175" y="4926955"/>
            <a:ext cx="6834967" cy="314325"/>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1E2530"/>
                </a:solidFill>
                <a:latin typeface="Arial" pitchFamily="34" charset="0"/>
                <a:ea typeface="Arial" pitchFamily="34" charset="-122"/>
                <a:cs typeface="Arial" pitchFamily="34" charset="-120"/>
              </a:rPr>
              <a:t>Road network via osmnx</a:t>
            </a:r>
            <a:endParaRPr lang="en-US" sz="1875" dirty="0"/>
          </a:p>
        </p:txBody>
      </p:sp>
      <p:sp>
        <p:nvSpPr>
          <p:cNvPr id="29" name="Shape 27"/>
          <p:cNvSpPr/>
          <p:nvPr/>
        </p:nvSpPr>
        <p:spPr>
          <a:xfrm>
            <a:off x="7816528" y="5317480"/>
            <a:ext cx="9623747" cy="9525"/>
          </a:xfrm>
          <a:prstGeom prst="rect">
            <a:avLst/>
          </a:prstGeom>
          <a:solidFill>
            <a:srgbClr val="DCE2E9"/>
          </a:solidFill>
          <a:ln/>
        </p:spPr>
        <p:txBody>
          <a:bodyPr/>
          <a:lstStyle/>
          <a:p>
            <a:endParaRPr lang="en-US"/>
          </a:p>
        </p:txBody>
      </p:sp>
      <p:sp>
        <p:nvSpPr>
          <p:cNvPr id="30" name="Text 28"/>
          <p:cNvSpPr/>
          <p:nvPr/>
        </p:nvSpPr>
        <p:spPr>
          <a:xfrm>
            <a:off x="7987978" y="4926955"/>
            <a:ext cx="9569560" cy="314325"/>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1E2530"/>
                </a:solidFill>
                <a:latin typeface="Arial" pitchFamily="34" charset="0"/>
                <a:ea typeface="Arial" pitchFamily="34" charset="-122"/>
                <a:cs typeface="Arial" pitchFamily="34" charset="-120"/>
              </a:rPr>
              <a:t>Network distances to economic nodes</a:t>
            </a:r>
            <a:endParaRPr lang="en-US" sz="1875" dirty="0"/>
          </a:p>
        </p:txBody>
      </p:sp>
      <p:pic>
        <p:nvPicPr>
          <p:cNvPr id="31" name="Image 0" descr="preencoded.png"/>
          <p:cNvPicPr>
            <a:picLocks noChangeAspect="1"/>
          </p:cNvPicPr>
          <p:nvPr/>
        </p:nvPicPr>
        <p:blipFill>
          <a:blip r:embed="rId3"/>
          <a:srcRect l="-23429" r="-23429"/>
          <a:stretch/>
        </p:blipFill>
        <p:spPr>
          <a:xfrm>
            <a:off x="847725" y="5503218"/>
            <a:ext cx="16592550" cy="4250382"/>
          </a:xfrm>
          <a:prstGeom prst="rect">
            <a:avLst/>
          </a:prstGeom>
        </p:spPr>
      </p:pic>
    </p:spTree>
    <p:extLst>
      <p:ext uri="{BB962C8B-B14F-4D97-AF65-F5344CB8AC3E}">
        <p14:creationId xmlns:p14="http://schemas.microsoft.com/office/powerpoint/2010/main" val="28538201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BFC"/>
        </a:solidFill>
        <a:effectLst/>
      </p:bgPr>
    </p:bg>
    <p:spTree>
      <p:nvGrpSpPr>
        <p:cNvPr id="1" name=""/>
        <p:cNvGrpSpPr/>
        <p:nvPr/>
      </p:nvGrpSpPr>
      <p:grpSpPr>
        <a:xfrm>
          <a:off x="0" y="0"/>
          <a:ext cx="0" cy="0"/>
          <a:chOff x="0" y="0"/>
          <a:chExt cx="0" cy="0"/>
        </a:xfrm>
      </p:grpSpPr>
      <p:sp>
        <p:nvSpPr>
          <p:cNvPr id="2" name="Text 0"/>
          <p:cNvSpPr/>
          <p:nvPr/>
        </p:nvSpPr>
        <p:spPr>
          <a:xfrm>
            <a:off x="847725" y="552450"/>
            <a:ext cx="2930589" cy="347663"/>
          </a:xfrm>
          <a:prstGeom prst="rect">
            <a:avLst/>
          </a:prstGeom>
          <a:noFill/>
          <a:ln/>
        </p:spPr>
        <p:txBody>
          <a:bodyPr wrap="square" lIns="25400" tIns="25400" rIns="25400" bIns="25400" rtlCol="0" anchor="t">
            <a:normAutofit lnSpcReduction="10000"/>
          </a:bodyPr>
          <a:lstStyle/>
          <a:p>
            <a:pPr marL="0" indent="0" algn="l">
              <a:buNone/>
            </a:pPr>
            <a:r>
              <a:rPr lang="en-US" sz="2100" b="1" kern="0" spc="84" dirty="0">
                <a:solidFill>
                  <a:srgbClr val="33455E"/>
                </a:solidFill>
                <a:latin typeface="Arial" pitchFamily="34" charset="0"/>
                <a:ea typeface="Arial" pitchFamily="34" charset="-122"/>
                <a:cs typeface="Arial" pitchFamily="34" charset="-120"/>
              </a:rPr>
              <a:t>3 · METHODOLOGY</a:t>
            </a:r>
            <a:endParaRPr lang="en-US" sz="2100" dirty="0"/>
          </a:p>
        </p:txBody>
      </p:sp>
      <p:sp>
        <p:nvSpPr>
          <p:cNvPr id="3" name="Text 1"/>
          <p:cNvSpPr/>
          <p:nvPr/>
        </p:nvSpPr>
        <p:spPr>
          <a:xfrm>
            <a:off x="16712059" y="552450"/>
            <a:ext cx="804416" cy="314325"/>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6E7686"/>
                </a:solidFill>
                <a:latin typeface="Arial" pitchFamily="34" charset="0"/>
                <a:ea typeface="Arial" pitchFamily="34" charset="-122"/>
                <a:cs typeface="Arial" pitchFamily="34" charset="-120"/>
              </a:rPr>
              <a:t>12 / 40</a:t>
            </a:r>
            <a:endParaRPr lang="en-US" sz="1875" dirty="0"/>
          </a:p>
        </p:txBody>
      </p:sp>
      <p:sp>
        <p:nvSpPr>
          <p:cNvPr id="4" name="Shape 2"/>
          <p:cNvSpPr/>
          <p:nvPr/>
        </p:nvSpPr>
        <p:spPr>
          <a:xfrm>
            <a:off x="847725" y="985838"/>
            <a:ext cx="16592550" cy="28575"/>
          </a:xfrm>
          <a:prstGeom prst="rect">
            <a:avLst/>
          </a:prstGeom>
          <a:solidFill>
            <a:srgbClr val="33455E"/>
          </a:solidFill>
          <a:ln/>
        </p:spPr>
        <p:txBody>
          <a:bodyPr/>
          <a:lstStyle/>
          <a:p>
            <a:endParaRPr lang="en-US"/>
          </a:p>
        </p:txBody>
      </p:sp>
      <p:sp>
        <p:nvSpPr>
          <p:cNvPr id="5" name="Text 3"/>
          <p:cNvSpPr/>
          <p:nvPr/>
        </p:nvSpPr>
        <p:spPr>
          <a:xfrm>
            <a:off x="847725" y="1243013"/>
            <a:ext cx="18251805" cy="55810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3900" b="1" dirty="0">
                <a:solidFill>
                  <a:srgbClr val="1E2530"/>
                </a:solidFill>
                <a:latin typeface="Arial" pitchFamily="34" charset="0"/>
                <a:ea typeface="Arial" pitchFamily="34" charset="-122"/>
                <a:cs typeface="Arial" pitchFamily="34" charset="-120"/>
              </a:rPr>
              <a:t>Geospatial features — distance to economic centers</a:t>
            </a:r>
            <a:endParaRPr lang="en-US" sz="3900" dirty="0"/>
          </a:p>
        </p:txBody>
      </p:sp>
      <p:sp>
        <p:nvSpPr>
          <p:cNvPr id="6" name="Text 4"/>
          <p:cNvSpPr/>
          <p:nvPr/>
        </p:nvSpPr>
        <p:spPr>
          <a:xfrm>
            <a:off x="847725" y="4023643"/>
            <a:ext cx="15723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b="1" dirty="0">
                <a:solidFill>
                  <a:srgbClr val="33455E"/>
                </a:solidFill>
                <a:latin typeface="Arial" pitchFamily="34" charset="0"/>
                <a:ea typeface="Arial" pitchFamily="34" charset="-122"/>
                <a:cs typeface="Arial" pitchFamily="34" charset="-120"/>
              </a:rPr>
              <a:t>▪</a:t>
            </a:r>
            <a:endParaRPr lang="en-US" sz="1800" dirty="0"/>
          </a:p>
        </p:txBody>
      </p:sp>
      <p:sp>
        <p:nvSpPr>
          <p:cNvPr id="7" name="Text 5"/>
          <p:cNvSpPr/>
          <p:nvPr/>
        </p:nvSpPr>
        <p:spPr>
          <a:xfrm>
            <a:off x="1062112" y="3966493"/>
            <a:ext cx="7706267" cy="817513"/>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2325" dirty="0">
                <a:solidFill>
                  <a:srgbClr val="1E2530"/>
                </a:solidFill>
                <a:latin typeface="Arial" pitchFamily="34" charset="0"/>
                <a:ea typeface="Arial" pitchFamily="34" charset="-122"/>
                <a:cs typeface="Arial" pitchFamily="34" charset="-120"/>
              </a:rPr>
              <a:t>Shortest-path </a:t>
            </a:r>
            <a:r>
              <a:rPr lang="en-US" sz="2325" b="1" dirty="0">
                <a:solidFill>
                  <a:srgbClr val="33455E"/>
                </a:solidFill>
                <a:latin typeface="Arial" pitchFamily="34" charset="0"/>
                <a:ea typeface="Arial" pitchFamily="34" charset="-122"/>
                <a:cs typeface="Arial" pitchFamily="34" charset="-120"/>
              </a:rPr>
              <a:t>road-network distance </a:t>
            </a:r>
            <a:r>
              <a:rPr lang="en-US" sz="2325" dirty="0">
                <a:solidFill>
                  <a:srgbClr val="1E2530"/>
                </a:solidFill>
                <a:latin typeface="Arial" pitchFamily="34" charset="0"/>
                <a:ea typeface="Arial" pitchFamily="34" charset="-122"/>
                <a:cs typeface="Arial" pitchFamily="34" charset="-120"/>
              </a:rPr>
              <a:t>(not straight-line) to </a:t>
            </a:r>
            <a:r>
              <a:rPr lang="en-US" sz="2325" b="1" dirty="0">
                <a:solidFill>
                  <a:srgbClr val="33455E"/>
                </a:solidFill>
                <a:latin typeface="Arial" pitchFamily="34" charset="0"/>
                <a:ea typeface="Arial" pitchFamily="34" charset="-122"/>
                <a:cs typeface="Arial" pitchFamily="34" charset="-120"/>
              </a:rPr>
              <a:t>eight </a:t>
            </a:r>
            <a:r>
              <a:rPr lang="en-US" sz="2325" dirty="0">
                <a:solidFill>
                  <a:srgbClr val="1E2530"/>
                </a:solidFill>
                <a:latin typeface="Arial" pitchFamily="34" charset="0"/>
                <a:ea typeface="Arial" pitchFamily="34" charset="-122"/>
                <a:cs typeface="Arial" pitchFamily="34" charset="-120"/>
              </a:rPr>
              <a:t>economic nodes.</a:t>
            </a:r>
            <a:endParaRPr lang="en-US" sz="2325" dirty="0"/>
          </a:p>
        </p:txBody>
      </p:sp>
      <p:sp>
        <p:nvSpPr>
          <p:cNvPr id="8" name="Text 6"/>
          <p:cNvSpPr/>
          <p:nvPr/>
        </p:nvSpPr>
        <p:spPr>
          <a:xfrm>
            <a:off x="847725" y="4955456"/>
            <a:ext cx="15723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b="1" dirty="0">
                <a:solidFill>
                  <a:srgbClr val="33455E"/>
                </a:solidFill>
                <a:latin typeface="Arial" pitchFamily="34" charset="0"/>
                <a:ea typeface="Arial" pitchFamily="34" charset="-122"/>
                <a:cs typeface="Arial" pitchFamily="34" charset="-120"/>
              </a:rPr>
              <a:t>▪</a:t>
            </a:r>
            <a:endParaRPr lang="en-US" sz="1800" dirty="0"/>
          </a:p>
        </p:txBody>
      </p:sp>
      <p:sp>
        <p:nvSpPr>
          <p:cNvPr id="9" name="Text 7"/>
          <p:cNvSpPr/>
          <p:nvPr/>
        </p:nvSpPr>
        <p:spPr>
          <a:xfrm>
            <a:off x="1062112" y="4898306"/>
            <a:ext cx="7706267" cy="1207219"/>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2325" dirty="0">
                <a:solidFill>
                  <a:srgbClr val="1E2530"/>
                </a:solidFill>
                <a:latin typeface="Arial" pitchFamily="34" charset="0"/>
                <a:ea typeface="Arial" pitchFamily="34" charset="-122"/>
                <a:cs typeface="Arial" pitchFamily="34" charset="-120"/>
              </a:rPr>
              <a:t>Nodes: Cebu Business Park, Mandaue CBD, Mactan CBD, SRP, Talisay Tabunok, Consolacion, Naga City (anchor), and the airport.</a:t>
            </a:r>
            <a:endParaRPr lang="en-US" sz="2325" dirty="0"/>
          </a:p>
        </p:txBody>
      </p:sp>
      <p:sp>
        <p:nvSpPr>
          <p:cNvPr id="10" name="Text 8"/>
          <p:cNvSpPr/>
          <p:nvPr/>
        </p:nvSpPr>
        <p:spPr>
          <a:xfrm>
            <a:off x="847725" y="6276975"/>
            <a:ext cx="15723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b="1" dirty="0">
                <a:solidFill>
                  <a:srgbClr val="33455E"/>
                </a:solidFill>
                <a:latin typeface="Arial" pitchFamily="34" charset="0"/>
                <a:ea typeface="Arial" pitchFamily="34" charset="-122"/>
                <a:cs typeface="Arial" pitchFamily="34" charset="-120"/>
              </a:rPr>
              <a:t>▪</a:t>
            </a:r>
            <a:endParaRPr lang="en-US" sz="1800" dirty="0"/>
          </a:p>
        </p:txBody>
      </p:sp>
      <p:sp>
        <p:nvSpPr>
          <p:cNvPr id="11" name="Text 9"/>
          <p:cNvSpPr/>
          <p:nvPr/>
        </p:nvSpPr>
        <p:spPr>
          <a:xfrm>
            <a:off x="1062112" y="6219825"/>
            <a:ext cx="7706267" cy="817513"/>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2325" dirty="0">
                <a:solidFill>
                  <a:srgbClr val="1E2530"/>
                </a:solidFill>
                <a:latin typeface="Arial" pitchFamily="34" charset="0"/>
                <a:ea typeface="Arial" pitchFamily="34" charset="-122"/>
                <a:cs typeface="Arial" pitchFamily="34" charset="-120"/>
              </a:rPr>
              <a:t>Grounded in polycentric urban economics. </a:t>
            </a:r>
            <a:r>
              <a:rPr lang="en-US" sz="2325" i="1" dirty="0">
                <a:solidFill>
                  <a:srgbClr val="979FAD"/>
                </a:solidFill>
                <a:latin typeface="Arial" pitchFamily="34" charset="0"/>
                <a:ea typeface="Arial" pitchFamily="34" charset="-122"/>
                <a:cs typeface="Arial" pitchFamily="34" charset="-120"/>
              </a:rPr>
              <a:t>(Giuliano &amp; Small, 1991; McMillen, 2003; JICA, 2015)</a:t>
            </a:r>
            <a:endParaRPr lang="en-US" sz="2325" dirty="0"/>
          </a:p>
        </p:txBody>
      </p:sp>
      <p:sp>
        <p:nvSpPr>
          <p:cNvPr id="12" name="Text 10"/>
          <p:cNvSpPr/>
          <p:nvPr/>
        </p:nvSpPr>
        <p:spPr>
          <a:xfrm>
            <a:off x="847725" y="7208788"/>
            <a:ext cx="15723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b="1" dirty="0">
                <a:solidFill>
                  <a:srgbClr val="33455E"/>
                </a:solidFill>
                <a:latin typeface="Arial" pitchFamily="34" charset="0"/>
                <a:ea typeface="Arial" pitchFamily="34" charset="-122"/>
                <a:cs typeface="Arial" pitchFamily="34" charset="-120"/>
              </a:rPr>
              <a:t>▪</a:t>
            </a:r>
            <a:endParaRPr lang="en-US" sz="1800" dirty="0"/>
          </a:p>
        </p:txBody>
      </p:sp>
      <p:sp>
        <p:nvSpPr>
          <p:cNvPr id="13" name="Text 11"/>
          <p:cNvSpPr/>
          <p:nvPr/>
        </p:nvSpPr>
        <p:spPr>
          <a:xfrm>
            <a:off x="1062112" y="7151638"/>
            <a:ext cx="7706267" cy="817513"/>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2325" dirty="0">
                <a:solidFill>
                  <a:srgbClr val="1E2530"/>
                </a:solidFill>
                <a:latin typeface="Arial" pitchFamily="34" charset="0"/>
                <a:ea typeface="Arial" pitchFamily="34" charset="-122"/>
                <a:cs typeface="Arial" pitchFamily="34" charset="-120"/>
              </a:rPr>
              <a:t>Road distance captures real travel cost — including the Mactan bridge crossing.</a:t>
            </a:r>
            <a:endParaRPr lang="en-US" sz="2325" dirty="0"/>
          </a:p>
        </p:txBody>
      </p:sp>
      <p:pic>
        <p:nvPicPr>
          <p:cNvPr id="14" name="Image 0" descr="preencoded.png"/>
          <p:cNvPicPr>
            <a:picLocks noChangeAspect="1"/>
          </p:cNvPicPr>
          <p:nvPr/>
        </p:nvPicPr>
        <p:blipFill>
          <a:blip r:embed="rId3"/>
          <a:srcRect t="-19045" b="-19045"/>
          <a:stretch/>
        </p:blipFill>
        <p:spPr>
          <a:xfrm>
            <a:off x="9058275" y="1991618"/>
            <a:ext cx="8382000" cy="7761982"/>
          </a:xfrm>
          <a:prstGeom prst="rect">
            <a:avLst/>
          </a:prstGeom>
        </p:spPr>
      </p:pic>
    </p:spTree>
    <p:extLst>
      <p:ext uri="{BB962C8B-B14F-4D97-AF65-F5344CB8AC3E}">
        <p14:creationId xmlns:p14="http://schemas.microsoft.com/office/powerpoint/2010/main" val="41307197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BFC"/>
        </a:solidFill>
        <a:effectLst/>
      </p:bgPr>
    </p:bg>
    <p:spTree>
      <p:nvGrpSpPr>
        <p:cNvPr id="1" name=""/>
        <p:cNvGrpSpPr/>
        <p:nvPr/>
      </p:nvGrpSpPr>
      <p:grpSpPr>
        <a:xfrm>
          <a:off x="0" y="0"/>
          <a:ext cx="0" cy="0"/>
          <a:chOff x="0" y="0"/>
          <a:chExt cx="0" cy="0"/>
        </a:xfrm>
      </p:grpSpPr>
      <p:sp>
        <p:nvSpPr>
          <p:cNvPr id="2" name="Text 0"/>
          <p:cNvSpPr/>
          <p:nvPr/>
        </p:nvSpPr>
        <p:spPr>
          <a:xfrm>
            <a:off x="847725" y="552450"/>
            <a:ext cx="2930589" cy="347663"/>
          </a:xfrm>
          <a:prstGeom prst="rect">
            <a:avLst/>
          </a:prstGeom>
          <a:noFill/>
          <a:ln/>
        </p:spPr>
        <p:txBody>
          <a:bodyPr wrap="square" lIns="25400" tIns="25400" rIns="25400" bIns="25400" rtlCol="0" anchor="t">
            <a:normAutofit lnSpcReduction="10000"/>
          </a:bodyPr>
          <a:lstStyle/>
          <a:p>
            <a:pPr marL="0" indent="0" algn="l">
              <a:buNone/>
            </a:pPr>
            <a:r>
              <a:rPr lang="en-US" sz="2100" b="1" kern="0" spc="84" dirty="0">
                <a:solidFill>
                  <a:srgbClr val="33455E"/>
                </a:solidFill>
                <a:latin typeface="Arial" pitchFamily="34" charset="0"/>
                <a:ea typeface="Arial" pitchFamily="34" charset="-122"/>
                <a:cs typeface="Arial" pitchFamily="34" charset="-120"/>
              </a:rPr>
              <a:t>3 · METHODOLOGY</a:t>
            </a:r>
            <a:endParaRPr lang="en-US" sz="2100" dirty="0"/>
          </a:p>
        </p:txBody>
      </p:sp>
      <p:sp>
        <p:nvSpPr>
          <p:cNvPr id="3" name="Text 1"/>
          <p:cNvSpPr/>
          <p:nvPr/>
        </p:nvSpPr>
        <p:spPr>
          <a:xfrm>
            <a:off x="16712059" y="552450"/>
            <a:ext cx="804416" cy="314325"/>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6E7686"/>
                </a:solidFill>
                <a:latin typeface="Arial" pitchFamily="34" charset="0"/>
                <a:ea typeface="Arial" pitchFamily="34" charset="-122"/>
                <a:cs typeface="Arial" pitchFamily="34" charset="-120"/>
              </a:rPr>
              <a:t>13 / 40</a:t>
            </a:r>
            <a:endParaRPr lang="en-US" sz="1875" dirty="0"/>
          </a:p>
        </p:txBody>
      </p:sp>
      <p:sp>
        <p:nvSpPr>
          <p:cNvPr id="4" name="Shape 2"/>
          <p:cNvSpPr/>
          <p:nvPr/>
        </p:nvSpPr>
        <p:spPr>
          <a:xfrm>
            <a:off x="847725" y="985838"/>
            <a:ext cx="16592550" cy="28575"/>
          </a:xfrm>
          <a:prstGeom prst="rect">
            <a:avLst/>
          </a:prstGeom>
          <a:solidFill>
            <a:srgbClr val="33455E"/>
          </a:solidFill>
          <a:ln/>
        </p:spPr>
        <p:txBody>
          <a:bodyPr/>
          <a:lstStyle/>
          <a:p>
            <a:endParaRPr lang="en-US"/>
          </a:p>
        </p:txBody>
      </p:sp>
      <p:sp>
        <p:nvSpPr>
          <p:cNvPr id="5" name="Text 3"/>
          <p:cNvSpPr/>
          <p:nvPr/>
        </p:nvSpPr>
        <p:spPr>
          <a:xfrm>
            <a:off x="847725" y="1243013"/>
            <a:ext cx="18251805" cy="55810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3900" b="1" dirty="0">
                <a:solidFill>
                  <a:srgbClr val="1E2530"/>
                </a:solidFill>
                <a:latin typeface="Arial" pitchFamily="34" charset="0"/>
                <a:ea typeface="Arial" pitchFamily="34" charset="-122"/>
                <a:cs typeface="Arial" pitchFamily="34" charset="-120"/>
              </a:rPr>
              <a:t>MCRAI — measuring access to amenities</a:t>
            </a:r>
            <a:endParaRPr lang="en-US" sz="3900" dirty="0"/>
          </a:p>
        </p:txBody>
      </p:sp>
      <p:sp>
        <p:nvSpPr>
          <p:cNvPr id="6" name="Text 4"/>
          <p:cNvSpPr/>
          <p:nvPr/>
        </p:nvSpPr>
        <p:spPr>
          <a:xfrm>
            <a:off x="847725" y="3537049"/>
            <a:ext cx="15723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b="1" dirty="0">
                <a:solidFill>
                  <a:srgbClr val="33455E"/>
                </a:solidFill>
                <a:latin typeface="Arial" pitchFamily="34" charset="0"/>
                <a:ea typeface="Arial" pitchFamily="34" charset="-122"/>
                <a:cs typeface="Arial" pitchFamily="34" charset="-120"/>
              </a:rPr>
              <a:t>▪</a:t>
            </a:r>
            <a:endParaRPr lang="en-US" sz="1800" dirty="0"/>
          </a:p>
        </p:txBody>
      </p:sp>
      <p:sp>
        <p:nvSpPr>
          <p:cNvPr id="7" name="Text 5"/>
          <p:cNvSpPr/>
          <p:nvPr/>
        </p:nvSpPr>
        <p:spPr>
          <a:xfrm>
            <a:off x="1062112" y="3479899"/>
            <a:ext cx="8883557" cy="817513"/>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2325" dirty="0">
                <a:solidFill>
                  <a:srgbClr val="1E2530"/>
                </a:solidFill>
                <a:latin typeface="Arial" pitchFamily="34" charset="0"/>
                <a:ea typeface="Arial" pitchFamily="34" charset="-122"/>
                <a:cs typeface="Arial" pitchFamily="34" charset="-120"/>
              </a:rPr>
              <a:t>For each property, count the nearby amenities in a category (schools, groceries, hospitals…).</a:t>
            </a:r>
            <a:endParaRPr lang="en-US" sz="2325" dirty="0"/>
          </a:p>
        </p:txBody>
      </p:sp>
      <p:sp>
        <p:nvSpPr>
          <p:cNvPr id="8" name="Text 6"/>
          <p:cNvSpPr/>
          <p:nvPr/>
        </p:nvSpPr>
        <p:spPr>
          <a:xfrm>
            <a:off x="847725" y="4468862"/>
            <a:ext cx="15723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b="1" dirty="0">
                <a:solidFill>
                  <a:srgbClr val="33455E"/>
                </a:solidFill>
                <a:latin typeface="Arial" pitchFamily="34" charset="0"/>
                <a:ea typeface="Arial" pitchFamily="34" charset="-122"/>
                <a:cs typeface="Arial" pitchFamily="34" charset="-120"/>
              </a:rPr>
              <a:t>▪</a:t>
            </a:r>
            <a:endParaRPr lang="en-US" sz="1800" dirty="0"/>
          </a:p>
        </p:txBody>
      </p:sp>
      <p:sp>
        <p:nvSpPr>
          <p:cNvPr id="9" name="Text 7"/>
          <p:cNvSpPr/>
          <p:nvPr/>
        </p:nvSpPr>
        <p:spPr>
          <a:xfrm>
            <a:off x="1062112" y="4411712"/>
            <a:ext cx="8883557" cy="817513"/>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2325" dirty="0">
                <a:solidFill>
                  <a:srgbClr val="1E2530"/>
                </a:solidFill>
                <a:latin typeface="Arial" pitchFamily="34" charset="0"/>
                <a:ea typeface="Arial" pitchFamily="34" charset="-122"/>
                <a:cs typeface="Arial" pitchFamily="34" charset="-120"/>
              </a:rPr>
              <a:t>Closer amenities count more — the score fades with the </a:t>
            </a:r>
            <a:r>
              <a:rPr lang="en-US" sz="2325" b="1" dirty="0">
                <a:solidFill>
                  <a:srgbClr val="33455E"/>
                </a:solidFill>
                <a:latin typeface="Arial" pitchFamily="34" charset="0"/>
                <a:ea typeface="Arial" pitchFamily="34" charset="-122"/>
                <a:cs typeface="Arial" pitchFamily="34" charset="-120"/>
              </a:rPr>
              <a:t>square </a:t>
            </a:r>
            <a:r>
              <a:rPr lang="en-US" sz="2325" dirty="0">
                <a:solidFill>
                  <a:srgbClr val="1E2530"/>
                </a:solidFill>
                <a:latin typeface="Arial" pitchFamily="34" charset="0"/>
                <a:ea typeface="Arial" pitchFamily="34" charset="-122"/>
                <a:cs typeface="Arial" pitchFamily="34" charset="-120"/>
              </a:rPr>
              <a:t>of road distance.</a:t>
            </a:r>
            <a:endParaRPr lang="en-US" sz="2325" dirty="0"/>
          </a:p>
        </p:txBody>
      </p:sp>
      <p:sp>
        <p:nvSpPr>
          <p:cNvPr id="10" name="Text 8"/>
          <p:cNvSpPr/>
          <p:nvPr/>
        </p:nvSpPr>
        <p:spPr>
          <a:xfrm>
            <a:off x="847725" y="5400675"/>
            <a:ext cx="15723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b="1" dirty="0">
                <a:solidFill>
                  <a:srgbClr val="33455E"/>
                </a:solidFill>
                <a:latin typeface="Arial" pitchFamily="34" charset="0"/>
                <a:ea typeface="Arial" pitchFamily="34" charset="-122"/>
                <a:cs typeface="Arial" pitchFamily="34" charset="-120"/>
              </a:rPr>
              <a:t>▪</a:t>
            </a:r>
            <a:endParaRPr lang="en-US" sz="1800" dirty="0"/>
          </a:p>
        </p:txBody>
      </p:sp>
      <p:sp>
        <p:nvSpPr>
          <p:cNvPr id="11" name="Text 9"/>
          <p:cNvSpPr/>
          <p:nvPr/>
        </p:nvSpPr>
        <p:spPr>
          <a:xfrm>
            <a:off x="1062112" y="5343525"/>
            <a:ext cx="8883557" cy="817513"/>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2325" dirty="0">
                <a:solidFill>
                  <a:srgbClr val="1E2530"/>
                </a:solidFill>
                <a:latin typeface="Arial" pitchFamily="34" charset="0"/>
                <a:ea typeface="Arial" pitchFamily="34" charset="-122"/>
                <a:cs typeface="Arial" pitchFamily="34" charset="-120"/>
              </a:rPr>
              <a:t>Each category has its own reach: a hospital serves a wider area than a corner store.</a:t>
            </a:r>
            <a:endParaRPr lang="en-US" sz="2325" dirty="0"/>
          </a:p>
        </p:txBody>
      </p:sp>
      <p:sp>
        <p:nvSpPr>
          <p:cNvPr id="12" name="Text 10"/>
          <p:cNvSpPr/>
          <p:nvPr/>
        </p:nvSpPr>
        <p:spPr>
          <a:xfrm>
            <a:off x="847725" y="6332488"/>
            <a:ext cx="15723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b="1" dirty="0">
                <a:solidFill>
                  <a:srgbClr val="33455E"/>
                </a:solidFill>
                <a:latin typeface="Arial" pitchFamily="34" charset="0"/>
                <a:ea typeface="Arial" pitchFamily="34" charset="-122"/>
                <a:cs typeface="Arial" pitchFamily="34" charset="-120"/>
              </a:rPr>
              <a:t>▪</a:t>
            </a:r>
            <a:endParaRPr lang="en-US" sz="1800" dirty="0"/>
          </a:p>
        </p:txBody>
      </p:sp>
      <p:sp>
        <p:nvSpPr>
          <p:cNvPr id="13" name="Text 11"/>
          <p:cNvSpPr/>
          <p:nvPr/>
        </p:nvSpPr>
        <p:spPr>
          <a:xfrm>
            <a:off x="1062112" y="6275338"/>
            <a:ext cx="7311412" cy="427806"/>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2325" dirty="0">
                <a:solidFill>
                  <a:srgbClr val="1E2530"/>
                </a:solidFill>
                <a:latin typeface="Arial" pitchFamily="34" charset="0"/>
                <a:ea typeface="Arial" pitchFamily="34" charset="-122"/>
                <a:cs typeface="Arial" pitchFamily="34" charset="-120"/>
              </a:rPr>
              <a:t>Distances in km, floored at 0.5 km. </a:t>
            </a:r>
            <a:r>
              <a:rPr lang="en-US" sz="2325" i="1" dirty="0">
                <a:solidFill>
                  <a:srgbClr val="979FAD"/>
                </a:solidFill>
                <a:latin typeface="Arial" pitchFamily="34" charset="0"/>
                <a:ea typeface="Arial" pitchFamily="34" charset="-122"/>
                <a:cs typeface="Arial" pitchFamily="34" charset="-120"/>
              </a:rPr>
              <a:t>(Hansen, 1959)</a:t>
            </a:r>
            <a:endParaRPr lang="en-US" sz="2325" dirty="0"/>
          </a:p>
        </p:txBody>
      </p:sp>
      <p:sp>
        <p:nvSpPr>
          <p:cNvPr id="14" name="Shape 12"/>
          <p:cNvSpPr/>
          <p:nvPr/>
        </p:nvSpPr>
        <p:spPr>
          <a:xfrm>
            <a:off x="847725" y="6874594"/>
            <a:ext cx="8839200" cy="1524000"/>
          </a:xfrm>
          <a:prstGeom prst="roundRect">
            <a:avLst>
              <a:gd name="adj" fmla="val 3750"/>
            </a:avLst>
          </a:prstGeom>
          <a:solidFill>
            <a:srgbClr val="FFFFFF"/>
          </a:solidFill>
          <a:ln w="9525">
            <a:solidFill>
              <a:srgbClr val="DCE2E9"/>
            </a:solidFill>
            <a:prstDash val="solid"/>
          </a:ln>
        </p:spPr>
        <p:txBody>
          <a:bodyPr/>
          <a:lstStyle/>
          <a:p>
            <a:endParaRPr lang="en-US"/>
          </a:p>
        </p:txBody>
      </p:sp>
      <p:pic>
        <p:nvPicPr>
          <p:cNvPr id="15" name="Image 0" descr="preencoded.png"/>
          <p:cNvPicPr>
            <a:picLocks noChangeAspect="1"/>
          </p:cNvPicPr>
          <p:nvPr/>
        </p:nvPicPr>
        <p:blipFill>
          <a:blip r:embed="rId3"/>
          <a:srcRect l="-26804" r="-26804"/>
          <a:stretch/>
        </p:blipFill>
        <p:spPr>
          <a:xfrm>
            <a:off x="1047750" y="7017469"/>
            <a:ext cx="8439150" cy="1238250"/>
          </a:xfrm>
          <a:prstGeom prst="rect">
            <a:avLst/>
          </a:prstGeom>
        </p:spPr>
      </p:pic>
      <p:pic>
        <p:nvPicPr>
          <p:cNvPr id="16" name="Image 1" descr="preencoded.png"/>
          <p:cNvPicPr>
            <a:picLocks noChangeAspect="1"/>
          </p:cNvPicPr>
          <p:nvPr/>
        </p:nvPicPr>
        <p:blipFill>
          <a:blip r:embed="rId4"/>
          <a:srcRect t="-31384" b="-31384"/>
          <a:stretch/>
        </p:blipFill>
        <p:spPr>
          <a:xfrm>
            <a:off x="10201275" y="1972568"/>
            <a:ext cx="7239000" cy="7781032"/>
          </a:xfrm>
          <a:prstGeom prst="rect">
            <a:avLst/>
          </a:prstGeom>
        </p:spPr>
      </p:pic>
    </p:spTree>
    <p:extLst>
      <p:ext uri="{BB962C8B-B14F-4D97-AF65-F5344CB8AC3E}">
        <p14:creationId xmlns:p14="http://schemas.microsoft.com/office/powerpoint/2010/main" val="35854278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BFC"/>
        </a:solidFill>
        <a:effectLst/>
      </p:bgPr>
    </p:bg>
    <p:spTree>
      <p:nvGrpSpPr>
        <p:cNvPr id="1" name=""/>
        <p:cNvGrpSpPr/>
        <p:nvPr/>
      </p:nvGrpSpPr>
      <p:grpSpPr>
        <a:xfrm>
          <a:off x="0" y="0"/>
          <a:ext cx="0" cy="0"/>
          <a:chOff x="0" y="0"/>
          <a:chExt cx="0" cy="0"/>
        </a:xfrm>
      </p:grpSpPr>
      <p:sp>
        <p:nvSpPr>
          <p:cNvPr id="2" name="Text 0"/>
          <p:cNvSpPr/>
          <p:nvPr/>
        </p:nvSpPr>
        <p:spPr>
          <a:xfrm>
            <a:off x="847725" y="552450"/>
            <a:ext cx="2930589" cy="347663"/>
          </a:xfrm>
          <a:prstGeom prst="rect">
            <a:avLst/>
          </a:prstGeom>
          <a:noFill/>
          <a:ln/>
        </p:spPr>
        <p:txBody>
          <a:bodyPr wrap="square" lIns="25400" tIns="25400" rIns="25400" bIns="25400" rtlCol="0" anchor="t">
            <a:normAutofit lnSpcReduction="10000"/>
          </a:bodyPr>
          <a:lstStyle/>
          <a:p>
            <a:pPr marL="0" indent="0" algn="l">
              <a:buNone/>
            </a:pPr>
            <a:r>
              <a:rPr lang="en-US" sz="2100" b="1" kern="0" spc="84" dirty="0">
                <a:solidFill>
                  <a:srgbClr val="33455E"/>
                </a:solidFill>
                <a:latin typeface="Arial" pitchFamily="34" charset="0"/>
                <a:ea typeface="Arial" pitchFamily="34" charset="-122"/>
                <a:cs typeface="Arial" pitchFamily="34" charset="-120"/>
              </a:rPr>
              <a:t>3 · METHODOLOGY</a:t>
            </a:r>
            <a:endParaRPr lang="en-US" sz="2100" dirty="0"/>
          </a:p>
        </p:txBody>
      </p:sp>
      <p:sp>
        <p:nvSpPr>
          <p:cNvPr id="3" name="Text 1"/>
          <p:cNvSpPr/>
          <p:nvPr/>
        </p:nvSpPr>
        <p:spPr>
          <a:xfrm>
            <a:off x="16712059" y="552450"/>
            <a:ext cx="804416" cy="314325"/>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6E7686"/>
                </a:solidFill>
                <a:latin typeface="Arial" pitchFamily="34" charset="0"/>
                <a:ea typeface="Arial" pitchFamily="34" charset="-122"/>
                <a:cs typeface="Arial" pitchFamily="34" charset="-120"/>
              </a:rPr>
              <a:t>14 / 40</a:t>
            </a:r>
            <a:endParaRPr lang="en-US" sz="1875" dirty="0"/>
          </a:p>
        </p:txBody>
      </p:sp>
      <p:sp>
        <p:nvSpPr>
          <p:cNvPr id="4" name="Shape 2"/>
          <p:cNvSpPr/>
          <p:nvPr/>
        </p:nvSpPr>
        <p:spPr>
          <a:xfrm>
            <a:off x="847725" y="985838"/>
            <a:ext cx="16592550" cy="28575"/>
          </a:xfrm>
          <a:prstGeom prst="rect">
            <a:avLst/>
          </a:prstGeom>
          <a:solidFill>
            <a:srgbClr val="33455E"/>
          </a:solidFill>
          <a:ln/>
        </p:spPr>
        <p:txBody>
          <a:bodyPr/>
          <a:lstStyle/>
          <a:p>
            <a:endParaRPr lang="en-US"/>
          </a:p>
        </p:txBody>
      </p:sp>
      <p:sp>
        <p:nvSpPr>
          <p:cNvPr id="5" name="Text 3"/>
          <p:cNvSpPr/>
          <p:nvPr/>
        </p:nvSpPr>
        <p:spPr>
          <a:xfrm>
            <a:off x="847725" y="1243013"/>
            <a:ext cx="18251805" cy="55810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3900" b="1" dirty="0">
                <a:solidFill>
                  <a:srgbClr val="1E2530"/>
                </a:solidFill>
                <a:latin typeface="Arial" pitchFamily="34" charset="0"/>
                <a:ea typeface="Arial" pitchFamily="34" charset="-122"/>
                <a:cs typeface="Arial" pitchFamily="34" charset="-120"/>
              </a:rPr>
              <a:t>MCRAI weights — and the evaluation protocol</a:t>
            </a:r>
            <a:endParaRPr lang="en-US" sz="3900" dirty="0"/>
          </a:p>
        </p:txBody>
      </p:sp>
      <p:sp>
        <p:nvSpPr>
          <p:cNvPr id="6" name="Text 4"/>
          <p:cNvSpPr/>
          <p:nvPr/>
        </p:nvSpPr>
        <p:spPr>
          <a:xfrm>
            <a:off x="847725" y="1934468"/>
            <a:ext cx="9058699" cy="333375"/>
          </a:xfrm>
          <a:prstGeom prst="rect">
            <a:avLst/>
          </a:prstGeom>
          <a:noFill/>
          <a:ln/>
        </p:spPr>
        <p:txBody>
          <a:bodyPr wrap="square" lIns="25400" tIns="25400" rIns="25400" bIns="25400" rtlCol="0" anchor="t">
            <a:normAutofit lnSpcReduction="10000"/>
          </a:bodyPr>
          <a:lstStyle/>
          <a:p>
            <a:pPr marL="0" indent="0" algn="l">
              <a:buNone/>
            </a:pPr>
            <a:r>
              <a:rPr lang="en-US" sz="2025" b="1" dirty="0">
                <a:solidFill>
                  <a:srgbClr val="33455E"/>
                </a:solidFill>
                <a:latin typeface="Arial" pitchFamily="34" charset="0"/>
                <a:ea typeface="Arial" pitchFamily="34" charset="-122"/>
                <a:cs typeface="Arial" pitchFamily="34" charset="-120"/>
              </a:rPr>
              <a:t>The weights are revealed, not assumed</a:t>
            </a:r>
            <a:endParaRPr lang="en-US" sz="2025" dirty="0"/>
          </a:p>
        </p:txBody>
      </p:sp>
      <p:pic>
        <p:nvPicPr>
          <p:cNvPr id="7" name="Image 0" descr="preencoded.png"/>
          <p:cNvPicPr>
            <a:picLocks noChangeAspect="1"/>
          </p:cNvPicPr>
          <p:nvPr/>
        </p:nvPicPr>
        <p:blipFill>
          <a:blip r:embed="rId3"/>
          <a:srcRect t="-28184" b="-28184"/>
          <a:stretch/>
        </p:blipFill>
        <p:spPr>
          <a:xfrm>
            <a:off x="847725" y="2344043"/>
            <a:ext cx="8235181" cy="6718548"/>
          </a:xfrm>
          <a:prstGeom prst="rect">
            <a:avLst/>
          </a:prstGeom>
        </p:spPr>
      </p:pic>
      <p:sp>
        <p:nvSpPr>
          <p:cNvPr id="8" name="Text 5"/>
          <p:cNvSpPr/>
          <p:nvPr/>
        </p:nvSpPr>
        <p:spPr>
          <a:xfrm>
            <a:off x="847725" y="9119741"/>
            <a:ext cx="8482236" cy="671959"/>
          </a:xfrm>
          <a:prstGeom prst="rect">
            <a:avLst/>
          </a:prstGeom>
          <a:noFill/>
          <a:ln/>
        </p:spPr>
        <p:txBody>
          <a:bodyPr wrap="square" lIns="25400" tIns="25400" rIns="25400" bIns="25400" rtlCol="0" anchor="t">
            <a:normAutofit fontScale="92500" lnSpcReduction="20000"/>
          </a:bodyPr>
          <a:lstStyle/>
          <a:p>
            <a:pPr marL="0" indent="0" algn="l">
              <a:lnSpc>
                <a:spcPct val="128000"/>
              </a:lnSpc>
              <a:buNone/>
            </a:pPr>
            <a:r>
              <a:rPr lang="en-US" sz="1950" b="1" dirty="0">
                <a:solidFill>
                  <a:srgbClr val="33455E"/>
                </a:solidFill>
                <a:latin typeface="Arial" pitchFamily="34" charset="0"/>
                <a:ea typeface="Arial" pitchFamily="34" charset="-122"/>
                <a:cs typeface="Arial" pitchFamily="34" charset="-120"/>
              </a:rPr>
              <a:t>Stage 1 </a:t>
            </a:r>
            <a:r>
              <a:rPr lang="en-US" sz="1950" dirty="0">
                <a:solidFill>
                  <a:srgbClr val="1E2530"/>
                </a:solidFill>
                <a:latin typeface="Arial" pitchFamily="34" charset="0"/>
                <a:ea typeface="Arial" pitchFamily="34" charset="-122"/>
                <a:cs typeface="Arial" pitchFamily="34" charset="-120"/>
              </a:rPr>
              <a:t>finds implicit prices (signs); </a:t>
            </a:r>
            <a:r>
              <a:rPr lang="en-US" sz="1950" b="1" dirty="0">
                <a:solidFill>
                  <a:srgbClr val="33455E"/>
                </a:solidFill>
                <a:latin typeface="Arial" pitchFamily="34" charset="0"/>
                <a:ea typeface="Arial" pitchFamily="34" charset="-122"/>
                <a:cs typeface="Arial" pitchFamily="34" charset="-120"/>
              </a:rPr>
              <a:t>Stage 2 </a:t>
            </a:r>
            <a:r>
              <a:rPr lang="en-US" sz="1950" dirty="0">
                <a:solidFill>
                  <a:srgbClr val="1E2530"/>
                </a:solidFill>
                <a:latin typeface="Arial" pitchFamily="34" charset="0"/>
                <a:ea typeface="Arial" pitchFamily="34" charset="-122"/>
                <a:cs typeface="Arial" pitchFamily="34" charset="-120"/>
              </a:rPr>
              <a:t>normalizes the positive ones. Result: education </a:t>
            </a:r>
            <a:r>
              <a:rPr lang="en-US" sz="1950" b="1" dirty="0">
                <a:solidFill>
                  <a:srgbClr val="33455E"/>
                </a:solidFill>
                <a:latin typeface="Arial" pitchFamily="34" charset="0"/>
                <a:ea typeface="Arial" pitchFamily="34" charset="-122"/>
                <a:cs typeface="Arial" pitchFamily="34" charset="-120"/>
              </a:rPr>
              <a:t>0.447</a:t>
            </a:r>
            <a:r>
              <a:rPr lang="en-US" sz="1950" dirty="0">
                <a:solidFill>
                  <a:srgbClr val="1E2530"/>
                </a:solidFill>
                <a:latin typeface="Arial" pitchFamily="34" charset="0"/>
                <a:ea typeface="Arial" pitchFamily="34" charset="-122"/>
                <a:cs typeface="Arial" pitchFamily="34" charset="-120"/>
              </a:rPr>
              <a:t>, grocery </a:t>
            </a:r>
            <a:r>
              <a:rPr lang="en-US" sz="1950" b="1" dirty="0">
                <a:solidFill>
                  <a:srgbClr val="33455E"/>
                </a:solidFill>
                <a:latin typeface="Arial" pitchFamily="34" charset="0"/>
                <a:ea typeface="Arial" pitchFamily="34" charset="-122"/>
                <a:cs typeface="Arial" pitchFamily="34" charset="-120"/>
              </a:rPr>
              <a:t>0.345</a:t>
            </a:r>
            <a:r>
              <a:rPr lang="en-US" sz="1950" dirty="0">
                <a:solidFill>
                  <a:srgbClr val="1E2530"/>
                </a:solidFill>
                <a:latin typeface="Arial" pitchFamily="34" charset="0"/>
                <a:ea typeface="Arial" pitchFamily="34" charset="-122"/>
                <a:cs typeface="Arial" pitchFamily="34" charset="-120"/>
              </a:rPr>
              <a:t>, recreation </a:t>
            </a:r>
            <a:r>
              <a:rPr lang="en-US" sz="1950" b="1" dirty="0">
                <a:solidFill>
                  <a:srgbClr val="33455E"/>
                </a:solidFill>
                <a:latin typeface="Arial" pitchFamily="34" charset="0"/>
                <a:ea typeface="Arial" pitchFamily="34" charset="-122"/>
                <a:cs typeface="Arial" pitchFamily="34" charset="-120"/>
              </a:rPr>
              <a:t>0.222</a:t>
            </a:r>
            <a:r>
              <a:rPr lang="en-US" sz="1950" dirty="0">
                <a:solidFill>
                  <a:srgbClr val="1E2530"/>
                </a:solidFill>
                <a:latin typeface="Arial" pitchFamily="34" charset="0"/>
                <a:ea typeface="Arial" pitchFamily="34" charset="-122"/>
                <a:cs typeface="Arial" pitchFamily="34" charset="-120"/>
              </a:rPr>
              <a:t>.</a:t>
            </a:r>
            <a:endParaRPr lang="en-US" sz="1950" dirty="0"/>
          </a:p>
        </p:txBody>
      </p:sp>
      <p:sp>
        <p:nvSpPr>
          <p:cNvPr id="9" name="Text 6"/>
          <p:cNvSpPr/>
          <p:nvPr/>
        </p:nvSpPr>
        <p:spPr>
          <a:xfrm>
            <a:off x="9597256" y="1934468"/>
            <a:ext cx="8627321" cy="333375"/>
          </a:xfrm>
          <a:prstGeom prst="rect">
            <a:avLst/>
          </a:prstGeom>
          <a:noFill/>
          <a:ln/>
        </p:spPr>
        <p:txBody>
          <a:bodyPr wrap="square" lIns="25400" tIns="25400" rIns="25400" bIns="25400" rtlCol="0" anchor="t">
            <a:normAutofit lnSpcReduction="10000"/>
          </a:bodyPr>
          <a:lstStyle/>
          <a:p>
            <a:pPr marL="0" indent="0" algn="l">
              <a:buNone/>
            </a:pPr>
            <a:r>
              <a:rPr lang="en-US" sz="2025" b="1" dirty="0">
                <a:solidFill>
                  <a:srgbClr val="33455E"/>
                </a:solidFill>
                <a:latin typeface="Arial" pitchFamily="34" charset="0"/>
                <a:ea typeface="Arial" pitchFamily="34" charset="-122"/>
                <a:cs typeface="Arial" pitchFamily="34" charset="-120"/>
              </a:rPr>
              <a:t>Two more design choices</a:t>
            </a:r>
            <a:endParaRPr lang="en-US" sz="2025" dirty="0"/>
          </a:p>
        </p:txBody>
      </p:sp>
      <p:sp>
        <p:nvSpPr>
          <p:cNvPr id="10" name="Text 7"/>
          <p:cNvSpPr/>
          <p:nvPr/>
        </p:nvSpPr>
        <p:spPr>
          <a:xfrm>
            <a:off x="9597256" y="2439293"/>
            <a:ext cx="15723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b="1" dirty="0">
                <a:solidFill>
                  <a:srgbClr val="33455E"/>
                </a:solidFill>
                <a:latin typeface="Arial" pitchFamily="34" charset="0"/>
                <a:ea typeface="Arial" pitchFamily="34" charset="-122"/>
                <a:cs typeface="Arial" pitchFamily="34" charset="-120"/>
              </a:rPr>
              <a:t>▪</a:t>
            </a:r>
            <a:endParaRPr lang="en-US" sz="1800" dirty="0"/>
          </a:p>
        </p:txBody>
      </p:sp>
      <p:sp>
        <p:nvSpPr>
          <p:cNvPr id="11" name="Text 8"/>
          <p:cNvSpPr/>
          <p:nvPr/>
        </p:nvSpPr>
        <p:spPr>
          <a:xfrm>
            <a:off x="9811643" y="2382143"/>
            <a:ext cx="7857491" cy="817513"/>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2325" b="1" dirty="0">
                <a:solidFill>
                  <a:srgbClr val="33455E"/>
                </a:solidFill>
                <a:latin typeface="Arial" pitchFamily="34" charset="0"/>
                <a:ea typeface="Arial" pitchFamily="34" charset="-122"/>
                <a:cs typeface="Arial" pitchFamily="34" charset="-120"/>
              </a:rPr>
              <a:t>Spatial lag </a:t>
            </a:r>
            <a:r>
              <a:rPr lang="en-US" sz="2325" dirty="0">
                <a:solidFill>
                  <a:srgbClr val="1E2530"/>
                </a:solidFill>
                <a:latin typeface="Arial" pitchFamily="34" charset="0"/>
                <a:ea typeface="Arial" pitchFamily="34" charset="-122"/>
                <a:cs typeface="Arial" pitchFamily="34" charset="-120"/>
              </a:rPr>
              <a:t>— average price of nearby same-type listings within 500 m. </a:t>
            </a:r>
            <a:r>
              <a:rPr lang="en-US" sz="2325" i="1" dirty="0">
                <a:solidFill>
                  <a:srgbClr val="979FAD"/>
                </a:solidFill>
                <a:latin typeface="Arial" pitchFamily="34" charset="0"/>
                <a:ea typeface="Arial" pitchFamily="34" charset="-122"/>
                <a:cs typeface="Arial" pitchFamily="34" charset="-120"/>
              </a:rPr>
              <a:t>(Tobler, 1970)</a:t>
            </a:r>
            <a:endParaRPr lang="en-US" sz="2325" dirty="0"/>
          </a:p>
        </p:txBody>
      </p:sp>
      <p:sp>
        <p:nvSpPr>
          <p:cNvPr id="12" name="Text 9"/>
          <p:cNvSpPr/>
          <p:nvPr/>
        </p:nvSpPr>
        <p:spPr>
          <a:xfrm>
            <a:off x="9597256" y="3371106"/>
            <a:ext cx="15723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b="1" dirty="0">
                <a:solidFill>
                  <a:srgbClr val="33455E"/>
                </a:solidFill>
                <a:latin typeface="Arial" pitchFamily="34" charset="0"/>
                <a:ea typeface="Arial" pitchFamily="34" charset="-122"/>
                <a:cs typeface="Arial" pitchFamily="34" charset="-120"/>
              </a:rPr>
              <a:t>▪</a:t>
            </a:r>
            <a:endParaRPr lang="en-US" sz="1800" dirty="0"/>
          </a:p>
        </p:txBody>
      </p:sp>
      <p:sp>
        <p:nvSpPr>
          <p:cNvPr id="13" name="Text 10"/>
          <p:cNvSpPr/>
          <p:nvPr/>
        </p:nvSpPr>
        <p:spPr>
          <a:xfrm>
            <a:off x="9811643" y="3313956"/>
            <a:ext cx="7857491" cy="817513"/>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2325" b="1" dirty="0">
                <a:solidFill>
                  <a:srgbClr val="33455E"/>
                </a:solidFill>
                <a:latin typeface="Arial" pitchFamily="34" charset="0"/>
                <a:ea typeface="Arial" pitchFamily="34" charset="-122"/>
                <a:cs typeface="Arial" pitchFamily="34" charset="-120"/>
              </a:rPr>
              <a:t>Target </a:t>
            </a:r>
            <a:r>
              <a:rPr lang="en-US" sz="2325" dirty="0">
                <a:solidFill>
                  <a:srgbClr val="1E2530"/>
                </a:solidFill>
                <a:latin typeface="Arial" pitchFamily="34" charset="0"/>
                <a:ea typeface="Arial" pitchFamily="34" charset="-122"/>
                <a:cs typeface="Arial" pitchFamily="34" charset="-120"/>
              </a:rPr>
              <a:t>— the log of price per square meter; converted back for the price surface.</a:t>
            </a:r>
            <a:endParaRPr lang="en-US" sz="2325" dirty="0"/>
          </a:p>
        </p:txBody>
      </p:sp>
      <p:sp>
        <p:nvSpPr>
          <p:cNvPr id="14" name="Text 11"/>
          <p:cNvSpPr/>
          <p:nvPr/>
        </p:nvSpPr>
        <p:spPr>
          <a:xfrm>
            <a:off x="9597256" y="4283869"/>
            <a:ext cx="8627321" cy="333375"/>
          </a:xfrm>
          <a:prstGeom prst="rect">
            <a:avLst/>
          </a:prstGeom>
          <a:noFill/>
          <a:ln/>
        </p:spPr>
        <p:txBody>
          <a:bodyPr wrap="square" lIns="25400" tIns="25400" rIns="25400" bIns="25400" rtlCol="0" anchor="t">
            <a:normAutofit lnSpcReduction="10000"/>
          </a:bodyPr>
          <a:lstStyle/>
          <a:p>
            <a:pPr marL="0" indent="0" algn="l">
              <a:buNone/>
            </a:pPr>
            <a:r>
              <a:rPr lang="en-US" sz="2025" b="1" dirty="0">
                <a:solidFill>
                  <a:srgbClr val="33455E"/>
                </a:solidFill>
                <a:latin typeface="Arial" pitchFamily="34" charset="0"/>
                <a:ea typeface="Arial" pitchFamily="34" charset="-122"/>
                <a:cs typeface="Arial" pitchFamily="34" charset="-120"/>
              </a:rPr>
              <a:t>Evaluation protocol</a:t>
            </a:r>
            <a:endParaRPr lang="en-US" sz="2025" dirty="0"/>
          </a:p>
        </p:txBody>
      </p:sp>
      <p:sp>
        <p:nvSpPr>
          <p:cNvPr id="15" name="Text 12"/>
          <p:cNvSpPr/>
          <p:nvPr/>
        </p:nvSpPr>
        <p:spPr>
          <a:xfrm>
            <a:off x="9597256" y="4788694"/>
            <a:ext cx="15723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b="1" dirty="0">
                <a:solidFill>
                  <a:srgbClr val="33455E"/>
                </a:solidFill>
                <a:latin typeface="Arial" pitchFamily="34" charset="0"/>
                <a:ea typeface="Arial" pitchFamily="34" charset="-122"/>
                <a:cs typeface="Arial" pitchFamily="34" charset="-120"/>
              </a:rPr>
              <a:t>▪</a:t>
            </a:r>
            <a:endParaRPr lang="en-US" sz="1800" dirty="0"/>
          </a:p>
        </p:txBody>
      </p:sp>
      <p:sp>
        <p:nvSpPr>
          <p:cNvPr id="16" name="Text 13"/>
          <p:cNvSpPr/>
          <p:nvPr/>
        </p:nvSpPr>
        <p:spPr>
          <a:xfrm>
            <a:off x="9811643" y="4731544"/>
            <a:ext cx="7857491" cy="817513"/>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2325" b="1" dirty="0">
                <a:solidFill>
                  <a:srgbClr val="33455E"/>
                </a:solidFill>
                <a:latin typeface="Arial" pitchFamily="34" charset="0"/>
                <a:ea typeface="Arial" pitchFamily="34" charset="-122"/>
                <a:cs typeface="Arial" pitchFamily="34" charset="-120"/>
              </a:rPr>
              <a:t>GroupKFold(5) </a:t>
            </a:r>
            <a:r>
              <a:rPr lang="en-US" sz="2325" dirty="0">
                <a:solidFill>
                  <a:srgbClr val="1E2530"/>
                </a:solidFill>
                <a:latin typeface="Arial" pitchFamily="34" charset="0"/>
                <a:ea typeface="Arial" pitchFamily="34" charset="-122"/>
                <a:cs typeface="Arial" pitchFamily="34" charset="-120"/>
              </a:rPr>
              <a:t>, groups defined by coordinate cluster — the same location never sits in both train and test.</a:t>
            </a:r>
            <a:endParaRPr lang="en-US" sz="2325" dirty="0"/>
          </a:p>
        </p:txBody>
      </p:sp>
      <p:sp>
        <p:nvSpPr>
          <p:cNvPr id="17" name="Text 14"/>
          <p:cNvSpPr/>
          <p:nvPr/>
        </p:nvSpPr>
        <p:spPr>
          <a:xfrm>
            <a:off x="9597256" y="5720507"/>
            <a:ext cx="15723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b="1" dirty="0">
                <a:solidFill>
                  <a:srgbClr val="33455E"/>
                </a:solidFill>
                <a:latin typeface="Arial" pitchFamily="34" charset="0"/>
                <a:ea typeface="Arial" pitchFamily="34" charset="-122"/>
                <a:cs typeface="Arial" pitchFamily="34" charset="-120"/>
              </a:rPr>
              <a:t>▪</a:t>
            </a:r>
            <a:endParaRPr lang="en-US" sz="1800" dirty="0"/>
          </a:p>
        </p:txBody>
      </p:sp>
      <p:sp>
        <p:nvSpPr>
          <p:cNvPr id="18" name="Text 15"/>
          <p:cNvSpPr/>
          <p:nvPr/>
        </p:nvSpPr>
        <p:spPr>
          <a:xfrm>
            <a:off x="9811643" y="5663357"/>
            <a:ext cx="7857491" cy="817513"/>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2325" dirty="0">
                <a:solidFill>
                  <a:srgbClr val="1E2530"/>
                </a:solidFill>
                <a:latin typeface="Arial" pitchFamily="34" charset="0"/>
                <a:ea typeface="Arial" pitchFamily="34" charset="-122"/>
                <a:cs typeface="Arial" pitchFamily="34" charset="-120"/>
              </a:rPr>
              <a:t>Stricter than a random 80/20 split; every reported figure is out-of-fold.</a:t>
            </a:r>
            <a:endParaRPr lang="en-US" sz="2325" dirty="0"/>
          </a:p>
        </p:txBody>
      </p:sp>
    </p:spTree>
    <p:extLst>
      <p:ext uri="{BB962C8B-B14F-4D97-AF65-F5344CB8AC3E}">
        <p14:creationId xmlns:p14="http://schemas.microsoft.com/office/powerpoint/2010/main" val="11045215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33455E"/>
        </a:solidFill>
        <a:effectLst/>
      </p:bgPr>
    </p:bg>
    <p:spTree>
      <p:nvGrpSpPr>
        <p:cNvPr id="1" name=""/>
        <p:cNvGrpSpPr/>
        <p:nvPr/>
      </p:nvGrpSpPr>
      <p:grpSpPr>
        <a:xfrm>
          <a:off x="0" y="0"/>
          <a:ext cx="0" cy="0"/>
          <a:chOff x="0" y="0"/>
          <a:chExt cx="0" cy="0"/>
        </a:xfrm>
      </p:grpSpPr>
      <p:sp>
        <p:nvSpPr>
          <p:cNvPr id="2" name="Text 0"/>
          <p:cNvSpPr/>
          <p:nvPr/>
        </p:nvSpPr>
        <p:spPr>
          <a:xfrm>
            <a:off x="1238250" y="3826669"/>
            <a:ext cx="17392650" cy="914400"/>
          </a:xfrm>
          <a:prstGeom prst="rect">
            <a:avLst/>
          </a:prstGeom>
          <a:noFill/>
          <a:ln/>
        </p:spPr>
        <p:txBody>
          <a:bodyPr wrap="square" lIns="25400" tIns="25400" rIns="25400" bIns="25400" rtlCol="0" anchor="t">
            <a:normAutofit lnSpcReduction="10000"/>
          </a:bodyPr>
          <a:lstStyle/>
          <a:p>
            <a:pPr marL="0" indent="0" algn="l">
              <a:buNone/>
            </a:pPr>
            <a:r>
              <a:rPr lang="en-US" sz="6000" b="1" dirty="0">
                <a:solidFill>
                  <a:srgbClr val="5B7A99"/>
                </a:solidFill>
                <a:latin typeface="Arial" pitchFamily="34" charset="0"/>
                <a:ea typeface="Arial" pitchFamily="34" charset="-122"/>
                <a:cs typeface="Arial" pitchFamily="34" charset="-120"/>
              </a:rPr>
              <a:t>04</a:t>
            </a:r>
            <a:endParaRPr lang="en-US" sz="6000" dirty="0"/>
          </a:p>
        </p:txBody>
      </p:sp>
      <p:sp>
        <p:nvSpPr>
          <p:cNvPr id="3" name="Text 1"/>
          <p:cNvSpPr/>
          <p:nvPr/>
        </p:nvSpPr>
        <p:spPr>
          <a:xfrm>
            <a:off x="1238250" y="4779169"/>
            <a:ext cx="17392650" cy="1133475"/>
          </a:xfrm>
          <a:prstGeom prst="rect">
            <a:avLst/>
          </a:prstGeom>
          <a:noFill/>
          <a:ln/>
        </p:spPr>
        <p:txBody>
          <a:bodyPr wrap="square" lIns="25400" tIns="25400" rIns="25400" bIns="25400" rtlCol="0" anchor="t">
            <a:normAutofit lnSpcReduction="10000"/>
          </a:bodyPr>
          <a:lstStyle/>
          <a:p>
            <a:pPr marL="0" indent="0" algn="l">
              <a:buNone/>
            </a:pPr>
            <a:r>
              <a:rPr lang="en-US" sz="7500" b="1" dirty="0">
                <a:solidFill>
                  <a:srgbClr val="FFFFFF"/>
                </a:solidFill>
                <a:latin typeface="Arial" pitchFamily="34" charset="0"/>
                <a:ea typeface="Arial" pitchFamily="34" charset="-122"/>
                <a:cs typeface="Arial" pitchFamily="34" charset="-120"/>
              </a:rPr>
              <a:t>Data Understanding</a:t>
            </a:r>
            <a:endParaRPr lang="en-US" sz="7500" dirty="0"/>
          </a:p>
        </p:txBody>
      </p:sp>
      <p:sp>
        <p:nvSpPr>
          <p:cNvPr id="4" name="Text 2"/>
          <p:cNvSpPr/>
          <p:nvPr/>
        </p:nvSpPr>
        <p:spPr>
          <a:xfrm>
            <a:off x="1238250" y="6045994"/>
            <a:ext cx="17392650" cy="452438"/>
          </a:xfrm>
          <a:prstGeom prst="rect">
            <a:avLst/>
          </a:prstGeom>
          <a:noFill/>
          <a:ln/>
        </p:spPr>
        <p:txBody>
          <a:bodyPr wrap="square" lIns="25400" tIns="25400" rIns="25400" bIns="25400" rtlCol="0" anchor="t">
            <a:normAutofit lnSpcReduction="10000"/>
          </a:bodyPr>
          <a:lstStyle/>
          <a:p>
            <a:pPr marL="0" indent="0" algn="l">
              <a:buNone/>
            </a:pPr>
            <a:r>
              <a:rPr lang="en-US" sz="2850" dirty="0">
                <a:solidFill>
                  <a:srgbClr val="C5D2DF"/>
                </a:solidFill>
                <a:latin typeface="Arial" pitchFamily="34" charset="0"/>
                <a:ea typeface="Arial" pitchFamily="34" charset="-122"/>
                <a:cs typeface="Arial" pitchFamily="34" charset="-120"/>
              </a:rPr>
              <a:t>Collection and exploratory analysis</a:t>
            </a:r>
            <a:endParaRPr lang="en-US" sz="2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BFC"/>
        </a:solidFill>
        <a:effectLst/>
      </p:bgPr>
    </p:bg>
    <p:spTree>
      <p:nvGrpSpPr>
        <p:cNvPr id="1" name=""/>
        <p:cNvGrpSpPr/>
        <p:nvPr/>
      </p:nvGrpSpPr>
      <p:grpSpPr>
        <a:xfrm>
          <a:off x="0" y="0"/>
          <a:ext cx="0" cy="0"/>
          <a:chOff x="0" y="0"/>
          <a:chExt cx="0" cy="0"/>
        </a:xfrm>
      </p:grpSpPr>
      <p:sp>
        <p:nvSpPr>
          <p:cNvPr id="2" name="Text 0"/>
          <p:cNvSpPr/>
          <p:nvPr/>
        </p:nvSpPr>
        <p:spPr>
          <a:xfrm>
            <a:off x="847725" y="552450"/>
            <a:ext cx="4077303" cy="347663"/>
          </a:xfrm>
          <a:prstGeom prst="rect">
            <a:avLst/>
          </a:prstGeom>
          <a:noFill/>
          <a:ln/>
        </p:spPr>
        <p:txBody>
          <a:bodyPr wrap="square" lIns="25400" tIns="25400" rIns="25400" bIns="25400" rtlCol="0" anchor="t">
            <a:normAutofit lnSpcReduction="10000"/>
          </a:bodyPr>
          <a:lstStyle/>
          <a:p>
            <a:pPr marL="0" indent="0" algn="l">
              <a:buNone/>
            </a:pPr>
            <a:r>
              <a:rPr lang="en-US" sz="2100" b="1" kern="0" spc="84" dirty="0">
                <a:solidFill>
                  <a:srgbClr val="33455E"/>
                </a:solidFill>
                <a:latin typeface="Arial" pitchFamily="34" charset="0"/>
                <a:ea typeface="Arial" pitchFamily="34" charset="-122"/>
                <a:cs typeface="Arial" pitchFamily="34" charset="-120"/>
              </a:rPr>
              <a:t>4 · DATA UNDERSTANDING</a:t>
            </a:r>
            <a:endParaRPr lang="en-US" sz="2100" dirty="0"/>
          </a:p>
        </p:txBody>
      </p:sp>
      <p:sp>
        <p:nvSpPr>
          <p:cNvPr id="3" name="Text 1"/>
          <p:cNvSpPr/>
          <p:nvPr/>
        </p:nvSpPr>
        <p:spPr>
          <a:xfrm>
            <a:off x="16712059" y="552450"/>
            <a:ext cx="804416" cy="314325"/>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6E7686"/>
                </a:solidFill>
                <a:latin typeface="Arial" pitchFamily="34" charset="0"/>
                <a:ea typeface="Arial" pitchFamily="34" charset="-122"/>
                <a:cs typeface="Arial" pitchFamily="34" charset="-120"/>
              </a:rPr>
              <a:t>16 / 40</a:t>
            </a:r>
            <a:endParaRPr lang="en-US" sz="1875" dirty="0"/>
          </a:p>
        </p:txBody>
      </p:sp>
      <p:sp>
        <p:nvSpPr>
          <p:cNvPr id="4" name="Shape 2"/>
          <p:cNvSpPr/>
          <p:nvPr/>
        </p:nvSpPr>
        <p:spPr>
          <a:xfrm>
            <a:off x="847725" y="985838"/>
            <a:ext cx="16592550" cy="28575"/>
          </a:xfrm>
          <a:prstGeom prst="rect">
            <a:avLst/>
          </a:prstGeom>
          <a:solidFill>
            <a:srgbClr val="33455E"/>
          </a:solidFill>
          <a:ln/>
        </p:spPr>
        <p:txBody>
          <a:bodyPr/>
          <a:lstStyle/>
          <a:p>
            <a:endParaRPr lang="en-US"/>
          </a:p>
        </p:txBody>
      </p:sp>
      <p:sp>
        <p:nvSpPr>
          <p:cNvPr id="5" name="Text 3"/>
          <p:cNvSpPr/>
          <p:nvPr/>
        </p:nvSpPr>
        <p:spPr>
          <a:xfrm>
            <a:off x="847725" y="1243013"/>
            <a:ext cx="18251805" cy="55810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3900" b="1" dirty="0">
                <a:solidFill>
                  <a:srgbClr val="1E2530"/>
                </a:solidFill>
                <a:latin typeface="Arial" pitchFamily="34" charset="0"/>
                <a:ea typeface="Arial" pitchFamily="34" charset="-122"/>
                <a:cs typeface="Arial" pitchFamily="34" charset="-120"/>
              </a:rPr>
              <a:t>From collection to a clean ABT</a:t>
            </a:r>
            <a:endParaRPr lang="en-US" sz="3900" dirty="0"/>
          </a:p>
        </p:txBody>
      </p:sp>
      <p:sp>
        <p:nvSpPr>
          <p:cNvPr id="6" name="Shape 4"/>
          <p:cNvSpPr/>
          <p:nvPr/>
        </p:nvSpPr>
        <p:spPr>
          <a:xfrm>
            <a:off x="847725" y="1953518"/>
            <a:ext cx="8382000" cy="3574852"/>
          </a:xfrm>
          <a:prstGeom prst="roundRect">
            <a:avLst>
              <a:gd name="adj" fmla="val 1599"/>
            </a:avLst>
          </a:prstGeom>
          <a:solidFill>
            <a:srgbClr val="FFFFFF"/>
          </a:solidFill>
          <a:ln w="9525">
            <a:solidFill>
              <a:srgbClr val="DCE2E9"/>
            </a:solidFill>
            <a:prstDash val="solid"/>
          </a:ln>
        </p:spPr>
        <p:txBody>
          <a:bodyPr/>
          <a:lstStyle/>
          <a:p>
            <a:endParaRPr lang="en-US"/>
          </a:p>
        </p:txBody>
      </p:sp>
      <p:pic>
        <p:nvPicPr>
          <p:cNvPr id="7" name="Image 0" descr="preencoded.png"/>
          <p:cNvPicPr>
            <a:picLocks noChangeAspect="1"/>
          </p:cNvPicPr>
          <p:nvPr/>
        </p:nvPicPr>
        <p:blipFill>
          <a:blip r:embed="rId3"/>
          <a:srcRect l="-23273" r="-23273"/>
          <a:stretch/>
        </p:blipFill>
        <p:spPr>
          <a:xfrm>
            <a:off x="952500" y="2058293"/>
            <a:ext cx="8172450" cy="3143250"/>
          </a:xfrm>
          <a:prstGeom prst="rect">
            <a:avLst/>
          </a:prstGeom>
        </p:spPr>
      </p:pic>
      <p:sp>
        <p:nvSpPr>
          <p:cNvPr id="8" name="Text 5"/>
          <p:cNvSpPr/>
          <p:nvPr/>
        </p:nvSpPr>
        <p:spPr>
          <a:xfrm>
            <a:off x="9705975" y="2163068"/>
            <a:ext cx="15723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b="1" dirty="0">
                <a:solidFill>
                  <a:srgbClr val="33455E"/>
                </a:solidFill>
                <a:latin typeface="Arial" pitchFamily="34" charset="0"/>
                <a:ea typeface="Arial" pitchFamily="34" charset="-122"/>
                <a:cs typeface="Arial" pitchFamily="34" charset="-120"/>
              </a:rPr>
              <a:t>▪</a:t>
            </a:r>
            <a:endParaRPr lang="en-US" sz="1800" dirty="0"/>
          </a:p>
        </p:txBody>
      </p:sp>
      <p:sp>
        <p:nvSpPr>
          <p:cNvPr id="9" name="Text 6"/>
          <p:cNvSpPr/>
          <p:nvPr/>
        </p:nvSpPr>
        <p:spPr>
          <a:xfrm>
            <a:off x="9920362" y="2105918"/>
            <a:ext cx="7745510" cy="817513"/>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2325" b="1" dirty="0">
                <a:solidFill>
                  <a:srgbClr val="33455E"/>
                </a:solidFill>
                <a:latin typeface="Arial" pitchFamily="34" charset="0"/>
                <a:ea typeface="Arial" pitchFamily="34" charset="-122"/>
                <a:cs typeface="Arial" pitchFamily="34" charset="-120"/>
              </a:rPr>
              <a:t>16,561 </a:t>
            </a:r>
            <a:r>
              <a:rPr lang="en-US" sz="2325" dirty="0">
                <a:solidFill>
                  <a:srgbClr val="1E2530"/>
                </a:solidFill>
                <a:latin typeface="Arial" pitchFamily="34" charset="0"/>
                <a:ea typeface="Arial" pitchFamily="34" charset="-122"/>
                <a:cs typeface="Arial" pitchFamily="34" charset="-120"/>
              </a:rPr>
              <a:t>listings scraped across three portals; </a:t>
            </a:r>
            <a:r>
              <a:rPr lang="en-US" sz="2325" b="1" dirty="0">
                <a:solidFill>
                  <a:srgbClr val="33455E"/>
                </a:solidFill>
                <a:latin typeface="Arial" pitchFamily="34" charset="0"/>
                <a:ea typeface="Arial" pitchFamily="34" charset="-122"/>
                <a:cs typeface="Arial" pitchFamily="34" charset="-120"/>
              </a:rPr>
              <a:t>3,616 </a:t>
            </a:r>
            <a:r>
              <a:rPr lang="en-US" sz="2325" dirty="0">
                <a:solidFill>
                  <a:srgbClr val="1E2530"/>
                </a:solidFill>
                <a:latin typeface="Arial" pitchFamily="34" charset="0"/>
                <a:ea typeface="Arial" pitchFamily="34" charset="-122"/>
                <a:cs typeface="Arial" pitchFamily="34" charset="-120"/>
              </a:rPr>
              <a:t>survived to the ABT.</a:t>
            </a:r>
            <a:endParaRPr lang="en-US" sz="2325" dirty="0"/>
          </a:p>
        </p:txBody>
      </p:sp>
      <p:sp>
        <p:nvSpPr>
          <p:cNvPr id="10" name="Text 7"/>
          <p:cNvSpPr/>
          <p:nvPr/>
        </p:nvSpPr>
        <p:spPr>
          <a:xfrm>
            <a:off x="9705975" y="3094881"/>
            <a:ext cx="15723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b="1" dirty="0">
                <a:solidFill>
                  <a:srgbClr val="33455E"/>
                </a:solidFill>
                <a:latin typeface="Arial" pitchFamily="34" charset="0"/>
                <a:ea typeface="Arial" pitchFamily="34" charset="-122"/>
                <a:cs typeface="Arial" pitchFamily="34" charset="-120"/>
              </a:rPr>
              <a:t>▪</a:t>
            </a:r>
            <a:endParaRPr lang="en-US" sz="1800" dirty="0"/>
          </a:p>
        </p:txBody>
      </p:sp>
      <p:sp>
        <p:nvSpPr>
          <p:cNvPr id="11" name="Text 8"/>
          <p:cNvSpPr/>
          <p:nvPr/>
        </p:nvSpPr>
        <p:spPr>
          <a:xfrm>
            <a:off x="9920362" y="3037731"/>
            <a:ext cx="7745510" cy="1207219"/>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2325" dirty="0">
                <a:solidFill>
                  <a:srgbClr val="1E2530"/>
                </a:solidFill>
                <a:latin typeface="Arial" pitchFamily="34" charset="0"/>
                <a:ea typeface="Arial" pitchFamily="34" charset="-122"/>
                <a:cs typeface="Arial" pitchFamily="34" charset="-120"/>
              </a:rPr>
              <a:t>Filters: geocoding, six-LGU and residential constraints, a price-per-sqm sanity band, distressed-listing removal, de-duplication.</a:t>
            </a:r>
            <a:endParaRPr lang="en-US" sz="2325" dirty="0"/>
          </a:p>
        </p:txBody>
      </p:sp>
      <p:sp>
        <p:nvSpPr>
          <p:cNvPr id="12" name="Text 9"/>
          <p:cNvSpPr/>
          <p:nvPr/>
        </p:nvSpPr>
        <p:spPr>
          <a:xfrm>
            <a:off x="9705975" y="4416400"/>
            <a:ext cx="15723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b="1" dirty="0">
                <a:solidFill>
                  <a:srgbClr val="33455E"/>
                </a:solidFill>
                <a:latin typeface="Arial" pitchFamily="34" charset="0"/>
                <a:ea typeface="Arial" pitchFamily="34" charset="-122"/>
                <a:cs typeface="Arial" pitchFamily="34" charset="-120"/>
              </a:rPr>
              <a:t>▪</a:t>
            </a:r>
            <a:endParaRPr lang="en-US" sz="1800" dirty="0"/>
          </a:p>
        </p:txBody>
      </p:sp>
      <p:sp>
        <p:nvSpPr>
          <p:cNvPr id="13" name="Text 10"/>
          <p:cNvSpPr/>
          <p:nvPr/>
        </p:nvSpPr>
        <p:spPr>
          <a:xfrm>
            <a:off x="9920362" y="4359250"/>
            <a:ext cx="7745510" cy="1207219"/>
          </a:xfrm>
          <a:prstGeom prst="rect">
            <a:avLst/>
          </a:prstGeom>
          <a:noFill/>
          <a:ln/>
        </p:spPr>
        <p:txBody>
          <a:bodyPr wrap="square" lIns="25400" tIns="25400" rIns="25400" bIns="25400" rtlCol="0" anchor="t">
            <a:normAutofit fontScale="92500"/>
          </a:bodyPr>
          <a:lstStyle/>
          <a:p>
            <a:pPr marL="0" indent="0" algn="l">
              <a:lnSpc>
                <a:spcPct val="132000"/>
              </a:lnSpc>
              <a:buNone/>
            </a:pPr>
            <a:r>
              <a:rPr lang="en-US" sz="2325" b="1" dirty="0">
                <a:solidFill>
                  <a:srgbClr val="33455E"/>
                </a:solidFill>
                <a:latin typeface="Arial" pitchFamily="34" charset="0"/>
                <a:ea typeface="Arial" pitchFamily="34" charset="-122"/>
                <a:cs typeface="Arial" pitchFamily="34" charset="-120"/>
              </a:rPr>
              <a:t>OnePropertee was excluded entirely </a:t>
            </a:r>
            <a:r>
              <a:rPr lang="en-US" sz="2325" dirty="0">
                <a:solidFill>
                  <a:srgbClr val="1E2530"/>
                </a:solidFill>
                <a:latin typeface="Arial" pitchFamily="34" charset="0"/>
                <a:ea typeface="Arial" pitchFamily="34" charset="-122"/>
                <a:cs typeface="Arial" pitchFamily="34" charset="-120"/>
              </a:rPr>
              <a:t>— bad geocoding and mis-extracted prices would have contaminated the model.</a:t>
            </a:r>
            <a:endParaRPr lang="en-US" sz="2325" dirty="0"/>
          </a:p>
        </p:txBody>
      </p:sp>
      <p:sp>
        <p:nvSpPr>
          <p:cNvPr id="14" name="Text 11"/>
          <p:cNvSpPr/>
          <p:nvPr/>
        </p:nvSpPr>
        <p:spPr>
          <a:xfrm>
            <a:off x="847725" y="5699820"/>
            <a:ext cx="18251805" cy="314325"/>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6E7686"/>
                </a:solidFill>
                <a:latin typeface="Arial" pitchFamily="34" charset="0"/>
                <a:ea typeface="Arial" pitchFamily="34" charset="-122"/>
                <a:cs typeface="Arial" pitchFamily="34" charset="-120"/>
              </a:rPr>
              <a:t>A slice of the assembled ABT — 18 of 51 columns: structural attributes, coordinates, node distances, MCRAI scores, BIR benchmark, spatial lag.</a:t>
            </a:r>
            <a:endParaRPr lang="en-US" sz="1875" dirty="0"/>
          </a:p>
        </p:txBody>
      </p:sp>
      <p:sp>
        <p:nvSpPr>
          <p:cNvPr id="15" name="Shape 12"/>
          <p:cNvSpPr/>
          <p:nvPr/>
        </p:nvSpPr>
        <p:spPr>
          <a:xfrm>
            <a:off x="847725" y="6033195"/>
            <a:ext cx="16592550" cy="1600200"/>
          </a:xfrm>
          <a:prstGeom prst="roundRect">
            <a:avLst>
              <a:gd name="adj" fmla="val 3571"/>
            </a:avLst>
          </a:prstGeom>
          <a:solidFill>
            <a:srgbClr val="FFFFFF"/>
          </a:solidFill>
          <a:ln w="9525">
            <a:solidFill>
              <a:srgbClr val="DCE2E9"/>
            </a:solidFill>
            <a:prstDash val="solid"/>
          </a:ln>
        </p:spPr>
        <p:txBody>
          <a:bodyPr/>
          <a:lstStyle/>
          <a:p>
            <a:endParaRPr lang="en-US"/>
          </a:p>
        </p:txBody>
      </p:sp>
      <p:pic>
        <p:nvPicPr>
          <p:cNvPr id="16" name="Image 1" descr="preencoded.png"/>
          <p:cNvPicPr>
            <a:picLocks noChangeAspect="1"/>
          </p:cNvPicPr>
          <p:nvPr/>
        </p:nvPicPr>
        <p:blipFill>
          <a:blip r:embed="rId4"/>
          <a:srcRect/>
          <a:stretch/>
        </p:blipFill>
        <p:spPr>
          <a:xfrm>
            <a:off x="933450" y="6118920"/>
            <a:ext cx="16421100" cy="1428750"/>
          </a:xfrm>
          <a:prstGeom prst="rect">
            <a:avLst/>
          </a:prstGeom>
        </p:spPr>
      </p:pic>
    </p:spTree>
    <p:extLst>
      <p:ext uri="{BB962C8B-B14F-4D97-AF65-F5344CB8AC3E}">
        <p14:creationId xmlns:p14="http://schemas.microsoft.com/office/powerpoint/2010/main" val="34977356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BFC"/>
        </a:solidFill>
        <a:effectLst/>
      </p:bgPr>
    </p:bg>
    <p:spTree>
      <p:nvGrpSpPr>
        <p:cNvPr id="1" name=""/>
        <p:cNvGrpSpPr/>
        <p:nvPr/>
      </p:nvGrpSpPr>
      <p:grpSpPr>
        <a:xfrm>
          <a:off x="0" y="0"/>
          <a:ext cx="0" cy="0"/>
          <a:chOff x="0" y="0"/>
          <a:chExt cx="0" cy="0"/>
        </a:xfrm>
      </p:grpSpPr>
      <p:sp>
        <p:nvSpPr>
          <p:cNvPr id="2" name="Text 0"/>
          <p:cNvSpPr/>
          <p:nvPr/>
        </p:nvSpPr>
        <p:spPr>
          <a:xfrm>
            <a:off x="847725" y="552450"/>
            <a:ext cx="4077303" cy="347663"/>
          </a:xfrm>
          <a:prstGeom prst="rect">
            <a:avLst/>
          </a:prstGeom>
          <a:noFill/>
          <a:ln/>
        </p:spPr>
        <p:txBody>
          <a:bodyPr wrap="square" lIns="25400" tIns="25400" rIns="25400" bIns="25400" rtlCol="0" anchor="t">
            <a:normAutofit lnSpcReduction="10000"/>
          </a:bodyPr>
          <a:lstStyle/>
          <a:p>
            <a:pPr marL="0" indent="0" algn="l">
              <a:buNone/>
            </a:pPr>
            <a:r>
              <a:rPr lang="en-US" sz="2100" b="1" kern="0" spc="84" dirty="0">
                <a:solidFill>
                  <a:srgbClr val="33455E"/>
                </a:solidFill>
                <a:latin typeface="Arial" pitchFamily="34" charset="0"/>
                <a:ea typeface="Arial" pitchFamily="34" charset="-122"/>
                <a:cs typeface="Arial" pitchFamily="34" charset="-120"/>
              </a:rPr>
              <a:t>4 · DATA UNDERSTANDING</a:t>
            </a:r>
            <a:endParaRPr lang="en-US" sz="2100" dirty="0"/>
          </a:p>
        </p:txBody>
      </p:sp>
      <p:sp>
        <p:nvSpPr>
          <p:cNvPr id="3" name="Text 1"/>
          <p:cNvSpPr/>
          <p:nvPr/>
        </p:nvSpPr>
        <p:spPr>
          <a:xfrm>
            <a:off x="16712059" y="552450"/>
            <a:ext cx="804416" cy="314325"/>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6E7686"/>
                </a:solidFill>
                <a:latin typeface="Arial" pitchFamily="34" charset="0"/>
                <a:ea typeface="Arial" pitchFamily="34" charset="-122"/>
                <a:cs typeface="Arial" pitchFamily="34" charset="-120"/>
              </a:rPr>
              <a:t>17 / 40</a:t>
            </a:r>
            <a:endParaRPr lang="en-US" sz="1875" dirty="0"/>
          </a:p>
        </p:txBody>
      </p:sp>
      <p:sp>
        <p:nvSpPr>
          <p:cNvPr id="4" name="Shape 2"/>
          <p:cNvSpPr/>
          <p:nvPr/>
        </p:nvSpPr>
        <p:spPr>
          <a:xfrm>
            <a:off x="847725" y="985838"/>
            <a:ext cx="16592550" cy="28575"/>
          </a:xfrm>
          <a:prstGeom prst="rect">
            <a:avLst/>
          </a:prstGeom>
          <a:solidFill>
            <a:srgbClr val="33455E"/>
          </a:solidFill>
          <a:ln/>
        </p:spPr>
        <p:txBody>
          <a:bodyPr/>
          <a:lstStyle/>
          <a:p>
            <a:endParaRPr lang="en-US"/>
          </a:p>
        </p:txBody>
      </p:sp>
      <p:sp>
        <p:nvSpPr>
          <p:cNvPr id="5" name="Text 3"/>
          <p:cNvSpPr/>
          <p:nvPr/>
        </p:nvSpPr>
        <p:spPr>
          <a:xfrm>
            <a:off x="847725" y="1243013"/>
            <a:ext cx="18251805" cy="55810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3900" b="1" dirty="0">
                <a:solidFill>
                  <a:srgbClr val="1E2530"/>
                </a:solidFill>
                <a:latin typeface="Arial" pitchFamily="34" charset="0"/>
                <a:ea typeface="Arial" pitchFamily="34" charset="-122"/>
                <a:cs typeface="Arial" pitchFamily="34" charset="-120"/>
              </a:rPr>
              <a:t>The price signal across the market</a:t>
            </a:r>
          </a:p>
        </p:txBody>
      </p:sp>
      <p:pic>
        <p:nvPicPr>
          <p:cNvPr id="7" name="Image 0" descr="preencoded.png"/>
          <p:cNvPicPr>
            <a:picLocks noChangeAspect="1"/>
          </p:cNvPicPr>
          <p:nvPr/>
        </p:nvPicPr>
        <p:blipFill>
          <a:blip r:embed="rId3"/>
          <a:srcRect t="-694" b="358"/>
          <a:stretch>
            <a:fillRect/>
          </a:stretch>
        </p:blipFill>
        <p:spPr>
          <a:xfrm>
            <a:off x="534764" y="2788443"/>
            <a:ext cx="8714011" cy="4371675"/>
          </a:xfrm>
          <a:prstGeom prst="rect">
            <a:avLst/>
          </a:prstGeom>
        </p:spPr>
      </p:pic>
      <p:sp>
        <p:nvSpPr>
          <p:cNvPr id="8" name="Text 5"/>
          <p:cNvSpPr/>
          <p:nvPr/>
        </p:nvSpPr>
        <p:spPr>
          <a:xfrm>
            <a:off x="846296" y="7280594"/>
            <a:ext cx="5584508" cy="300038"/>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33455E"/>
                </a:solidFill>
                <a:latin typeface="Arial" pitchFamily="34" charset="0"/>
                <a:ea typeface="Arial" pitchFamily="34" charset="-122"/>
                <a:cs typeface="Arial" pitchFamily="34" charset="-120"/>
              </a:rPr>
              <a:t>Target is right-skewed</a:t>
            </a:r>
            <a:endParaRPr lang="en-US" sz="1800" dirty="0"/>
          </a:p>
        </p:txBody>
      </p:sp>
      <p:sp>
        <p:nvSpPr>
          <p:cNvPr id="9" name="Text 6"/>
          <p:cNvSpPr/>
          <p:nvPr/>
        </p:nvSpPr>
        <p:spPr>
          <a:xfrm>
            <a:off x="846296" y="7599681"/>
            <a:ext cx="5229130" cy="590104"/>
          </a:xfrm>
          <a:prstGeom prst="rect">
            <a:avLst/>
          </a:prstGeom>
          <a:noFill/>
          <a:ln/>
        </p:spPr>
        <p:txBody>
          <a:bodyPr wrap="square" lIns="25400" tIns="25400" rIns="25400" bIns="25400" rtlCol="0" anchor="t">
            <a:normAutofit fontScale="92500" lnSpcReduction="20000"/>
          </a:bodyPr>
          <a:lstStyle/>
          <a:p>
            <a:pPr marL="0" indent="0" algn="l">
              <a:lnSpc>
                <a:spcPct val="126000"/>
              </a:lnSpc>
              <a:buNone/>
            </a:pPr>
            <a:r>
              <a:rPr lang="en-US" sz="1725" dirty="0">
                <a:solidFill>
                  <a:srgbClr val="1E2530"/>
                </a:solidFill>
                <a:latin typeface="Arial" pitchFamily="34" charset="0"/>
                <a:ea typeface="Arial" pitchFamily="34" charset="-122"/>
                <a:cs typeface="Arial" pitchFamily="34" charset="-120"/>
              </a:rPr>
              <a:t>Condos command the highest unit prices, vacant lots the lowest — so the target is modeled in log.</a:t>
            </a:r>
            <a:endParaRPr lang="en-US" sz="1725" dirty="0"/>
          </a:p>
        </p:txBody>
      </p:sp>
      <p:pic>
        <p:nvPicPr>
          <p:cNvPr id="11" name="Image 1" descr="preencoded.png"/>
          <p:cNvPicPr>
            <a:picLocks noChangeAspect="1"/>
          </p:cNvPicPr>
          <p:nvPr/>
        </p:nvPicPr>
        <p:blipFill>
          <a:blip r:embed="rId4"/>
          <a:srcRect t="-13165" b="-17354"/>
          <a:stretch>
            <a:fillRect/>
          </a:stretch>
        </p:blipFill>
        <p:spPr>
          <a:xfrm>
            <a:off x="9401175" y="3272806"/>
            <a:ext cx="2724150" cy="1185192"/>
          </a:xfrm>
          <a:prstGeom prst="rect">
            <a:avLst/>
          </a:prstGeom>
        </p:spPr>
      </p:pic>
      <p:sp>
        <p:nvSpPr>
          <p:cNvPr id="12" name="Text 8"/>
          <p:cNvSpPr/>
          <p:nvPr/>
        </p:nvSpPr>
        <p:spPr>
          <a:xfrm>
            <a:off x="12363450" y="3272805"/>
            <a:ext cx="5584508" cy="300038"/>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33455E"/>
                </a:solidFill>
                <a:latin typeface="Arial" pitchFamily="34" charset="0"/>
                <a:ea typeface="Arial" pitchFamily="34" charset="-122"/>
                <a:cs typeface="Arial" pitchFamily="34" charset="-120"/>
              </a:rPr>
              <a:t>Price varies across the map</a:t>
            </a:r>
            <a:endParaRPr lang="en-US" sz="1800" dirty="0"/>
          </a:p>
        </p:txBody>
      </p:sp>
      <p:sp>
        <p:nvSpPr>
          <p:cNvPr id="13" name="Text 9"/>
          <p:cNvSpPr/>
          <p:nvPr/>
        </p:nvSpPr>
        <p:spPr>
          <a:xfrm>
            <a:off x="12363450" y="3591892"/>
            <a:ext cx="5229130" cy="866105"/>
          </a:xfrm>
          <a:prstGeom prst="rect">
            <a:avLst/>
          </a:prstGeom>
          <a:noFill/>
          <a:ln/>
        </p:spPr>
        <p:txBody>
          <a:bodyPr wrap="square" lIns="25400" tIns="25400" rIns="25400" bIns="25400" rtlCol="0" anchor="t">
            <a:normAutofit fontScale="92500" lnSpcReduction="20000"/>
          </a:bodyPr>
          <a:lstStyle/>
          <a:p>
            <a:pPr marL="0" indent="0" algn="l">
              <a:lnSpc>
                <a:spcPct val="126000"/>
              </a:lnSpc>
              <a:buNone/>
            </a:pPr>
            <a:r>
              <a:rPr lang="en-US" sz="1725" dirty="0">
                <a:solidFill>
                  <a:srgbClr val="1E2530"/>
                </a:solidFill>
                <a:latin typeface="Arial" pitchFamily="34" charset="0"/>
                <a:ea typeface="Arial" pitchFamily="34" charset="-122"/>
                <a:cs typeface="Arial" pitchFamily="34" charset="-120"/>
              </a:rPr>
              <a:t>Cebu City ~₱113,600/m², Mandaue ~96,100, Lapu-Lapu ~92,100; a lower southern band ~47–57k. Location is modeled explicitly.</a:t>
            </a:r>
            <a:endParaRPr lang="en-US" sz="1725" dirty="0"/>
          </a:p>
        </p:txBody>
      </p:sp>
      <p:sp>
        <p:nvSpPr>
          <p:cNvPr id="19" name="Text 14"/>
          <p:cNvSpPr/>
          <p:nvPr/>
        </p:nvSpPr>
        <p:spPr>
          <a:xfrm>
            <a:off x="2151529" y="7593805"/>
            <a:ext cx="15531919" cy="1450181"/>
          </a:xfrm>
          <a:prstGeom prst="rect">
            <a:avLst/>
          </a:prstGeom>
          <a:noFill/>
          <a:ln/>
        </p:spPr>
        <p:txBody>
          <a:bodyPr wrap="square" lIns="25400" tIns="25400" rIns="25400" bIns="25400" rtlCol="0" anchor="t">
            <a:normAutofit/>
          </a:bodyPr>
          <a:lstStyle/>
          <a:p>
            <a:pPr marL="0" indent="0" algn="l">
              <a:lnSpc>
                <a:spcPct val="124000"/>
              </a:lnSpc>
              <a:buNone/>
            </a:pPr>
            <a:endParaRPr lang="en-US" sz="1725" dirty="0"/>
          </a:p>
        </p:txBody>
      </p:sp>
      <p:sp>
        <p:nvSpPr>
          <p:cNvPr id="20" name="Shape 20">
            <a:extLst>
              <a:ext uri="{FF2B5EF4-FFF2-40B4-BE49-F238E27FC236}">
                <a16:creationId xmlns:a16="http://schemas.microsoft.com/office/drawing/2014/main" id="{8CAC5D39-D1B4-3C1E-835F-26AC2C95270F}"/>
              </a:ext>
            </a:extLst>
          </p:cNvPr>
          <p:cNvSpPr/>
          <p:nvPr/>
        </p:nvSpPr>
        <p:spPr>
          <a:xfrm>
            <a:off x="847725" y="9057159"/>
            <a:ext cx="16592550" cy="696441"/>
          </a:xfrm>
          <a:prstGeom prst="rect">
            <a:avLst/>
          </a:prstGeom>
          <a:solidFill>
            <a:srgbClr val="EAEEF3"/>
          </a:solidFill>
          <a:ln/>
        </p:spPr>
        <p:txBody>
          <a:bodyPr/>
          <a:lstStyle/>
          <a:p>
            <a:endParaRPr lang="en-US" dirty="0"/>
          </a:p>
        </p:txBody>
      </p:sp>
      <p:sp>
        <p:nvSpPr>
          <p:cNvPr id="21" name="Shape 21">
            <a:extLst>
              <a:ext uri="{FF2B5EF4-FFF2-40B4-BE49-F238E27FC236}">
                <a16:creationId xmlns:a16="http://schemas.microsoft.com/office/drawing/2014/main" id="{671DED8E-EF68-DB52-2A15-445C27014068}"/>
              </a:ext>
            </a:extLst>
          </p:cNvPr>
          <p:cNvSpPr/>
          <p:nvPr/>
        </p:nvSpPr>
        <p:spPr>
          <a:xfrm>
            <a:off x="847725" y="9057159"/>
            <a:ext cx="76200" cy="696441"/>
          </a:xfrm>
          <a:prstGeom prst="rect">
            <a:avLst/>
          </a:prstGeom>
          <a:solidFill>
            <a:srgbClr val="33455E"/>
          </a:solidFill>
          <a:ln/>
        </p:spPr>
        <p:txBody>
          <a:bodyPr/>
          <a:lstStyle/>
          <a:p>
            <a:endParaRPr lang="en-US"/>
          </a:p>
        </p:txBody>
      </p:sp>
      <p:sp>
        <p:nvSpPr>
          <p:cNvPr id="22" name="Text 22">
            <a:extLst>
              <a:ext uri="{FF2B5EF4-FFF2-40B4-BE49-F238E27FC236}">
                <a16:creationId xmlns:a16="http://schemas.microsoft.com/office/drawing/2014/main" id="{B09B9DB1-9BBD-F444-CD12-0E5E22F5E408}"/>
              </a:ext>
            </a:extLst>
          </p:cNvPr>
          <p:cNvSpPr/>
          <p:nvPr/>
        </p:nvSpPr>
        <p:spPr>
          <a:xfrm>
            <a:off x="1171575" y="9204350"/>
            <a:ext cx="2206625" cy="383060"/>
          </a:xfrm>
          <a:prstGeom prst="rect">
            <a:avLst/>
          </a:prstGeom>
          <a:noFill/>
          <a:ln/>
        </p:spPr>
        <p:txBody>
          <a:bodyPr wrap="square" lIns="25400" tIns="25400" rIns="25400" bIns="25400" rtlCol="0" anchor="t">
            <a:noAutofit/>
          </a:bodyPr>
          <a:lstStyle/>
          <a:p>
            <a:pPr marL="0" indent="0" algn="l">
              <a:buNone/>
            </a:pPr>
            <a:endParaRPr lang="en-US" sz="1600" b="1" kern="0" spc="144" dirty="0">
              <a:solidFill>
                <a:srgbClr val="5B7A99"/>
              </a:solidFill>
              <a:latin typeface="Arial" pitchFamily="34" charset="0"/>
              <a:ea typeface="Arial" pitchFamily="34" charset="-122"/>
              <a:cs typeface="Arial" pitchFamily="34" charset="-120"/>
            </a:endParaRPr>
          </a:p>
        </p:txBody>
      </p:sp>
      <p:sp>
        <p:nvSpPr>
          <p:cNvPr id="23" name="Text 23">
            <a:extLst>
              <a:ext uri="{FF2B5EF4-FFF2-40B4-BE49-F238E27FC236}">
                <a16:creationId xmlns:a16="http://schemas.microsoft.com/office/drawing/2014/main" id="{AC3A2B33-3AA2-0CEA-7086-A14DB5F1E4C9}"/>
              </a:ext>
            </a:extLst>
          </p:cNvPr>
          <p:cNvSpPr/>
          <p:nvPr/>
        </p:nvSpPr>
        <p:spPr>
          <a:xfrm>
            <a:off x="1171575" y="9073085"/>
            <a:ext cx="15944850" cy="645590"/>
          </a:xfrm>
          <a:prstGeom prst="rect">
            <a:avLst/>
          </a:prstGeom>
          <a:noFill/>
          <a:ln/>
        </p:spPr>
        <p:txBody>
          <a:bodyPr wrap="square" lIns="25400" tIns="25400" rIns="25400" bIns="25400" rtlCol="0" anchor="t">
            <a:noAutofit/>
          </a:bodyPr>
          <a:lstStyle/>
          <a:p>
            <a:pPr>
              <a:lnSpc>
                <a:spcPct val="124000"/>
              </a:lnSpc>
            </a:pPr>
            <a:r>
              <a:rPr lang="en-US" b="1" kern="0" spc="144" dirty="0">
                <a:solidFill>
                  <a:srgbClr val="5B7A99"/>
                </a:solidFill>
                <a:latin typeface="Arial" pitchFamily="34" charset="0"/>
                <a:ea typeface="Arial" pitchFamily="34" charset="-122"/>
                <a:cs typeface="Arial" pitchFamily="34" charset="-120"/>
              </a:rPr>
              <a:t>MCRAI coverage </a:t>
            </a:r>
            <a:r>
              <a:rPr lang="en-US" dirty="0">
                <a:solidFill>
                  <a:srgbClr val="1E2530"/>
                </a:solidFill>
                <a:latin typeface="Arial" pitchFamily="34" charset="0"/>
                <a:ea typeface="Arial" pitchFamily="34" charset="-122"/>
                <a:cs typeface="Arial" pitchFamily="34" charset="-120"/>
              </a:rPr>
              <a:t>Zero rates checked before modeling: education (0.3%) and grocery (4.3%) effectively complete; security sparsest (26.6%). High rates flag thin catchments, not data failure.</a:t>
            </a:r>
            <a:endParaRPr lang="en-US" dirty="0"/>
          </a:p>
        </p:txBody>
      </p:sp>
    </p:spTree>
    <p:extLst>
      <p:ext uri="{BB962C8B-B14F-4D97-AF65-F5344CB8AC3E}">
        <p14:creationId xmlns:p14="http://schemas.microsoft.com/office/powerpoint/2010/main" val="19995910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AFBFC"/>
        </a:solidFill>
        <a:effectLst/>
      </p:bgPr>
    </p:bg>
    <p:spTree>
      <p:nvGrpSpPr>
        <p:cNvPr id="1" name="">
          <a:extLst>
            <a:ext uri="{FF2B5EF4-FFF2-40B4-BE49-F238E27FC236}">
              <a16:creationId xmlns:a16="http://schemas.microsoft.com/office/drawing/2014/main" id="{320E083D-96A6-8182-7727-EE0361C1E52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0F6CE40-E703-9099-9197-6D7B30EBDF42}"/>
              </a:ext>
            </a:extLst>
          </p:cNvPr>
          <p:cNvSpPr/>
          <p:nvPr/>
        </p:nvSpPr>
        <p:spPr>
          <a:xfrm>
            <a:off x="847725" y="552450"/>
            <a:ext cx="4077303" cy="347663"/>
          </a:xfrm>
          <a:prstGeom prst="rect">
            <a:avLst/>
          </a:prstGeom>
          <a:noFill/>
          <a:ln/>
        </p:spPr>
        <p:txBody>
          <a:bodyPr wrap="square" lIns="25400" tIns="25400" rIns="25400" bIns="25400" rtlCol="0" anchor="t">
            <a:normAutofit lnSpcReduction="10000"/>
          </a:bodyPr>
          <a:lstStyle/>
          <a:p>
            <a:pPr marL="0" indent="0" algn="l">
              <a:buNone/>
            </a:pPr>
            <a:r>
              <a:rPr lang="en-US" sz="2100" b="1" kern="0" spc="84" dirty="0">
                <a:solidFill>
                  <a:srgbClr val="33455E"/>
                </a:solidFill>
                <a:latin typeface="Arial" pitchFamily="34" charset="0"/>
                <a:ea typeface="Arial" pitchFamily="34" charset="-122"/>
                <a:cs typeface="Arial" pitchFamily="34" charset="-120"/>
              </a:rPr>
              <a:t>4 · DATA UNDERSTANDING</a:t>
            </a:r>
            <a:endParaRPr lang="en-US" sz="2100" dirty="0"/>
          </a:p>
        </p:txBody>
      </p:sp>
      <p:sp>
        <p:nvSpPr>
          <p:cNvPr id="3" name="Text 1">
            <a:extLst>
              <a:ext uri="{FF2B5EF4-FFF2-40B4-BE49-F238E27FC236}">
                <a16:creationId xmlns:a16="http://schemas.microsoft.com/office/drawing/2014/main" id="{289B85A6-474B-7D39-AA83-FBF7AD2C261D}"/>
              </a:ext>
            </a:extLst>
          </p:cNvPr>
          <p:cNvSpPr/>
          <p:nvPr/>
        </p:nvSpPr>
        <p:spPr>
          <a:xfrm>
            <a:off x="16712059" y="552450"/>
            <a:ext cx="804416" cy="314325"/>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6E7686"/>
                </a:solidFill>
                <a:latin typeface="Arial" pitchFamily="34" charset="0"/>
                <a:ea typeface="Arial" pitchFamily="34" charset="-122"/>
                <a:cs typeface="Arial" pitchFamily="34" charset="-120"/>
              </a:rPr>
              <a:t>17 / 40</a:t>
            </a:r>
            <a:endParaRPr lang="en-US" sz="1875" dirty="0"/>
          </a:p>
        </p:txBody>
      </p:sp>
      <p:sp>
        <p:nvSpPr>
          <p:cNvPr id="4" name="Shape 2">
            <a:extLst>
              <a:ext uri="{FF2B5EF4-FFF2-40B4-BE49-F238E27FC236}">
                <a16:creationId xmlns:a16="http://schemas.microsoft.com/office/drawing/2014/main" id="{CD7D7989-8C38-797B-DEE6-D1101FE77307}"/>
              </a:ext>
            </a:extLst>
          </p:cNvPr>
          <p:cNvSpPr/>
          <p:nvPr/>
        </p:nvSpPr>
        <p:spPr>
          <a:xfrm>
            <a:off x="847725" y="985838"/>
            <a:ext cx="16592550" cy="28575"/>
          </a:xfrm>
          <a:prstGeom prst="rect">
            <a:avLst/>
          </a:prstGeom>
          <a:solidFill>
            <a:srgbClr val="33455E"/>
          </a:solidFill>
          <a:ln/>
        </p:spPr>
        <p:txBody>
          <a:bodyPr/>
          <a:lstStyle/>
          <a:p>
            <a:endParaRPr lang="en-US"/>
          </a:p>
        </p:txBody>
      </p:sp>
      <p:sp>
        <p:nvSpPr>
          <p:cNvPr id="5" name="Text 3">
            <a:extLst>
              <a:ext uri="{FF2B5EF4-FFF2-40B4-BE49-F238E27FC236}">
                <a16:creationId xmlns:a16="http://schemas.microsoft.com/office/drawing/2014/main" id="{7D100BDE-1DE4-2FF2-DA49-264E9141330D}"/>
              </a:ext>
            </a:extLst>
          </p:cNvPr>
          <p:cNvSpPr/>
          <p:nvPr/>
        </p:nvSpPr>
        <p:spPr>
          <a:xfrm>
            <a:off x="847725" y="1243013"/>
            <a:ext cx="18251805" cy="55810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3900" b="1" dirty="0">
                <a:solidFill>
                  <a:srgbClr val="1E2530"/>
                </a:solidFill>
                <a:latin typeface="Arial" pitchFamily="34" charset="0"/>
                <a:ea typeface="Arial" pitchFamily="34" charset="-122"/>
                <a:cs typeface="Arial" pitchFamily="34" charset="-120"/>
              </a:rPr>
              <a:t>The price signal across the market</a:t>
            </a:r>
          </a:p>
        </p:txBody>
      </p:sp>
      <p:pic>
        <p:nvPicPr>
          <p:cNvPr id="11" name="Image 1" descr="preencoded.png">
            <a:extLst>
              <a:ext uri="{FF2B5EF4-FFF2-40B4-BE49-F238E27FC236}">
                <a16:creationId xmlns:a16="http://schemas.microsoft.com/office/drawing/2014/main" id="{E9E44D7C-F425-7CDC-5FA7-7D4070CFCA39}"/>
              </a:ext>
            </a:extLst>
          </p:cNvPr>
          <p:cNvPicPr>
            <a:picLocks noChangeAspect="1"/>
          </p:cNvPicPr>
          <p:nvPr/>
        </p:nvPicPr>
        <p:blipFill>
          <a:blip r:embed="rId3"/>
          <a:srcRect t="-13165" b="-17354"/>
          <a:stretch>
            <a:fillRect/>
          </a:stretch>
        </p:blipFill>
        <p:spPr>
          <a:xfrm>
            <a:off x="650675" y="983792"/>
            <a:ext cx="16996544" cy="7394664"/>
          </a:xfrm>
          <a:prstGeom prst="rect">
            <a:avLst/>
          </a:prstGeom>
        </p:spPr>
      </p:pic>
      <p:sp>
        <p:nvSpPr>
          <p:cNvPr id="12" name="Text 8">
            <a:extLst>
              <a:ext uri="{FF2B5EF4-FFF2-40B4-BE49-F238E27FC236}">
                <a16:creationId xmlns:a16="http://schemas.microsoft.com/office/drawing/2014/main" id="{1893BC6A-1938-F299-575C-7C15D8612F1F}"/>
              </a:ext>
            </a:extLst>
          </p:cNvPr>
          <p:cNvSpPr/>
          <p:nvPr/>
        </p:nvSpPr>
        <p:spPr>
          <a:xfrm>
            <a:off x="923925" y="7750141"/>
            <a:ext cx="12457794" cy="300038"/>
          </a:xfrm>
          <a:prstGeom prst="rect">
            <a:avLst/>
          </a:prstGeom>
          <a:noFill/>
          <a:ln/>
        </p:spPr>
        <p:txBody>
          <a:bodyPr wrap="square" lIns="25400" tIns="25400" rIns="25400" bIns="25400" rtlCol="0" anchor="t">
            <a:noAutofit/>
          </a:bodyPr>
          <a:lstStyle/>
          <a:p>
            <a:pPr marL="0" indent="0" algn="l">
              <a:buNone/>
            </a:pPr>
            <a:r>
              <a:rPr lang="en-US" sz="2000" b="1" dirty="0">
                <a:solidFill>
                  <a:srgbClr val="33455E"/>
                </a:solidFill>
                <a:latin typeface="Arial" pitchFamily="34" charset="0"/>
                <a:ea typeface="Arial" pitchFamily="34" charset="-122"/>
                <a:cs typeface="Arial" pitchFamily="34" charset="-120"/>
              </a:rPr>
              <a:t>Price varies across the map</a:t>
            </a:r>
            <a:endParaRPr lang="en-US" sz="2000" dirty="0"/>
          </a:p>
        </p:txBody>
      </p:sp>
      <p:sp>
        <p:nvSpPr>
          <p:cNvPr id="13" name="Text 9">
            <a:extLst>
              <a:ext uri="{FF2B5EF4-FFF2-40B4-BE49-F238E27FC236}">
                <a16:creationId xmlns:a16="http://schemas.microsoft.com/office/drawing/2014/main" id="{0EDD000A-7C11-A215-3467-62D7E99D8688}"/>
              </a:ext>
            </a:extLst>
          </p:cNvPr>
          <p:cNvSpPr/>
          <p:nvPr/>
        </p:nvSpPr>
        <p:spPr>
          <a:xfrm>
            <a:off x="923925" y="8069228"/>
            <a:ext cx="11665025" cy="866105"/>
          </a:xfrm>
          <a:prstGeom prst="rect">
            <a:avLst/>
          </a:prstGeom>
          <a:noFill/>
          <a:ln/>
        </p:spPr>
        <p:txBody>
          <a:bodyPr wrap="square" lIns="25400" tIns="25400" rIns="25400" bIns="25400" rtlCol="0" anchor="t">
            <a:normAutofit/>
          </a:bodyPr>
          <a:lstStyle/>
          <a:p>
            <a:pPr marL="0" indent="0" algn="l">
              <a:lnSpc>
                <a:spcPct val="126000"/>
              </a:lnSpc>
              <a:buNone/>
            </a:pPr>
            <a:r>
              <a:rPr lang="en-US" sz="2000" dirty="0">
                <a:solidFill>
                  <a:srgbClr val="1E2530"/>
                </a:solidFill>
                <a:latin typeface="Arial" pitchFamily="34" charset="0"/>
                <a:ea typeface="Arial" pitchFamily="34" charset="-122"/>
                <a:cs typeface="Arial" pitchFamily="34" charset="-120"/>
              </a:rPr>
              <a:t>Cebu City ~₱113,600/m², Mandaue ~96,100, Lapu-Lapu ~92,100; a lower southern band ~47–57k. Location is modeled explicitly.</a:t>
            </a:r>
            <a:endParaRPr lang="en-US" sz="2000" dirty="0"/>
          </a:p>
        </p:txBody>
      </p:sp>
      <p:sp>
        <p:nvSpPr>
          <p:cNvPr id="19" name="Text 14">
            <a:extLst>
              <a:ext uri="{FF2B5EF4-FFF2-40B4-BE49-F238E27FC236}">
                <a16:creationId xmlns:a16="http://schemas.microsoft.com/office/drawing/2014/main" id="{C9A63B20-3B7B-D7DF-B688-D2438BEF0111}"/>
              </a:ext>
            </a:extLst>
          </p:cNvPr>
          <p:cNvSpPr/>
          <p:nvPr/>
        </p:nvSpPr>
        <p:spPr>
          <a:xfrm>
            <a:off x="2151529" y="7593805"/>
            <a:ext cx="15531919" cy="1450181"/>
          </a:xfrm>
          <a:prstGeom prst="rect">
            <a:avLst/>
          </a:prstGeom>
          <a:noFill/>
          <a:ln/>
        </p:spPr>
        <p:txBody>
          <a:bodyPr wrap="square" lIns="25400" tIns="25400" rIns="25400" bIns="25400" rtlCol="0" anchor="t">
            <a:normAutofit/>
          </a:bodyPr>
          <a:lstStyle/>
          <a:p>
            <a:pPr marL="0" indent="0" algn="l">
              <a:lnSpc>
                <a:spcPct val="124000"/>
              </a:lnSpc>
              <a:buNone/>
            </a:pPr>
            <a:endParaRPr lang="en-US" sz="1725" dirty="0"/>
          </a:p>
        </p:txBody>
      </p:sp>
    </p:spTree>
    <p:extLst>
      <p:ext uri="{BB962C8B-B14F-4D97-AF65-F5344CB8AC3E}">
        <p14:creationId xmlns:p14="http://schemas.microsoft.com/office/powerpoint/2010/main" val="232945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AFBFC"/>
        </a:solidFill>
        <a:effectLst/>
      </p:bgPr>
    </p:bg>
    <p:spTree>
      <p:nvGrpSpPr>
        <p:cNvPr id="1" name="">
          <a:extLst>
            <a:ext uri="{FF2B5EF4-FFF2-40B4-BE49-F238E27FC236}">
              <a16:creationId xmlns:a16="http://schemas.microsoft.com/office/drawing/2014/main" id="{B9203BD5-F65A-DD6D-CCFD-7CC93609352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DA817CD-CC45-FD9F-2C1D-80589473BFB3}"/>
              </a:ext>
            </a:extLst>
          </p:cNvPr>
          <p:cNvSpPr/>
          <p:nvPr/>
        </p:nvSpPr>
        <p:spPr>
          <a:xfrm>
            <a:off x="847725" y="552450"/>
            <a:ext cx="4077303" cy="347663"/>
          </a:xfrm>
          <a:prstGeom prst="rect">
            <a:avLst/>
          </a:prstGeom>
          <a:noFill/>
          <a:ln/>
        </p:spPr>
        <p:txBody>
          <a:bodyPr wrap="square" lIns="25400" tIns="25400" rIns="25400" bIns="25400" rtlCol="0" anchor="t">
            <a:normAutofit lnSpcReduction="10000"/>
          </a:bodyPr>
          <a:lstStyle/>
          <a:p>
            <a:pPr marL="0" indent="0" algn="l">
              <a:buNone/>
            </a:pPr>
            <a:r>
              <a:rPr lang="en-US" sz="2100" b="1" kern="0" spc="84" dirty="0">
                <a:solidFill>
                  <a:srgbClr val="33455E"/>
                </a:solidFill>
                <a:latin typeface="Arial" pitchFamily="34" charset="0"/>
                <a:ea typeface="Arial" pitchFamily="34" charset="-122"/>
                <a:cs typeface="Arial" pitchFamily="34" charset="-120"/>
              </a:rPr>
              <a:t>4 · DATA UNDERSTANDING</a:t>
            </a:r>
            <a:endParaRPr lang="en-US" sz="2100" dirty="0"/>
          </a:p>
        </p:txBody>
      </p:sp>
      <p:sp>
        <p:nvSpPr>
          <p:cNvPr id="3" name="Text 1">
            <a:extLst>
              <a:ext uri="{FF2B5EF4-FFF2-40B4-BE49-F238E27FC236}">
                <a16:creationId xmlns:a16="http://schemas.microsoft.com/office/drawing/2014/main" id="{C8AB9087-DFF0-F0E1-7576-B2B10EC3C6AD}"/>
              </a:ext>
            </a:extLst>
          </p:cNvPr>
          <p:cNvSpPr/>
          <p:nvPr/>
        </p:nvSpPr>
        <p:spPr>
          <a:xfrm>
            <a:off x="16712059" y="552450"/>
            <a:ext cx="804416" cy="314325"/>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6E7686"/>
                </a:solidFill>
                <a:latin typeface="Arial" pitchFamily="34" charset="0"/>
                <a:ea typeface="Arial" pitchFamily="34" charset="-122"/>
                <a:cs typeface="Arial" pitchFamily="34" charset="-120"/>
              </a:rPr>
              <a:t>17 / 40</a:t>
            </a:r>
            <a:endParaRPr lang="en-US" sz="1875" dirty="0"/>
          </a:p>
        </p:txBody>
      </p:sp>
      <p:sp>
        <p:nvSpPr>
          <p:cNvPr id="4" name="Shape 2">
            <a:extLst>
              <a:ext uri="{FF2B5EF4-FFF2-40B4-BE49-F238E27FC236}">
                <a16:creationId xmlns:a16="http://schemas.microsoft.com/office/drawing/2014/main" id="{AA1B4A09-17B6-EC8B-5F09-D8322A7C290B}"/>
              </a:ext>
            </a:extLst>
          </p:cNvPr>
          <p:cNvSpPr/>
          <p:nvPr/>
        </p:nvSpPr>
        <p:spPr>
          <a:xfrm>
            <a:off x="847725" y="985838"/>
            <a:ext cx="16592550" cy="28575"/>
          </a:xfrm>
          <a:prstGeom prst="rect">
            <a:avLst/>
          </a:prstGeom>
          <a:solidFill>
            <a:srgbClr val="33455E"/>
          </a:solidFill>
          <a:ln/>
        </p:spPr>
        <p:txBody>
          <a:bodyPr/>
          <a:lstStyle/>
          <a:p>
            <a:endParaRPr lang="en-US"/>
          </a:p>
        </p:txBody>
      </p:sp>
      <p:sp>
        <p:nvSpPr>
          <p:cNvPr id="5" name="Text 3">
            <a:extLst>
              <a:ext uri="{FF2B5EF4-FFF2-40B4-BE49-F238E27FC236}">
                <a16:creationId xmlns:a16="http://schemas.microsoft.com/office/drawing/2014/main" id="{A7A3901B-1FC2-C288-2E12-36010F2D8443}"/>
              </a:ext>
            </a:extLst>
          </p:cNvPr>
          <p:cNvSpPr/>
          <p:nvPr/>
        </p:nvSpPr>
        <p:spPr>
          <a:xfrm>
            <a:off x="847725" y="1243013"/>
            <a:ext cx="18251805" cy="55810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3900" b="1" dirty="0">
                <a:solidFill>
                  <a:srgbClr val="1E2530"/>
                </a:solidFill>
                <a:latin typeface="Arial" pitchFamily="34" charset="0"/>
                <a:ea typeface="Arial" pitchFamily="34" charset="-122"/>
                <a:cs typeface="Arial" pitchFamily="34" charset="-120"/>
              </a:rPr>
              <a:t>The price signal — and can we trust the features?</a:t>
            </a:r>
            <a:endParaRPr lang="en-US" sz="3900" dirty="0"/>
          </a:p>
        </p:txBody>
      </p:sp>
      <p:pic>
        <p:nvPicPr>
          <p:cNvPr id="15" name="Image 2" descr="preencoded.png">
            <a:extLst>
              <a:ext uri="{FF2B5EF4-FFF2-40B4-BE49-F238E27FC236}">
                <a16:creationId xmlns:a16="http://schemas.microsoft.com/office/drawing/2014/main" id="{67E17B4D-EAF2-C9B9-E5F3-8037FC0AC7D9}"/>
              </a:ext>
            </a:extLst>
          </p:cNvPr>
          <p:cNvPicPr>
            <a:picLocks noChangeAspect="1"/>
          </p:cNvPicPr>
          <p:nvPr/>
        </p:nvPicPr>
        <p:blipFill>
          <a:blip r:embed="rId3"/>
          <a:srcRect t="-27413" b="-27413"/>
          <a:stretch/>
        </p:blipFill>
        <p:spPr>
          <a:xfrm>
            <a:off x="519690" y="-481834"/>
            <a:ext cx="9594547" cy="12998032"/>
          </a:xfrm>
          <a:prstGeom prst="rect">
            <a:avLst/>
          </a:prstGeom>
        </p:spPr>
      </p:pic>
      <p:sp>
        <p:nvSpPr>
          <p:cNvPr id="16" name="Text 11">
            <a:extLst>
              <a:ext uri="{FF2B5EF4-FFF2-40B4-BE49-F238E27FC236}">
                <a16:creationId xmlns:a16="http://schemas.microsoft.com/office/drawing/2014/main" id="{3BCAD650-687A-CA69-4CA6-8591E41F1DA9}"/>
              </a:ext>
            </a:extLst>
          </p:cNvPr>
          <p:cNvSpPr/>
          <p:nvPr/>
        </p:nvSpPr>
        <p:spPr>
          <a:xfrm>
            <a:off x="10766573" y="3180076"/>
            <a:ext cx="6349548" cy="300038"/>
          </a:xfrm>
          <a:prstGeom prst="rect">
            <a:avLst/>
          </a:prstGeom>
          <a:noFill/>
          <a:ln/>
        </p:spPr>
        <p:txBody>
          <a:bodyPr wrap="square" lIns="25400" tIns="25400" rIns="25400" bIns="25400" rtlCol="0" anchor="t">
            <a:noAutofit/>
          </a:bodyPr>
          <a:lstStyle/>
          <a:p>
            <a:pPr marL="0" indent="0" algn="l">
              <a:buNone/>
            </a:pPr>
            <a:r>
              <a:rPr lang="en-US" sz="2400" b="1" dirty="0">
                <a:solidFill>
                  <a:srgbClr val="33455E"/>
                </a:solidFill>
                <a:latin typeface="Arial" pitchFamily="34" charset="0"/>
                <a:ea typeface="Arial" pitchFamily="34" charset="-122"/>
                <a:cs typeface="Arial" pitchFamily="34" charset="-120"/>
              </a:rPr>
              <a:t>Some features move together</a:t>
            </a:r>
            <a:endParaRPr lang="en-US" sz="2400" dirty="0"/>
          </a:p>
        </p:txBody>
      </p:sp>
      <p:sp>
        <p:nvSpPr>
          <p:cNvPr id="17" name="Text 12">
            <a:extLst>
              <a:ext uri="{FF2B5EF4-FFF2-40B4-BE49-F238E27FC236}">
                <a16:creationId xmlns:a16="http://schemas.microsoft.com/office/drawing/2014/main" id="{4B6CB841-3278-190F-4EEF-15B7BB0C12CC}"/>
              </a:ext>
            </a:extLst>
          </p:cNvPr>
          <p:cNvSpPr/>
          <p:nvPr/>
        </p:nvSpPr>
        <p:spPr>
          <a:xfrm>
            <a:off x="10766573" y="3499163"/>
            <a:ext cx="5945486" cy="590104"/>
          </a:xfrm>
          <a:prstGeom prst="rect">
            <a:avLst/>
          </a:prstGeom>
          <a:noFill/>
          <a:ln/>
        </p:spPr>
        <p:txBody>
          <a:bodyPr wrap="square" lIns="25400" tIns="25400" rIns="25400" bIns="25400" rtlCol="0" anchor="t">
            <a:noAutofit/>
          </a:bodyPr>
          <a:lstStyle/>
          <a:p>
            <a:pPr marL="0" indent="0" algn="l">
              <a:lnSpc>
                <a:spcPct val="126000"/>
              </a:lnSpc>
              <a:buNone/>
            </a:pPr>
            <a:r>
              <a:rPr lang="en-US" sz="2400" dirty="0">
                <a:solidFill>
                  <a:srgbClr val="33445E"/>
                </a:solidFill>
                <a:latin typeface="Arial" pitchFamily="34" charset="0"/>
                <a:ea typeface="Arial" pitchFamily="34" charset="-122"/>
                <a:cs typeface="Arial" pitchFamily="34" charset="-120"/>
              </a:rPr>
              <a:t>Southern-corridor CBD distances are collinear — matters for the OLS baseline (VIF), not the trees.</a:t>
            </a:r>
            <a:endParaRPr lang="en-US" sz="2400" dirty="0">
              <a:solidFill>
                <a:srgbClr val="33445E"/>
              </a:solidFill>
            </a:endParaRPr>
          </a:p>
        </p:txBody>
      </p:sp>
      <p:sp>
        <p:nvSpPr>
          <p:cNvPr id="20" name="Text 12">
            <a:extLst>
              <a:ext uri="{FF2B5EF4-FFF2-40B4-BE49-F238E27FC236}">
                <a16:creationId xmlns:a16="http://schemas.microsoft.com/office/drawing/2014/main" id="{8345E0F1-3FBD-6697-9A14-60705F1FDA97}"/>
              </a:ext>
            </a:extLst>
          </p:cNvPr>
          <p:cNvSpPr/>
          <p:nvPr/>
        </p:nvSpPr>
        <p:spPr>
          <a:xfrm>
            <a:off x="10766573" y="4859072"/>
            <a:ext cx="5945486" cy="590104"/>
          </a:xfrm>
          <a:prstGeom prst="rect">
            <a:avLst/>
          </a:prstGeom>
          <a:noFill/>
          <a:ln/>
        </p:spPr>
        <p:txBody>
          <a:bodyPr wrap="square" lIns="25400" tIns="25400" rIns="25400" bIns="25400" rtlCol="0" anchor="t">
            <a:noAutofit/>
          </a:bodyPr>
          <a:lstStyle/>
          <a:p>
            <a:r>
              <a:rPr lang="en-PH" sz="2400" dirty="0">
                <a:solidFill>
                  <a:srgbClr val="33445E"/>
                </a:solidFill>
                <a:latin typeface="Arial" panose="020B0604020202020204" pitchFamily="34" charset="0"/>
                <a:cs typeface="Arial" panose="020B0604020202020204" pitchFamily="34" charset="0"/>
              </a:rPr>
              <a:t>Several southern-corridor </a:t>
            </a:r>
            <a:r>
              <a:rPr lang="en-PH" sz="2400" b="1" dirty="0">
                <a:solidFill>
                  <a:srgbClr val="33445E"/>
                </a:solidFill>
                <a:latin typeface="Arial" panose="020B0604020202020204" pitchFamily="34" charset="0"/>
                <a:cs typeface="Arial" panose="020B0604020202020204" pitchFamily="34" charset="0"/>
              </a:rPr>
              <a:t>CBD distances move together</a:t>
            </a:r>
            <a:r>
              <a:rPr lang="en-PH" sz="2400" dirty="0">
                <a:solidFill>
                  <a:srgbClr val="33445E"/>
                </a:solidFill>
                <a:latin typeface="Arial" panose="020B0604020202020204" pitchFamily="34" charset="0"/>
                <a:cs typeface="Arial" panose="020B0604020202020204" pitchFamily="34" charset="0"/>
              </a:rPr>
              <a:t> — an early collinearity warning.</a:t>
            </a:r>
          </a:p>
          <a:p>
            <a:br>
              <a:rPr lang="en-PH" sz="2400" dirty="0">
                <a:latin typeface="Arial" panose="020B0604020202020204" pitchFamily="34" charset="0"/>
                <a:cs typeface="Arial" panose="020B0604020202020204" pitchFamily="34" charset="0"/>
              </a:rPr>
            </a:br>
            <a:endParaRPr lang="en-US" sz="2400" dirty="0">
              <a:latin typeface="Arial" panose="020B0604020202020204" pitchFamily="34" charset="0"/>
              <a:cs typeface="Arial" panose="020B0604020202020204" pitchFamily="34" charset="0"/>
            </a:endParaRPr>
          </a:p>
        </p:txBody>
      </p:sp>
      <p:sp>
        <p:nvSpPr>
          <p:cNvPr id="21" name="Text 12">
            <a:extLst>
              <a:ext uri="{FF2B5EF4-FFF2-40B4-BE49-F238E27FC236}">
                <a16:creationId xmlns:a16="http://schemas.microsoft.com/office/drawing/2014/main" id="{804D45BA-3A03-3FFF-53C6-A5BB25B22484}"/>
              </a:ext>
            </a:extLst>
          </p:cNvPr>
          <p:cNvSpPr/>
          <p:nvPr/>
        </p:nvSpPr>
        <p:spPr>
          <a:xfrm>
            <a:off x="10766573" y="6017182"/>
            <a:ext cx="5945486" cy="590104"/>
          </a:xfrm>
          <a:prstGeom prst="rect">
            <a:avLst/>
          </a:prstGeom>
          <a:noFill/>
          <a:ln/>
        </p:spPr>
        <p:txBody>
          <a:bodyPr wrap="square" lIns="25400" tIns="25400" rIns="25400" bIns="25400" rtlCol="0" anchor="t">
            <a:noAutofit/>
          </a:bodyPr>
          <a:lstStyle/>
          <a:p>
            <a:r>
              <a:rPr lang="en-PH" sz="2400" dirty="0">
                <a:solidFill>
                  <a:srgbClr val="33445E"/>
                </a:solidFill>
                <a:latin typeface="Arial" panose="020B0604020202020204" pitchFamily="34" charset="0"/>
                <a:cs typeface="Arial" panose="020B0604020202020204" pitchFamily="34" charset="0"/>
              </a:rPr>
              <a:t>Random Forest tolerates correlated predictors, so the substantively meaningful nodes were kept.</a:t>
            </a:r>
          </a:p>
          <a:p>
            <a:br>
              <a:rPr lang="en-PH" sz="2400" dirty="0">
                <a:latin typeface="Arial" panose="020B0604020202020204" pitchFamily="34" charset="0"/>
                <a:cs typeface="Arial" panose="020B0604020202020204" pitchFamily="34" charset="0"/>
              </a:rPr>
            </a:b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335946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bg>
      <p:bgPr>
        <a:solidFill>
          <a:srgbClr val="33455E"/>
        </a:solidFill>
        <a:effectLst/>
      </p:bgPr>
    </p:bg>
    <p:spTree>
      <p:nvGrpSpPr>
        <p:cNvPr id="1" name=""/>
        <p:cNvGrpSpPr/>
        <p:nvPr/>
      </p:nvGrpSpPr>
      <p:grpSpPr>
        <a:xfrm>
          <a:off x="0" y="0"/>
          <a:ext cx="0" cy="0"/>
          <a:chOff x="0" y="0"/>
          <a:chExt cx="0" cy="0"/>
        </a:xfrm>
      </p:grpSpPr>
      <p:sp>
        <p:nvSpPr>
          <p:cNvPr id="2" name="Text 0"/>
          <p:cNvSpPr/>
          <p:nvPr/>
        </p:nvSpPr>
        <p:spPr>
          <a:xfrm>
            <a:off x="1238250" y="3826669"/>
            <a:ext cx="17392650" cy="914400"/>
          </a:xfrm>
          <a:prstGeom prst="rect">
            <a:avLst/>
          </a:prstGeom>
          <a:noFill/>
          <a:ln/>
        </p:spPr>
        <p:txBody>
          <a:bodyPr wrap="square" lIns="25400" tIns="25400" rIns="25400" bIns="25400" rtlCol="0" anchor="t">
            <a:normAutofit lnSpcReduction="10000"/>
          </a:bodyPr>
          <a:lstStyle/>
          <a:p>
            <a:pPr marL="0" indent="0" algn="l">
              <a:buNone/>
            </a:pPr>
            <a:r>
              <a:rPr lang="en-US" sz="6000" b="1" dirty="0">
                <a:solidFill>
                  <a:srgbClr val="5B7A99"/>
                </a:solidFill>
                <a:latin typeface="Arial" pitchFamily="34" charset="0"/>
                <a:ea typeface="Arial" pitchFamily="34" charset="-122"/>
                <a:cs typeface="Arial" pitchFamily="34" charset="-120"/>
              </a:rPr>
              <a:t>05</a:t>
            </a:r>
            <a:endParaRPr lang="en-US" sz="6000" dirty="0"/>
          </a:p>
        </p:txBody>
      </p:sp>
      <p:sp>
        <p:nvSpPr>
          <p:cNvPr id="3" name="Text 1"/>
          <p:cNvSpPr/>
          <p:nvPr/>
        </p:nvSpPr>
        <p:spPr>
          <a:xfrm>
            <a:off x="1238250" y="4779169"/>
            <a:ext cx="17392650" cy="1133475"/>
          </a:xfrm>
          <a:prstGeom prst="rect">
            <a:avLst/>
          </a:prstGeom>
          <a:noFill/>
          <a:ln/>
        </p:spPr>
        <p:txBody>
          <a:bodyPr wrap="square" lIns="25400" tIns="25400" rIns="25400" bIns="25400" rtlCol="0" anchor="t">
            <a:normAutofit lnSpcReduction="10000"/>
          </a:bodyPr>
          <a:lstStyle/>
          <a:p>
            <a:pPr marL="0" indent="0" algn="l">
              <a:buNone/>
            </a:pPr>
            <a:r>
              <a:rPr lang="en-US" sz="7500" b="1" dirty="0">
                <a:solidFill>
                  <a:srgbClr val="FFFFFF"/>
                </a:solidFill>
                <a:latin typeface="Arial" pitchFamily="34" charset="0"/>
                <a:ea typeface="Arial" pitchFamily="34" charset="-122"/>
                <a:cs typeface="Arial" pitchFamily="34" charset="-120"/>
              </a:rPr>
              <a:t>Data Preparation</a:t>
            </a:r>
            <a:endParaRPr lang="en-US" sz="7500" dirty="0"/>
          </a:p>
        </p:txBody>
      </p:sp>
      <p:sp>
        <p:nvSpPr>
          <p:cNvPr id="4" name="Text 2"/>
          <p:cNvSpPr/>
          <p:nvPr/>
        </p:nvSpPr>
        <p:spPr>
          <a:xfrm>
            <a:off x="1238250" y="6045994"/>
            <a:ext cx="17392650" cy="452438"/>
          </a:xfrm>
          <a:prstGeom prst="rect">
            <a:avLst/>
          </a:prstGeom>
          <a:noFill/>
          <a:ln/>
        </p:spPr>
        <p:txBody>
          <a:bodyPr wrap="square" lIns="25400" tIns="25400" rIns="25400" bIns="25400" rtlCol="0" anchor="t">
            <a:normAutofit lnSpcReduction="10000"/>
          </a:bodyPr>
          <a:lstStyle/>
          <a:p>
            <a:pPr marL="0" indent="0" algn="l">
              <a:buNone/>
            </a:pPr>
            <a:r>
              <a:rPr lang="en-US" sz="2850" dirty="0">
                <a:solidFill>
                  <a:srgbClr val="C5D2DF"/>
                </a:solidFill>
                <a:latin typeface="Arial" pitchFamily="34" charset="0"/>
                <a:ea typeface="Arial" pitchFamily="34" charset="-122"/>
                <a:cs typeface="Arial" pitchFamily="34" charset="-120"/>
              </a:rPr>
              <a:t>Cleaning, and preparing data for the models</a:t>
            </a:r>
            <a:endParaRPr lang="en-US" sz="2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bg>
      <p:bgPr>
        <a:solidFill>
          <a:srgbClr val="FAFBFC"/>
        </a:solidFill>
        <a:effectLst/>
      </p:bgPr>
    </p:bg>
    <p:spTree>
      <p:nvGrpSpPr>
        <p:cNvPr id="1" name=""/>
        <p:cNvGrpSpPr/>
        <p:nvPr/>
      </p:nvGrpSpPr>
      <p:grpSpPr>
        <a:xfrm>
          <a:off x="0" y="0"/>
          <a:ext cx="0" cy="0"/>
          <a:chOff x="0" y="0"/>
          <a:chExt cx="0" cy="0"/>
        </a:xfrm>
      </p:grpSpPr>
      <p:sp>
        <p:nvSpPr>
          <p:cNvPr id="2" name="Text 0"/>
          <p:cNvSpPr/>
          <p:nvPr/>
        </p:nvSpPr>
        <p:spPr>
          <a:xfrm>
            <a:off x="847725" y="552450"/>
            <a:ext cx="3592145" cy="347663"/>
          </a:xfrm>
          <a:prstGeom prst="rect">
            <a:avLst/>
          </a:prstGeom>
          <a:noFill/>
          <a:ln/>
        </p:spPr>
        <p:txBody>
          <a:bodyPr wrap="square" lIns="25400" tIns="25400" rIns="25400" bIns="25400" rtlCol="0" anchor="t">
            <a:normAutofit lnSpcReduction="10000"/>
          </a:bodyPr>
          <a:lstStyle/>
          <a:p>
            <a:pPr marL="0" indent="0" algn="l">
              <a:buNone/>
            </a:pPr>
            <a:r>
              <a:rPr lang="en-US" sz="2100" b="1" kern="0" spc="84" dirty="0">
                <a:solidFill>
                  <a:srgbClr val="33455E"/>
                </a:solidFill>
                <a:latin typeface="Arial" pitchFamily="34" charset="0"/>
                <a:ea typeface="Arial" pitchFamily="34" charset="-122"/>
                <a:cs typeface="Arial" pitchFamily="34" charset="-120"/>
              </a:rPr>
              <a:t>5 · DATA PREPARATION</a:t>
            </a:r>
            <a:endParaRPr lang="en-US" sz="2100" dirty="0"/>
          </a:p>
        </p:txBody>
      </p:sp>
      <p:sp>
        <p:nvSpPr>
          <p:cNvPr id="3" name="Text 1"/>
          <p:cNvSpPr/>
          <p:nvPr/>
        </p:nvSpPr>
        <p:spPr>
          <a:xfrm>
            <a:off x="16712059" y="552450"/>
            <a:ext cx="804416" cy="314325"/>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6E7686"/>
                </a:solidFill>
                <a:latin typeface="Arial" pitchFamily="34" charset="0"/>
                <a:ea typeface="Arial" pitchFamily="34" charset="-122"/>
                <a:cs typeface="Arial" pitchFamily="34" charset="-120"/>
              </a:rPr>
              <a:t>19 / 40</a:t>
            </a:r>
            <a:endParaRPr lang="en-US" sz="1875" dirty="0"/>
          </a:p>
        </p:txBody>
      </p:sp>
      <p:sp>
        <p:nvSpPr>
          <p:cNvPr id="4" name="Shape 2"/>
          <p:cNvSpPr/>
          <p:nvPr/>
        </p:nvSpPr>
        <p:spPr>
          <a:xfrm>
            <a:off x="847725" y="985838"/>
            <a:ext cx="16592550" cy="28575"/>
          </a:xfrm>
          <a:prstGeom prst="rect">
            <a:avLst/>
          </a:prstGeom>
          <a:solidFill>
            <a:srgbClr val="33455E"/>
          </a:solidFill>
          <a:ln/>
        </p:spPr>
        <p:txBody>
          <a:bodyPr/>
          <a:lstStyle/>
          <a:p>
            <a:endParaRPr lang="en-US"/>
          </a:p>
        </p:txBody>
      </p:sp>
      <p:sp>
        <p:nvSpPr>
          <p:cNvPr id="5" name="Text 3"/>
          <p:cNvSpPr/>
          <p:nvPr/>
        </p:nvSpPr>
        <p:spPr>
          <a:xfrm>
            <a:off x="847725" y="1243013"/>
            <a:ext cx="18251805" cy="55810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3900" b="1" dirty="0">
                <a:solidFill>
                  <a:srgbClr val="1E2530"/>
                </a:solidFill>
                <a:latin typeface="Arial" pitchFamily="34" charset="0"/>
                <a:ea typeface="Arial" pitchFamily="34" charset="-122"/>
                <a:cs typeface="Arial" pitchFamily="34" charset="-120"/>
              </a:rPr>
              <a:t>Cleaning kept every decision visible</a:t>
            </a:r>
            <a:endParaRPr lang="en-US" sz="3900" dirty="0"/>
          </a:p>
        </p:txBody>
      </p:sp>
      <p:sp>
        <p:nvSpPr>
          <p:cNvPr id="6" name="Text 4"/>
          <p:cNvSpPr/>
          <p:nvPr/>
        </p:nvSpPr>
        <p:spPr>
          <a:xfrm>
            <a:off x="847725" y="2010668"/>
            <a:ext cx="8843010" cy="333375"/>
          </a:xfrm>
          <a:prstGeom prst="rect">
            <a:avLst/>
          </a:prstGeom>
          <a:noFill/>
          <a:ln/>
        </p:spPr>
        <p:txBody>
          <a:bodyPr wrap="square" lIns="25400" tIns="25400" rIns="25400" bIns="25400" rtlCol="0" anchor="t">
            <a:noAutofit/>
          </a:bodyPr>
          <a:lstStyle/>
          <a:p>
            <a:pPr marL="0" indent="0" algn="l">
              <a:buNone/>
            </a:pPr>
            <a:r>
              <a:rPr lang="en-US" sz="2400" b="1" dirty="0">
                <a:solidFill>
                  <a:srgbClr val="33455E"/>
                </a:solidFill>
                <a:latin typeface="Arial" pitchFamily="34" charset="0"/>
                <a:ea typeface="Arial" pitchFamily="34" charset="-122"/>
                <a:cs typeface="Arial" pitchFamily="34" charset="-120"/>
              </a:rPr>
              <a:t>A clean, defensible table</a:t>
            </a:r>
            <a:endParaRPr lang="en-US" sz="2400" dirty="0"/>
          </a:p>
        </p:txBody>
      </p:sp>
      <p:sp>
        <p:nvSpPr>
          <p:cNvPr id="7" name="Text 5"/>
          <p:cNvSpPr/>
          <p:nvPr/>
        </p:nvSpPr>
        <p:spPr>
          <a:xfrm>
            <a:off x="847725" y="2515493"/>
            <a:ext cx="157237" cy="358080"/>
          </a:xfrm>
          <a:prstGeom prst="rect">
            <a:avLst/>
          </a:prstGeom>
          <a:noFill/>
          <a:ln/>
        </p:spPr>
        <p:txBody>
          <a:bodyPr wrap="square" lIns="25400" tIns="25400" rIns="25400" bIns="25400" rtlCol="0" anchor="t">
            <a:noAutofit/>
          </a:bodyPr>
          <a:lstStyle/>
          <a:p>
            <a:pPr marL="0" indent="0" algn="l">
              <a:lnSpc>
                <a:spcPct val="140000"/>
              </a:lnSpc>
              <a:buNone/>
            </a:pPr>
            <a:r>
              <a:rPr lang="en-US" b="1" dirty="0">
                <a:solidFill>
                  <a:srgbClr val="33455E"/>
                </a:solidFill>
                <a:latin typeface="Arial" pitchFamily="34" charset="0"/>
                <a:ea typeface="Arial" pitchFamily="34" charset="-122"/>
                <a:cs typeface="Arial" pitchFamily="34" charset="-120"/>
              </a:rPr>
              <a:t>▪</a:t>
            </a:r>
            <a:endParaRPr lang="en-US" dirty="0"/>
          </a:p>
        </p:txBody>
      </p:sp>
      <p:sp>
        <p:nvSpPr>
          <p:cNvPr id="8" name="Text 6"/>
          <p:cNvSpPr/>
          <p:nvPr/>
        </p:nvSpPr>
        <p:spPr>
          <a:xfrm>
            <a:off x="1062112" y="2458343"/>
            <a:ext cx="8059454" cy="817513"/>
          </a:xfrm>
          <a:prstGeom prst="rect">
            <a:avLst/>
          </a:prstGeom>
          <a:noFill/>
          <a:ln/>
        </p:spPr>
        <p:txBody>
          <a:bodyPr wrap="square" lIns="25400" tIns="25400" rIns="25400" bIns="25400" rtlCol="0" anchor="t">
            <a:noAutofit/>
          </a:bodyPr>
          <a:lstStyle/>
          <a:p>
            <a:pPr marL="0" indent="0" algn="l">
              <a:lnSpc>
                <a:spcPct val="132000"/>
              </a:lnSpc>
              <a:buNone/>
            </a:pPr>
            <a:r>
              <a:rPr lang="en-US" sz="2400" dirty="0">
                <a:solidFill>
                  <a:srgbClr val="1E2530"/>
                </a:solidFill>
                <a:latin typeface="Arial" pitchFamily="34" charset="0"/>
                <a:ea typeface="Arial" pitchFamily="34" charset="-122"/>
                <a:cs typeface="Arial" pitchFamily="34" charset="-120"/>
              </a:rPr>
              <a:t>Imputed values were </a:t>
            </a:r>
            <a:r>
              <a:rPr lang="en-US" sz="2400" b="1" dirty="0">
                <a:solidFill>
                  <a:srgbClr val="33455E"/>
                </a:solidFill>
                <a:latin typeface="Arial" pitchFamily="34" charset="0"/>
                <a:ea typeface="Arial" pitchFamily="34" charset="-122"/>
                <a:cs typeface="Arial" pitchFamily="34" charset="-120"/>
              </a:rPr>
              <a:t>flagged </a:t>
            </a:r>
            <a:r>
              <a:rPr lang="en-US" sz="2400" dirty="0">
                <a:solidFill>
                  <a:srgbClr val="1E2530"/>
                </a:solidFill>
                <a:latin typeface="Arial" pitchFamily="34" charset="0"/>
                <a:ea typeface="Arial" pitchFamily="34" charset="-122"/>
                <a:cs typeface="Arial" pitchFamily="34" charset="-120"/>
              </a:rPr>
              <a:t>, never silently filled — imputation stays auditable.</a:t>
            </a:r>
            <a:endParaRPr lang="en-US" sz="2400" dirty="0"/>
          </a:p>
        </p:txBody>
      </p:sp>
      <p:sp>
        <p:nvSpPr>
          <p:cNvPr id="9" name="Text 7"/>
          <p:cNvSpPr/>
          <p:nvPr/>
        </p:nvSpPr>
        <p:spPr>
          <a:xfrm>
            <a:off x="847725" y="3447306"/>
            <a:ext cx="157237" cy="358080"/>
          </a:xfrm>
          <a:prstGeom prst="rect">
            <a:avLst/>
          </a:prstGeom>
          <a:noFill/>
          <a:ln/>
        </p:spPr>
        <p:txBody>
          <a:bodyPr wrap="square" lIns="25400" tIns="25400" rIns="25400" bIns="25400" rtlCol="0" anchor="t">
            <a:noAutofit/>
          </a:bodyPr>
          <a:lstStyle/>
          <a:p>
            <a:pPr marL="0" indent="0" algn="l">
              <a:lnSpc>
                <a:spcPct val="140000"/>
              </a:lnSpc>
              <a:buNone/>
            </a:pPr>
            <a:r>
              <a:rPr lang="en-US" b="1" dirty="0">
                <a:solidFill>
                  <a:srgbClr val="33455E"/>
                </a:solidFill>
                <a:latin typeface="Arial" pitchFamily="34" charset="0"/>
                <a:ea typeface="Arial" pitchFamily="34" charset="-122"/>
                <a:cs typeface="Arial" pitchFamily="34" charset="-120"/>
              </a:rPr>
              <a:t>▪</a:t>
            </a:r>
            <a:endParaRPr lang="en-US" dirty="0"/>
          </a:p>
        </p:txBody>
      </p:sp>
      <p:sp>
        <p:nvSpPr>
          <p:cNvPr id="10" name="Text 8"/>
          <p:cNvSpPr/>
          <p:nvPr/>
        </p:nvSpPr>
        <p:spPr>
          <a:xfrm>
            <a:off x="1062112" y="3390156"/>
            <a:ext cx="8059454" cy="817513"/>
          </a:xfrm>
          <a:prstGeom prst="rect">
            <a:avLst/>
          </a:prstGeom>
          <a:noFill/>
          <a:ln/>
        </p:spPr>
        <p:txBody>
          <a:bodyPr wrap="square" lIns="25400" tIns="25400" rIns="25400" bIns="25400" rtlCol="0" anchor="t">
            <a:noAutofit/>
          </a:bodyPr>
          <a:lstStyle/>
          <a:p>
            <a:pPr marL="0" indent="0" algn="l">
              <a:lnSpc>
                <a:spcPct val="132000"/>
              </a:lnSpc>
              <a:buNone/>
            </a:pPr>
            <a:r>
              <a:rPr lang="en-US" sz="2400" dirty="0">
                <a:solidFill>
                  <a:srgbClr val="1E2530"/>
                </a:solidFill>
                <a:latin typeface="Arial" pitchFamily="34" charset="0"/>
                <a:ea typeface="Arial" pitchFamily="34" charset="-122"/>
                <a:cs typeface="Arial" pitchFamily="34" charset="-120"/>
              </a:rPr>
              <a:t>Structurally-absent fields (bedrooms for vacant lots) were left </a:t>
            </a:r>
            <a:r>
              <a:rPr lang="en-US" sz="2400" b="1" dirty="0">
                <a:solidFill>
                  <a:srgbClr val="33455E"/>
                </a:solidFill>
                <a:latin typeface="Arial" pitchFamily="34" charset="0"/>
                <a:ea typeface="Arial" pitchFamily="34" charset="-122"/>
                <a:cs typeface="Arial" pitchFamily="34" charset="-120"/>
              </a:rPr>
              <a:t>unimputed</a:t>
            </a:r>
            <a:r>
              <a:rPr lang="en-US" sz="2400" dirty="0">
                <a:solidFill>
                  <a:srgbClr val="1E2530"/>
                </a:solidFill>
                <a:latin typeface="Arial" pitchFamily="34" charset="0"/>
                <a:ea typeface="Arial" pitchFamily="34" charset="-122"/>
                <a:cs typeface="Arial" pitchFamily="34" charset="-120"/>
              </a:rPr>
              <a:t>, not faked.</a:t>
            </a:r>
            <a:endParaRPr lang="en-US" sz="2400" dirty="0"/>
          </a:p>
        </p:txBody>
      </p:sp>
      <p:sp>
        <p:nvSpPr>
          <p:cNvPr id="11" name="Text 9"/>
          <p:cNvSpPr/>
          <p:nvPr/>
        </p:nvSpPr>
        <p:spPr>
          <a:xfrm>
            <a:off x="847725" y="4379119"/>
            <a:ext cx="157237" cy="358080"/>
          </a:xfrm>
          <a:prstGeom prst="rect">
            <a:avLst/>
          </a:prstGeom>
          <a:noFill/>
          <a:ln/>
        </p:spPr>
        <p:txBody>
          <a:bodyPr wrap="square" lIns="25400" tIns="25400" rIns="25400" bIns="25400" rtlCol="0" anchor="t">
            <a:noAutofit/>
          </a:bodyPr>
          <a:lstStyle/>
          <a:p>
            <a:pPr marL="0" indent="0" algn="l">
              <a:lnSpc>
                <a:spcPct val="140000"/>
              </a:lnSpc>
              <a:buNone/>
            </a:pPr>
            <a:r>
              <a:rPr lang="en-US" b="1" dirty="0">
                <a:solidFill>
                  <a:srgbClr val="33455E"/>
                </a:solidFill>
                <a:latin typeface="Arial" pitchFamily="34" charset="0"/>
                <a:ea typeface="Arial" pitchFamily="34" charset="-122"/>
                <a:cs typeface="Arial" pitchFamily="34" charset="-120"/>
              </a:rPr>
              <a:t>▪</a:t>
            </a:r>
            <a:endParaRPr lang="en-US" dirty="0"/>
          </a:p>
        </p:txBody>
      </p:sp>
      <p:sp>
        <p:nvSpPr>
          <p:cNvPr id="12" name="Text 10"/>
          <p:cNvSpPr/>
          <p:nvPr/>
        </p:nvSpPr>
        <p:spPr>
          <a:xfrm>
            <a:off x="1062112" y="4321969"/>
            <a:ext cx="8059454" cy="817513"/>
          </a:xfrm>
          <a:prstGeom prst="rect">
            <a:avLst/>
          </a:prstGeom>
          <a:noFill/>
          <a:ln/>
        </p:spPr>
        <p:txBody>
          <a:bodyPr wrap="square" lIns="25400" tIns="25400" rIns="25400" bIns="25400" rtlCol="0" anchor="t">
            <a:noAutofit/>
          </a:bodyPr>
          <a:lstStyle/>
          <a:p>
            <a:pPr marL="0" indent="0" algn="l">
              <a:lnSpc>
                <a:spcPct val="132000"/>
              </a:lnSpc>
              <a:buNone/>
            </a:pPr>
            <a:r>
              <a:rPr lang="en-US" sz="2400" dirty="0">
                <a:solidFill>
                  <a:srgbClr val="1E2530"/>
                </a:solidFill>
                <a:latin typeface="Arial" pitchFamily="34" charset="0"/>
                <a:ea typeface="Arial" pitchFamily="34" charset="-122"/>
                <a:cs typeface="Arial" pitchFamily="34" charset="-120"/>
              </a:rPr>
              <a:t>Hard duplicates dropped; a price-per-sqm sanity band applied.</a:t>
            </a:r>
            <a:endParaRPr lang="en-US" sz="2400" dirty="0"/>
          </a:p>
        </p:txBody>
      </p:sp>
      <p:sp>
        <p:nvSpPr>
          <p:cNvPr id="13" name="Text 11"/>
          <p:cNvSpPr/>
          <p:nvPr/>
        </p:nvSpPr>
        <p:spPr>
          <a:xfrm>
            <a:off x="847725" y="5310932"/>
            <a:ext cx="157237" cy="358080"/>
          </a:xfrm>
          <a:prstGeom prst="rect">
            <a:avLst/>
          </a:prstGeom>
          <a:noFill/>
          <a:ln/>
        </p:spPr>
        <p:txBody>
          <a:bodyPr wrap="square" lIns="25400" tIns="25400" rIns="25400" bIns="25400" rtlCol="0" anchor="t">
            <a:noAutofit/>
          </a:bodyPr>
          <a:lstStyle/>
          <a:p>
            <a:pPr marL="0" indent="0" algn="l">
              <a:lnSpc>
                <a:spcPct val="140000"/>
              </a:lnSpc>
              <a:buNone/>
            </a:pPr>
            <a:r>
              <a:rPr lang="en-US" b="1" dirty="0">
                <a:solidFill>
                  <a:srgbClr val="33455E"/>
                </a:solidFill>
                <a:latin typeface="Arial" pitchFamily="34" charset="0"/>
                <a:ea typeface="Arial" pitchFamily="34" charset="-122"/>
                <a:cs typeface="Arial" pitchFamily="34" charset="-120"/>
              </a:rPr>
              <a:t>▪</a:t>
            </a:r>
            <a:endParaRPr lang="en-US" dirty="0"/>
          </a:p>
        </p:txBody>
      </p:sp>
      <p:sp>
        <p:nvSpPr>
          <p:cNvPr id="14" name="Text 12"/>
          <p:cNvSpPr/>
          <p:nvPr/>
        </p:nvSpPr>
        <p:spPr>
          <a:xfrm>
            <a:off x="1062112" y="5253782"/>
            <a:ext cx="8059454" cy="817513"/>
          </a:xfrm>
          <a:prstGeom prst="rect">
            <a:avLst/>
          </a:prstGeom>
          <a:noFill/>
          <a:ln/>
        </p:spPr>
        <p:txBody>
          <a:bodyPr wrap="square" lIns="25400" tIns="25400" rIns="25400" bIns="25400" rtlCol="0" anchor="t">
            <a:noAutofit/>
          </a:bodyPr>
          <a:lstStyle/>
          <a:p>
            <a:pPr marL="0" indent="0" algn="l">
              <a:lnSpc>
                <a:spcPct val="132000"/>
              </a:lnSpc>
              <a:buNone/>
            </a:pPr>
            <a:r>
              <a:rPr lang="en-US" sz="2400" dirty="0">
                <a:solidFill>
                  <a:srgbClr val="1E2530"/>
                </a:solidFill>
                <a:latin typeface="Arial" pitchFamily="34" charset="0"/>
                <a:ea typeface="Arial" pitchFamily="34" charset="-122"/>
                <a:cs typeface="Arial" pitchFamily="34" charset="-120"/>
              </a:rPr>
              <a:t>The modeling subset is </a:t>
            </a:r>
            <a:r>
              <a:rPr lang="en-US" sz="2400" b="1" dirty="0">
                <a:solidFill>
                  <a:srgbClr val="33455E"/>
                </a:solidFill>
                <a:latin typeface="Arial" pitchFamily="34" charset="0"/>
                <a:ea typeface="Arial" pitchFamily="34" charset="-122"/>
                <a:cs typeface="Arial" pitchFamily="34" charset="-120"/>
              </a:rPr>
              <a:t>3,372 </a:t>
            </a:r>
            <a:r>
              <a:rPr lang="en-US" sz="2400" dirty="0">
                <a:solidFill>
                  <a:srgbClr val="1E2530"/>
                </a:solidFill>
                <a:latin typeface="Arial" pitchFamily="34" charset="0"/>
                <a:ea typeface="Arial" pitchFamily="34" charset="-122"/>
                <a:cs typeface="Arial" pitchFamily="34" charset="-120"/>
              </a:rPr>
              <a:t>of 3,616 rows, after model-requirement filters.</a:t>
            </a:r>
            <a:endParaRPr lang="en-US" sz="2400" dirty="0"/>
          </a:p>
        </p:txBody>
      </p:sp>
      <p:sp>
        <p:nvSpPr>
          <p:cNvPr id="15" name="Text 13"/>
          <p:cNvSpPr/>
          <p:nvPr/>
        </p:nvSpPr>
        <p:spPr>
          <a:xfrm>
            <a:off x="9401175" y="2010668"/>
            <a:ext cx="8843010" cy="333375"/>
          </a:xfrm>
          <a:prstGeom prst="rect">
            <a:avLst/>
          </a:prstGeom>
          <a:noFill/>
          <a:ln/>
        </p:spPr>
        <p:txBody>
          <a:bodyPr wrap="square" lIns="25400" tIns="25400" rIns="25400" bIns="25400" rtlCol="0" anchor="t">
            <a:normAutofit fontScale="92500" lnSpcReduction="20000"/>
          </a:bodyPr>
          <a:lstStyle/>
          <a:p>
            <a:pPr marL="0" indent="0" algn="l">
              <a:buNone/>
            </a:pPr>
            <a:r>
              <a:rPr lang="en-US" sz="2400" b="1" dirty="0">
                <a:solidFill>
                  <a:srgbClr val="33455E"/>
                </a:solidFill>
                <a:latin typeface="Arial" pitchFamily="34" charset="0"/>
                <a:ea typeface="Arial" pitchFamily="34" charset="-122"/>
                <a:cs typeface="Arial" pitchFamily="34" charset="-120"/>
              </a:rPr>
              <a:t>A data-integrity story</a:t>
            </a:r>
            <a:endParaRPr lang="en-US" sz="2400" dirty="0"/>
          </a:p>
        </p:txBody>
      </p:sp>
      <p:sp>
        <p:nvSpPr>
          <p:cNvPr id="16" name="Text 14"/>
          <p:cNvSpPr/>
          <p:nvPr/>
        </p:nvSpPr>
        <p:spPr>
          <a:xfrm>
            <a:off x="9401175" y="2515493"/>
            <a:ext cx="157237" cy="358080"/>
          </a:xfrm>
          <a:prstGeom prst="rect">
            <a:avLst/>
          </a:prstGeom>
          <a:noFill/>
          <a:ln/>
        </p:spPr>
        <p:txBody>
          <a:bodyPr wrap="square" lIns="25400" tIns="25400" rIns="25400" bIns="25400" rtlCol="0" anchor="t">
            <a:noAutofit/>
          </a:bodyPr>
          <a:lstStyle/>
          <a:p>
            <a:pPr marL="0" indent="0" algn="l">
              <a:lnSpc>
                <a:spcPct val="140000"/>
              </a:lnSpc>
              <a:buNone/>
            </a:pPr>
            <a:r>
              <a:rPr lang="en-US" b="1" dirty="0">
                <a:solidFill>
                  <a:srgbClr val="33455E"/>
                </a:solidFill>
                <a:latin typeface="Arial" pitchFamily="34" charset="0"/>
                <a:ea typeface="Arial" pitchFamily="34" charset="-122"/>
                <a:cs typeface="Arial" pitchFamily="34" charset="-120"/>
              </a:rPr>
              <a:t>▪</a:t>
            </a:r>
            <a:endParaRPr lang="en-US" dirty="0"/>
          </a:p>
        </p:txBody>
      </p:sp>
      <p:sp>
        <p:nvSpPr>
          <p:cNvPr id="17" name="Text 15"/>
          <p:cNvSpPr/>
          <p:nvPr/>
        </p:nvSpPr>
        <p:spPr>
          <a:xfrm>
            <a:off x="9615562" y="2458343"/>
            <a:ext cx="8059454" cy="817513"/>
          </a:xfrm>
          <a:prstGeom prst="rect">
            <a:avLst/>
          </a:prstGeom>
          <a:noFill/>
          <a:ln/>
        </p:spPr>
        <p:txBody>
          <a:bodyPr wrap="square" lIns="25400" tIns="25400" rIns="25400" bIns="25400" rtlCol="0" anchor="t">
            <a:noAutofit/>
          </a:bodyPr>
          <a:lstStyle/>
          <a:p>
            <a:pPr marL="0" indent="0" algn="l">
              <a:lnSpc>
                <a:spcPct val="132000"/>
              </a:lnSpc>
              <a:buNone/>
            </a:pPr>
            <a:r>
              <a:rPr lang="en-US" sz="2400" dirty="0">
                <a:solidFill>
                  <a:srgbClr val="1E2530"/>
                </a:solidFill>
                <a:latin typeface="Arial" pitchFamily="34" charset="0"/>
                <a:ea typeface="Arial" pitchFamily="34" charset="-122"/>
                <a:cs typeface="Arial" pitchFamily="34" charset="-120"/>
              </a:rPr>
              <a:t>Early models were dominated by a single suspicious feature in the SHAP rankings.</a:t>
            </a:r>
            <a:endParaRPr lang="en-US" sz="2400" dirty="0"/>
          </a:p>
        </p:txBody>
      </p:sp>
      <p:sp>
        <p:nvSpPr>
          <p:cNvPr id="18" name="Text 16"/>
          <p:cNvSpPr/>
          <p:nvPr/>
        </p:nvSpPr>
        <p:spPr>
          <a:xfrm>
            <a:off x="9401175" y="3447306"/>
            <a:ext cx="157237" cy="358080"/>
          </a:xfrm>
          <a:prstGeom prst="rect">
            <a:avLst/>
          </a:prstGeom>
          <a:noFill/>
          <a:ln/>
        </p:spPr>
        <p:txBody>
          <a:bodyPr wrap="square" lIns="25400" tIns="25400" rIns="25400" bIns="25400" rtlCol="0" anchor="t">
            <a:noAutofit/>
          </a:bodyPr>
          <a:lstStyle/>
          <a:p>
            <a:pPr marL="0" indent="0" algn="l">
              <a:lnSpc>
                <a:spcPct val="140000"/>
              </a:lnSpc>
              <a:buNone/>
            </a:pPr>
            <a:r>
              <a:rPr lang="en-US" b="1" dirty="0">
                <a:solidFill>
                  <a:srgbClr val="33455E"/>
                </a:solidFill>
                <a:latin typeface="Arial" pitchFamily="34" charset="0"/>
                <a:ea typeface="Arial" pitchFamily="34" charset="-122"/>
                <a:cs typeface="Arial" pitchFamily="34" charset="-120"/>
              </a:rPr>
              <a:t>▪</a:t>
            </a:r>
            <a:endParaRPr lang="en-US" dirty="0"/>
          </a:p>
        </p:txBody>
      </p:sp>
      <p:sp>
        <p:nvSpPr>
          <p:cNvPr id="19" name="Text 17"/>
          <p:cNvSpPr/>
          <p:nvPr/>
        </p:nvSpPr>
        <p:spPr>
          <a:xfrm>
            <a:off x="9615562" y="3390156"/>
            <a:ext cx="8059454" cy="1207219"/>
          </a:xfrm>
          <a:prstGeom prst="rect">
            <a:avLst/>
          </a:prstGeom>
          <a:noFill/>
          <a:ln/>
        </p:spPr>
        <p:txBody>
          <a:bodyPr wrap="square" lIns="25400" tIns="25400" rIns="25400" bIns="25400" rtlCol="0" anchor="t">
            <a:noAutofit/>
          </a:bodyPr>
          <a:lstStyle/>
          <a:p>
            <a:pPr marL="0" indent="0" algn="l">
              <a:lnSpc>
                <a:spcPct val="132000"/>
              </a:lnSpc>
              <a:buNone/>
            </a:pPr>
            <a:r>
              <a:rPr lang="en-US" sz="2400" dirty="0">
                <a:solidFill>
                  <a:srgbClr val="1E2530"/>
                </a:solidFill>
                <a:latin typeface="Arial" pitchFamily="34" charset="0"/>
                <a:ea typeface="Arial" pitchFamily="34" charset="-122"/>
                <a:cs typeface="Arial" pitchFamily="34" charset="-120"/>
              </a:rPr>
              <a:t>The cause: the target had quietly come to mean </a:t>
            </a:r>
            <a:r>
              <a:rPr lang="en-US" sz="2400" b="1" dirty="0">
                <a:solidFill>
                  <a:srgbClr val="33455E"/>
                </a:solidFill>
                <a:latin typeface="Arial" pitchFamily="34" charset="0"/>
                <a:ea typeface="Arial" pitchFamily="34" charset="-122"/>
                <a:cs typeface="Arial" pitchFamily="34" charset="-120"/>
              </a:rPr>
              <a:t>two different things </a:t>
            </a:r>
            <a:r>
              <a:rPr lang="en-US" sz="2400" dirty="0">
                <a:solidFill>
                  <a:srgbClr val="1E2530"/>
                </a:solidFill>
                <a:latin typeface="Arial" pitchFamily="34" charset="0"/>
                <a:ea typeface="Arial" pitchFamily="34" charset="-122"/>
                <a:cs typeface="Arial" pitchFamily="34" charset="-120"/>
              </a:rPr>
              <a:t>across scrape batches — acting as a scale-selector.</a:t>
            </a:r>
            <a:endParaRPr lang="en-US" sz="2400" dirty="0"/>
          </a:p>
        </p:txBody>
      </p:sp>
      <p:sp>
        <p:nvSpPr>
          <p:cNvPr id="20" name="Text 18"/>
          <p:cNvSpPr/>
          <p:nvPr/>
        </p:nvSpPr>
        <p:spPr>
          <a:xfrm>
            <a:off x="9401175" y="4768825"/>
            <a:ext cx="157237" cy="358080"/>
          </a:xfrm>
          <a:prstGeom prst="rect">
            <a:avLst/>
          </a:prstGeom>
          <a:noFill/>
          <a:ln/>
        </p:spPr>
        <p:txBody>
          <a:bodyPr wrap="square" lIns="25400" tIns="25400" rIns="25400" bIns="25400" rtlCol="0" anchor="t">
            <a:noAutofit/>
          </a:bodyPr>
          <a:lstStyle/>
          <a:p>
            <a:pPr marL="0" indent="0" algn="l">
              <a:lnSpc>
                <a:spcPct val="140000"/>
              </a:lnSpc>
              <a:buNone/>
            </a:pPr>
            <a:r>
              <a:rPr lang="en-US" b="1" dirty="0">
                <a:solidFill>
                  <a:srgbClr val="33455E"/>
                </a:solidFill>
                <a:latin typeface="Arial" pitchFamily="34" charset="0"/>
                <a:ea typeface="Arial" pitchFamily="34" charset="-122"/>
                <a:cs typeface="Arial" pitchFamily="34" charset="-120"/>
              </a:rPr>
              <a:t>▪</a:t>
            </a:r>
            <a:endParaRPr lang="en-US" dirty="0"/>
          </a:p>
        </p:txBody>
      </p:sp>
      <p:sp>
        <p:nvSpPr>
          <p:cNvPr id="21" name="Text 19"/>
          <p:cNvSpPr/>
          <p:nvPr/>
        </p:nvSpPr>
        <p:spPr>
          <a:xfrm>
            <a:off x="9615562" y="4711675"/>
            <a:ext cx="8059454" cy="1207219"/>
          </a:xfrm>
          <a:prstGeom prst="rect">
            <a:avLst/>
          </a:prstGeom>
          <a:noFill/>
          <a:ln/>
        </p:spPr>
        <p:txBody>
          <a:bodyPr wrap="square" lIns="25400" tIns="25400" rIns="25400" bIns="25400" rtlCol="0" anchor="t">
            <a:noAutofit/>
          </a:bodyPr>
          <a:lstStyle/>
          <a:p>
            <a:pPr marL="0" indent="0" algn="l">
              <a:lnSpc>
                <a:spcPct val="132000"/>
              </a:lnSpc>
              <a:buNone/>
            </a:pPr>
            <a:r>
              <a:rPr lang="en-US" sz="2400" dirty="0">
                <a:solidFill>
                  <a:srgbClr val="1E2530"/>
                </a:solidFill>
                <a:latin typeface="Arial" pitchFamily="34" charset="0"/>
                <a:ea typeface="Arial" pitchFamily="34" charset="-122"/>
                <a:cs typeface="Arial" pitchFamily="34" charset="-120"/>
              </a:rPr>
              <a:t>Tracing and fixing it (redefining the target to log price per square meter) is exactly why the final metrics are dependable.</a:t>
            </a:r>
            <a:endParaRPr lang="en-US" sz="2400" dirty="0"/>
          </a:p>
        </p:txBody>
      </p:sp>
      <p:sp>
        <p:nvSpPr>
          <p:cNvPr id="22" name="Shape 20"/>
          <p:cNvSpPr/>
          <p:nvPr/>
        </p:nvSpPr>
        <p:spPr>
          <a:xfrm>
            <a:off x="847725" y="9057159"/>
            <a:ext cx="16592550" cy="696441"/>
          </a:xfrm>
          <a:prstGeom prst="rect">
            <a:avLst/>
          </a:prstGeom>
          <a:solidFill>
            <a:srgbClr val="EAEEF3"/>
          </a:solidFill>
          <a:ln/>
        </p:spPr>
        <p:txBody>
          <a:bodyPr/>
          <a:lstStyle/>
          <a:p>
            <a:endParaRPr lang="en-US"/>
          </a:p>
        </p:txBody>
      </p:sp>
      <p:sp>
        <p:nvSpPr>
          <p:cNvPr id="23" name="Shape 21"/>
          <p:cNvSpPr/>
          <p:nvPr/>
        </p:nvSpPr>
        <p:spPr>
          <a:xfrm>
            <a:off x="847725" y="9057159"/>
            <a:ext cx="76200" cy="696441"/>
          </a:xfrm>
          <a:prstGeom prst="rect">
            <a:avLst/>
          </a:prstGeom>
          <a:solidFill>
            <a:srgbClr val="33455E"/>
          </a:solidFill>
          <a:ln/>
        </p:spPr>
        <p:txBody>
          <a:bodyPr/>
          <a:lstStyle/>
          <a:p>
            <a:endParaRPr lang="en-US"/>
          </a:p>
        </p:txBody>
      </p:sp>
      <p:sp>
        <p:nvSpPr>
          <p:cNvPr id="24" name="Text 22"/>
          <p:cNvSpPr/>
          <p:nvPr/>
        </p:nvSpPr>
        <p:spPr>
          <a:xfrm>
            <a:off x="1171575" y="9290521"/>
            <a:ext cx="1544285" cy="300038"/>
          </a:xfrm>
          <a:prstGeom prst="rect">
            <a:avLst/>
          </a:prstGeom>
          <a:noFill/>
          <a:ln/>
        </p:spPr>
        <p:txBody>
          <a:bodyPr wrap="square" lIns="25400" tIns="25400" rIns="25400" bIns="25400" rtlCol="0" anchor="t">
            <a:normAutofit lnSpcReduction="10000"/>
          </a:bodyPr>
          <a:lstStyle/>
          <a:p>
            <a:pPr marL="0" indent="0" algn="l">
              <a:buNone/>
            </a:pPr>
            <a:r>
              <a:rPr lang="en-US" sz="1800" b="1" kern="0" spc="144" dirty="0">
                <a:solidFill>
                  <a:srgbClr val="5B7A99"/>
                </a:solidFill>
                <a:latin typeface="Arial" pitchFamily="34" charset="0"/>
                <a:ea typeface="Arial" pitchFamily="34" charset="-122"/>
                <a:cs typeface="Arial" pitchFamily="34" charset="-120"/>
              </a:rPr>
              <a:t>TAKEAWAY</a:t>
            </a:r>
            <a:endParaRPr lang="en-US" sz="1800" dirty="0"/>
          </a:p>
        </p:txBody>
      </p:sp>
      <p:sp>
        <p:nvSpPr>
          <p:cNvPr id="25" name="Text 23"/>
          <p:cNvSpPr/>
          <p:nvPr/>
        </p:nvSpPr>
        <p:spPr>
          <a:xfrm>
            <a:off x="2727871" y="9228609"/>
            <a:ext cx="10910925" cy="391641"/>
          </a:xfrm>
          <a:prstGeom prst="rect">
            <a:avLst/>
          </a:prstGeom>
          <a:noFill/>
          <a:ln/>
        </p:spPr>
        <p:txBody>
          <a:bodyPr wrap="square" lIns="25400" tIns="25400" rIns="25400" bIns="25400" rtlCol="0" anchor="t">
            <a:normAutofit fontScale="92500" lnSpcReduction="10000"/>
          </a:bodyPr>
          <a:lstStyle/>
          <a:p>
            <a:pPr marL="0" indent="0" algn="l">
              <a:lnSpc>
                <a:spcPct val="128000"/>
              </a:lnSpc>
              <a:buNone/>
            </a:pPr>
            <a:r>
              <a:rPr lang="en-US" sz="2175" dirty="0">
                <a:solidFill>
                  <a:srgbClr val="1E2530"/>
                </a:solidFill>
                <a:latin typeface="Arial" pitchFamily="34" charset="0"/>
                <a:ea typeface="Arial" pitchFamily="34" charset="-122"/>
                <a:cs typeface="Arial" pitchFamily="34" charset="-120"/>
              </a:rPr>
              <a:t>The aim was a clean, defensible table — usable rows without inventing evidence.</a:t>
            </a:r>
            <a:endParaRPr lang="en-US" sz="2175" dirty="0"/>
          </a:p>
        </p:txBody>
      </p:sp>
    </p:spTree>
    <p:extLst>
      <p:ext uri="{BB962C8B-B14F-4D97-AF65-F5344CB8AC3E}">
        <p14:creationId xmlns:p14="http://schemas.microsoft.com/office/powerpoint/2010/main" val="30429912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bg>
      <p:bgPr>
        <a:solidFill>
          <a:srgbClr val="FAFBFC"/>
        </a:solidFill>
        <a:effectLst/>
      </p:bgPr>
    </p:bg>
    <p:spTree>
      <p:nvGrpSpPr>
        <p:cNvPr id="1" name=""/>
        <p:cNvGrpSpPr/>
        <p:nvPr/>
      </p:nvGrpSpPr>
      <p:grpSpPr>
        <a:xfrm>
          <a:off x="0" y="0"/>
          <a:ext cx="0" cy="0"/>
          <a:chOff x="0" y="0"/>
          <a:chExt cx="0" cy="0"/>
        </a:xfrm>
      </p:grpSpPr>
      <p:sp>
        <p:nvSpPr>
          <p:cNvPr id="2" name="Text 0"/>
          <p:cNvSpPr/>
          <p:nvPr/>
        </p:nvSpPr>
        <p:spPr>
          <a:xfrm>
            <a:off x="847725" y="552450"/>
            <a:ext cx="3592145" cy="347663"/>
          </a:xfrm>
          <a:prstGeom prst="rect">
            <a:avLst/>
          </a:prstGeom>
          <a:noFill/>
          <a:ln/>
        </p:spPr>
        <p:txBody>
          <a:bodyPr wrap="square" lIns="25400" tIns="25400" rIns="25400" bIns="25400" rtlCol="0" anchor="t">
            <a:normAutofit lnSpcReduction="10000"/>
          </a:bodyPr>
          <a:lstStyle/>
          <a:p>
            <a:pPr marL="0" indent="0" algn="l">
              <a:buNone/>
            </a:pPr>
            <a:r>
              <a:rPr lang="en-US" sz="2100" b="1" kern="0" spc="84" dirty="0">
                <a:solidFill>
                  <a:srgbClr val="33455E"/>
                </a:solidFill>
                <a:latin typeface="Arial" pitchFamily="34" charset="0"/>
                <a:ea typeface="Arial" pitchFamily="34" charset="-122"/>
                <a:cs typeface="Arial" pitchFamily="34" charset="-120"/>
              </a:rPr>
              <a:t>5 · DATA PREPARATION</a:t>
            </a:r>
            <a:endParaRPr lang="en-US" sz="2100" dirty="0"/>
          </a:p>
        </p:txBody>
      </p:sp>
      <p:sp>
        <p:nvSpPr>
          <p:cNvPr id="3" name="Text 1"/>
          <p:cNvSpPr/>
          <p:nvPr/>
        </p:nvSpPr>
        <p:spPr>
          <a:xfrm>
            <a:off x="16712059" y="552450"/>
            <a:ext cx="804416" cy="314325"/>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6E7686"/>
                </a:solidFill>
                <a:latin typeface="Arial" pitchFamily="34" charset="0"/>
                <a:ea typeface="Arial" pitchFamily="34" charset="-122"/>
                <a:cs typeface="Arial" pitchFamily="34" charset="-120"/>
              </a:rPr>
              <a:t>20 / 40</a:t>
            </a:r>
            <a:endParaRPr lang="en-US" sz="1875" dirty="0"/>
          </a:p>
        </p:txBody>
      </p:sp>
      <p:sp>
        <p:nvSpPr>
          <p:cNvPr id="4" name="Shape 2"/>
          <p:cNvSpPr/>
          <p:nvPr/>
        </p:nvSpPr>
        <p:spPr>
          <a:xfrm>
            <a:off x="847725" y="985838"/>
            <a:ext cx="16592550" cy="28575"/>
          </a:xfrm>
          <a:prstGeom prst="rect">
            <a:avLst/>
          </a:prstGeom>
          <a:solidFill>
            <a:srgbClr val="33455E"/>
          </a:solidFill>
          <a:ln/>
        </p:spPr>
        <p:txBody>
          <a:bodyPr/>
          <a:lstStyle/>
          <a:p>
            <a:endParaRPr lang="en-US"/>
          </a:p>
        </p:txBody>
      </p:sp>
      <p:sp>
        <p:nvSpPr>
          <p:cNvPr id="5" name="Text 3"/>
          <p:cNvSpPr/>
          <p:nvPr/>
        </p:nvSpPr>
        <p:spPr>
          <a:xfrm>
            <a:off x="847725" y="1243013"/>
            <a:ext cx="18251805" cy="55810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3900" b="1" dirty="0">
                <a:solidFill>
                  <a:srgbClr val="1E2530"/>
                </a:solidFill>
                <a:latin typeface="Arial" pitchFamily="34" charset="0"/>
                <a:ea typeface="Arial" pitchFamily="34" charset="-122"/>
                <a:cs typeface="Arial" pitchFamily="34" charset="-120"/>
              </a:rPr>
              <a:t>Preparing the data for modeling</a:t>
            </a:r>
            <a:endParaRPr lang="en-US" sz="3900" dirty="0"/>
          </a:p>
        </p:txBody>
      </p:sp>
      <p:sp>
        <p:nvSpPr>
          <p:cNvPr id="6" name="Text 4"/>
          <p:cNvSpPr/>
          <p:nvPr/>
        </p:nvSpPr>
        <p:spPr>
          <a:xfrm>
            <a:off x="847725" y="3982715"/>
            <a:ext cx="288131" cy="476250"/>
          </a:xfrm>
          <a:prstGeom prst="rect">
            <a:avLst/>
          </a:prstGeom>
          <a:noFill/>
          <a:ln/>
        </p:spPr>
        <p:txBody>
          <a:bodyPr wrap="square" lIns="25400" tIns="25400" rIns="25400" bIns="25400" rtlCol="0" anchor="t">
            <a:normAutofit lnSpcReduction="10000"/>
          </a:bodyPr>
          <a:lstStyle/>
          <a:p>
            <a:pPr marL="0" indent="0" algn="l">
              <a:buNone/>
            </a:pPr>
            <a:r>
              <a:rPr lang="en-US" sz="3000" b="1" dirty="0">
                <a:solidFill>
                  <a:srgbClr val="5B7A99"/>
                </a:solidFill>
                <a:latin typeface="Arial" pitchFamily="34" charset="0"/>
                <a:ea typeface="Arial" pitchFamily="34" charset="-122"/>
                <a:cs typeface="Arial" pitchFamily="34" charset="-120"/>
              </a:rPr>
              <a:t>1</a:t>
            </a:r>
            <a:endParaRPr lang="en-US" sz="3000" dirty="0"/>
          </a:p>
        </p:txBody>
      </p:sp>
      <p:sp>
        <p:nvSpPr>
          <p:cNvPr id="7" name="Text 5"/>
          <p:cNvSpPr/>
          <p:nvPr/>
        </p:nvSpPr>
        <p:spPr>
          <a:xfrm>
            <a:off x="1231106" y="4092253"/>
            <a:ext cx="8882301" cy="333375"/>
          </a:xfrm>
          <a:prstGeom prst="rect">
            <a:avLst/>
          </a:prstGeom>
          <a:noFill/>
          <a:ln/>
        </p:spPr>
        <p:txBody>
          <a:bodyPr wrap="square" lIns="25400" tIns="25400" rIns="25400" bIns="25400" rtlCol="0" anchor="t">
            <a:normAutofit lnSpcReduction="10000"/>
          </a:bodyPr>
          <a:lstStyle/>
          <a:p>
            <a:pPr marL="0" indent="0" algn="l">
              <a:buNone/>
            </a:pPr>
            <a:r>
              <a:rPr lang="en-US" sz="2025" b="1" dirty="0">
                <a:solidFill>
                  <a:srgbClr val="33455E"/>
                </a:solidFill>
                <a:latin typeface="Arial" pitchFamily="34" charset="0"/>
                <a:ea typeface="Arial" pitchFamily="34" charset="-122"/>
                <a:cs typeface="Arial" pitchFamily="34" charset="-120"/>
              </a:rPr>
              <a:t>Split by property type</a:t>
            </a:r>
            <a:endParaRPr lang="en-US" sz="2025" dirty="0"/>
          </a:p>
        </p:txBody>
      </p:sp>
      <p:sp>
        <p:nvSpPr>
          <p:cNvPr id="8" name="Text 6"/>
          <p:cNvSpPr/>
          <p:nvPr/>
        </p:nvSpPr>
        <p:spPr>
          <a:xfrm>
            <a:off x="1231106" y="4444678"/>
            <a:ext cx="8317063" cy="696367"/>
          </a:xfrm>
          <a:prstGeom prst="rect">
            <a:avLst/>
          </a:prstGeom>
          <a:noFill/>
          <a:ln/>
        </p:spPr>
        <p:txBody>
          <a:bodyPr wrap="square" lIns="25400" tIns="25400" rIns="25400" bIns="25400" rtlCol="0" anchor="t">
            <a:normAutofit fontScale="92500"/>
          </a:bodyPr>
          <a:lstStyle/>
          <a:p>
            <a:pPr marL="0" indent="0" algn="l">
              <a:lnSpc>
                <a:spcPct val="128000"/>
              </a:lnSpc>
              <a:buNone/>
            </a:pPr>
            <a:r>
              <a:rPr lang="en-US" sz="2025" dirty="0">
                <a:solidFill>
                  <a:srgbClr val="1E2530"/>
                </a:solidFill>
                <a:latin typeface="Arial" pitchFamily="34" charset="0"/>
                <a:ea typeface="Arial" pitchFamily="34" charset="-122"/>
                <a:cs typeface="Arial" pitchFamily="34" charset="-120"/>
              </a:rPr>
              <a:t>Condominiums, houses, and vacant lots become three separate datasets.</a:t>
            </a:r>
            <a:endParaRPr lang="en-US" sz="2025" dirty="0"/>
          </a:p>
        </p:txBody>
      </p:sp>
      <p:sp>
        <p:nvSpPr>
          <p:cNvPr id="9" name="Text 7"/>
          <p:cNvSpPr/>
          <p:nvPr/>
        </p:nvSpPr>
        <p:spPr>
          <a:xfrm>
            <a:off x="847725" y="5312494"/>
            <a:ext cx="288131" cy="476250"/>
          </a:xfrm>
          <a:prstGeom prst="rect">
            <a:avLst/>
          </a:prstGeom>
          <a:noFill/>
          <a:ln/>
        </p:spPr>
        <p:txBody>
          <a:bodyPr wrap="square" lIns="25400" tIns="25400" rIns="25400" bIns="25400" rtlCol="0" anchor="t">
            <a:normAutofit lnSpcReduction="10000"/>
          </a:bodyPr>
          <a:lstStyle/>
          <a:p>
            <a:pPr marL="0" indent="0" algn="l">
              <a:buNone/>
            </a:pPr>
            <a:r>
              <a:rPr lang="en-US" sz="3000" b="1" dirty="0">
                <a:solidFill>
                  <a:srgbClr val="5B7A99"/>
                </a:solidFill>
                <a:latin typeface="Arial" pitchFamily="34" charset="0"/>
                <a:ea typeface="Arial" pitchFamily="34" charset="-122"/>
                <a:cs typeface="Arial" pitchFamily="34" charset="-120"/>
              </a:rPr>
              <a:t>2</a:t>
            </a:r>
            <a:endParaRPr lang="en-US" sz="3000" dirty="0"/>
          </a:p>
        </p:txBody>
      </p:sp>
      <p:sp>
        <p:nvSpPr>
          <p:cNvPr id="10" name="Text 8"/>
          <p:cNvSpPr/>
          <p:nvPr/>
        </p:nvSpPr>
        <p:spPr>
          <a:xfrm>
            <a:off x="1231106" y="5422032"/>
            <a:ext cx="8882301" cy="333375"/>
          </a:xfrm>
          <a:prstGeom prst="rect">
            <a:avLst/>
          </a:prstGeom>
          <a:noFill/>
          <a:ln/>
        </p:spPr>
        <p:txBody>
          <a:bodyPr wrap="square" lIns="25400" tIns="25400" rIns="25400" bIns="25400" rtlCol="0" anchor="t">
            <a:normAutofit lnSpcReduction="10000"/>
          </a:bodyPr>
          <a:lstStyle/>
          <a:p>
            <a:pPr marL="0" indent="0" algn="l">
              <a:buNone/>
            </a:pPr>
            <a:r>
              <a:rPr lang="en-US" sz="2025" b="1" dirty="0">
                <a:solidFill>
                  <a:srgbClr val="33455E"/>
                </a:solidFill>
                <a:latin typeface="Arial" pitchFamily="34" charset="0"/>
                <a:ea typeface="Arial" pitchFamily="34" charset="-122"/>
                <a:cs typeface="Arial" pitchFamily="34" charset="-120"/>
              </a:rPr>
              <a:t>Encode and assemble</a:t>
            </a:r>
            <a:endParaRPr lang="en-US" sz="2025" dirty="0"/>
          </a:p>
        </p:txBody>
      </p:sp>
      <p:sp>
        <p:nvSpPr>
          <p:cNvPr id="11" name="Text 9"/>
          <p:cNvSpPr/>
          <p:nvPr/>
        </p:nvSpPr>
        <p:spPr>
          <a:xfrm>
            <a:off x="1231106" y="5774457"/>
            <a:ext cx="8317063" cy="696367"/>
          </a:xfrm>
          <a:prstGeom prst="rect">
            <a:avLst/>
          </a:prstGeom>
          <a:noFill/>
          <a:ln/>
        </p:spPr>
        <p:txBody>
          <a:bodyPr wrap="square" lIns="25400" tIns="25400" rIns="25400" bIns="25400" rtlCol="0" anchor="t">
            <a:normAutofit fontScale="92500" lnSpcReduction="20000"/>
          </a:bodyPr>
          <a:lstStyle/>
          <a:p>
            <a:pPr marL="0" indent="0" algn="l">
              <a:lnSpc>
                <a:spcPct val="128000"/>
              </a:lnSpc>
              <a:buNone/>
            </a:pPr>
            <a:r>
              <a:rPr lang="en-US" sz="2025" dirty="0">
                <a:solidFill>
                  <a:srgbClr val="1E2530"/>
                </a:solidFill>
                <a:latin typeface="Arial" pitchFamily="34" charset="0"/>
                <a:ea typeface="Arial" pitchFamily="34" charset="-122"/>
                <a:cs typeface="Arial" pitchFamily="34" charset="-120"/>
              </a:rPr>
              <a:t>Cities become indicator columns; structural, distance, MCRAI, benchmark, and spatial-lag features are joined per row.</a:t>
            </a:r>
            <a:endParaRPr lang="en-US" sz="2025" dirty="0"/>
          </a:p>
        </p:txBody>
      </p:sp>
      <p:sp>
        <p:nvSpPr>
          <p:cNvPr id="12" name="Text 10"/>
          <p:cNvSpPr/>
          <p:nvPr/>
        </p:nvSpPr>
        <p:spPr>
          <a:xfrm>
            <a:off x="847725" y="6642274"/>
            <a:ext cx="288131" cy="476250"/>
          </a:xfrm>
          <a:prstGeom prst="rect">
            <a:avLst/>
          </a:prstGeom>
          <a:noFill/>
          <a:ln/>
        </p:spPr>
        <p:txBody>
          <a:bodyPr wrap="square" lIns="25400" tIns="25400" rIns="25400" bIns="25400" rtlCol="0" anchor="t">
            <a:normAutofit lnSpcReduction="10000"/>
          </a:bodyPr>
          <a:lstStyle/>
          <a:p>
            <a:pPr marL="0" indent="0" algn="l">
              <a:buNone/>
            </a:pPr>
            <a:r>
              <a:rPr lang="en-US" sz="3000" b="1" dirty="0">
                <a:solidFill>
                  <a:srgbClr val="5B7A99"/>
                </a:solidFill>
                <a:latin typeface="Arial" pitchFamily="34" charset="0"/>
                <a:ea typeface="Arial" pitchFamily="34" charset="-122"/>
                <a:cs typeface="Arial" pitchFamily="34" charset="-120"/>
              </a:rPr>
              <a:t>3</a:t>
            </a:r>
            <a:endParaRPr lang="en-US" sz="3000" dirty="0"/>
          </a:p>
        </p:txBody>
      </p:sp>
      <p:sp>
        <p:nvSpPr>
          <p:cNvPr id="13" name="Text 11"/>
          <p:cNvSpPr/>
          <p:nvPr/>
        </p:nvSpPr>
        <p:spPr>
          <a:xfrm>
            <a:off x="1231106" y="6751811"/>
            <a:ext cx="8882301" cy="333375"/>
          </a:xfrm>
          <a:prstGeom prst="rect">
            <a:avLst/>
          </a:prstGeom>
          <a:noFill/>
          <a:ln/>
        </p:spPr>
        <p:txBody>
          <a:bodyPr wrap="square" lIns="25400" tIns="25400" rIns="25400" bIns="25400" rtlCol="0" anchor="t">
            <a:normAutofit lnSpcReduction="10000"/>
          </a:bodyPr>
          <a:lstStyle/>
          <a:p>
            <a:pPr marL="0" indent="0" algn="l">
              <a:buNone/>
            </a:pPr>
            <a:r>
              <a:rPr lang="en-US" sz="2025" b="1" dirty="0">
                <a:solidFill>
                  <a:srgbClr val="33455E"/>
                </a:solidFill>
                <a:latin typeface="Arial" pitchFamily="34" charset="0"/>
                <a:ea typeface="Arial" pitchFamily="34" charset="-122"/>
                <a:cs typeface="Arial" pitchFamily="34" charset="-120"/>
              </a:rPr>
              <a:t>Select features per stratum</a:t>
            </a:r>
            <a:endParaRPr lang="en-US" sz="2025" dirty="0"/>
          </a:p>
        </p:txBody>
      </p:sp>
      <p:sp>
        <p:nvSpPr>
          <p:cNvPr id="14" name="Text 12"/>
          <p:cNvSpPr/>
          <p:nvPr/>
        </p:nvSpPr>
        <p:spPr>
          <a:xfrm>
            <a:off x="1231106" y="7104236"/>
            <a:ext cx="8317063" cy="696367"/>
          </a:xfrm>
          <a:prstGeom prst="rect">
            <a:avLst/>
          </a:prstGeom>
          <a:noFill/>
          <a:ln/>
        </p:spPr>
        <p:txBody>
          <a:bodyPr wrap="square" lIns="25400" tIns="25400" rIns="25400" bIns="25400" rtlCol="0" anchor="t">
            <a:normAutofit fontScale="92500" lnSpcReduction="20000"/>
          </a:bodyPr>
          <a:lstStyle/>
          <a:p>
            <a:pPr marL="0" indent="0" algn="l">
              <a:lnSpc>
                <a:spcPct val="128000"/>
              </a:lnSpc>
              <a:buNone/>
            </a:pPr>
            <a:r>
              <a:rPr lang="en-US" sz="2025" dirty="0">
                <a:solidFill>
                  <a:srgbClr val="1E2530"/>
                </a:solidFill>
                <a:latin typeface="Arial" pitchFamily="34" charset="0"/>
                <a:ea typeface="Arial" pitchFamily="34" charset="-122"/>
                <a:cs typeface="Arial" pitchFamily="34" charset="-120"/>
              </a:rPr>
              <a:t>Four screens — variance inflation, OLS significance, leave-one-block ablation, MCRAI zero rates — yield three tailored sets: </a:t>
            </a:r>
            <a:r>
              <a:rPr lang="en-US" sz="2025" b="1" dirty="0">
                <a:solidFill>
                  <a:srgbClr val="33455E"/>
                </a:solidFill>
                <a:latin typeface="Arial" pitchFamily="34" charset="0"/>
                <a:ea typeface="Arial" pitchFamily="34" charset="-122"/>
                <a:cs typeface="Arial" pitchFamily="34" charset="-120"/>
              </a:rPr>
              <a:t>21 / 24 / 22</a:t>
            </a:r>
            <a:r>
              <a:rPr lang="en-US" sz="2025" dirty="0">
                <a:solidFill>
                  <a:srgbClr val="1E2530"/>
                </a:solidFill>
                <a:latin typeface="Arial" pitchFamily="34" charset="0"/>
                <a:ea typeface="Arial" pitchFamily="34" charset="-122"/>
                <a:cs typeface="Arial" pitchFamily="34" charset="-120"/>
              </a:rPr>
              <a:t>.</a:t>
            </a:r>
            <a:endParaRPr lang="en-US" sz="2025" dirty="0"/>
          </a:p>
        </p:txBody>
      </p:sp>
      <p:pic>
        <p:nvPicPr>
          <p:cNvPr id="15" name="Image 0" descr="preencoded.png"/>
          <p:cNvPicPr>
            <a:picLocks noChangeAspect="1"/>
          </p:cNvPicPr>
          <p:nvPr/>
        </p:nvPicPr>
        <p:blipFill>
          <a:blip r:embed="rId3"/>
          <a:srcRect t="-47619" b="-47619"/>
          <a:stretch/>
        </p:blipFill>
        <p:spPr>
          <a:xfrm>
            <a:off x="9820275" y="1991618"/>
            <a:ext cx="7620000" cy="7761982"/>
          </a:xfrm>
          <a:prstGeom prst="rect">
            <a:avLst/>
          </a:prstGeom>
        </p:spPr>
      </p:pic>
      <p:sp>
        <p:nvSpPr>
          <p:cNvPr id="16" name="Shape 20">
            <a:extLst>
              <a:ext uri="{FF2B5EF4-FFF2-40B4-BE49-F238E27FC236}">
                <a16:creationId xmlns:a16="http://schemas.microsoft.com/office/drawing/2014/main" id="{33B52482-AD3C-5FC2-8B10-81A60139DDB3}"/>
              </a:ext>
            </a:extLst>
          </p:cNvPr>
          <p:cNvSpPr/>
          <p:nvPr/>
        </p:nvSpPr>
        <p:spPr>
          <a:xfrm>
            <a:off x="847725" y="9057159"/>
            <a:ext cx="16592550" cy="839779"/>
          </a:xfrm>
          <a:prstGeom prst="rect">
            <a:avLst/>
          </a:prstGeom>
          <a:solidFill>
            <a:srgbClr val="EAEEF3"/>
          </a:solidFill>
          <a:ln/>
        </p:spPr>
        <p:txBody>
          <a:bodyPr/>
          <a:lstStyle/>
          <a:p>
            <a:endParaRPr lang="en-US" dirty="0"/>
          </a:p>
        </p:txBody>
      </p:sp>
      <p:sp>
        <p:nvSpPr>
          <p:cNvPr id="17" name="Shape 21">
            <a:extLst>
              <a:ext uri="{FF2B5EF4-FFF2-40B4-BE49-F238E27FC236}">
                <a16:creationId xmlns:a16="http://schemas.microsoft.com/office/drawing/2014/main" id="{A31ABC1E-AFAE-8421-A708-7A6D0CC33588}"/>
              </a:ext>
            </a:extLst>
          </p:cNvPr>
          <p:cNvSpPr/>
          <p:nvPr/>
        </p:nvSpPr>
        <p:spPr>
          <a:xfrm>
            <a:off x="847725" y="9057159"/>
            <a:ext cx="76200" cy="839779"/>
          </a:xfrm>
          <a:prstGeom prst="rect">
            <a:avLst/>
          </a:prstGeom>
          <a:solidFill>
            <a:srgbClr val="33455E"/>
          </a:solidFill>
          <a:ln/>
        </p:spPr>
        <p:txBody>
          <a:bodyPr/>
          <a:lstStyle/>
          <a:p>
            <a:endParaRPr lang="en-US"/>
          </a:p>
        </p:txBody>
      </p:sp>
      <p:sp>
        <p:nvSpPr>
          <p:cNvPr id="18" name="Text 22">
            <a:extLst>
              <a:ext uri="{FF2B5EF4-FFF2-40B4-BE49-F238E27FC236}">
                <a16:creationId xmlns:a16="http://schemas.microsoft.com/office/drawing/2014/main" id="{8B00AD34-0895-6254-D65B-C6E7508EE65F}"/>
              </a:ext>
            </a:extLst>
          </p:cNvPr>
          <p:cNvSpPr/>
          <p:nvPr/>
        </p:nvSpPr>
        <p:spPr>
          <a:xfrm>
            <a:off x="1171575" y="9204349"/>
            <a:ext cx="2206625" cy="461899"/>
          </a:xfrm>
          <a:prstGeom prst="rect">
            <a:avLst/>
          </a:prstGeom>
          <a:noFill/>
          <a:ln/>
        </p:spPr>
        <p:txBody>
          <a:bodyPr wrap="square" lIns="25400" tIns="25400" rIns="25400" bIns="25400" rtlCol="0" anchor="t">
            <a:noAutofit/>
          </a:bodyPr>
          <a:lstStyle/>
          <a:p>
            <a:pPr marL="0" indent="0" algn="l">
              <a:buNone/>
            </a:pPr>
            <a:endParaRPr lang="en-US" sz="1600" b="1" kern="0" spc="144" dirty="0">
              <a:solidFill>
                <a:srgbClr val="5B7A99"/>
              </a:solidFill>
              <a:latin typeface="Arial" pitchFamily="34" charset="0"/>
              <a:ea typeface="Arial" pitchFamily="34" charset="-122"/>
              <a:cs typeface="Arial" pitchFamily="34" charset="-120"/>
            </a:endParaRPr>
          </a:p>
        </p:txBody>
      </p:sp>
      <p:sp>
        <p:nvSpPr>
          <p:cNvPr id="19" name="Text 23">
            <a:extLst>
              <a:ext uri="{FF2B5EF4-FFF2-40B4-BE49-F238E27FC236}">
                <a16:creationId xmlns:a16="http://schemas.microsoft.com/office/drawing/2014/main" id="{282CED66-EFC0-F157-6971-658D95EE983E}"/>
              </a:ext>
            </a:extLst>
          </p:cNvPr>
          <p:cNvSpPr/>
          <p:nvPr/>
        </p:nvSpPr>
        <p:spPr>
          <a:xfrm>
            <a:off x="1171575" y="9073084"/>
            <a:ext cx="15944850" cy="836459"/>
          </a:xfrm>
          <a:prstGeom prst="rect">
            <a:avLst/>
          </a:prstGeom>
          <a:noFill/>
          <a:ln/>
        </p:spPr>
        <p:txBody>
          <a:bodyPr wrap="square" lIns="25400" tIns="25400" rIns="25400" bIns="25400" rtlCol="0" anchor="t">
            <a:noAutofit/>
          </a:bodyPr>
          <a:lstStyle/>
          <a:p>
            <a:pPr>
              <a:lnSpc>
                <a:spcPct val="124000"/>
              </a:lnSpc>
            </a:pPr>
            <a:r>
              <a:rPr lang="en-US" b="1" kern="0" spc="144" dirty="0">
                <a:solidFill>
                  <a:srgbClr val="5B7A99"/>
                </a:solidFill>
                <a:latin typeface="Arial" pitchFamily="34" charset="0"/>
                <a:ea typeface="Arial" pitchFamily="34" charset="-122"/>
                <a:cs typeface="Arial" pitchFamily="34" charset="-120"/>
              </a:rPr>
              <a:t>MCRAI COVERAGE </a:t>
            </a:r>
            <a:r>
              <a:rPr lang="en-US" dirty="0">
                <a:solidFill>
                  <a:srgbClr val="1E2530"/>
                </a:solidFill>
                <a:latin typeface="Arial" pitchFamily="34" charset="0"/>
                <a:ea typeface="Arial" pitchFamily="34" charset="-122"/>
                <a:cs typeface="Arial" pitchFamily="34" charset="-120"/>
              </a:rPr>
              <a:t>Zero rates checked before modeling: education (0.3%) and grocery (4.3%) effectively complete; security sparsest (26.6%). High rates flag thin catchments, not data failure.</a:t>
            </a:r>
            <a:endParaRPr lang="en-US" dirty="0"/>
          </a:p>
        </p:txBody>
      </p:sp>
    </p:spTree>
    <p:extLst>
      <p:ext uri="{BB962C8B-B14F-4D97-AF65-F5344CB8AC3E}">
        <p14:creationId xmlns:p14="http://schemas.microsoft.com/office/powerpoint/2010/main" val="7135198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1">
    <p:bg>
      <p:bgPr>
        <a:solidFill>
          <a:srgbClr val="33455E"/>
        </a:solidFill>
        <a:effectLst/>
      </p:bgPr>
    </p:bg>
    <p:spTree>
      <p:nvGrpSpPr>
        <p:cNvPr id="1" name=""/>
        <p:cNvGrpSpPr/>
        <p:nvPr/>
      </p:nvGrpSpPr>
      <p:grpSpPr>
        <a:xfrm>
          <a:off x="0" y="0"/>
          <a:ext cx="0" cy="0"/>
          <a:chOff x="0" y="0"/>
          <a:chExt cx="0" cy="0"/>
        </a:xfrm>
      </p:grpSpPr>
      <p:sp>
        <p:nvSpPr>
          <p:cNvPr id="2" name="Text 0"/>
          <p:cNvSpPr/>
          <p:nvPr/>
        </p:nvSpPr>
        <p:spPr>
          <a:xfrm>
            <a:off x="1238250" y="3826669"/>
            <a:ext cx="17392650" cy="914400"/>
          </a:xfrm>
          <a:prstGeom prst="rect">
            <a:avLst/>
          </a:prstGeom>
          <a:noFill/>
          <a:ln/>
        </p:spPr>
        <p:txBody>
          <a:bodyPr wrap="square" lIns="25400" tIns="25400" rIns="25400" bIns="25400" rtlCol="0" anchor="t">
            <a:normAutofit lnSpcReduction="10000"/>
          </a:bodyPr>
          <a:lstStyle/>
          <a:p>
            <a:pPr marL="0" indent="0" algn="l">
              <a:buNone/>
            </a:pPr>
            <a:r>
              <a:rPr lang="en-US" sz="6000" b="1" dirty="0">
                <a:solidFill>
                  <a:srgbClr val="5B7A99"/>
                </a:solidFill>
                <a:latin typeface="Arial" pitchFamily="34" charset="0"/>
                <a:ea typeface="Arial" pitchFamily="34" charset="-122"/>
                <a:cs typeface="Arial" pitchFamily="34" charset="-120"/>
              </a:rPr>
              <a:t>06</a:t>
            </a:r>
            <a:endParaRPr lang="en-US" sz="6000" dirty="0"/>
          </a:p>
        </p:txBody>
      </p:sp>
      <p:sp>
        <p:nvSpPr>
          <p:cNvPr id="3" name="Text 1"/>
          <p:cNvSpPr/>
          <p:nvPr/>
        </p:nvSpPr>
        <p:spPr>
          <a:xfrm>
            <a:off x="1238250" y="4779169"/>
            <a:ext cx="17392650" cy="1133475"/>
          </a:xfrm>
          <a:prstGeom prst="rect">
            <a:avLst/>
          </a:prstGeom>
          <a:noFill/>
          <a:ln/>
        </p:spPr>
        <p:txBody>
          <a:bodyPr wrap="square" lIns="25400" tIns="25400" rIns="25400" bIns="25400" rtlCol="0" anchor="t">
            <a:normAutofit lnSpcReduction="10000"/>
          </a:bodyPr>
          <a:lstStyle/>
          <a:p>
            <a:pPr marL="0" indent="0" algn="l">
              <a:buNone/>
            </a:pPr>
            <a:r>
              <a:rPr lang="en-US" sz="7500" b="1" dirty="0">
                <a:solidFill>
                  <a:srgbClr val="FFFFFF"/>
                </a:solidFill>
                <a:latin typeface="Arial" pitchFamily="34" charset="0"/>
                <a:ea typeface="Arial" pitchFamily="34" charset="-122"/>
                <a:cs typeface="Arial" pitchFamily="34" charset="-120"/>
              </a:rPr>
              <a:t>Modeling</a:t>
            </a:r>
            <a:endParaRPr lang="en-US" sz="7500" dirty="0"/>
          </a:p>
        </p:txBody>
      </p:sp>
      <p:sp>
        <p:nvSpPr>
          <p:cNvPr id="4" name="Text 2"/>
          <p:cNvSpPr/>
          <p:nvPr/>
        </p:nvSpPr>
        <p:spPr>
          <a:xfrm>
            <a:off x="1238250" y="6045994"/>
            <a:ext cx="17392650" cy="452438"/>
          </a:xfrm>
          <a:prstGeom prst="rect">
            <a:avLst/>
          </a:prstGeom>
          <a:noFill/>
          <a:ln/>
        </p:spPr>
        <p:txBody>
          <a:bodyPr wrap="square" lIns="25400" tIns="25400" rIns="25400" bIns="25400" rtlCol="0" anchor="t">
            <a:normAutofit lnSpcReduction="10000"/>
          </a:bodyPr>
          <a:lstStyle/>
          <a:p>
            <a:pPr marL="0" indent="0" algn="l">
              <a:buNone/>
            </a:pPr>
            <a:r>
              <a:rPr lang="en-US" sz="2850" dirty="0">
                <a:solidFill>
                  <a:srgbClr val="C5D2DF"/>
                </a:solidFill>
                <a:latin typeface="Arial" pitchFamily="34" charset="0"/>
                <a:ea typeface="Arial" pitchFamily="34" charset="-122"/>
                <a:cs typeface="Arial" pitchFamily="34" charset="-120"/>
              </a:rPr>
              <a:t>Stratified models, selection, tuning</a:t>
            </a:r>
            <a:endParaRPr lang="en-US" sz="2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2">
    <p:bg>
      <p:bgPr>
        <a:solidFill>
          <a:srgbClr val="FAFBFC"/>
        </a:solidFill>
        <a:effectLst/>
      </p:bgPr>
    </p:bg>
    <p:spTree>
      <p:nvGrpSpPr>
        <p:cNvPr id="1" name=""/>
        <p:cNvGrpSpPr/>
        <p:nvPr/>
      </p:nvGrpSpPr>
      <p:grpSpPr>
        <a:xfrm>
          <a:off x="0" y="0"/>
          <a:ext cx="0" cy="0"/>
          <a:chOff x="0" y="0"/>
          <a:chExt cx="0" cy="0"/>
        </a:xfrm>
      </p:grpSpPr>
      <p:sp>
        <p:nvSpPr>
          <p:cNvPr id="2" name="Text 0"/>
          <p:cNvSpPr/>
          <p:nvPr/>
        </p:nvSpPr>
        <p:spPr>
          <a:xfrm>
            <a:off x="847725" y="552450"/>
            <a:ext cx="2145596" cy="347663"/>
          </a:xfrm>
          <a:prstGeom prst="rect">
            <a:avLst/>
          </a:prstGeom>
          <a:noFill/>
          <a:ln/>
        </p:spPr>
        <p:txBody>
          <a:bodyPr wrap="square" lIns="25400" tIns="25400" rIns="25400" bIns="25400" rtlCol="0" anchor="t">
            <a:normAutofit lnSpcReduction="10000"/>
          </a:bodyPr>
          <a:lstStyle/>
          <a:p>
            <a:pPr marL="0" indent="0" algn="l">
              <a:buNone/>
            </a:pPr>
            <a:r>
              <a:rPr lang="en-US" sz="2100" b="1" kern="0" spc="84" dirty="0">
                <a:solidFill>
                  <a:srgbClr val="33455E"/>
                </a:solidFill>
                <a:latin typeface="Arial" pitchFamily="34" charset="0"/>
                <a:ea typeface="Arial" pitchFamily="34" charset="-122"/>
                <a:cs typeface="Arial" pitchFamily="34" charset="-120"/>
              </a:rPr>
              <a:t>6 · MODELING</a:t>
            </a:r>
            <a:endParaRPr lang="en-US" sz="2100" dirty="0"/>
          </a:p>
        </p:txBody>
      </p:sp>
      <p:sp>
        <p:nvSpPr>
          <p:cNvPr id="3" name="Text 1"/>
          <p:cNvSpPr/>
          <p:nvPr/>
        </p:nvSpPr>
        <p:spPr>
          <a:xfrm>
            <a:off x="16712059" y="552450"/>
            <a:ext cx="804416" cy="314325"/>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6E7686"/>
                </a:solidFill>
                <a:latin typeface="Arial" pitchFamily="34" charset="0"/>
                <a:ea typeface="Arial" pitchFamily="34" charset="-122"/>
                <a:cs typeface="Arial" pitchFamily="34" charset="-120"/>
              </a:rPr>
              <a:t>22 / 40</a:t>
            </a:r>
            <a:endParaRPr lang="en-US" sz="1875" dirty="0"/>
          </a:p>
        </p:txBody>
      </p:sp>
      <p:sp>
        <p:nvSpPr>
          <p:cNvPr id="4" name="Shape 2"/>
          <p:cNvSpPr/>
          <p:nvPr/>
        </p:nvSpPr>
        <p:spPr>
          <a:xfrm>
            <a:off x="847725" y="985838"/>
            <a:ext cx="16592550" cy="28575"/>
          </a:xfrm>
          <a:prstGeom prst="rect">
            <a:avLst/>
          </a:prstGeom>
          <a:solidFill>
            <a:srgbClr val="33455E"/>
          </a:solidFill>
          <a:ln/>
        </p:spPr>
        <p:txBody>
          <a:bodyPr/>
          <a:lstStyle/>
          <a:p>
            <a:endParaRPr lang="en-US"/>
          </a:p>
        </p:txBody>
      </p:sp>
      <p:sp>
        <p:nvSpPr>
          <p:cNvPr id="5" name="Text 3"/>
          <p:cNvSpPr/>
          <p:nvPr/>
        </p:nvSpPr>
        <p:spPr>
          <a:xfrm>
            <a:off x="847725" y="1243013"/>
            <a:ext cx="18251805" cy="55810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3900" b="1" dirty="0">
                <a:solidFill>
                  <a:srgbClr val="1E2530"/>
                </a:solidFill>
                <a:latin typeface="Arial" pitchFamily="34" charset="0"/>
                <a:ea typeface="Arial" pitchFamily="34" charset="-122"/>
                <a:cs typeface="Arial" pitchFamily="34" charset="-120"/>
              </a:rPr>
              <a:t>One model cannot price three markets</a:t>
            </a:r>
            <a:endParaRPr lang="en-US" sz="3900" dirty="0"/>
          </a:p>
        </p:txBody>
      </p:sp>
      <p:sp>
        <p:nvSpPr>
          <p:cNvPr id="6" name="Text 4"/>
          <p:cNvSpPr/>
          <p:nvPr/>
        </p:nvSpPr>
        <p:spPr>
          <a:xfrm>
            <a:off x="628650" y="4040088"/>
            <a:ext cx="4819650" cy="1943100"/>
          </a:xfrm>
          <a:prstGeom prst="rect">
            <a:avLst/>
          </a:prstGeom>
          <a:noFill/>
          <a:ln/>
        </p:spPr>
        <p:txBody>
          <a:bodyPr wrap="square" lIns="25400" tIns="25400" rIns="25400" bIns="25400" rtlCol="0" anchor="t">
            <a:normAutofit fontScale="92500" lnSpcReduction="20000"/>
          </a:bodyPr>
          <a:lstStyle/>
          <a:p>
            <a:pPr marL="0" indent="0" algn="ctr">
              <a:lnSpc>
                <a:spcPct val="100000"/>
              </a:lnSpc>
              <a:buNone/>
            </a:pPr>
            <a:r>
              <a:rPr lang="en-US" sz="15000" b="1" dirty="0">
                <a:solidFill>
                  <a:srgbClr val="33455E"/>
                </a:solidFill>
                <a:latin typeface="Arial" pitchFamily="34" charset="0"/>
                <a:ea typeface="Arial" pitchFamily="34" charset="-122"/>
                <a:cs typeface="Arial" pitchFamily="34" charset="-120"/>
              </a:rPr>
              <a:t>5.8×</a:t>
            </a:r>
            <a:endParaRPr lang="en-US" sz="15000" dirty="0"/>
          </a:p>
        </p:txBody>
      </p:sp>
      <p:sp>
        <p:nvSpPr>
          <p:cNvPr id="7" name="Text 5"/>
          <p:cNvSpPr/>
          <p:nvPr/>
        </p:nvSpPr>
        <p:spPr>
          <a:xfrm>
            <a:off x="782003" y="6021288"/>
            <a:ext cx="4512945" cy="1025500"/>
          </a:xfrm>
          <a:prstGeom prst="rect">
            <a:avLst/>
          </a:prstGeom>
          <a:noFill/>
          <a:ln/>
        </p:spPr>
        <p:txBody>
          <a:bodyPr wrap="square" lIns="25400" tIns="25400" rIns="25400" bIns="25400" rtlCol="0" anchor="t">
            <a:normAutofit fontScale="92500" lnSpcReduction="20000"/>
          </a:bodyPr>
          <a:lstStyle/>
          <a:p>
            <a:pPr marL="0" indent="0" algn="ctr">
              <a:lnSpc>
                <a:spcPct val="128000"/>
              </a:lnSpc>
              <a:buNone/>
            </a:pPr>
            <a:r>
              <a:rPr lang="en-US" sz="2025" dirty="0">
                <a:solidFill>
                  <a:srgbClr val="1E2530"/>
                </a:solidFill>
                <a:latin typeface="Arial" pitchFamily="34" charset="0"/>
                <a:ea typeface="Arial" pitchFamily="34" charset="-122"/>
                <a:cs typeface="Arial" pitchFamily="34" charset="-120"/>
              </a:rPr>
              <a:t>The condominium median price per square meter runs about 5.8 times the vacant-lot median.</a:t>
            </a:r>
            <a:endParaRPr lang="en-US" sz="2025" dirty="0"/>
          </a:p>
        </p:txBody>
      </p:sp>
      <p:sp>
        <p:nvSpPr>
          <p:cNvPr id="8" name="Text 6"/>
          <p:cNvSpPr/>
          <p:nvPr/>
        </p:nvSpPr>
        <p:spPr>
          <a:xfrm>
            <a:off x="5800725" y="4531072"/>
            <a:ext cx="15723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b="1" dirty="0">
                <a:solidFill>
                  <a:srgbClr val="33455E"/>
                </a:solidFill>
                <a:latin typeface="Arial" pitchFamily="34" charset="0"/>
                <a:ea typeface="Arial" pitchFamily="34" charset="-122"/>
                <a:cs typeface="Arial" pitchFamily="34" charset="-120"/>
              </a:rPr>
              <a:t>▪</a:t>
            </a:r>
            <a:endParaRPr lang="en-US" sz="1800" dirty="0"/>
          </a:p>
        </p:txBody>
      </p:sp>
      <p:sp>
        <p:nvSpPr>
          <p:cNvPr id="9" name="Text 7"/>
          <p:cNvSpPr/>
          <p:nvPr/>
        </p:nvSpPr>
        <p:spPr>
          <a:xfrm>
            <a:off x="6015112" y="4473922"/>
            <a:ext cx="9346503" cy="427806"/>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2325" dirty="0">
                <a:solidFill>
                  <a:srgbClr val="1E2530"/>
                </a:solidFill>
                <a:latin typeface="Arial" pitchFamily="34" charset="0"/>
                <a:ea typeface="Arial" pitchFamily="34" charset="-122"/>
                <a:cs typeface="Arial" pitchFamily="34" charset="-120"/>
              </a:rPr>
              <a:t>Built area and land-only follow fundamentally different price logic.</a:t>
            </a:r>
            <a:endParaRPr lang="en-US" sz="2325" dirty="0"/>
          </a:p>
        </p:txBody>
      </p:sp>
      <p:sp>
        <p:nvSpPr>
          <p:cNvPr id="10" name="Text 8"/>
          <p:cNvSpPr/>
          <p:nvPr/>
        </p:nvSpPr>
        <p:spPr>
          <a:xfrm>
            <a:off x="5800725" y="5073179"/>
            <a:ext cx="15723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b="1" dirty="0">
                <a:solidFill>
                  <a:srgbClr val="33455E"/>
                </a:solidFill>
                <a:latin typeface="Arial" pitchFamily="34" charset="0"/>
                <a:ea typeface="Arial" pitchFamily="34" charset="-122"/>
                <a:cs typeface="Arial" pitchFamily="34" charset="-120"/>
              </a:rPr>
              <a:t>▪</a:t>
            </a:r>
            <a:endParaRPr lang="en-US" sz="1800" dirty="0"/>
          </a:p>
        </p:txBody>
      </p:sp>
      <p:sp>
        <p:nvSpPr>
          <p:cNvPr id="11" name="Text 9"/>
          <p:cNvSpPr/>
          <p:nvPr/>
        </p:nvSpPr>
        <p:spPr>
          <a:xfrm>
            <a:off x="6015112" y="5016029"/>
            <a:ext cx="11767918" cy="817513"/>
          </a:xfrm>
          <a:prstGeom prst="rect">
            <a:avLst/>
          </a:prstGeom>
          <a:noFill/>
          <a:ln/>
        </p:spPr>
        <p:txBody>
          <a:bodyPr wrap="square" lIns="25400" tIns="25400" rIns="25400" bIns="25400" rtlCol="0" anchor="t">
            <a:normAutofit fontScale="92500"/>
          </a:bodyPr>
          <a:lstStyle/>
          <a:p>
            <a:pPr marL="0" indent="0" algn="l">
              <a:lnSpc>
                <a:spcPct val="132000"/>
              </a:lnSpc>
              <a:buNone/>
            </a:pPr>
            <a:r>
              <a:rPr lang="en-US" sz="2325" dirty="0">
                <a:solidFill>
                  <a:srgbClr val="1E2530"/>
                </a:solidFill>
                <a:latin typeface="Arial" pitchFamily="34" charset="0"/>
                <a:ea typeface="Arial" pitchFamily="34" charset="-122"/>
                <a:cs typeface="Arial" pitchFamily="34" charset="-120"/>
              </a:rPr>
              <a:t>A single pooled model averages these into one blurred equation that fits none of them well.</a:t>
            </a:r>
            <a:endParaRPr lang="en-US" sz="2325" dirty="0"/>
          </a:p>
        </p:txBody>
      </p:sp>
      <p:sp>
        <p:nvSpPr>
          <p:cNvPr id="12" name="Text 10"/>
          <p:cNvSpPr/>
          <p:nvPr/>
        </p:nvSpPr>
        <p:spPr>
          <a:xfrm>
            <a:off x="5800725" y="6004992"/>
            <a:ext cx="15723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b="1" dirty="0">
                <a:solidFill>
                  <a:srgbClr val="33455E"/>
                </a:solidFill>
                <a:latin typeface="Arial" pitchFamily="34" charset="0"/>
                <a:ea typeface="Arial" pitchFamily="34" charset="-122"/>
                <a:cs typeface="Arial" pitchFamily="34" charset="-120"/>
              </a:rPr>
              <a:t>▪</a:t>
            </a:r>
            <a:endParaRPr lang="en-US" sz="1800" dirty="0"/>
          </a:p>
        </p:txBody>
      </p:sp>
      <p:sp>
        <p:nvSpPr>
          <p:cNvPr id="13" name="Text 11"/>
          <p:cNvSpPr/>
          <p:nvPr/>
        </p:nvSpPr>
        <p:spPr>
          <a:xfrm>
            <a:off x="6015112" y="5947842"/>
            <a:ext cx="11767918" cy="817513"/>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2325" dirty="0">
                <a:solidFill>
                  <a:srgbClr val="1E2530"/>
                </a:solidFill>
                <a:latin typeface="Arial" pitchFamily="34" charset="0"/>
                <a:ea typeface="Arial" pitchFamily="34" charset="-122"/>
                <a:cs typeface="Arial" pitchFamily="34" charset="-120"/>
              </a:rPr>
              <a:t>So the study fits </a:t>
            </a:r>
            <a:r>
              <a:rPr lang="en-US" sz="2325" b="1" dirty="0">
                <a:solidFill>
                  <a:srgbClr val="33455E"/>
                </a:solidFill>
                <a:latin typeface="Arial" pitchFamily="34" charset="0"/>
                <a:ea typeface="Arial" pitchFamily="34" charset="-122"/>
                <a:cs typeface="Arial" pitchFamily="34" charset="-120"/>
              </a:rPr>
              <a:t>three separate models</a:t>
            </a:r>
            <a:r>
              <a:rPr lang="en-US" sz="2325" dirty="0">
                <a:solidFill>
                  <a:srgbClr val="1E2530"/>
                </a:solidFill>
                <a:latin typeface="Arial" pitchFamily="34" charset="0"/>
                <a:ea typeface="Arial" pitchFamily="34" charset="-122"/>
                <a:cs typeface="Arial" pitchFamily="34" charset="-120"/>
              </a:rPr>
              <a:t>, one per property type. </a:t>
            </a:r>
            <a:r>
              <a:rPr lang="en-US" sz="2325" i="1" dirty="0">
                <a:solidFill>
                  <a:srgbClr val="979FAD"/>
                </a:solidFill>
                <a:latin typeface="Arial" pitchFamily="34" charset="0"/>
                <a:ea typeface="Arial" pitchFamily="34" charset="-122"/>
                <a:cs typeface="Arial" pitchFamily="34" charset="-120"/>
              </a:rPr>
              <a:t>(Dröes et al., 2019; Usman et al., 2020)</a:t>
            </a:r>
            <a:endParaRPr lang="en-US" sz="2325" dirty="0"/>
          </a:p>
        </p:txBody>
      </p:sp>
      <p:sp>
        <p:nvSpPr>
          <p:cNvPr id="14" name="Shape 12"/>
          <p:cNvSpPr/>
          <p:nvPr/>
        </p:nvSpPr>
        <p:spPr>
          <a:xfrm>
            <a:off x="847725" y="9057159"/>
            <a:ext cx="16592550" cy="696441"/>
          </a:xfrm>
          <a:prstGeom prst="rect">
            <a:avLst/>
          </a:prstGeom>
          <a:solidFill>
            <a:srgbClr val="EAEEF3"/>
          </a:solidFill>
          <a:ln/>
        </p:spPr>
        <p:txBody>
          <a:bodyPr/>
          <a:lstStyle/>
          <a:p>
            <a:endParaRPr lang="en-US"/>
          </a:p>
        </p:txBody>
      </p:sp>
      <p:sp>
        <p:nvSpPr>
          <p:cNvPr id="15" name="Shape 13"/>
          <p:cNvSpPr/>
          <p:nvPr/>
        </p:nvSpPr>
        <p:spPr>
          <a:xfrm>
            <a:off x="847725" y="9057159"/>
            <a:ext cx="76200" cy="696441"/>
          </a:xfrm>
          <a:prstGeom prst="rect">
            <a:avLst/>
          </a:prstGeom>
          <a:solidFill>
            <a:srgbClr val="33455E"/>
          </a:solidFill>
          <a:ln/>
        </p:spPr>
        <p:txBody>
          <a:bodyPr/>
          <a:lstStyle/>
          <a:p>
            <a:endParaRPr lang="en-US"/>
          </a:p>
        </p:txBody>
      </p:sp>
      <p:sp>
        <p:nvSpPr>
          <p:cNvPr id="16" name="Text 14"/>
          <p:cNvSpPr/>
          <p:nvPr/>
        </p:nvSpPr>
        <p:spPr>
          <a:xfrm>
            <a:off x="1171575" y="9290521"/>
            <a:ext cx="1544285" cy="300038"/>
          </a:xfrm>
          <a:prstGeom prst="rect">
            <a:avLst/>
          </a:prstGeom>
          <a:noFill/>
          <a:ln/>
        </p:spPr>
        <p:txBody>
          <a:bodyPr wrap="square" lIns="25400" tIns="25400" rIns="25400" bIns="25400" rtlCol="0" anchor="t">
            <a:normAutofit lnSpcReduction="10000"/>
          </a:bodyPr>
          <a:lstStyle/>
          <a:p>
            <a:pPr marL="0" indent="0" algn="l">
              <a:buNone/>
            </a:pPr>
            <a:r>
              <a:rPr lang="en-US" sz="1800" b="1" kern="0" spc="144" dirty="0">
                <a:solidFill>
                  <a:srgbClr val="5B7A99"/>
                </a:solidFill>
                <a:latin typeface="Arial" pitchFamily="34" charset="0"/>
                <a:ea typeface="Arial" pitchFamily="34" charset="-122"/>
                <a:cs typeface="Arial" pitchFamily="34" charset="-120"/>
              </a:rPr>
              <a:t>TAKEAWAY</a:t>
            </a:r>
            <a:endParaRPr lang="en-US" sz="1800" dirty="0"/>
          </a:p>
        </p:txBody>
      </p:sp>
      <p:sp>
        <p:nvSpPr>
          <p:cNvPr id="17" name="Text 15"/>
          <p:cNvSpPr/>
          <p:nvPr/>
        </p:nvSpPr>
        <p:spPr>
          <a:xfrm>
            <a:off x="2727871" y="9228609"/>
            <a:ext cx="8715643" cy="391641"/>
          </a:xfrm>
          <a:prstGeom prst="rect">
            <a:avLst/>
          </a:prstGeom>
          <a:noFill/>
          <a:ln/>
        </p:spPr>
        <p:txBody>
          <a:bodyPr wrap="square" lIns="25400" tIns="25400" rIns="25400" bIns="25400" rtlCol="0" anchor="t">
            <a:normAutofit fontScale="92500" lnSpcReduction="10000"/>
          </a:bodyPr>
          <a:lstStyle/>
          <a:p>
            <a:pPr marL="0" indent="0" algn="l">
              <a:lnSpc>
                <a:spcPct val="128000"/>
              </a:lnSpc>
              <a:buNone/>
            </a:pPr>
            <a:r>
              <a:rPr lang="en-US" sz="2175" dirty="0">
                <a:solidFill>
                  <a:srgbClr val="1E2530"/>
                </a:solidFill>
                <a:latin typeface="Arial" pitchFamily="34" charset="0"/>
                <a:ea typeface="Arial" pitchFamily="34" charset="-122"/>
                <a:cs typeface="Arial" pitchFamily="34" charset="-120"/>
              </a:rPr>
              <a:t>Stratifying is itself an evidence-based finding, not a convenience.</a:t>
            </a:r>
            <a:endParaRPr lang="en-US" sz="2175" dirty="0"/>
          </a:p>
        </p:txBody>
      </p:sp>
    </p:spTree>
    <p:extLst>
      <p:ext uri="{BB962C8B-B14F-4D97-AF65-F5344CB8AC3E}">
        <p14:creationId xmlns:p14="http://schemas.microsoft.com/office/powerpoint/2010/main" val="26102379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3">
    <p:bg>
      <p:bgPr>
        <a:solidFill>
          <a:srgbClr val="FAFBFC"/>
        </a:solidFill>
        <a:effectLst/>
      </p:bgPr>
    </p:bg>
    <p:spTree>
      <p:nvGrpSpPr>
        <p:cNvPr id="1" name=""/>
        <p:cNvGrpSpPr/>
        <p:nvPr/>
      </p:nvGrpSpPr>
      <p:grpSpPr>
        <a:xfrm>
          <a:off x="0" y="0"/>
          <a:ext cx="0" cy="0"/>
          <a:chOff x="0" y="0"/>
          <a:chExt cx="0" cy="0"/>
        </a:xfrm>
      </p:grpSpPr>
      <p:sp>
        <p:nvSpPr>
          <p:cNvPr id="2" name="Text 0"/>
          <p:cNvSpPr/>
          <p:nvPr/>
        </p:nvSpPr>
        <p:spPr>
          <a:xfrm>
            <a:off x="847725" y="552450"/>
            <a:ext cx="2145596" cy="347663"/>
          </a:xfrm>
          <a:prstGeom prst="rect">
            <a:avLst/>
          </a:prstGeom>
          <a:noFill/>
          <a:ln/>
        </p:spPr>
        <p:txBody>
          <a:bodyPr wrap="square" lIns="25400" tIns="25400" rIns="25400" bIns="25400" rtlCol="0" anchor="t">
            <a:normAutofit lnSpcReduction="10000"/>
          </a:bodyPr>
          <a:lstStyle/>
          <a:p>
            <a:pPr marL="0" indent="0" algn="l">
              <a:buNone/>
            </a:pPr>
            <a:r>
              <a:rPr lang="en-US" sz="2100" b="1" kern="0" spc="84" dirty="0">
                <a:solidFill>
                  <a:srgbClr val="33455E"/>
                </a:solidFill>
                <a:latin typeface="Arial" pitchFamily="34" charset="0"/>
                <a:ea typeface="Arial" pitchFamily="34" charset="-122"/>
                <a:cs typeface="Arial" pitchFamily="34" charset="-120"/>
              </a:rPr>
              <a:t>6 · MODELING</a:t>
            </a:r>
            <a:endParaRPr lang="en-US" sz="2100" dirty="0"/>
          </a:p>
        </p:txBody>
      </p:sp>
      <p:sp>
        <p:nvSpPr>
          <p:cNvPr id="3" name="Text 1"/>
          <p:cNvSpPr/>
          <p:nvPr/>
        </p:nvSpPr>
        <p:spPr>
          <a:xfrm>
            <a:off x="16712059" y="552450"/>
            <a:ext cx="804416" cy="314325"/>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6E7686"/>
                </a:solidFill>
                <a:latin typeface="Arial" pitchFamily="34" charset="0"/>
                <a:ea typeface="Arial" pitchFamily="34" charset="-122"/>
                <a:cs typeface="Arial" pitchFamily="34" charset="-120"/>
              </a:rPr>
              <a:t>23 / 40</a:t>
            </a:r>
            <a:endParaRPr lang="en-US" sz="1875" dirty="0"/>
          </a:p>
        </p:txBody>
      </p:sp>
      <p:sp>
        <p:nvSpPr>
          <p:cNvPr id="4" name="Shape 2"/>
          <p:cNvSpPr/>
          <p:nvPr/>
        </p:nvSpPr>
        <p:spPr>
          <a:xfrm>
            <a:off x="847725" y="985838"/>
            <a:ext cx="16592550" cy="28575"/>
          </a:xfrm>
          <a:prstGeom prst="rect">
            <a:avLst/>
          </a:prstGeom>
          <a:solidFill>
            <a:srgbClr val="33455E"/>
          </a:solidFill>
          <a:ln/>
        </p:spPr>
        <p:txBody>
          <a:bodyPr/>
          <a:lstStyle/>
          <a:p>
            <a:endParaRPr lang="en-US"/>
          </a:p>
        </p:txBody>
      </p:sp>
      <p:sp>
        <p:nvSpPr>
          <p:cNvPr id="5" name="Text 3"/>
          <p:cNvSpPr/>
          <p:nvPr/>
        </p:nvSpPr>
        <p:spPr>
          <a:xfrm>
            <a:off x="847725" y="1243013"/>
            <a:ext cx="18251805" cy="55810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3900" b="1" dirty="0">
                <a:solidFill>
                  <a:srgbClr val="1E2530"/>
                </a:solidFill>
                <a:latin typeface="Arial" pitchFamily="34" charset="0"/>
                <a:ea typeface="Arial" pitchFamily="34" charset="-122"/>
                <a:cs typeface="Arial" pitchFamily="34" charset="-120"/>
              </a:rPr>
              <a:t>Feature sets differ by property type</a:t>
            </a:r>
            <a:endParaRPr lang="en-US" sz="3900" dirty="0"/>
          </a:p>
        </p:txBody>
      </p:sp>
      <p:sp>
        <p:nvSpPr>
          <p:cNvPr id="6" name="Shape 4"/>
          <p:cNvSpPr/>
          <p:nvPr/>
        </p:nvSpPr>
        <p:spPr>
          <a:xfrm>
            <a:off x="847725" y="1953518"/>
            <a:ext cx="5340325" cy="6811417"/>
          </a:xfrm>
          <a:prstGeom prst="roundRect">
            <a:avLst>
              <a:gd name="adj" fmla="val 1427"/>
            </a:avLst>
          </a:prstGeom>
          <a:solidFill>
            <a:srgbClr val="FFFFFF"/>
          </a:solidFill>
          <a:ln/>
        </p:spPr>
        <p:txBody>
          <a:bodyPr/>
          <a:lstStyle/>
          <a:p>
            <a:endParaRPr lang="en-US"/>
          </a:p>
        </p:txBody>
      </p:sp>
      <p:sp>
        <p:nvSpPr>
          <p:cNvPr id="7" name="Shape 5"/>
          <p:cNvSpPr/>
          <p:nvPr/>
        </p:nvSpPr>
        <p:spPr>
          <a:xfrm>
            <a:off x="847725" y="8755410"/>
            <a:ext cx="5340325" cy="9525"/>
          </a:xfrm>
          <a:prstGeom prst="rect">
            <a:avLst/>
          </a:prstGeom>
          <a:solidFill>
            <a:srgbClr val="DCE2E9"/>
          </a:solidFill>
          <a:ln/>
        </p:spPr>
        <p:txBody>
          <a:bodyPr/>
          <a:lstStyle/>
          <a:p>
            <a:endParaRPr lang="en-US"/>
          </a:p>
        </p:txBody>
      </p:sp>
      <p:sp>
        <p:nvSpPr>
          <p:cNvPr id="8" name="Shape 6"/>
          <p:cNvSpPr/>
          <p:nvPr/>
        </p:nvSpPr>
        <p:spPr>
          <a:xfrm>
            <a:off x="847725" y="1953518"/>
            <a:ext cx="5340325" cy="57150"/>
          </a:xfrm>
          <a:prstGeom prst="rect">
            <a:avLst/>
          </a:prstGeom>
          <a:solidFill>
            <a:srgbClr val="33455E"/>
          </a:solidFill>
          <a:ln/>
        </p:spPr>
        <p:txBody>
          <a:bodyPr/>
          <a:lstStyle/>
          <a:p>
            <a:endParaRPr lang="en-US"/>
          </a:p>
        </p:txBody>
      </p:sp>
      <p:sp>
        <p:nvSpPr>
          <p:cNvPr id="9" name="Shape 7"/>
          <p:cNvSpPr/>
          <p:nvPr/>
        </p:nvSpPr>
        <p:spPr>
          <a:xfrm>
            <a:off x="847725" y="1953518"/>
            <a:ext cx="9525" cy="6811417"/>
          </a:xfrm>
          <a:prstGeom prst="rect">
            <a:avLst/>
          </a:prstGeom>
          <a:solidFill>
            <a:srgbClr val="DCE2E9"/>
          </a:solidFill>
          <a:ln/>
        </p:spPr>
        <p:txBody>
          <a:bodyPr/>
          <a:lstStyle/>
          <a:p>
            <a:endParaRPr lang="en-US"/>
          </a:p>
        </p:txBody>
      </p:sp>
      <p:sp>
        <p:nvSpPr>
          <p:cNvPr id="10" name="Shape 8"/>
          <p:cNvSpPr/>
          <p:nvPr/>
        </p:nvSpPr>
        <p:spPr>
          <a:xfrm>
            <a:off x="6178525" y="1953518"/>
            <a:ext cx="9525" cy="6811417"/>
          </a:xfrm>
          <a:prstGeom prst="rect">
            <a:avLst/>
          </a:prstGeom>
          <a:solidFill>
            <a:srgbClr val="DCE2E9"/>
          </a:solidFill>
          <a:ln/>
        </p:spPr>
        <p:txBody>
          <a:bodyPr/>
          <a:lstStyle/>
          <a:p>
            <a:endParaRPr lang="en-US"/>
          </a:p>
        </p:txBody>
      </p:sp>
      <p:sp>
        <p:nvSpPr>
          <p:cNvPr id="11" name="Text 9"/>
          <p:cNvSpPr/>
          <p:nvPr/>
        </p:nvSpPr>
        <p:spPr>
          <a:xfrm>
            <a:off x="1066800" y="2182118"/>
            <a:ext cx="5392393" cy="366713"/>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33455E"/>
                </a:solidFill>
                <a:latin typeface="Arial" pitchFamily="34" charset="0"/>
                <a:ea typeface="Arial" pitchFamily="34" charset="-122"/>
                <a:cs typeface="Arial" pitchFamily="34" charset="-120"/>
              </a:rPr>
              <a:t>Condominium </a:t>
            </a:r>
            <a:r>
              <a:rPr lang="en-US" sz="2250" dirty="0">
                <a:solidFill>
                  <a:srgbClr val="6E7686"/>
                </a:solidFill>
                <a:latin typeface="Arial" pitchFamily="34" charset="0"/>
                <a:ea typeface="Arial" pitchFamily="34" charset="-122"/>
                <a:cs typeface="Arial" pitchFamily="34" charset="-120"/>
              </a:rPr>
              <a:t>· 21</a:t>
            </a:r>
            <a:endParaRPr lang="en-US" sz="2250" dirty="0"/>
          </a:p>
        </p:txBody>
      </p:sp>
      <p:sp>
        <p:nvSpPr>
          <p:cNvPr id="12" name="Text 10"/>
          <p:cNvSpPr/>
          <p:nvPr/>
        </p:nvSpPr>
        <p:spPr>
          <a:xfrm>
            <a:off x="1066800" y="2605980"/>
            <a:ext cx="5049240" cy="2238375"/>
          </a:xfrm>
          <a:prstGeom prst="rect">
            <a:avLst/>
          </a:prstGeom>
          <a:noFill/>
          <a:ln/>
        </p:spPr>
        <p:txBody>
          <a:bodyPr wrap="square" lIns="25400" tIns="25400" rIns="25400" bIns="25400" rtlCol="0" anchor="t">
            <a:normAutofit/>
          </a:bodyPr>
          <a:lstStyle/>
          <a:p>
            <a:pPr marL="0" indent="0" algn="l">
              <a:lnSpc>
                <a:spcPct val="150000"/>
              </a:lnSpc>
              <a:buNone/>
            </a:pPr>
            <a:r>
              <a:rPr lang="en-US" sz="1650" b="1" dirty="0">
                <a:solidFill>
                  <a:srgbClr val="1E2530"/>
                </a:solidFill>
                <a:latin typeface="Arial" pitchFamily="34" charset="0"/>
                <a:ea typeface="Arial" pitchFamily="34" charset="-122"/>
                <a:cs typeface="Arial" pitchFamily="34" charset="-120"/>
              </a:rPr>
              <a:t>Structural </a:t>
            </a:r>
            <a:r>
              <a:rPr lang="en-US" sz="1650" dirty="0">
                <a:solidFill>
                  <a:srgbClr val="1E2530"/>
                </a:solidFill>
                <a:latin typeface="Arial" pitchFamily="34" charset="0"/>
                <a:ea typeface="Arial" pitchFamily="34" charset="-122"/>
                <a:cs typeface="Arial" pitchFamily="34" charset="-120"/>
              </a:rPr>
              <a:t>— area, bedrooms, bathrooms (+ imputed flags) </a:t>
            </a:r>
            <a:r>
              <a:rPr lang="en-US" sz="1650" b="1" dirty="0">
                <a:solidFill>
                  <a:srgbClr val="1E2530"/>
                </a:solidFill>
                <a:latin typeface="Arial" pitchFamily="34" charset="0"/>
                <a:ea typeface="Arial" pitchFamily="34" charset="-122"/>
                <a:cs typeface="Arial" pitchFamily="34" charset="-120"/>
              </a:rPr>
              <a:t>CBD distances (8) </a:t>
            </a:r>
            <a:r>
              <a:rPr lang="en-US" sz="1650" dirty="0">
                <a:solidFill>
                  <a:srgbClr val="1E2530"/>
                </a:solidFill>
                <a:latin typeface="Arial" pitchFamily="34" charset="0"/>
                <a:ea typeface="Arial" pitchFamily="34" charset="-122"/>
                <a:cs typeface="Arial" pitchFamily="34" charset="-120"/>
              </a:rPr>
              <a:t>— CBP, Mandaue, Mactan, SRP, Talisay, Consolacion, Naga, airport </a:t>
            </a:r>
            <a:r>
              <a:rPr lang="en-US" sz="1650" b="1" dirty="0">
                <a:solidFill>
                  <a:srgbClr val="1E2530"/>
                </a:solidFill>
                <a:latin typeface="Arial" pitchFamily="34" charset="0"/>
                <a:ea typeface="Arial" pitchFamily="34" charset="-122"/>
                <a:cs typeface="Arial" pitchFamily="34" charset="-120"/>
              </a:rPr>
              <a:t>Access &amp; benchmark </a:t>
            </a:r>
            <a:r>
              <a:rPr lang="en-US" sz="1650" dirty="0">
                <a:solidFill>
                  <a:srgbClr val="1E2530"/>
                </a:solidFill>
                <a:latin typeface="Arial" pitchFamily="34" charset="0"/>
                <a:ea typeface="Arial" pitchFamily="34" charset="-122"/>
                <a:cs typeface="Arial" pitchFamily="34" charset="-120"/>
              </a:rPr>
              <a:t>— MCRAI composite, BIR zonal, spatial lag </a:t>
            </a:r>
            <a:r>
              <a:rPr lang="en-US" sz="1650" b="1" dirty="0">
                <a:solidFill>
                  <a:srgbClr val="1E2530"/>
                </a:solidFill>
                <a:latin typeface="Arial" pitchFamily="34" charset="0"/>
                <a:ea typeface="Arial" pitchFamily="34" charset="-122"/>
                <a:cs typeface="Arial" pitchFamily="34" charset="-120"/>
              </a:rPr>
              <a:t>City indicators (5)</a:t>
            </a:r>
            <a:endParaRPr lang="en-US" sz="1650" dirty="0"/>
          </a:p>
        </p:txBody>
      </p:sp>
      <p:sp>
        <p:nvSpPr>
          <p:cNvPr id="13" name="Shape 11"/>
          <p:cNvSpPr/>
          <p:nvPr/>
        </p:nvSpPr>
        <p:spPr>
          <a:xfrm>
            <a:off x="6473800" y="1953518"/>
            <a:ext cx="5340400" cy="6811417"/>
          </a:xfrm>
          <a:prstGeom prst="roundRect">
            <a:avLst>
              <a:gd name="adj" fmla="val 1427"/>
            </a:avLst>
          </a:prstGeom>
          <a:solidFill>
            <a:srgbClr val="FFFFFF"/>
          </a:solidFill>
          <a:ln/>
        </p:spPr>
        <p:txBody>
          <a:bodyPr/>
          <a:lstStyle/>
          <a:p>
            <a:endParaRPr lang="en-US"/>
          </a:p>
        </p:txBody>
      </p:sp>
      <p:sp>
        <p:nvSpPr>
          <p:cNvPr id="14" name="Shape 12"/>
          <p:cNvSpPr/>
          <p:nvPr/>
        </p:nvSpPr>
        <p:spPr>
          <a:xfrm>
            <a:off x="6473800" y="8755410"/>
            <a:ext cx="5340400" cy="9525"/>
          </a:xfrm>
          <a:prstGeom prst="rect">
            <a:avLst/>
          </a:prstGeom>
          <a:solidFill>
            <a:srgbClr val="DCE2E9"/>
          </a:solidFill>
          <a:ln/>
        </p:spPr>
        <p:txBody>
          <a:bodyPr/>
          <a:lstStyle/>
          <a:p>
            <a:endParaRPr lang="en-US"/>
          </a:p>
        </p:txBody>
      </p:sp>
      <p:sp>
        <p:nvSpPr>
          <p:cNvPr id="15" name="Shape 13"/>
          <p:cNvSpPr/>
          <p:nvPr/>
        </p:nvSpPr>
        <p:spPr>
          <a:xfrm>
            <a:off x="6473800" y="1953518"/>
            <a:ext cx="5340400" cy="57150"/>
          </a:xfrm>
          <a:prstGeom prst="rect">
            <a:avLst/>
          </a:prstGeom>
          <a:solidFill>
            <a:srgbClr val="33455E"/>
          </a:solidFill>
          <a:ln/>
        </p:spPr>
        <p:txBody>
          <a:bodyPr/>
          <a:lstStyle/>
          <a:p>
            <a:endParaRPr lang="en-US"/>
          </a:p>
        </p:txBody>
      </p:sp>
      <p:sp>
        <p:nvSpPr>
          <p:cNvPr id="16" name="Shape 14"/>
          <p:cNvSpPr/>
          <p:nvPr/>
        </p:nvSpPr>
        <p:spPr>
          <a:xfrm>
            <a:off x="6473800" y="1953518"/>
            <a:ext cx="9525" cy="6811417"/>
          </a:xfrm>
          <a:prstGeom prst="rect">
            <a:avLst/>
          </a:prstGeom>
          <a:solidFill>
            <a:srgbClr val="DCE2E9"/>
          </a:solidFill>
          <a:ln/>
        </p:spPr>
        <p:txBody>
          <a:bodyPr/>
          <a:lstStyle/>
          <a:p>
            <a:endParaRPr lang="en-US"/>
          </a:p>
        </p:txBody>
      </p:sp>
      <p:sp>
        <p:nvSpPr>
          <p:cNvPr id="17" name="Shape 15"/>
          <p:cNvSpPr/>
          <p:nvPr/>
        </p:nvSpPr>
        <p:spPr>
          <a:xfrm>
            <a:off x="11804675" y="1953518"/>
            <a:ext cx="9525" cy="6811417"/>
          </a:xfrm>
          <a:prstGeom prst="rect">
            <a:avLst/>
          </a:prstGeom>
          <a:solidFill>
            <a:srgbClr val="DCE2E9"/>
          </a:solidFill>
          <a:ln/>
        </p:spPr>
        <p:txBody>
          <a:bodyPr/>
          <a:lstStyle/>
          <a:p>
            <a:endParaRPr lang="en-US"/>
          </a:p>
        </p:txBody>
      </p:sp>
      <p:sp>
        <p:nvSpPr>
          <p:cNvPr id="18" name="Text 16"/>
          <p:cNvSpPr/>
          <p:nvPr/>
        </p:nvSpPr>
        <p:spPr>
          <a:xfrm>
            <a:off x="6692875" y="2182118"/>
            <a:ext cx="5392475" cy="366713"/>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33455E"/>
                </a:solidFill>
                <a:latin typeface="Arial" pitchFamily="34" charset="0"/>
                <a:ea typeface="Arial" pitchFamily="34" charset="-122"/>
                <a:cs typeface="Arial" pitchFamily="34" charset="-120"/>
              </a:rPr>
              <a:t>Houses </a:t>
            </a:r>
            <a:r>
              <a:rPr lang="en-US" sz="2250" dirty="0">
                <a:solidFill>
                  <a:srgbClr val="6E7686"/>
                </a:solidFill>
                <a:latin typeface="Arial" pitchFamily="34" charset="0"/>
                <a:ea typeface="Arial" pitchFamily="34" charset="-122"/>
                <a:cs typeface="Arial" pitchFamily="34" charset="-120"/>
              </a:rPr>
              <a:t>· 24</a:t>
            </a:r>
            <a:endParaRPr lang="en-US" sz="2250" dirty="0"/>
          </a:p>
        </p:txBody>
      </p:sp>
      <p:sp>
        <p:nvSpPr>
          <p:cNvPr id="19" name="Text 17"/>
          <p:cNvSpPr/>
          <p:nvPr/>
        </p:nvSpPr>
        <p:spPr>
          <a:xfrm>
            <a:off x="6692875" y="2605980"/>
            <a:ext cx="5049317" cy="2552700"/>
          </a:xfrm>
          <a:prstGeom prst="rect">
            <a:avLst/>
          </a:prstGeom>
          <a:noFill/>
          <a:ln/>
        </p:spPr>
        <p:txBody>
          <a:bodyPr wrap="square" lIns="25400" tIns="25400" rIns="25400" bIns="25400" rtlCol="0" anchor="t">
            <a:normAutofit/>
          </a:bodyPr>
          <a:lstStyle/>
          <a:p>
            <a:pPr marL="0" indent="0" algn="l">
              <a:lnSpc>
                <a:spcPct val="150000"/>
              </a:lnSpc>
              <a:buNone/>
            </a:pPr>
            <a:r>
              <a:rPr lang="en-US" sz="1650" b="1" dirty="0">
                <a:solidFill>
                  <a:srgbClr val="1E2530"/>
                </a:solidFill>
                <a:latin typeface="Arial" pitchFamily="34" charset="0"/>
                <a:ea typeface="Arial" pitchFamily="34" charset="-122"/>
                <a:cs typeface="Arial" pitchFamily="34" charset="-120"/>
              </a:rPr>
              <a:t>Structural </a:t>
            </a:r>
            <a:r>
              <a:rPr lang="en-US" sz="1650" dirty="0">
                <a:solidFill>
                  <a:srgbClr val="1E2530"/>
                </a:solidFill>
                <a:latin typeface="Arial" pitchFamily="34" charset="0"/>
                <a:ea typeface="Arial" pitchFamily="34" charset="-122"/>
                <a:cs typeface="Arial" pitchFamily="34" charset="-120"/>
              </a:rPr>
              <a:t>— area, bedrooms, bathrooms (+ imputed flags) </a:t>
            </a:r>
            <a:r>
              <a:rPr lang="en-US" sz="1650" b="1" dirty="0">
                <a:solidFill>
                  <a:srgbClr val="1E2530"/>
                </a:solidFill>
                <a:latin typeface="Arial" pitchFamily="34" charset="0"/>
                <a:ea typeface="Arial" pitchFamily="34" charset="-122"/>
                <a:cs typeface="Arial" pitchFamily="34" charset="-120"/>
              </a:rPr>
              <a:t>CBD distances (8) </a:t>
            </a:r>
            <a:r>
              <a:rPr lang="en-US" sz="1650" dirty="0">
                <a:solidFill>
                  <a:srgbClr val="1E2530"/>
                </a:solidFill>
                <a:latin typeface="Arial" pitchFamily="34" charset="0"/>
                <a:ea typeface="Arial" pitchFamily="34" charset="-122"/>
                <a:cs typeface="Arial" pitchFamily="34" charset="-120"/>
              </a:rPr>
              <a:t>— full node set </a:t>
            </a:r>
            <a:r>
              <a:rPr lang="en-US" sz="1650" b="1" dirty="0">
                <a:solidFill>
                  <a:srgbClr val="1E2530"/>
                </a:solidFill>
                <a:latin typeface="Arial" pitchFamily="34" charset="0"/>
                <a:ea typeface="Arial" pitchFamily="34" charset="-122"/>
                <a:cs typeface="Arial" pitchFamily="34" charset="-120"/>
              </a:rPr>
              <a:t>Access &amp; benchmark </a:t>
            </a:r>
            <a:r>
              <a:rPr lang="en-US" sz="1650" dirty="0">
                <a:solidFill>
                  <a:srgbClr val="1E2530"/>
                </a:solidFill>
                <a:latin typeface="Arial" pitchFamily="34" charset="0"/>
                <a:ea typeface="Arial" pitchFamily="34" charset="-122"/>
                <a:cs typeface="Arial" pitchFamily="34" charset="-120"/>
              </a:rPr>
              <a:t>— MCRAI composite, BIR zonal, spatial lag </a:t>
            </a:r>
            <a:r>
              <a:rPr lang="en-US" sz="1650" b="1" dirty="0">
                <a:solidFill>
                  <a:srgbClr val="1E2530"/>
                </a:solidFill>
                <a:latin typeface="Arial" pitchFamily="34" charset="0"/>
                <a:ea typeface="Arial" pitchFamily="34" charset="-122"/>
                <a:cs typeface="Arial" pitchFamily="34" charset="-120"/>
              </a:rPr>
              <a:t>City indicators (5) Sub-type (3) </a:t>
            </a:r>
            <a:r>
              <a:rPr lang="en-US" sz="1650" dirty="0">
                <a:solidFill>
                  <a:srgbClr val="1E2530"/>
                </a:solidFill>
                <a:latin typeface="Arial" pitchFamily="34" charset="0"/>
                <a:ea typeface="Arial" pitchFamily="34" charset="-122"/>
                <a:cs typeface="Arial" pitchFamily="34" charset="-120"/>
              </a:rPr>
              <a:t>— House &amp; Lot, Single Detached, Townhouse</a:t>
            </a:r>
            <a:endParaRPr lang="en-US" sz="1650" dirty="0"/>
          </a:p>
        </p:txBody>
      </p:sp>
      <p:sp>
        <p:nvSpPr>
          <p:cNvPr id="20" name="Shape 18"/>
          <p:cNvSpPr/>
          <p:nvPr/>
        </p:nvSpPr>
        <p:spPr>
          <a:xfrm>
            <a:off x="12099950" y="1953518"/>
            <a:ext cx="5340325" cy="6811417"/>
          </a:xfrm>
          <a:prstGeom prst="roundRect">
            <a:avLst>
              <a:gd name="adj" fmla="val 1427"/>
            </a:avLst>
          </a:prstGeom>
          <a:solidFill>
            <a:srgbClr val="FFFFFF"/>
          </a:solidFill>
          <a:ln/>
        </p:spPr>
        <p:txBody>
          <a:bodyPr/>
          <a:lstStyle/>
          <a:p>
            <a:endParaRPr lang="en-US"/>
          </a:p>
        </p:txBody>
      </p:sp>
      <p:sp>
        <p:nvSpPr>
          <p:cNvPr id="21" name="Shape 19"/>
          <p:cNvSpPr/>
          <p:nvPr/>
        </p:nvSpPr>
        <p:spPr>
          <a:xfrm>
            <a:off x="12099950" y="8755410"/>
            <a:ext cx="5340325" cy="9525"/>
          </a:xfrm>
          <a:prstGeom prst="rect">
            <a:avLst/>
          </a:prstGeom>
          <a:solidFill>
            <a:srgbClr val="DCE2E9"/>
          </a:solidFill>
          <a:ln/>
        </p:spPr>
        <p:txBody>
          <a:bodyPr/>
          <a:lstStyle/>
          <a:p>
            <a:endParaRPr lang="en-US"/>
          </a:p>
        </p:txBody>
      </p:sp>
      <p:sp>
        <p:nvSpPr>
          <p:cNvPr id="22" name="Shape 20"/>
          <p:cNvSpPr/>
          <p:nvPr/>
        </p:nvSpPr>
        <p:spPr>
          <a:xfrm>
            <a:off x="12099950" y="1953518"/>
            <a:ext cx="5340325" cy="57150"/>
          </a:xfrm>
          <a:prstGeom prst="rect">
            <a:avLst/>
          </a:prstGeom>
          <a:solidFill>
            <a:srgbClr val="33455E"/>
          </a:solidFill>
          <a:ln/>
        </p:spPr>
        <p:txBody>
          <a:bodyPr/>
          <a:lstStyle/>
          <a:p>
            <a:endParaRPr lang="en-US"/>
          </a:p>
        </p:txBody>
      </p:sp>
      <p:sp>
        <p:nvSpPr>
          <p:cNvPr id="23" name="Shape 21"/>
          <p:cNvSpPr/>
          <p:nvPr/>
        </p:nvSpPr>
        <p:spPr>
          <a:xfrm>
            <a:off x="12099950" y="1953518"/>
            <a:ext cx="9525" cy="6811417"/>
          </a:xfrm>
          <a:prstGeom prst="rect">
            <a:avLst/>
          </a:prstGeom>
          <a:solidFill>
            <a:srgbClr val="DCE2E9"/>
          </a:solidFill>
          <a:ln/>
        </p:spPr>
        <p:txBody>
          <a:bodyPr/>
          <a:lstStyle/>
          <a:p>
            <a:endParaRPr lang="en-US"/>
          </a:p>
        </p:txBody>
      </p:sp>
      <p:sp>
        <p:nvSpPr>
          <p:cNvPr id="24" name="Shape 22"/>
          <p:cNvSpPr/>
          <p:nvPr/>
        </p:nvSpPr>
        <p:spPr>
          <a:xfrm>
            <a:off x="17430750" y="1953518"/>
            <a:ext cx="9525" cy="6811417"/>
          </a:xfrm>
          <a:prstGeom prst="rect">
            <a:avLst/>
          </a:prstGeom>
          <a:solidFill>
            <a:srgbClr val="DCE2E9"/>
          </a:solidFill>
          <a:ln/>
        </p:spPr>
        <p:txBody>
          <a:bodyPr/>
          <a:lstStyle/>
          <a:p>
            <a:endParaRPr lang="en-US"/>
          </a:p>
        </p:txBody>
      </p:sp>
      <p:sp>
        <p:nvSpPr>
          <p:cNvPr id="25" name="Text 23"/>
          <p:cNvSpPr/>
          <p:nvPr/>
        </p:nvSpPr>
        <p:spPr>
          <a:xfrm>
            <a:off x="12319025" y="2182118"/>
            <a:ext cx="5392393" cy="366713"/>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33455E"/>
                </a:solidFill>
                <a:latin typeface="Arial" pitchFamily="34" charset="0"/>
                <a:ea typeface="Arial" pitchFamily="34" charset="-122"/>
                <a:cs typeface="Arial" pitchFamily="34" charset="-120"/>
              </a:rPr>
              <a:t>Vacant Lot </a:t>
            </a:r>
            <a:r>
              <a:rPr lang="en-US" sz="2250" dirty="0">
                <a:solidFill>
                  <a:srgbClr val="6E7686"/>
                </a:solidFill>
                <a:latin typeface="Arial" pitchFamily="34" charset="0"/>
                <a:ea typeface="Arial" pitchFamily="34" charset="-122"/>
                <a:cs typeface="Arial" pitchFamily="34" charset="-120"/>
              </a:rPr>
              <a:t>· 22</a:t>
            </a:r>
            <a:endParaRPr lang="en-US" sz="2250" dirty="0"/>
          </a:p>
        </p:txBody>
      </p:sp>
      <p:sp>
        <p:nvSpPr>
          <p:cNvPr id="26" name="Text 24"/>
          <p:cNvSpPr/>
          <p:nvPr/>
        </p:nvSpPr>
        <p:spPr>
          <a:xfrm>
            <a:off x="12319025" y="2605980"/>
            <a:ext cx="5049240" cy="1924050"/>
          </a:xfrm>
          <a:prstGeom prst="rect">
            <a:avLst/>
          </a:prstGeom>
          <a:noFill/>
          <a:ln/>
        </p:spPr>
        <p:txBody>
          <a:bodyPr wrap="square" lIns="25400" tIns="25400" rIns="25400" bIns="25400" rtlCol="0" anchor="t">
            <a:normAutofit/>
          </a:bodyPr>
          <a:lstStyle/>
          <a:p>
            <a:pPr marL="0" indent="0" algn="l">
              <a:lnSpc>
                <a:spcPct val="150000"/>
              </a:lnSpc>
              <a:buNone/>
            </a:pPr>
            <a:r>
              <a:rPr lang="en-US" sz="1650" b="1" dirty="0">
                <a:solidFill>
                  <a:srgbClr val="1E2530"/>
                </a:solidFill>
                <a:latin typeface="Arial" pitchFamily="34" charset="0"/>
                <a:ea typeface="Arial" pitchFamily="34" charset="-122"/>
                <a:cs typeface="Arial" pitchFamily="34" charset="-120"/>
              </a:rPr>
              <a:t>Structural </a:t>
            </a:r>
            <a:r>
              <a:rPr lang="en-US" sz="1650" dirty="0">
                <a:solidFill>
                  <a:srgbClr val="1E2530"/>
                </a:solidFill>
                <a:latin typeface="Arial" pitchFamily="34" charset="0"/>
                <a:ea typeface="Arial" pitchFamily="34" charset="-122"/>
                <a:cs typeface="Arial" pitchFamily="34" charset="-120"/>
              </a:rPr>
              <a:t>— area </a:t>
            </a:r>
            <a:r>
              <a:rPr lang="en-US" sz="1650" b="1" dirty="0">
                <a:solidFill>
                  <a:srgbClr val="1E2530"/>
                </a:solidFill>
                <a:latin typeface="Arial" pitchFamily="34" charset="0"/>
                <a:ea typeface="Arial" pitchFamily="34" charset="-122"/>
                <a:cs typeface="Arial" pitchFamily="34" charset="-120"/>
              </a:rPr>
              <a:t>CBD distances (8) </a:t>
            </a:r>
            <a:r>
              <a:rPr lang="en-US" sz="1650" dirty="0">
                <a:solidFill>
                  <a:srgbClr val="1E2530"/>
                </a:solidFill>
                <a:latin typeface="Arial" pitchFamily="34" charset="0"/>
                <a:ea typeface="Arial" pitchFamily="34" charset="-122"/>
                <a:cs typeface="Arial" pitchFamily="34" charset="-120"/>
              </a:rPr>
              <a:t>— full node set </a:t>
            </a:r>
            <a:r>
              <a:rPr lang="en-US" sz="1650" b="1" dirty="0">
                <a:solidFill>
                  <a:srgbClr val="1E2530"/>
                </a:solidFill>
                <a:latin typeface="Arial" pitchFamily="34" charset="0"/>
                <a:ea typeface="Arial" pitchFamily="34" charset="-122"/>
                <a:cs typeface="Arial" pitchFamily="34" charset="-120"/>
              </a:rPr>
              <a:t>MCRAI individual (6) </a:t>
            </a:r>
            <a:r>
              <a:rPr lang="en-US" sz="1650" dirty="0">
                <a:solidFill>
                  <a:srgbClr val="1E2530"/>
                </a:solidFill>
                <a:latin typeface="Arial" pitchFamily="34" charset="0"/>
                <a:ea typeface="Arial" pitchFamily="34" charset="-122"/>
                <a:cs typeface="Arial" pitchFamily="34" charset="-120"/>
              </a:rPr>
              <a:t>— education, grocery, health, hospitals, recreation, tourism </a:t>
            </a:r>
            <a:r>
              <a:rPr lang="en-US" sz="1650" b="1" dirty="0">
                <a:solidFill>
                  <a:srgbClr val="1E2530"/>
                </a:solidFill>
                <a:latin typeface="Arial" pitchFamily="34" charset="0"/>
                <a:ea typeface="Arial" pitchFamily="34" charset="-122"/>
                <a:cs typeface="Arial" pitchFamily="34" charset="-120"/>
              </a:rPr>
              <a:t>Benchmark </a:t>
            </a:r>
            <a:r>
              <a:rPr lang="en-US" sz="1650" dirty="0">
                <a:solidFill>
                  <a:srgbClr val="1E2530"/>
                </a:solidFill>
                <a:latin typeface="Arial" pitchFamily="34" charset="0"/>
                <a:ea typeface="Arial" pitchFamily="34" charset="-122"/>
                <a:cs typeface="Arial" pitchFamily="34" charset="-120"/>
              </a:rPr>
              <a:t>— BIR zonal, spatial lag </a:t>
            </a:r>
            <a:r>
              <a:rPr lang="en-US" sz="1650" b="1" dirty="0">
                <a:solidFill>
                  <a:srgbClr val="1E2530"/>
                </a:solidFill>
                <a:latin typeface="Arial" pitchFamily="34" charset="0"/>
                <a:ea typeface="Arial" pitchFamily="34" charset="-122"/>
                <a:cs typeface="Arial" pitchFamily="34" charset="-120"/>
              </a:rPr>
              <a:t>City indicators (5)</a:t>
            </a:r>
            <a:endParaRPr lang="en-US" sz="1650" dirty="0"/>
          </a:p>
        </p:txBody>
      </p:sp>
      <p:sp>
        <p:nvSpPr>
          <p:cNvPr id="27" name="Shape 25"/>
          <p:cNvSpPr/>
          <p:nvPr/>
        </p:nvSpPr>
        <p:spPr>
          <a:xfrm>
            <a:off x="847725" y="8917335"/>
            <a:ext cx="16592550" cy="836265"/>
          </a:xfrm>
          <a:prstGeom prst="rect">
            <a:avLst/>
          </a:prstGeom>
          <a:solidFill>
            <a:srgbClr val="EAEEF3"/>
          </a:solidFill>
          <a:ln/>
        </p:spPr>
        <p:txBody>
          <a:bodyPr/>
          <a:lstStyle/>
          <a:p>
            <a:endParaRPr lang="en-US"/>
          </a:p>
        </p:txBody>
      </p:sp>
      <p:sp>
        <p:nvSpPr>
          <p:cNvPr id="28" name="Shape 26"/>
          <p:cNvSpPr/>
          <p:nvPr/>
        </p:nvSpPr>
        <p:spPr>
          <a:xfrm>
            <a:off x="847725" y="8917335"/>
            <a:ext cx="76200" cy="836265"/>
          </a:xfrm>
          <a:prstGeom prst="rect">
            <a:avLst/>
          </a:prstGeom>
          <a:solidFill>
            <a:srgbClr val="33455E"/>
          </a:solidFill>
          <a:ln/>
        </p:spPr>
        <p:txBody>
          <a:bodyPr/>
          <a:lstStyle/>
          <a:p>
            <a:endParaRPr lang="en-US"/>
          </a:p>
        </p:txBody>
      </p:sp>
      <p:sp>
        <p:nvSpPr>
          <p:cNvPr id="29" name="Text 27"/>
          <p:cNvSpPr/>
          <p:nvPr/>
        </p:nvSpPr>
        <p:spPr>
          <a:xfrm>
            <a:off x="1133475" y="9050685"/>
            <a:ext cx="16595026" cy="607665"/>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725" b="1" dirty="0">
                <a:solidFill>
                  <a:srgbClr val="5B7A99"/>
                </a:solidFill>
                <a:latin typeface="Arial" pitchFamily="34" charset="0"/>
                <a:ea typeface="Arial" pitchFamily="34" charset="-122"/>
                <a:cs typeface="Arial" pitchFamily="34" charset="-120"/>
              </a:rPr>
              <a:t>COLLINEARITY </a:t>
            </a:r>
            <a:r>
              <a:rPr lang="en-US" sz="1725" dirty="0">
                <a:solidFill>
                  <a:srgbClr val="1E2530"/>
                </a:solidFill>
                <a:highlight>
                  <a:srgbClr val="EAEEF3"/>
                </a:highlight>
                <a:latin typeface="Arial" pitchFamily="34" charset="0"/>
                <a:ea typeface="Arial" pitchFamily="34" charset="-122"/>
                <a:cs typeface="Arial" pitchFamily="34" charset="-120"/>
              </a:rPr>
              <a:t>CBD nodes cluster (VIF&gt;5) → kept in trees, OLS trims redundant terms. MCRAI composite blends its parts → dropped in OLS, kept for trees/SHAP. Residual spread rises with price → OLS uses HC3; trees unaffected.</a:t>
            </a:r>
            <a:endParaRPr lang="en-US" sz="1725" dirty="0"/>
          </a:p>
        </p:txBody>
      </p:sp>
    </p:spTree>
    <p:extLst>
      <p:ext uri="{BB962C8B-B14F-4D97-AF65-F5344CB8AC3E}">
        <p14:creationId xmlns:p14="http://schemas.microsoft.com/office/powerpoint/2010/main" val="17659017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4">
    <p:bg>
      <p:bgPr>
        <a:solidFill>
          <a:srgbClr val="FAFBFC"/>
        </a:solidFill>
        <a:effectLst/>
      </p:bgPr>
    </p:bg>
    <p:spTree>
      <p:nvGrpSpPr>
        <p:cNvPr id="1" name=""/>
        <p:cNvGrpSpPr/>
        <p:nvPr/>
      </p:nvGrpSpPr>
      <p:grpSpPr>
        <a:xfrm>
          <a:off x="0" y="0"/>
          <a:ext cx="0" cy="0"/>
          <a:chOff x="0" y="0"/>
          <a:chExt cx="0" cy="0"/>
        </a:xfrm>
      </p:grpSpPr>
      <p:sp>
        <p:nvSpPr>
          <p:cNvPr id="2" name="Text 0"/>
          <p:cNvSpPr/>
          <p:nvPr/>
        </p:nvSpPr>
        <p:spPr>
          <a:xfrm>
            <a:off x="847725" y="552450"/>
            <a:ext cx="2145596" cy="347663"/>
          </a:xfrm>
          <a:prstGeom prst="rect">
            <a:avLst/>
          </a:prstGeom>
          <a:noFill/>
          <a:ln/>
        </p:spPr>
        <p:txBody>
          <a:bodyPr wrap="square" lIns="25400" tIns="25400" rIns="25400" bIns="25400" rtlCol="0" anchor="t">
            <a:normAutofit lnSpcReduction="10000"/>
          </a:bodyPr>
          <a:lstStyle/>
          <a:p>
            <a:pPr marL="0" indent="0" algn="l">
              <a:buNone/>
            </a:pPr>
            <a:r>
              <a:rPr lang="en-US" sz="2100" b="1" kern="0" spc="84" dirty="0">
                <a:solidFill>
                  <a:srgbClr val="33455E"/>
                </a:solidFill>
                <a:latin typeface="Arial" pitchFamily="34" charset="0"/>
                <a:ea typeface="Arial" pitchFamily="34" charset="-122"/>
                <a:cs typeface="Arial" pitchFamily="34" charset="-120"/>
              </a:rPr>
              <a:t>6 · MODELING</a:t>
            </a:r>
            <a:endParaRPr lang="en-US" sz="2100" dirty="0"/>
          </a:p>
        </p:txBody>
      </p:sp>
      <p:sp>
        <p:nvSpPr>
          <p:cNvPr id="3" name="Text 1"/>
          <p:cNvSpPr/>
          <p:nvPr/>
        </p:nvSpPr>
        <p:spPr>
          <a:xfrm>
            <a:off x="16712059" y="552450"/>
            <a:ext cx="804416" cy="314325"/>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6E7686"/>
                </a:solidFill>
                <a:latin typeface="Arial" pitchFamily="34" charset="0"/>
                <a:ea typeface="Arial" pitchFamily="34" charset="-122"/>
                <a:cs typeface="Arial" pitchFamily="34" charset="-120"/>
              </a:rPr>
              <a:t>24 / 40</a:t>
            </a:r>
            <a:endParaRPr lang="en-US" sz="1875" dirty="0"/>
          </a:p>
        </p:txBody>
      </p:sp>
      <p:sp>
        <p:nvSpPr>
          <p:cNvPr id="4" name="Shape 2"/>
          <p:cNvSpPr/>
          <p:nvPr/>
        </p:nvSpPr>
        <p:spPr>
          <a:xfrm>
            <a:off x="847725" y="985838"/>
            <a:ext cx="16592550" cy="28575"/>
          </a:xfrm>
          <a:prstGeom prst="rect">
            <a:avLst/>
          </a:prstGeom>
          <a:solidFill>
            <a:srgbClr val="33455E"/>
          </a:solidFill>
          <a:ln/>
        </p:spPr>
        <p:txBody>
          <a:bodyPr/>
          <a:lstStyle/>
          <a:p>
            <a:endParaRPr lang="en-US"/>
          </a:p>
        </p:txBody>
      </p:sp>
      <p:sp>
        <p:nvSpPr>
          <p:cNvPr id="5" name="Text 3"/>
          <p:cNvSpPr/>
          <p:nvPr/>
        </p:nvSpPr>
        <p:spPr>
          <a:xfrm>
            <a:off x="847725" y="1243013"/>
            <a:ext cx="18251805" cy="55810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3900" b="1" dirty="0">
                <a:solidFill>
                  <a:srgbClr val="1E2530"/>
                </a:solidFill>
                <a:latin typeface="Arial" pitchFamily="34" charset="0"/>
                <a:ea typeface="Arial" pitchFamily="34" charset="-122"/>
                <a:cs typeface="Arial" pitchFamily="34" charset="-120"/>
              </a:rPr>
              <a:t>The model lineup — and tuning</a:t>
            </a:r>
            <a:endParaRPr lang="en-US" sz="3900" dirty="0"/>
          </a:p>
        </p:txBody>
      </p:sp>
      <p:sp>
        <p:nvSpPr>
          <p:cNvPr id="6" name="Text 4"/>
          <p:cNvSpPr/>
          <p:nvPr/>
        </p:nvSpPr>
        <p:spPr>
          <a:xfrm>
            <a:off x="847725" y="1934468"/>
            <a:ext cx="8843010" cy="333375"/>
          </a:xfrm>
          <a:prstGeom prst="rect">
            <a:avLst/>
          </a:prstGeom>
          <a:noFill/>
          <a:ln/>
        </p:spPr>
        <p:txBody>
          <a:bodyPr wrap="square" lIns="25400" tIns="25400" rIns="25400" bIns="25400" rtlCol="0" anchor="t">
            <a:normAutofit lnSpcReduction="10000"/>
          </a:bodyPr>
          <a:lstStyle/>
          <a:p>
            <a:pPr marL="0" indent="0" algn="l">
              <a:buNone/>
            </a:pPr>
            <a:r>
              <a:rPr lang="en-US" sz="2025" b="1" dirty="0">
                <a:solidFill>
                  <a:srgbClr val="33455E"/>
                </a:solidFill>
                <a:latin typeface="Arial" pitchFamily="34" charset="0"/>
                <a:ea typeface="Arial" pitchFamily="34" charset="-122"/>
                <a:cs typeface="Arial" pitchFamily="34" charset="-120"/>
              </a:rPr>
              <a:t>The lineup — all fit per stratum on log price/m²</a:t>
            </a:r>
            <a:endParaRPr lang="en-US" sz="2025" dirty="0"/>
          </a:p>
        </p:txBody>
      </p:sp>
      <p:sp>
        <p:nvSpPr>
          <p:cNvPr id="7" name="Text 5"/>
          <p:cNvSpPr/>
          <p:nvPr/>
        </p:nvSpPr>
        <p:spPr>
          <a:xfrm>
            <a:off x="847725" y="2439293"/>
            <a:ext cx="15723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b="1" dirty="0">
                <a:solidFill>
                  <a:srgbClr val="33455E"/>
                </a:solidFill>
                <a:latin typeface="Arial" pitchFamily="34" charset="0"/>
                <a:ea typeface="Arial" pitchFamily="34" charset="-122"/>
                <a:cs typeface="Arial" pitchFamily="34" charset="-120"/>
              </a:rPr>
              <a:t>▪</a:t>
            </a:r>
            <a:endParaRPr lang="en-US" sz="1800" dirty="0"/>
          </a:p>
        </p:txBody>
      </p:sp>
      <p:sp>
        <p:nvSpPr>
          <p:cNvPr id="8" name="Text 6"/>
          <p:cNvSpPr/>
          <p:nvPr/>
        </p:nvSpPr>
        <p:spPr>
          <a:xfrm>
            <a:off x="1062112" y="2382143"/>
            <a:ext cx="8059454" cy="817513"/>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2325" b="1" dirty="0">
                <a:solidFill>
                  <a:srgbClr val="33455E"/>
                </a:solidFill>
                <a:latin typeface="Arial" pitchFamily="34" charset="0"/>
                <a:ea typeface="Arial" pitchFamily="34" charset="-122"/>
                <a:cs typeface="Arial" pitchFamily="34" charset="-120"/>
              </a:rPr>
              <a:t>OLS hedonic </a:t>
            </a:r>
            <a:r>
              <a:rPr lang="en-US" sz="2325" dirty="0">
                <a:solidFill>
                  <a:srgbClr val="1E2530"/>
                </a:solidFill>
                <a:latin typeface="Arial" pitchFamily="34" charset="0"/>
                <a:ea typeface="Arial" pitchFamily="34" charset="-122"/>
                <a:cs typeface="Arial" pitchFamily="34" charset="-120"/>
              </a:rPr>
              <a:t>— interpretable baseline (HC3 robust errors). </a:t>
            </a:r>
            <a:r>
              <a:rPr lang="en-US" sz="2325" i="1" dirty="0">
                <a:solidFill>
                  <a:srgbClr val="979FAD"/>
                </a:solidFill>
                <a:latin typeface="Arial" pitchFamily="34" charset="0"/>
                <a:ea typeface="Arial" pitchFamily="34" charset="-122"/>
                <a:cs typeface="Arial" pitchFamily="34" charset="-120"/>
              </a:rPr>
              <a:t>(Rosen, 1974)</a:t>
            </a:r>
            <a:endParaRPr lang="en-US" sz="2325" dirty="0"/>
          </a:p>
        </p:txBody>
      </p:sp>
      <p:sp>
        <p:nvSpPr>
          <p:cNvPr id="9" name="Text 7"/>
          <p:cNvSpPr/>
          <p:nvPr/>
        </p:nvSpPr>
        <p:spPr>
          <a:xfrm>
            <a:off x="847725" y="3371106"/>
            <a:ext cx="15723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b="1" dirty="0">
                <a:solidFill>
                  <a:srgbClr val="33455E"/>
                </a:solidFill>
                <a:latin typeface="Arial" pitchFamily="34" charset="0"/>
                <a:ea typeface="Arial" pitchFamily="34" charset="-122"/>
                <a:cs typeface="Arial" pitchFamily="34" charset="-120"/>
              </a:rPr>
              <a:t>▪</a:t>
            </a:r>
            <a:endParaRPr lang="en-US" sz="1800" dirty="0"/>
          </a:p>
        </p:txBody>
      </p:sp>
      <p:sp>
        <p:nvSpPr>
          <p:cNvPr id="10" name="Text 8"/>
          <p:cNvSpPr/>
          <p:nvPr/>
        </p:nvSpPr>
        <p:spPr>
          <a:xfrm>
            <a:off x="1062112" y="3313956"/>
            <a:ext cx="8059454" cy="817513"/>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2325" b="1" dirty="0">
                <a:solidFill>
                  <a:srgbClr val="33455E"/>
                </a:solidFill>
                <a:latin typeface="Arial" pitchFamily="34" charset="0"/>
                <a:ea typeface="Arial" pitchFamily="34" charset="-122"/>
                <a:cs typeface="Arial" pitchFamily="34" charset="-120"/>
              </a:rPr>
              <a:t>Random Forest </a:t>
            </a:r>
            <a:r>
              <a:rPr lang="en-US" sz="2325" dirty="0">
                <a:solidFill>
                  <a:srgbClr val="1E2530"/>
                </a:solidFill>
                <a:latin typeface="Arial" pitchFamily="34" charset="0"/>
                <a:ea typeface="Arial" pitchFamily="34" charset="-122"/>
                <a:cs typeface="Arial" pitchFamily="34" charset="-120"/>
              </a:rPr>
              <a:t>— non-linear, robust on small samples. </a:t>
            </a:r>
            <a:r>
              <a:rPr lang="en-US" sz="2325" i="1" dirty="0">
                <a:solidFill>
                  <a:srgbClr val="979FAD"/>
                </a:solidFill>
                <a:latin typeface="Arial" pitchFamily="34" charset="0"/>
                <a:ea typeface="Arial" pitchFamily="34" charset="-122"/>
                <a:cs typeface="Arial" pitchFamily="34" charset="-120"/>
              </a:rPr>
              <a:t>(Breiman, 2001)</a:t>
            </a:r>
            <a:endParaRPr lang="en-US" sz="2325" dirty="0"/>
          </a:p>
        </p:txBody>
      </p:sp>
      <p:sp>
        <p:nvSpPr>
          <p:cNvPr id="11" name="Text 9"/>
          <p:cNvSpPr/>
          <p:nvPr/>
        </p:nvSpPr>
        <p:spPr>
          <a:xfrm>
            <a:off x="847725" y="4302919"/>
            <a:ext cx="15723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b="1" dirty="0">
                <a:solidFill>
                  <a:srgbClr val="33455E"/>
                </a:solidFill>
                <a:latin typeface="Arial" pitchFamily="34" charset="0"/>
                <a:ea typeface="Arial" pitchFamily="34" charset="-122"/>
                <a:cs typeface="Arial" pitchFamily="34" charset="-120"/>
              </a:rPr>
              <a:t>▪</a:t>
            </a:r>
            <a:endParaRPr lang="en-US" sz="1800" dirty="0"/>
          </a:p>
        </p:txBody>
      </p:sp>
      <p:sp>
        <p:nvSpPr>
          <p:cNvPr id="12" name="Text 10"/>
          <p:cNvSpPr/>
          <p:nvPr/>
        </p:nvSpPr>
        <p:spPr>
          <a:xfrm>
            <a:off x="1062112" y="4245769"/>
            <a:ext cx="8059454" cy="817513"/>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2325" b="1" dirty="0">
                <a:solidFill>
                  <a:srgbClr val="33455E"/>
                </a:solidFill>
                <a:latin typeface="Arial" pitchFamily="34" charset="0"/>
                <a:ea typeface="Arial" pitchFamily="34" charset="-122"/>
                <a:cs typeface="Arial" pitchFamily="34" charset="-120"/>
              </a:rPr>
              <a:t>XGBoost </a:t>
            </a:r>
            <a:r>
              <a:rPr lang="en-US" sz="2325" dirty="0">
                <a:solidFill>
                  <a:srgbClr val="1E2530"/>
                </a:solidFill>
                <a:latin typeface="Arial" pitchFamily="34" charset="0"/>
                <a:ea typeface="Arial" pitchFamily="34" charset="-122"/>
                <a:cs typeface="Arial" pitchFamily="34" charset="-120"/>
              </a:rPr>
              <a:t>— gradient boosting on tabular data. </a:t>
            </a:r>
            <a:r>
              <a:rPr lang="en-US" sz="2325" i="1" dirty="0">
                <a:solidFill>
                  <a:srgbClr val="979FAD"/>
                </a:solidFill>
                <a:latin typeface="Arial" pitchFamily="34" charset="0"/>
                <a:ea typeface="Arial" pitchFamily="34" charset="-122"/>
                <a:cs typeface="Arial" pitchFamily="34" charset="-120"/>
              </a:rPr>
              <a:t>(Chen &amp; Guestrin, 2016)</a:t>
            </a:r>
            <a:endParaRPr lang="en-US" sz="2325" dirty="0"/>
          </a:p>
        </p:txBody>
      </p:sp>
      <p:sp>
        <p:nvSpPr>
          <p:cNvPr id="13" name="Text 11"/>
          <p:cNvSpPr/>
          <p:nvPr/>
        </p:nvSpPr>
        <p:spPr>
          <a:xfrm>
            <a:off x="847725" y="5234732"/>
            <a:ext cx="15723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b="1" dirty="0">
                <a:solidFill>
                  <a:srgbClr val="33455E"/>
                </a:solidFill>
                <a:latin typeface="Arial" pitchFamily="34" charset="0"/>
                <a:ea typeface="Arial" pitchFamily="34" charset="-122"/>
                <a:cs typeface="Arial" pitchFamily="34" charset="-120"/>
              </a:rPr>
              <a:t>▪</a:t>
            </a:r>
            <a:endParaRPr lang="en-US" sz="1800" dirty="0"/>
          </a:p>
        </p:txBody>
      </p:sp>
      <p:sp>
        <p:nvSpPr>
          <p:cNvPr id="14" name="Text 12"/>
          <p:cNvSpPr/>
          <p:nvPr/>
        </p:nvSpPr>
        <p:spPr>
          <a:xfrm>
            <a:off x="1062112" y="5177582"/>
            <a:ext cx="8059454" cy="817513"/>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2325" b="1" dirty="0">
                <a:solidFill>
                  <a:srgbClr val="33455E"/>
                </a:solidFill>
                <a:latin typeface="Arial" pitchFamily="34" charset="0"/>
                <a:ea typeface="Arial" pitchFamily="34" charset="-122"/>
                <a:cs typeface="Arial" pitchFamily="34" charset="-120"/>
              </a:rPr>
              <a:t>SHAP </a:t>
            </a:r>
            <a:r>
              <a:rPr lang="en-US" sz="2325" dirty="0">
                <a:solidFill>
                  <a:srgbClr val="1E2530"/>
                </a:solidFill>
                <a:latin typeface="Arial" pitchFamily="34" charset="0"/>
                <a:ea typeface="Arial" pitchFamily="34" charset="-122"/>
                <a:cs typeface="Arial" pitchFamily="34" charset="-120"/>
              </a:rPr>
              <a:t>explains every prediction, feature by feature. </a:t>
            </a:r>
            <a:r>
              <a:rPr lang="en-US" sz="2325" i="1" dirty="0">
                <a:solidFill>
                  <a:srgbClr val="979FAD"/>
                </a:solidFill>
                <a:latin typeface="Arial" pitchFamily="34" charset="0"/>
                <a:ea typeface="Arial" pitchFamily="34" charset="-122"/>
                <a:cs typeface="Arial" pitchFamily="34" charset="-120"/>
              </a:rPr>
              <a:t>(Lundberg &amp; Lee, 2017)</a:t>
            </a:r>
            <a:endParaRPr lang="en-US" sz="2325" dirty="0"/>
          </a:p>
        </p:txBody>
      </p:sp>
      <p:sp>
        <p:nvSpPr>
          <p:cNvPr id="15" name="Text 13"/>
          <p:cNvSpPr/>
          <p:nvPr/>
        </p:nvSpPr>
        <p:spPr>
          <a:xfrm>
            <a:off x="847725" y="6128445"/>
            <a:ext cx="8843010" cy="333375"/>
          </a:xfrm>
          <a:prstGeom prst="rect">
            <a:avLst/>
          </a:prstGeom>
          <a:noFill/>
          <a:ln/>
        </p:spPr>
        <p:txBody>
          <a:bodyPr wrap="square" lIns="25400" tIns="25400" rIns="25400" bIns="25400" rtlCol="0" anchor="t">
            <a:normAutofit lnSpcReduction="10000"/>
          </a:bodyPr>
          <a:lstStyle/>
          <a:p>
            <a:pPr marL="0" indent="0" algn="l">
              <a:buNone/>
            </a:pPr>
            <a:r>
              <a:rPr lang="en-US" sz="2025" b="1" dirty="0">
                <a:solidFill>
                  <a:srgbClr val="33455E"/>
                </a:solidFill>
                <a:latin typeface="Arial" pitchFamily="34" charset="0"/>
                <a:ea typeface="Arial" pitchFamily="34" charset="-122"/>
                <a:cs typeface="Arial" pitchFamily="34" charset="-120"/>
              </a:rPr>
              <a:t>Why these three</a:t>
            </a:r>
            <a:endParaRPr lang="en-US" sz="2025" dirty="0"/>
          </a:p>
        </p:txBody>
      </p:sp>
      <p:sp>
        <p:nvSpPr>
          <p:cNvPr id="16" name="Text 14"/>
          <p:cNvSpPr/>
          <p:nvPr/>
        </p:nvSpPr>
        <p:spPr>
          <a:xfrm>
            <a:off x="847725" y="6480870"/>
            <a:ext cx="8280273" cy="966788"/>
          </a:xfrm>
          <a:prstGeom prst="rect">
            <a:avLst/>
          </a:prstGeom>
          <a:noFill/>
          <a:ln/>
        </p:spPr>
        <p:txBody>
          <a:bodyPr wrap="square" lIns="25400" tIns="25400" rIns="25400" bIns="25400" rtlCol="0" anchor="t">
            <a:normAutofit fontScale="92500"/>
          </a:bodyPr>
          <a:lstStyle/>
          <a:p>
            <a:pPr marL="0" indent="0" algn="l">
              <a:lnSpc>
                <a:spcPct val="130000"/>
              </a:lnSpc>
              <a:buNone/>
            </a:pPr>
            <a:r>
              <a:rPr lang="en-US" sz="1875" dirty="0">
                <a:solidFill>
                  <a:srgbClr val="1E2530"/>
                </a:solidFill>
                <a:latin typeface="Arial" pitchFamily="34" charset="0"/>
                <a:ea typeface="Arial" pitchFamily="34" charset="-122"/>
                <a:cs typeface="Arial" pitchFamily="34" charset="-120"/>
              </a:rPr>
              <a:t>Set aside for clear reasons: </a:t>
            </a:r>
            <a:r>
              <a:rPr lang="en-US" sz="1875" b="1" dirty="0">
                <a:solidFill>
                  <a:srgbClr val="1E2530"/>
                </a:solidFill>
                <a:latin typeface="Arial" pitchFamily="34" charset="0"/>
                <a:ea typeface="Arial" pitchFamily="34" charset="-122"/>
                <a:cs typeface="Arial" pitchFamily="34" charset="-120"/>
              </a:rPr>
              <a:t>SVR </a:t>
            </a:r>
            <a:r>
              <a:rPr lang="en-US" sz="1875" dirty="0">
                <a:solidFill>
                  <a:srgbClr val="1E2530"/>
                </a:solidFill>
                <a:latin typeface="Arial" pitchFamily="34" charset="0"/>
                <a:ea typeface="Arial" pitchFamily="34" charset="-122"/>
                <a:cs typeface="Arial" pitchFamily="34" charset="-120"/>
              </a:rPr>
              <a:t>(costly to tune, weak interpretability), </a:t>
            </a:r>
            <a:r>
              <a:rPr lang="en-US" sz="1875" b="1" dirty="0">
                <a:solidFill>
                  <a:srgbClr val="1E2530"/>
                </a:solidFill>
                <a:latin typeface="Arial" pitchFamily="34" charset="0"/>
                <a:ea typeface="Arial" pitchFamily="34" charset="-122"/>
                <a:cs typeface="Arial" pitchFamily="34" charset="-120"/>
              </a:rPr>
              <a:t>LASSO/Ridge </a:t>
            </a:r>
            <a:r>
              <a:rPr lang="en-US" sz="1875" dirty="0">
                <a:solidFill>
                  <a:srgbClr val="1E2530"/>
                </a:solidFill>
                <a:latin typeface="Arial" pitchFamily="34" charset="0"/>
                <a:ea typeface="Arial" pitchFamily="34" charset="-122"/>
                <a:cs typeface="Arial" pitchFamily="34" charset="-120"/>
              </a:rPr>
              <a:t>(subsumed by OLS), </a:t>
            </a:r>
            <a:r>
              <a:rPr lang="en-US" sz="1875" b="1" dirty="0">
                <a:solidFill>
                  <a:srgbClr val="1E2530"/>
                </a:solidFill>
                <a:latin typeface="Arial" pitchFamily="34" charset="0"/>
                <a:ea typeface="Arial" pitchFamily="34" charset="-122"/>
                <a:cs typeface="Arial" pitchFamily="34" charset="-120"/>
              </a:rPr>
              <a:t>Deep nets </a:t>
            </a:r>
            <a:r>
              <a:rPr lang="en-US" sz="1875" dirty="0">
                <a:solidFill>
                  <a:srgbClr val="1E2530"/>
                </a:solidFill>
                <a:latin typeface="Arial" pitchFamily="34" charset="0"/>
                <a:ea typeface="Arial" pitchFamily="34" charset="-122"/>
                <a:cs typeface="Arial" pitchFamily="34" charset="-120"/>
              </a:rPr>
              <a:t>(need &gt;10,000 samples; lose global interpretability).</a:t>
            </a:r>
            <a:endParaRPr lang="en-US" sz="1875" dirty="0"/>
          </a:p>
        </p:txBody>
      </p:sp>
      <p:sp>
        <p:nvSpPr>
          <p:cNvPr id="17" name="Text 15"/>
          <p:cNvSpPr/>
          <p:nvPr/>
        </p:nvSpPr>
        <p:spPr>
          <a:xfrm>
            <a:off x="9401175" y="1934468"/>
            <a:ext cx="8843010" cy="333375"/>
          </a:xfrm>
          <a:prstGeom prst="rect">
            <a:avLst/>
          </a:prstGeom>
          <a:noFill/>
          <a:ln/>
        </p:spPr>
        <p:txBody>
          <a:bodyPr wrap="square" lIns="25400" tIns="25400" rIns="25400" bIns="25400" rtlCol="0" anchor="t">
            <a:normAutofit lnSpcReduction="10000"/>
          </a:bodyPr>
          <a:lstStyle/>
          <a:p>
            <a:pPr marL="0" indent="0" algn="l">
              <a:buNone/>
            </a:pPr>
            <a:r>
              <a:rPr lang="en-US" sz="2025" b="1" dirty="0">
                <a:solidFill>
                  <a:srgbClr val="33455E"/>
                </a:solidFill>
                <a:latin typeface="Arial" pitchFamily="34" charset="0"/>
                <a:ea typeface="Arial" pitchFamily="34" charset="-122"/>
                <a:cs typeface="Arial" pitchFamily="34" charset="-120"/>
              </a:rPr>
              <a:t>Hyperparameters</a:t>
            </a:r>
            <a:endParaRPr lang="en-US" sz="2025" dirty="0"/>
          </a:p>
        </p:txBody>
      </p:sp>
      <p:sp>
        <p:nvSpPr>
          <p:cNvPr id="18" name="Shape 16"/>
          <p:cNvSpPr/>
          <p:nvPr/>
        </p:nvSpPr>
        <p:spPr>
          <a:xfrm>
            <a:off x="9401175" y="2286893"/>
            <a:ext cx="3618086" cy="523875"/>
          </a:xfrm>
          <a:prstGeom prst="rect">
            <a:avLst/>
          </a:prstGeom>
          <a:solidFill>
            <a:srgbClr val="33455E"/>
          </a:solidFill>
          <a:ln/>
        </p:spPr>
        <p:txBody>
          <a:bodyPr/>
          <a:lstStyle/>
          <a:p>
            <a:endParaRPr lang="en-US"/>
          </a:p>
        </p:txBody>
      </p:sp>
      <p:sp>
        <p:nvSpPr>
          <p:cNvPr id="19" name="Text 17"/>
          <p:cNvSpPr/>
          <p:nvPr/>
        </p:nvSpPr>
        <p:spPr>
          <a:xfrm>
            <a:off x="9572625" y="2410718"/>
            <a:ext cx="3383729" cy="314325"/>
          </a:xfrm>
          <a:prstGeom prst="rect">
            <a:avLst/>
          </a:prstGeom>
          <a:noFill/>
          <a:ln/>
        </p:spPr>
        <p:txBody>
          <a:bodyPr wrap="square" lIns="25400" tIns="25400" rIns="25400" bIns="25400" rtlCol="0" anchor="ctr">
            <a:normAutofit lnSpcReduction="10000"/>
          </a:bodyPr>
          <a:lstStyle/>
          <a:p>
            <a:pPr marL="0" indent="0" algn="l">
              <a:buNone/>
            </a:pPr>
            <a:r>
              <a:rPr lang="en-US" sz="1875" b="1" dirty="0">
                <a:solidFill>
                  <a:srgbClr val="FFFFFF"/>
                </a:solidFill>
                <a:latin typeface="Arial" pitchFamily="34" charset="0"/>
                <a:ea typeface="Arial" pitchFamily="34" charset="-122"/>
                <a:cs typeface="Arial" pitchFamily="34" charset="-120"/>
              </a:rPr>
              <a:t>RF — deployed, tuned</a:t>
            </a:r>
            <a:endParaRPr lang="en-US" sz="1875" dirty="0"/>
          </a:p>
        </p:txBody>
      </p:sp>
      <p:sp>
        <p:nvSpPr>
          <p:cNvPr id="20" name="Shape 18"/>
          <p:cNvSpPr/>
          <p:nvPr/>
        </p:nvSpPr>
        <p:spPr>
          <a:xfrm>
            <a:off x="13019261" y="2286893"/>
            <a:ext cx="1222549" cy="523875"/>
          </a:xfrm>
          <a:prstGeom prst="rect">
            <a:avLst/>
          </a:prstGeom>
          <a:solidFill>
            <a:srgbClr val="33455E"/>
          </a:solidFill>
          <a:ln/>
        </p:spPr>
        <p:txBody>
          <a:bodyPr/>
          <a:lstStyle/>
          <a:p>
            <a:endParaRPr lang="en-US"/>
          </a:p>
        </p:txBody>
      </p:sp>
      <p:sp>
        <p:nvSpPr>
          <p:cNvPr id="21" name="Text 19"/>
          <p:cNvSpPr/>
          <p:nvPr/>
        </p:nvSpPr>
        <p:spPr>
          <a:xfrm>
            <a:off x="13190711" y="2410718"/>
            <a:ext cx="955849" cy="314325"/>
          </a:xfrm>
          <a:prstGeom prst="rect">
            <a:avLst/>
          </a:prstGeom>
          <a:noFill/>
          <a:ln/>
        </p:spPr>
        <p:txBody>
          <a:bodyPr wrap="square" lIns="25400" tIns="25400" rIns="25400" bIns="25400" rtlCol="0" anchor="ctr">
            <a:normAutofit lnSpcReduction="10000"/>
          </a:bodyPr>
          <a:lstStyle/>
          <a:p>
            <a:pPr marL="0" indent="0" algn="l">
              <a:buNone/>
            </a:pPr>
            <a:r>
              <a:rPr lang="en-US" sz="1875" b="1" dirty="0">
                <a:solidFill>
                  <a:srgbClr val="FFFFFF"/>
                </a:solidFill>
                <a:latin typeface="Arial" pitchFamily="34" charset="0"/>
                <a:ea typeface="Arial" pitchFamily="34" charset="-122"/>
                <a:cs typeface="Arial" pitchFamily="34" charset="-120"/>
              </a:rPr>
              <a:t>Trees</a:t>
            </a:r>
            <a:endParaRPr lang="en-US" sz="1875" dirty="0"/>
          </a:p>
        </p:txBody>
      </p:sp>
      <p:sp>
        <p:nvSpPr>
          <p:cNvPr id="22" name="Shape 20"/>
          <p:cNvSpPr/>
          <p:nvPr/>
        </p:nvSpPr>
        <p:spPr>
          <a:xfrm>
            <a:off x="14241810" y="2286893"/>
            <a:ext cx="1641202" cy="523875"/>
          </a:xfrm>
          <a:prstGeom prst="rect">
            <a:avLst/>
          </a:prstGeom>
          <a:solidFill>
            <a:srgbClr val="33455E"/>
          </a:solidFill>
          <a:ln/>
        </p:spPr>
        <p:txBody>
          <a:bodyPr/>
          <a:lstStyle/>
          <a:p>
            <a:endParaRPr lang="en-US"/>
          </a:p>
        </p:txBody>
      </p:sp>
      <p:sp>
        <p:nvSpPr>
          <p:cNvPr id="23" name="Text 21"/>
          <p:cNvSpPr/>
          <p:nvPr/>
        </p:nvSpPr>
        <p:spPr>
          <a:xfrm>
            <a:off x="14413260" y="2410718"/>
            <a:ext cx="1374502" cy="314325"/>
          </a:xfrm>
          <a:prstGeom prst="rect">
            <a:avLst/>
          </a:prstGeom>
          <a:noFill/>
          <a:ln/>
        </p:spPr>
        <p:txBody>
          <a:bodyPr wrap="square" lIns="25400" tIns="25400" rIns="25400" bIns="25400" rtlCol="0" anchor="ctr">
            <a:normAutofit lnSpcReduction="10000"/>
          </a:bodyPr>
          <a:lstStyle/>
          <a:p>
            <a:pPr marL="0" indent="0" algn="l">
              <a:buNone/>
            </a:pPr>
            <a:r>
              <a:rPr lang="en-US" sz="1875" b="1" dirty="0">
                <a:solidFill>
                  <a:srgbClr val="FFFFFF"/>
                </a:solidFill>
                <a:latin typeface="Arial" pitchFamily="34" charset="0"/>
                <a:ea typeface="Arial" pitchFamily="34" charset="-122"/>
                <a:cs typeface="Arial" pitchFamily="34" charset="-120"/>
              </a:rPr>
              <a:t>Max feat</a:t>
            </a:r>
            <a:endParaRPr lang="en-US" sz="1875" dirty="0"/>
          </a:p>
        </p:txBody>
      </p:sp>
      <p:sp>
        <p:nvSpPr>
          <p:cNvPr id="24" name="Shape 22"/>
          <p:cNvSpPr/>
          <p:nvPr/>
        </p:nvSpPr>
        <p:spPr>
          <a:xfrm>
            <a:off x="15883012" y="2286893"/>
            <a:ext cx="1557263" cy="523875"/>
          </a:xfrm>
          <a:prstGeom prst="rect">
            <a:avLst/>
          </a:prstGeom>
          <a:solidFill>
            <a:srgbClr val="33455E"/>
          </a:solidFill>
          <a:ln/>
        </p:spPr>
        <p:txBody>
          <a:bodyPr/>
          <a:lstStyle/>
          <a:p>
            <a:endParaRPr lang="en-US"/>
          </a:p>
        </p:txBody>
      </p:sp>
      <p:sp>
        <p:nvSpPr>
          <p:cNvPr id="25" name="Text 23"/>
          <p:cNvSpPr/>
          <p:nvPr/>
        </p:nvSpPr>
        <p:spPr>
          <a:xfrm>
            <a:off x="16054462" y="2410718"/>
            <a:ext cx="1290563" cy="314325"/>
          </a:xfrm>
          <a:prstGeom prst="rect">
            <a:avLst/>
          </a:prstGeom>
          <a:noFill/>
          <a:ln/>
        </p:spPr>
        <p:txBody>
          <a:bodyPr wrap="square" lIns="25400" tIns="25400" rIns="25400" bIns="25400" rtlCol="0" anchor="ctr">
            <a:normAutofit lnSpcReduction="10000"/>
          </a:bodyPr>
          <a:lstStyle/>
          <a:p>
            <a:pPr marL="0" indent="0" algn="l">
              <a:buNone/>
            </a:pPr>
            <a:r>
              <a:rPr lang="en-US" sz="1875" b="1" dirty="0">
                <a:solidFill>
                  <a:srgbClr val="FFFFFF"/>
                </a:solidFill>
                <a:latin typeface="Arial" pitchFamily="34" charset="0"/>
                <a:ea typeface="Arial" pitchFamily="34" charset="-122"/>
                <a:cs typeface="Arial" pitchFamily="34" charset="-120"/>
              </a:rPr>
              <a:t>Min leaf</a:t>
            </a:r>
            <a:endParaRPr lang="en-US" sz="1875" dirty="0"/>
          </a:p>
        </p:txBody>
      </p:sp>
      <p:sp>
        <p:nvSpPr>
          <p:cNvPr id="26" name="Shape 24"/>
          <p:cNvSpPr/>
          <p:nvPr/>
        </p:nvSpPr>
        <p:spPr>
          <a:xfrm>
            <a:off x="9401175" y="2810768"/>
            <a:ext cx="3618086" cy="509587"/>
          </a:xfrm>
          <a:prstGeom prst="rect">
            <a:avLst/>
          </a:prstGeom>
          <a:solidFill>
            <a:srgbClr val="F1F4F7"/>
          </a:solidFill>
          <a:ln/>
        </p:spPr>
        <p:txBody>
          <a:bodyPr/>
          <a:lstStyle/>
          <a:p>
            <a:endParaRPr lang="en-US"/>
          </a:p>
        </p:txBody>
      </p:sp>
      <p:sp>
        <p:nvSpPr>
          <p:cNvPr id="27" name="Shape 25"/>
          <p:cNvSpPr/>
          <p:nvPr/>
        </p:nvSpPr>
        <p:spPr>
          <a:xfrm>
            <a:off x="9401175" y="3310830"/>
            <a:ext cx="3618086" cy="9525"/>
          </a:xfrm>
          <a:prstGeom prst="rect">
            <a:avLst/>
          </a:prstGeom>
          <a:solidFill>
            <a:srgbClr val="DCE2E9"/>
          </a:solidFill>
          <a:ln/>
        </p:spPr>
        <p:txBody>
          <a:bodyPr/>
          <a:lstStyle/>
          <a:p>
            <a:endParaRPr lang="en-US"/>
          </a:p>
        </p:txBody>
      </p:sp>
      <p:sp>
        <p:nvSpPr>
          <p:cNvPr id="28" name="Text 26"/>
          <p:cNvSpPr/>
          <p:nvPr/>
        </p:nvSpPr>
        <p:spPr>
          <a:xfrm>
            <a:off x="9572625" y="2925068"/>
            <a:ext cx="3383729" cy="309562"/>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1E2530"/>
                </a:solidFill>
                <a:latin typeface="Arial" pitchFamily="34" charset="0"/>
                <a:ea typeface="Arial" pitchFamily="34" charset="-122"/>
                <a:cs typeface="Arial" pitchFamily="34" charset="-120"/>
              </a:rPr>
              <a:t>Condominium</a:t>
            </a:r>
            <a:endParaRPr lang="en-US" sz="1875" dirty="0"/>
          </a:p>
        </p:txBody>
      </p:sp>
      <p:sp>
        <p:nvSpPr>
          <p:cNvPr id="29" name="Shape 27"/>
          <p:cNvSpPr/>
          <p:nvPr/>
        </p:nvSpPr>
        <p:spPr>
          <a:xfrm>
            <a:off x="13019261" y="2810768"/>
            <a:ext cx="1222549" cy="509587"/>
          </a:xfrm>
          <a:prstGeom prst="rect">
            <a:avLst/>
          </a:prstGeom>
          <a:solidFill>
            <a:srgbClr val="F1F4F7"/>
          </a:solidFill>
          <a:ln/>
        </p:spPr>
        <p:txBody>
          <a:bodyPr/>
          <a:lstStyle/>
          <a:p>
            <a:endParaRPr lang="en-US"/>
          </a:p>
        </p:txBody>
      </p:sp>
      <p:sp>
        <p:nvSpPr>
          <p:cNvPr id="30" name="Shape 28"/>
          <p:cNvSpPr/>
          <p:nvPr/>
        </p:nvSpPr>
        <p:spPr>
          <a:xfrm>
            <a:off x="13019261" y="3310830"/>
            <a:ext cx="1222549" cy="9525"/>
          </a:xfrm>
          <a:prstGeom prst="rect">
            <a:avLst/>
          </a:prstGeom>
          <a:solidFill>
            <a:srgbClr val="DCE2E9"/>
          </a:solidFill>
          <a:ln/>
        </p:spPr>
        <p:txBody>
          <a:bodyPr/>
          <a:lstStyle/>
          <a:p>
            <a:endParaRPr lang="en-US"/>
          </a:p>
        </p:txBody>
      </p:sp>
      <p:sp>
        <p:nvSpPr>
          <p:cNvPr id="31" name="Text 29"/>
          <p:cNvSpPr/>
          <p:nvPr/>
        </p:nvSpPr>
        <p:spPr>
          <a:xfrm>
            <a:off x="13190711" y="2925068"/>
            <a:ext cx="955849" cy="309562"/>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1E2530"/>
                </a:solidFill>
                <a:latin typeface="Arial" pitchFamily="34" charset="0"/>
                <a:ea typeface="Arial" pitchFamily="34" charset="-122"/>
                <a:cs typeface="Arial" pitchFamily="34" charset="-120"/>
              </a:rPr>
              <a:t>300</a:t>
            </a:r>
            <a:endParaRPr lang="en-US" sz="1875" dirty="0"/>
          </a:p>
        </p:txBody>
      </p:sp>
      <p:sp>
        <p:nvSpPr>
          <p:cNvPr id="32" name="Shape 30"/>
          <p:cNvSpPr/>
          <p:nvPr/>
        </p:nvSpPr>
        <p:spPr>
          <a:xfrm>
            <a:off x="14241810" y="2810768"/>
            <a:ext cx="1641202" cy="509587"/>
          </a:xfrm>
          <a:prstGeom prst="rect">
            <a:avLst/>
          </a:prstGeom>
          <a:solidFill>
            <a:srgbClr val="F1F4F7"/>
          </a:solidFill>
          <a:ln/>
        </p:spPr>
        <p:txBody>
          <a:bodyPr/>
          <a:lstStyle/>
          <a:p>
            <a:endParaRPr lang="en-US"/>
          </a:p>
        </p:txBody>
      </p:sp>
      <p:sp>
        <p:nvSpPr>
          <p:cNvPr id="33" name="Shape 31"/>
          <p:cNvSpPr/>
          <p:nvPr/>
        </p:nvSpPr>
        <p:spPr>
          <a:xfrm>
            <a:off x="14241810" y="3310830"/>
            <a:ext cx="1641202" cy="9525"/>
          </a:xfrm>
          <a:prstGeom prst="rect">
            <a:avLst/>
          </a:prstGeom>
          <a:solidFill>
            <a:srgbClr val="DCE2E9"/>
          </a:solidFill>
          <a:ln/>
        </p:spPr>
        <p:txBody>
          <a:bodyPr/>
          <a:lstStyle/>
          <a:p>
            <a:endParaRPr lang="en-US"/>
          </a:p>
        </p:txBody>
      </p:sp>
      <p:sp>
        <p:nvSpPr>
          <p:cNvPr id="34" name="Text 32"/>
          <p:cNvSpPr/>
          <p:nvPr/>
        </p:nvSpPr>
        <p:spPr>
          <a:xfrm>
            <a:off x="14413260" y="2925068"/>
            <a:ext cx="1374502" cy="309562"/>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1E2530"/>
                </a:solidFill>
                <a:latin typeface="Arial" pitchFamily="34" charset="0"/>
                <a:ea typeface="Arial" pitchFamily="34" charset="-122"/>
                <a:cs typeface="Arial" pitchFamily="34" charset="-120"/>
              </a:rPr>
              <a:t>0.7</a:t>
            </a:r>
            <a:endParaRPr lang="en-US" sz="1875" dirty="0"/>
          </a:p>
        </p:txBody>
      </p:sp>
      <p:sp>
        <p:nvSpPr>
          <p:cNvPr id="35" name="Shape 33"/>
          <p:cNvSpPr/>
          <p:nvPr/>
        </p:nvSpPr>
        <p:spPr>
          <a:xfrm>
            <a:off x="15883012" y="2810768"/>
            <a:ext cx="1557263" cy="509587"/>
          </a:xfrm>
          <a:prstGeom prst="rect">
            <a:avLst/>
          </a:prstGeom>
          <a:solidFill>
            <a:srgbClr val="F1F4F7"/>
          </a:solidFill>
          <a:ln/>
        </p:spPr>
        <p:txBody>
          <a:bodyPr/>
          <a:lstStyle/>
          <a:p>
            <a:endParaRPr lang="en-US"/>
          </a:p>
        </p:txBody>
      </p:sp>
      <p:sp>
        <p:nvSpPr>
          <p:cNvPr id="36" name="Shape 34"/>
          <p:cNvSpPr/>
          <p:nvPr/>
        </p:nvSpPr>
        <p:spPr>
          <a:xfrm>
            <a:off x="15883012" y="3310830"/>
            <a:ext cx="1557263" cy="9525"/>
          </a:xfrm>
          <a:prstGeom prst="rect">
            <a:avLst/>
          </a:prstGeom>
          <a:solidFill>
            <a:srgbClr val="DCE2E9"/>
          </a:solidFill>
          <a:ln/>
        </p:spPr>
        <p:txBody>
          <a:bodyPr/>
          <a:lstStyle/>
          <a:p>
            <a:endParaRPr lang="en-US"/>
          </a:p>
        </p:txBody>
      </p:sp>
      <p:sp>
        <p:nvSpPr>
          <p:cNvPr id="37" name="Text 35"/>
          <p:cNvSpPr/>
          <p:nvPr/>
        </p:nvSpPr>
        <p:spPr>
          <a:xfrm>
            <a:off x="16054462" y="2925068"/>
            <a:ext cx="1290563" cy="309562"/>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1E2530"/>
                </a:solidFill>
                <a:latin typeface="Arial" pitchFamily="34" charset="0"/>
                <a:ea typeface="Arial" pitchFamily="34" charset="-122"/>
                <a:cs typeface="Arial" pitchFamily="34" charset="-120"/>
              </a:rPr>
              <a:t>1</a:t>
            </a:r>
            <a:endParaRPr lang="en-US" sz="1875" dirty="0"/>
          </a:p>
        </p:txBody>
      </p:sp>
      <p:sp>
        <p:nvSpPr>
          <p:cNvPr id="38" name="Shape 36"/>
          <p:cNvSpPr/>
          <p:nvPr/>
        </p:nvSpPr>
        <p:spPr>
          <a:xfrm>
            <a:off x="9401175" y="3825180"/>
            <a:ext cx="3618086" cy="9525"/>
          </a:xfrm>
          <a:prstGeom prst="rect">
            <a:avLst/>
          </a:prstGeom>
          <a:solidFill>
            <a:srgbClr val="DCE2E9"/>
          </a:solidFill>
          <a:ln/>
        </p:spPr>
        <p:txBody>
          <a:bodyPr/>
          <a:lstStyle/>
          <a:p>
            <a:endParaRPr lang="en-US"/>
          </a:p>
        </p:txBody>
      </p:sp>
      <p:sp>
        <p:nvSpPr>
          <p:cNvPr id="39" name="Text 37"/>
          <p:cNvSpPr/>
          <p:nvPr/>
        </p:nvSpPr>
        <p:spPr>
          <a:xfrm>
            <a:off x="9572625" y="3434655"/>
            <a:ext cx="3383729" cy="314325"/>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1E2530"/>
                </a:solidFill>
                <a:latin typeface="Arial" pitchFamily="34" charset="0"/>
                <a:ea typeface="Arial" pitchFamily="34" charset="-122"/>
                <a:cs typeface="Arial" pitchFamily="34" charset="-120"/>
              </a:rPr>
              <a:t>Houses</a:t>
            </a:r>
            <a:endParaRPr lang="en-US" sz="1875" dirty="0"/>
          </a:p>
        </p:txBody>
      </p:sp>
      <p:sp>
        <p:nvSpPr>
          <p:cNvPr id="40" name="Shape 38"/>
          <p:cNvSpPr/>
          <p:nvPr/>
        </p:nvSpPr>
        <p:spPr>
          <a:xfrm>
            <a:off x="13019261" y="3825180"/>
            <a:ext cx="1222549" cy="9525"/>
          </a:xfrm>
          <a:prstGeom prst="rect">
            <a:avLst/>
          </a:prstGeom>
          <a:solidFill>
            <a:srgbClr val="DCE2E9"/>
          </a:solidFill>
          <a:ln/>
        </p:spPr>
        <p:txBody>
          <a:bodyPr/>
          <a:lstStyle/>
          <a:p>
            <a:endParaRPr lang="en-US"/>
          </a:p>
        </p:txBody>
      </p:sp>
      <p:sp>
        <p:nvSpPr>
          <p:cNvPr id="41" name="Text 39"/>
          <p:cNvSpPr/>
          <p:nvPr/>
        </p:nvSpPr>
        <p:spPr>
          <a:xfrm>
            <a:off x="13190711" y="3434655"/>
            <a:ext cx="955849" cy="314325"/>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1E2530"/>
                </a:solidFill>
                <a:latin typeface="Arial" pitchFamily="34" charset="0"/>
                <a:ea typeface="Arial" pitchFamily="34" charset="-122"/>
                <a:cs typeface="Arial" pitchFamily="34" charset="-120"/>
              </a:rPr>
              <a:t>300</a:t>
            </a:r>
            <a:endParaRPr lang="en-US" sz="1875" dirty="0"/>
          </a:p>
        </p:txBody>
      </p:sp>
      <p:sp>
        <p:nvSpPr>
          <p:cNvPr id="42" name="Shape 40"/>
          <p:cNvSpPr/>
          <p:nvPr/>
        </p:nvSpPr>
        <p:spPr>
          <a:xfrm>
            <a:off x="14241810" y="3825180"/>
            <a:ext cx="1641202" cy="9525"/>
          </a:xfrm>
          <a:prstGeom prst="rect">
            <a:avLst/>
          </a:prstGeom>
          <a:solidFill>
            <a:srgbClr val="DCE2E9"/>
          </a:solidFill>
          <a:ln/>
        </p:spPr>
        <p:txBody>
          <a:bodyPr/>
          <a:lstStyle/>
          <a:p>
            <a:endParaRPr lang="en-US"/>
          </a:p>
        </p:txBody>
      </p:sp>
      <p:sp>
        <p:nvSpPr>
          <p:cNvPr id="43" name="Text 41"/>
          <p:cNvSpPr/>
          <p:nvPr/>
        </p:nvSpPr>
        <p:spPr>
          <a:xfrm>
            <a:off x="14413260" y="3434655"/>
            <a:ext cx="1374502" cy="314325"/>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1E2530"/>
                </a:solidFill>
                <a:latin typeface="Arial" pitchFamily="34" charset="0"/>
                <a:ea typeface="Arial" pitchFamily="34" charset="-122"/>
                <a:cs typeface="Arial" pitchFamily="34" charset="-120"/>
              </a:rPr>
              <a:t>1.0</a:t>
            </a:r>
            <a:endParaRPr lang="en-US" sz="1875" dirty="0"/>
          </a:p>
        </p:txBody>
      </p:sp>
      <p:sp>
        <p:nvSpPr>
          <p:cNvPr id="44" name="Shape 42"/>
          <p:cNvSpPr/>
          <p:nvPr/>
        </p:nvSpPr>
        <p:spPr>
          <a:xfrm>
            <a:off x="15883012" y="3825180"/>
            <a:ext cx="1557263" cy="9525"/>
          </a:xfrm>
          <a:prstGeom prst="rect">
            <a:avLst/>
          </a:prstGeom>
          <a:solidFill>
            <a:srgbClr val="DCE2E9"/>
          </a:solidFill>
          <a:ln/>
        </p:spPr>
        <p:txBody>
          <a:bodyPr/>
          <a:lstStyle/>
          <a:p>
            <a:endParaRPr lang="en-US"/>
          </a:p>
        </p:txBody>
      </p:sp>
      <p:sp>
        <p:nvSpPr>
          <p:cNvPr id="45" name="Text 43"/>
          <p:cNvSpPr/>
          <p:nvPr/>
        </p:nvSpPr>
        <p:spPr>
          <a:xfrm>
            <a:off x="16054462" y="3434655"/>
            <a:ext cx="1290563" cy="314325"/>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1E2530"/>
                </a:solidFill>
                <a:latin typeface="Arial" pitchFamily="34" charset="0"/>
                <a:ea typeface="Arial" pitchFamily="34" charset="-122"/>
                <a:cs typeface="Arial" pitchFamily="34" charset="-120"/>
              </a:rPr>
              <a:t>2</a:t>
            </a:r>
            <a:endParaRPr lang="en-US" sz="1875" dirty="0"/>
          </a:p>
        </p:txBody>
      </p:sp>
      <p:sp>
        <p:nvSpPr>
          <p:cNvPr id="46" name="Shape 44"/>
          <p:cNvSpPr/>
          <p:nvPr/>
        </p:nvSpPr>
        <p:spPr>
          <a:xfrm>
            <a:off x="9401175" y="3834705"/>
            <a:ext cx="3618086" cy="514350"/>
          </a:xfrm>
          <a:prstGeom prst="rect">
            <a:avLst/>
          </a:prstGeom>
          <a:solidFill>
            <a:srgbClr val="F1F4F7"/>
          </a:solidFill>
          <a:ln/>
        </p:spPr>
        <p:txBody>
          <a:bodyPr/>
          <a:lstStyle/>
          <a:p>
            <a:endParaRPr lang="en-US"/>
          </a:p>
        </p:txBody>
      </p:sp>
      <p:sp>
        <p:nvSpPr>
          <p:cNvPr id="47" name="Shape 45"/>
          <p:cNvSpPr/>
          <p:nvPr/>
        </p:nvSpPr>
        <p:spPr>
          <a:xfrm>
            <a:off x="9401175" y="4339530"/>
            <a:ext cx="3618086" cy="9525"/>
          </a:xfrm>
          <a:prstGeom prst="rect">
            <a:avLst/>
          </a:prstGeom>
          <a:solidFill>
            <a:srgbClr val="DCE2E9"/>
          </a:solidFill>
          <a:ln/>
        </p:spPr>
        <p:txBody>
          <a:bodyPr/>
          <a:lstStyle/>
          <a:p>
            <a:endParaRPr lang="en-US"/>
          </a:p>
        </p:txBody>
      </p:sp>
      <p:sp>
        <p:nvSpPr>
          <p:cNvPr id="48" name="Text 46"/>
          <p:cNvSpPr/>
          <p:nvPr/>
        </p:nvSpPr>
        <p:spPr>
          <a:xfrm>
            <a:off x="9572625" y="3949005"/>
            <a:ext cx="3383729" cy="314325"/>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1E2530"/>
                </a:solidFill>
                <a:latin typeface="Arial" pitchFamily="34" charset="0"/>
                <a:ea typeface="Arial" pitchFamily="34" charset="-122"/>
                <a:cs typeface="Arial" pitchFamily="34" charset="-120"/>
              </a:rPr>
              <a:t>Vacant Lot</a:t>
            </a:r>
            <a:endParaRPr lang="en-US" sz="1875" dirty="0"/>
          </a:p>
        </p:txBody>
      </p:sp>
      <p:sp>
        <p:nvSpPr>
          <p:cNvPr id="49" name="Shape 47"/>
          <p:cNvSpPr/>
          <p:nvPr/>
        </p:nvSpPr>
        <p:spPr>
          <a:xfrm>
            <a:off x="13019261" y="3834705"/>
            <a:ext cx="1222549" cy="514350"/>
          </a:xfrm>
          <a:prstGeom prst="rect">
            <a:avLst/>
          </a:prstGeom>
          <a:solidFill>
            <a:srgbClr val="F1F4F7"/>
          </a:solidFill>
          <a:ln/>
        </p:spPr>
        <p:txBody>
          <a:bodyPr/>
          <a:lstStyle/>
          <a:p>
            <a:endParaRPr lang="en-US"/>
          </a:p>
        </p:txBody>
      </p:sp>
      <p:sp>
        <p:nvSpPr>
          <p:cNvPr id="50" name="Shape 48"/>
          <p:cNvSpPr/>
          <p:nvPr/>
        </p:nvSpPr>
        <p:spPr>
          <a:xfrm>
            <a:off x="13019261" y="4339530"/>
            <a:ext cx="1222549" cy="9525"/>
          </a:xfrm>
          <a:prstGeom prst="rect">
            <a:avLst/>
          </a:prstGeom>
          <a:solidFill>
            <a:srgbClr val="DCE2E9"/>
          </a:solidFill>
          <a:ln/>
        </p:spPr>
        <p:txBody>
          <a:bodyPr/>
          <a:lstStyle/>
          <a:p>
            <a:endParaRPr lang="en-US"/>
          </a:p>
        </p:txBody>
      </p:sp>
      <p:sp>
        <p:nvSpPr>
          <p:cNvPr id="51" name="Text 49"/>
          <p:cNvSpPr/>
          <p:nvPr/>
        </p:nvSpPr>
        <p:spPr>
          <a:xfrm>
            <a:off x="13190711" y="3949005"/>
            <a:ext cx="955849" cy="314325"/>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1E2530"/>
                </a:solidFill>
                <a:latin typeface="Arial" pitchFamily="34" charset="0"/>
                <a:ea typeface="Arial" pitchFamily="34" charset="-122"/>
                <a:cs typeface="Arial" pitchFamily="34" charset="-120"/>
              </a:rPr>
              <a:t>300</a:t>
            </a:r>
            <a:endParaRPr lang="en-US" sz="1875" dirty="0"/>
          </a:p>
        </p:txBody>
      </p:sp>
      <p:sp>
        <p:nvSpPr>
          <p:cNvPr id="52" name="Shape 50"/>
          <p:cNvSpPr/>
          <p:nvPr/>
        </p:nvSpPr>
        <p:spPr>
          <a:xfrm>
            <a:off x="14241810" y="3834705"/>
            <a:ext cx="1641202" cy="514350"/>
          </a:xfrm>
          <a:prstGeom prst="rect">
            <a:avLst/>
          </a:prstGeom>
          <a:solidFill>
            <a:srgbClr val="F1F4F7"/>
          </a:solidFill>
          <a:ln/>
        </p:spPr>
        <p:txBody>
          <a:bodyPr/>
          <a:lstStyle/>
          <a:p>
            <a:endParaRPr lang="en-US"/>
          </a:p>
        </p:txBody>
      </p:sp>
      <p:sp>
        <p:nvSpPr>
          <p:cNvPr id="53" name="Shape 51"/>
          <p:cNvSpPr/>
          <p:nvPr/>
        </p:nvSpPr>
        <p:spPr>
          <a:xfrm>
            <a:off x="14241810" y="4339530"/>
            <a:ext cx="1641202" cy="9525"/>
          </a:xfrm>
          <a:prstGeom prst="rect">
            <a:avLst/>
          </a:prstGeom>
          <a:solidFill>
            <a:srgbClr val="DCE2E9"/>
          </a:solidFill>
          <a:ln/>
        </p:spPr>
        <p:txBody>
          <a:bodyPr/>
          <a:lstStyle/>
          <a:p>
            <a:endParaRPr lang="en-US"/>
          </a:p>
        </p:txBody>
      </p:sp>
      <p:sp>
        <p:nvSpPr>
          <p:cNvPr id="54" name="Text 52"/>
          <p:cNvSpPr/>
          <p:nvPr/>
        </p:nvSpPr>
        <p:spPr>
          <a:xfrm>
            <a:off x="14413260" y="3949005"/>
            <a:ext cx="1374502" cy="314325"/>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1E2530"/>
                </a:solidFill>
                <a:latin typeface="Arial" pitchFamily="34" charset="0"/>
                <a:ea typeface="Arial" pitchFamily="34" charset="-122"/>
                <a:cs typeface="Arial" pitchFamily="34" charset="-120"/>
              </a:rPr>
              <a:t>1.0</a:t>
            </a:r>
            <a:endParaRPr lang="en-US" sz="1875" dirty="0"/>
          </a:p>
        </p:txBody>
      </p:sp>
      <p:sp>
        <p:nvSpPr>
          <p:cNvPr id="55" name="Shape 53"/>
          <p:cNvSpPr/>
          <p:nvPr/>
        </p:nvSpPr>
        <p:spPr>
          <a:xfrm>
            <a:off x="15883012" y="3834705"/>
            <a:ext cx="1557263" cy="514350"/>
          </a:xfrm>
          <a:prstGeom prst="rect">
            <a:avLst/>
          </a:prstGeom>
          <a:solidFill>
            <a:srgbClr val="F1F4F7"/>
          </a:solidFill>
          <a:ln/>
        </p:spPr>
        <p:txBody>
          <a:bodyPr/>
          <a:lstStyle/>
          <a:p>
            <a:endParaRPr lang="en-US"/>
          </a:p>
        </p:txBody>
      </p:sp>
      <p:sp>
        <p:nvSpPr>
          <p:cNvPr id="56" name="Shape 54"/>
          <p:cNvSpPr/>
          <p:nvPr/>
        </p:nvSpPr>
        <p:spPr>
          <a:xfrm>
            <a:off x="15883012" y="4339530"/>
            <a:ext cx="1557263" cy="9525"/>
          </a:xfrm>
          <a:prstGeom prst="rect">
            <a:avLst/>
          </a:prstGeom>
          <a:solidFill>
            <a:srgbClr val="DCE2E9"/>
          </a:solidFill>
          <a:ln/>
        </p:spPr>
        <p:txBody>
          <a:bodyPr/>
          <a:lstStyle/>
          <a:p>
            <a:endParaRPr lang="en-US"/>
          </a:p>
        </p:txBody>
      </p:sp>
      <p:sp>
        <p:nvSpPr>
          <p:cNvPr id="57" name="Text 55"/>
          <p:cNvSpPr/>
          <p:nvPr/>
        </p:nvSpPr>
        <p:spPr>
          <a:xfrm>
            <a:off x="16054462" y="3949005"/>
            <a:ext cx="1290563" cy="314325"/>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1E2530"/>
                </a:solidFill>
                <a:latin typeface="Arial" pitchFamily="34" charset="0"/>
                <a:ea typeface="Arial" pitchFamily="34" charset="-122"/>
                <a:cs typeface="Arial" pitchFamily="34" charset="-120"/>
              </a:rPr>
              <a:t>1</a:t>
            </a:r>
            <a:endParaRPr lang="en-US" sz="1875" dirty="0"/>
          </a:p>
        </p:txBody>
      </p:sp>
      <p:sp>
        <p:nvSpPr>
          <p:cNvPr id="58" name="Text 56"/>
          <p:cNvSpPr/>
          <p:nvPr/>
        </p:nvSpPr>
        <p:spPr>
          <a:xfrm>
            <a:off x="9401175" y="4487168"/>
            <a:ext cx="8280273" cy="943347"/>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1800" b="1" dirty="0">
                <a:solidFill>
                  <a:srgbClr val="1E2530"/>
                </a:solidFill>
                <a:latin typeface="Arial" pitchFamily="34" charset="0"/>
                <a:ea typeface="Arial" pitchFamily="34" charset="-122"/>
                <a:cs typeface="Arial" pitchFamily="34" charset="-120"/>
              </a:rPr>
              <a:t>Comparators, standard settings. </a:t>
            </a:r>
            <a:r>
              <a:rPr lang="en-US" sz="1800" dirty="0">
                <a:solidFill>
                  <a:srgbClr val="1E2530"/>
                </a:solidFill>
                <a:latin typeface="Arial" pitchFamily="34" charset="0"/>
                <a:ea typeface="Arial" pitchFamily="34" charset="-122"/>
                <a:cs typeface="Arial" pitchFamily="34" charset="-120"/>
              </a:rPr>
              <a:t>XGBoost: 300 trees, lr 0.05, max depth 6 — held constant across strata. OLS: log-log with HC3, a fixed form, no tuning grid — so the head-to-head stays fair.</a:t>
            </a:r>
            <a:endParaRPr lang="en-US" sz="1800" dirty="0"/>
          </a:p>
        </p:txBody>
      </p:sp>
    </p:spTree>
    <p:extLst>
      <p:ext uri="{BB962C8B-B14F-4D97-AF65-F5344CB8AC3E}">
        <p14:creationId xmlns:p14="http://schemas.microsoft.com/office/powerpoint/2010/main" val="7426471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5">
    <p:bg>
      <p:bgPr>
        <a:solidFill>
          <a:srgbClr val="33455E"/>
        </a:solidFill>
        <a:effectLst/>
      </p:bgPr>
    </p:bg>
    <p:spTree>
      <p:nvGrpSpPr>
        <p:cNvPr id="1" name=""/>
        <p:cNvGrpSpPr/>
        <p:nvPr/>
      </p:nvGrpSpPr>
      <p:grpSpPr>
        <a:xfrm>
          <a:off x="0" y="0"/>
          <a:ext cx="0" cy="0"/>
          <a:chOff x="0" y="0"/>
          <a:chExt cx="0" cy="0"/>
        </a:xfrm>
      </p:grpSpPr>
      <p:sp>
        <p:nvSpPr>
          <p:cNvPr id="2" name="Text 0"/>
          <p:cNvSpPr/>
          <p:nvPr/>
        </p:nvSpPr>
        <p:spPr>
          <a:xfrm>
            <a:off x="1238250" y="3826669"/>
            <a:ext cx="17392650" cy="914400"/>
          </a:xfrm>
          <a:prstGeom prst="rect">
            <a:avLst/>
          </a:prstGeom>
          <a:noFill/>
          <a:ln/>
        </p:spPr>
        <p:txBody>
          <a:bodyPr wrap="square" lIns="25400" tIns="25400" rIns="25400" bIns="25400" rtlCol="0" anchor="t">
            <a:normAutofit lnSpcReduction="10000"/>
          </a:bodyPr>
          <a:lstStyle/>
          <a:p>
            <a:pPr marL="0" indent="0" algn="l">
              <a:buNone/>
            </a:pPr>
            <a:r>
              <a:rPr lang="en-US" sz="6000" b="1" dirty="0">
                <a:solidFill>
                  <a:srgbClr val="5B7A99"/>
                </a:solidFill>
                <a:latin typeface="Arial" pitchFamily="34" charset="0"/>
                <a:ea typeface="Arial" pitchFamily="34" charset="-122"/>
                <a:cs typeface="Arial" pitchFamily="34" charset="-120"/>
              </a:rPr>
              <a:t>07</a:t>
            </a:r>
            <a:endParaRPr lang="en-US" sz="6000" dirty="0"/>
          </a:p>
        </p:txBody>
      </p:sp>
      <p:sp>
        <p:nvSpPr>
          <p:cNvPr id="3" name="Text 1"/>
          <p:cNvSpPr/>
          <p:nvPr/>
        </p:nvSpPr>
        <p:spPr>
          <a:xfrm>
            <a:off x="1238250" y="4779169"/>
            <a:ext cx="17392650" cy="1133475"/>
          </a:xfrm>
          <a:prstGeom prst="rect">
            <a:avLst/>
          </a:prstGeom>
          <a:noFill/>
          <a:ln/>
        </p:spPr>
        <p:txBody>
          <a:bodyPr wrap="square" lIns="25400" tIns="25400" rIns="25400" bIns="25400" rtlCol="0" anchor="t">
            <a:normAutofit lnSpcReduction="10000"/>
          </a:bodyPr>
          <a:lstStyle/>
          <a:p>
            <a:pPr marL="0" indent="0" algn="l">
              <a:buNone/>
            </a:pPr>
            <a:r>
              <a:rPr lang="en-US" sz="7500" b="1" dirty="0">
                <a:solidFill>
                  <a:srgbClr val="FFFFFF"/>
                </a:solidFill>
                <a:latin typeface="Arial" pitchFamily="34" charset="0"/>
                <a:ea typeface="Arial" pitchFamily="34" charset="-122"/>
                <a:cs typeface="Arial" pitchFamily="34" charset="-120"/>
              </a:rPr>
              <a:t>Evaluation</a:t>
            </a:r>
            <a:endParaRPr lang="en-US" sz="7500" dirty="0"/>
          </a:p>
        </p:txBody>
      </p:sp>
      <p:sp>
        <p:nvSpPr>
          <p:cNvPr id="4" name="Text 2"/>
          <p:cNvSpPr/>
          <p:nvPr/>
        </p:nvSpPr>
        <p:spPr>
          <a:xfrm>
            <a:off x="1238250" y="6045994"/>
            <a:ext cx="17392650" cy="452438"/>
          </a:xfrm>
          <a:prstGeom prst="rect">
            <a:avLst/>
          </a:prstGeom>
          <a:noFill/>
          <a:ln/>
        </p:spPr>
        <p:txBody>
          <a:bodyPr wrap="square" lIns="25400" tIns="25400" rIns="25400" bIns="25400" rtlCol="0" anchor="t">
            <a:normAutofit lnSpcReduction="10000"/>
          </a:bodyPr>
          <a:lstStyle/>
          <a:p>
            <a:pPr marL="0" indent="0" algn="l">
              <a:buNone/>
            </a:pPr>
            <a:r>
              <a:rPr lang="en-US" sz="2850" dirty="0">
                <a:solidFill>
                  <a:srgbClr val="C5D2DF"/>
                </a:solidFill>
                <a:latin typeface="Arial" pitchFamily="34" charset="0"/>
                <a:ea typeface="Arial" pitchFamily="34" charset="-122"/>
                <a:cs typeface="Arial" pitchFamily="34" charset="-120"/>
              </a:rPr>
              <a:t>Accuracy, model comparison, ablation</a:t>
            </a:r>
            <a:endParaRPr lang="en-US" sz="2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6">
    <p:bg>
      <p:bgPr>
        <a:solidFill>
          <a:srgbClr val="FAFBFC"/>
        </a:solidFill>
        <a:effectLst/>
      </p:bgPr>
    </p:bg>
    <p:spTree>
      <p:nvGrpSpPr>
        <p:cNvPr id="1" name=""/>
        <p:cNvGrpSpPr/>
        <p:nvPr/>
      </p:nvGrpSpPr>
      <p:grpSpPr>
        <a:xfrm>
          <a:off x="0" y="0"/>
          <a:ext cx="0" cy="0"/>
          <a:chOff x="0" y="0"/>
          <a:chExt cx="0" cy="0"/>
        </a:xfrm>
      </p:grpSpPr>
      <p:sp>
        <p:nvSpPr>
          <p:cNvPr id="2" name="Text 0"/>
          <p:cNvSpPr/>
          <p:nvPr/>
        </p:nvSpPr>
        <p:spPr>
          <a:xfrm>
            <a:off x="847725" y="552450"/>
            <a:ext cx="2451571" cy="347663"/>
          </a:xfrm>
          <a:prstGeom prst="rect">
            <a:avLst/>
          </a:prstGeom>
          <a:noFill/>
          <a:ln/>
        </p:spPr>
        <p:txBody>
          <a:bodyPr wrap="square" lIns="25400" tIns="25400" rIns="25400" bIns="25400" rtlCol="0" anchor="t">
            <a:normAutofit lnSpcReduction="10000"/>
          </a:bodyPr>
          <a:lstStyle/>
          <a:p>
            <a:pPr marL="0" indent="0" algn="l">
              <a:buNone/>
            </a:pPr>
            <a:r>
              <a:rPr lang="en-US" sz="2100" b="1" kern="0" spc="84" dirty="0">
                <a:solidFill>
                  <a:srgbClr val="33455E"/>
                </a:solidFill>
                <a:latin typeface="Arial" pitchFamily="34" charset="0"/>
                <a:ea typeface="Arial" pitchFamily="34" charset="-122"/>
                <a:cs typeface="Arial" pitchFamily="34" charset="-120"/>
              </a:rPr>
              <a:t>7 · EVALUATION</a:t>
            </a:r>
            <a:endParaRPr lang="en-US" sz="2100" dirty="0"/>
          </a:p>
        </p:txBody>
      </p:sp>
      <p:sp>
        <p:nvSpPr>
          <p:cNvPr id="3" name="Text 1"/>
          <p:cNvSpPr/>
          <p:nvPr/>
        </p:nvSpPr>
        <p:spPr>
          <a:xfrm>
            <a:off x="16712059" y="552450"/>
            <a:ext cx="804416" cy="314325"/>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6E7686"/>
                </a:solidFill>
                <a:latin typeface="Arial" pitchFamily="34" charset="0"/>
                <a:ea typeface="Arial" pitchFamily="34" charset="-122"/>
                <a:cs typeface="Arial" pitchFamily="34" charset="-120"/>
              </a:rPr>
              <a:t>26 / 40</a:t>
            </a:r>
            <a:endParaRPr lang="en-US" sz="1875" dirty="0"/>
          </a:p>
        </p:txBody>
      </p:sp>
      <p:sp>
        <p:nvSpPr>
          <p:cNvPr id="4" name="Shape 2"/>
          <p:cNvSpPr/>
          <p:nvPr/>
        </p:nvSpPr>
        <p:spPr>
          <a:xfrm>
            <a:off x="847725" y="985838"/>
            <a:ext cx="16592550" cy="28575"/>
          </a:xfrm>
          <a:prstGeom prst="rect">
            <a:avLst/>
          </a:prstGeom>
          <a:solidFill>
            <a:srgbClr val="33455E"/>
          </a:solidFill>
          <a:ln/>
        </p:spPr>
        <p:txBody>
          <a:bodyPr/>
          <a:lstStyle/>
          <a:p>
            <a:endParaRPr lang="en-US"/>
          </a:p>
        </p:txBody>
      </p:sp>
      <p:sp>
        <p:nvSpPr>
          <p:cNvPr id="5" name="Text 3"/>
          <p:cNvSpPr/>
          <p:nvPr/>
        </p:nvSpPr>
        <p:spPr>
          <a:xfrm>
            <a:off x="847725" y="1243013"/>
            <a:ext cx="18251805" cy="55810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3900" b="1" dirty="0">
                <a:solidFill>
                  <a:srgbClr val="1E2530"/>
                </a:solidFill>
                <a:latin typeface="Arial" pitchFamily="34" charset="0"/>
                <a:ea typeface="Arial" pitchFamily="34" charset="-122"/>
                <a:cs typeface="Arial" pitchFamily="34" charset="-120"/>
              </a:rPr>
              <a:t>Headline accuracy — all three models</a:t>
            </a:r>
            <a:endParaRPr lang="en-US" sz="3900" dirty="0"/>
          </a:p>
        </p:txBody>
      </p:sp>
      <p:sp>
        <p:nvSpPr>
          <p:cNvPr id="6" name="Text 4"/>
          <p:cNvSpPr/>
          <p:nvPr/>
        </p:nvSpPr>
        <p:spPr>
          <a:xfrm>
            <a:off x="847725" y="1934468"/>
            <a:ext cx="10636791" cy="314325"/>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33455E"/>
                </a:solidFill>
                <a:latin typeface="Arial" pitchFamily="34" charset="0"/>
                <a:ea typeface="Arial" pitchFamily="34" charset="-122"/>
                <a:cs typeface="Arial" pitchFamily="34" charset="-120"/>
              </a:rPr>
              <a:t>MdAPE — typical error </a:t>
            </a:r>
            <a:r>
              <a:rPr lang="en-US" sz="1875" dirty="0">
                <a:solidFill>
                  <a:srgbClr val="6E7686"/>
                </a:solidFill>
                <a:latin typeface="Arial" pitchFamily="34" charset="0"/>
                <a:ea typeface="Arial" pitchFamily="34" charset="-122"/>
                <a:cs typeface="Arial" pitchFamily="34" charset="-120"/>
              </a:rPr>
              <a:t>(lower is better)</a:t>
            </a:r>
            <a:endParaRPr lang="en-US" sz="1875" dirty="0"/>
          </a:p>
        </p:txBody>
      </p:sp>
      <p:sp>
        <p:nvSpPr>
          <p:cNvPr id="7" name="Shape 5"/>
          <p:cNvSpPr/>
          <p:nvPr/>
        </p:nvSpPr>
        <p:spPr>
          <a:xfrm>
            <a:off x="847725" y="2267843"/>
            <a:ext cx="2774305" cy="523875"/>
          </a:xfrm>
          <a:prstGeom prst="rect">
            <a:avLst/>
          </a:prstGeom>
          <a:solidFill>
            <a:srgbClr val="33455E"/>
          </a:solidFill>
          <a:ln/>
        </p:spPr>
        <p:txBody>
          <a:bodyPr/>
          <a:lstStyle/>
          <a:p>
            <a:endParaRPr lang="en-US"/>
          </a:p>
        </p:txBody>
      </p:sp>
      <p:sp>
        <p:nvSpPr>
          <p:cNvPr id="8" name="Text 6"/>
          <p:cNvSpPr/>
          <p:nvPr/>
        </p:nvSpPr>
        <p:spPr>
          <a:xfrm>
            <a:off x="1019175" y="2391668"/>
            <a:ext cx="2514634" cy="314325"/>
          </a:xfrm>
          <a:prstGeom prst="rect">
            <a:avLst/>
          </a:prstGeom>
          <a:noFill/>
          <a:ln/>
        </p:spPr>
        <p:txBody>
          <a:bodyPr wrap="square" lIns="25400" tIns="25400" rIns="25400" bIns="25400" rtlCol="0" anchor="ctr">
            <a:normAutofit lnSpcReduction="10000"/>
          </a:bodyPr>
          <a:lstStyle/>
          <a:p>
            <a:pPr marL="0" indent="0" algn="l">
              <a:buNone/>
            </a:pPr>
            <a:r>
              <a:rPr lang="en-US" sz="1875" b="1" dirty="0">
                <a:solidFill>
                  <a:srgbClr val="FFFFFF"/>
                </a:solidFill>
                <a:latin typeface="Arial" pitchFamily="34" charset="0"/>
                <a:ea typeface="Arial" pitchFamily="34" charset="-122"/>
                <a:cs typeface="Arial" pitchFamily="34" charset="-120"/>
              </a:rPr>
              <a:t>Property type</a:t>
            </a:r>
            <a:endParaRPr lang="en-US" sz="1875" dirty="0"/>
          </a:p>
        </p:txBody>
      </p:sp>
      <p:sp>
        <p:nvSpPr>
          <p:cNvPr id="9" name="Shape 7"/>
          <p:cNvSpPr/>
          <p:nvPr/>
        </p:nvSpPr>
        <p:spPr>
          <a:xfrm>
            <a:off x="3622030" y="2267843"/>
            <a:ext cx="1504057" cy="523875"/>
          </a:xfrm>
          <a:prstGeom prst="rect">
            <a:avLst/>
          </a:prstGeom>
          <a:solidFill>
            <a:srgbClr val="33455E"/>
          </a:solidFill>
          <a:ln/>
        </p:spPr>
        <p:txBody>
          <a:bodyPr/>
          <a:lstStyle/>
          <a:p>
            <a:endParaRPr lang="en-US"/>
          </a:p>
        </p:txBody>
      </p:sp>
      <p:sp>
        <p:nvSpPr>
          <p:cNvPr id="10" name="Text 8"/>
          <p:cNvSpPr/>
          <p:nvPr/>
        </p:nvSpPr>
        <p:spPr>
          <a:xfrm>
            <a:off x="3793480" y="2391668"/>
            <a:ext cx="1237357" cy="314325"/>
          </a:xfrm>
          <a:prstGeom prst="rect">
            <a:avLst/>
          </a:prstGeom>
          <a:noFill/>
          <a:ln/>
        </p:spPr>
        <p:txBody>
          <a:bodyPr wrap="square" lIns="25400" tIns="25400" rIns="25400" bIns="25400" rtlCol="0" anchor="ctr">
            <a:normAutofit lnSpcReduction="10000"/>
          </a:bodyPr>
          <a:lstStyle/>
          <a:p>
            <a:pPr marL="0" indent="0" algn="l">
              <a:buNone/>
            </a:pPr>
            <a:r>
              <a:rPr lang="en-US" sz="1875" b="1" dirty="0">
                <a:solidFill>
                  <a:srgbClr val="FFFFFF"/>
                </a:solidFill>
                <a:latin typeface="Arial" pitchFamily="34" charset="0"/>
                <a:ea typeface="Arial" pitchFamily="34" charset="-122"/>
                <a:cs typeface="Arial" pitchFamily="34" charset="-120"/>
              </a:rPr>
              <a:t>OLS</a:t>
            </a:r>
            <a:endParaRPr lang="en-US" sz="1875" dirty="0"/>
          </a:p>
        </p:txBody>
      </p:sp>
      <p:sp>
        <p:nvSpPr>
          <p:cNvPr id="11" name="Shape 9"/>
          <p:cNvSpPr/>
          <p:nvPr/>
        </p:nvSpPr>
        <p:spPr>
          <a:xfrm>
            <a:off x="5126087" y="2267843"/>
            <a:ext cx="3379887" cy="523875"/>
          </a:xfrm>
          <a:prstGeom prst="rect">
            <a:avLst/>
          </a:prstGeom>
          <a:solidFill>
            <a:srgbClr val="33455E"/>
          </a:solidFill>
          <a:ln/>
        </p:spPr>
        <p:txBody>
          <a:bodyPr/>
          <a:lstStyle/>
          <a:p>
            <a:endParaRPr lang="en-US"/>
          </a:p>
        </p:txBody>
      </p:sp>
      <p:sp>
        <p:nvSpPr>
          <p:cNvPr id="12" name="Text 10"/>
          <p:cNvSpPr/>
          <p:nvPr/>
        </p:nvSpPr>
        <p:spPr>
          <a:xfrm>
            <a:off x="5297537" y="2391668"/>
            <a:ext cx="3138383" cy="314325"/>
          </a:xfrm>
          <a:prstGeom prst="rect">
            <a:avLst/>
          </a:prstGeom>
          <a:noFill/>
          <a:ln/>
        </p:spPr>
        <p:txBody>
          <a:bodyPr wrap="square" lIns="25400" tIns="25400" rIns="25400" bIns="25400" rtlCol="0" anchor="ctr">
            <a:normAutofit lnSpcReduction="10000"/>
          </a:bodyPr>
          <a:lstStyle/>
          <a:p>
            <a:pPr marL="0" indent="0" algn="l">
              <a:buNone/>
            </a:pPr>
            <a:r>
              <a:rPr lang="en-US" sz="1875" b="1" dirty="0">
                <a:solidFill>
                  <a:srgbClr val="FFFFFF"/>
                </a:solidFill>
                <a:latin typeface="Arial" pitchFamily="34" charset="0"/>
                <a:ea typeface="Arial" pitchFamily="34" charset="-122"/>
                <a:cs typeface="Arial" pitchFamily="34" charset="-120"/>
              </a:rPr>
              <a:t>Random Forest †</a:t>
            </a:r>
            <a:endParaRPr lang="en-US" sz="1875" dirty="0"/>
          </a:p>
        </p:txBody>
      </p:sp>
      <p:sp>
        <p:nvSpPr>
          <p:cNvPr id="13" name="Shape 11"/>
          <p:cNvSpPr/>
          <p:nvPr/>
        </p:nvSpPr>
        <p:spPr>
          <a:xfrm>
            <a:off x="8505974" y="2267843"/>
            <a:ext cx="2011561" cy="523875"/>
          </a:xfrm>
          <a:prstGeom prst="rect">
            <a:avLst/>
          </a:prstGeom>
          <a:solidFill>
            <a:srgbClr val="33455E"/>
          </a:solidFill>
          <a:ln/>
        </p:spPr>
        <p:txBody>
          <a:bodyPr/>
          <a:lstStyle/>
          <a:p>
            <a:endParaRPr lang="en-US"/>
          </a:p>
        </p:txBody>
      </p:sp>
      <p:sp>
        <p:nvSpPr>
          <p:cNvPr id="14" name="Text 12"/>
          <p:cNvSpPr/>
          <p:nvPr/>
        </p:nvSpPr>
        <p:spPr>
          <a:xfrm>
            <a:off x="8677424" y="2391668"/>
            <a:ext cx="1744861" cy="314325"/>
          </a:xfrm>
          <a:prstGeom prst="rect">
            <a:avLst/>
          </a:prstGeom>
          <a:noFill/>
          <a:ln/>
        </p:spPr>
        <p:txBody>
          <a:bodyPr wrap="square" lIns="25400" tIns="25400" rIns="25400" bIns="25400" rtlCol="0" anchor="ctr">
            <a:normAutofit lnSpcReduction="10000"/>
          </a:bodyPr>
          <a:lstStyle/>
          <a:p>
            <a:pPr marL="0" indent="0" algn="l">
              <a:buNone/>
            </a:pPr>
            <a:r>
              <a:rPr lang="en-US" sz="1875" b="1" dirty="0">
                <a:solidFill>
                  <a:srgbClr val="FFFFFF"/>
                </a:solidFill>
                <a:latin typeface="Arial" pitchFamily="34" charset="0"/>
                <a:ea typeface="Arial" pitchFamily="34" charset="-122"/>
                <a:cs typeface="Arial" pitchFamily="34" charset="-120"/>
              </a:rPr>
              <a:t>XGBoost</a:t>
            </a:r>
            <a:endParaRPr lang="en-US" sz="1875" dirty="0"/>
          </a:p>
        </p:txBody>
      </p:sp>
      <p:sp>
        <p:nvSpPr>
          <p:cNvPr id="15" name="Shape 13"/>
          <p:cNvSpPr/>
          <p:nvPr/>
        </p:nvSpPr>
        <p:spPr>
          <a:xfrm>
            <a:off x="847725" y="2791718"/>
            <a:ext cx="2774305" cy="509587"/>
          </a:xfrm>
          <a:prstGeom prst="rect">
            <a:avLst/>
          </a:prstGeom>
          <a:solidFill>
            <a:srgbClr val="F1F4F7"/>
          </a:solidFill>
          <a:ln/>
        </p:spPr>
        <p:txBody>
          <a:bodyPr/>
          <a:lstStyle/>
          <a:p>
            <a:endParaRPr lang="en-US"/>
          </a:p>
        </p:txBody>
      </p:sp>
      <p:sp>
        <p:nvSpPr>
          <p:cNvPr id="16" name="Shape 14"/>
          <p:cNvSpPr/>
          <p:nvPr/>
        </p:nvSpPr>
        <p:spPr>
          <a:xfrm>
            <a:off x="847725" y="3291780"/>
            <a:ext cx="2774305" cy="9525"/>
          </a:xfrm>
          <a:prstGeom prst="rect">
            <a:avLst/>
          </a:prstGeom>
          <a:solidFill>
            <a:srgbClr val="DCE2E9"/>
          </a:solidFill>
          <a:ln/>
        </p:spPr>
        <p:txBody>
          <a:bodyPr/>
          <a:lstStyle/>
          <a:p>
            <a:endParaRPr lang="en-US"/>
          </a:p>
        </p:txBody>
      </p:sp>
      <p:sp>
        <p:nvSpPr>
          <p:cNvPr id="17" name="Text 15"/>
          <p:cNvSpPr/>
          <p:nvPr/>
        </p:nvSpPr>
        <p:spPr>
          <a:xfrm>
            <a:off x="1019175" y="2906018"/>
            <a:ext cx="2514634" cy="309562"/>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1E2530"/>
                </a:solidFill>
                <a:latin typeface="Arial" pitchFamily="34" charset="0"/>
                <a:ea typeface="Arial" pitchFamily="34" charset="-122"/>
                <a:cs typeface="Arial" pitchFamily="34" charset="-120"/>
              </a:rPr>
              <a:t>Condominium</a:t>
            </a:r>
            <a:endParaRPr lang="en-US" sz="1875" dirty="0"/>
          </a:p>
        </p:txBody>
      </p:sp>
      <p:sp>
        <p:nvSpPr>
          <p:cNvPr id="18" name="Shape 16"/>
          <p:cNvSpPr/>
          <p:nvPr/>
        </p:nvSpPr>
        <p:spPr>
          <a:xfrm>
            <a:off x="3622030" y="2791718"/>
            <a:ext cx="1504057" cy="509587"/>
          </a:xfrm>
          <a:prstGeom prst="rect">
            <a:avLst/>
          </a:prstGeom>
          <a:solidFill>
            <a:srgbClr val="F1F4F7"/>
          </a:solidFill>
          <a:ln/>
        </p:spPr>
        <p:txBody>
          <a:bodyPr/>
          <a:lstStyle/>
          <a:p>
            <a:endParaRPr lang="en-US"/>
          </a:p>
        </p:txBody>
      </p:sp>
      <p:sp>
        <p:nvSpPr>
          <p:cNvPr id="19" name="Shape 17"/>
          <p:cNvSpPr/>
          <p:nvPr/>
        </p:nvSpPr>
        <p:spPr>
          <a:xfrm>
            <a:off x="3622030" y="3291780"/>
            <a:ext cx="1504057" cy="9525"/>
          </a:xfrm>
          <a:prstGeom prst="rect">
            <a:avLst/>
          </a:prstGeom>
          <a:solidFill>
            <a:srgbClr val="DCE2E9"/>
          </a:solidFill>
          <a:ln/>
        </p:spPr>
        <p:txBody>
          <a:bodyPr/>
          <a:lstStyle/>
          <a:p>
            <a:endParaRPr lang="en-US"/>
          </a:p>
        </p:txBody>
      </p:sp>
      <p:sp>
        <p:nvSpPr>
          <p:cNvPr id="20" name="Text 18"/>
          <p:cNvSpPr/>
          <p:nvPr/>
        </p:nvSpPr>
        <p:spPr>
          <a:xfrm>
            <a:off x="3793480" y="2906018"/>
            <a:ext cx="1237357" cy="309562"/>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1E2530"/>
                </a:solidFill>
                <a:latin typeface="Arial" pitchFamily="34" charset="0"/>
                <a:ea typeface="Arial" pitchFamily="34" charset="-122"/>
                <a:cs typeface="Arial" pitchFamily="34" charset="-120"/>
              </a:rPr>
              <a:t>24.5%</a:t>
            </a:r>
            <a:endParaRPr lang="en-US" sz="1875" dirty="0"/>
          </a:p>
        </p:txBody>
      </p:sp>
      <p:sp>
        <p:nvSpPr>
          <p:cNvPr id="21" name="Shape 19"/>
          <p:cNvSpPr/>
          <p:nvPr/>
        </p:nvSpPr>
        <p:spPr>
          <a:xfrm>
            <a:off x="5126087" y="2791718"/>
            <a:ext cx="3379887" cy="509587"/>
          </a:xfrm>
          <a:prstGeom prst="rect">
            <a:avLst/>
          </a:prstGeom>
          <a:solidFill>
            <a:srgbClr val="F1F4F7"/>
          </a:solidFill>
          <a:ln/>
        </p:spPr>
        <p:txBody>
          <a:bodyPr/>
          <a:lstStyle/>
          <a:p>
            <a:endParaRPr lang="en-US"/>
          </a:p>
        </p:txBody>
      </p:sp>
      <p:sp>
        <p:nvSpPr>
          <p:cNvPr id="22" name="Shape 20"/>
          <p:cNvSpPr/>
          <p:nvPr/>
        </p:nvSpPr>
        <p:spPr>
          <a:xfrm>
            <a:off x="5126087" y="3291780"/>
            <a:ext cx="3379887" cy="9525"/>
          </a:xfrm>
          <a:prstGeom prst="rect">
            <a:avLst/>
          </a:prstGeom>
          <a:solidFill>
            <a:srgbClr val="DCE2E9"/>
          </a:solidFill>
          <a:ln/>
        </p:spPr>
        <p:txBody>
          <a:bodyPr/>
          <a:lstStyle/>
          <a:p>
            <a:endParaRPr lang="en-US"/>
          </a:p>
        </p:txBody>
      </p:sp>
      <p:sp>
        <p:nvSpPr>
          <p:cNvPr id="23" name="Text 21"/>
          <p:cNvSpPr/>
          <p:nvPr/>
        </p:nvSpPr>
        <p:spPr>
          <a:xfrm>
            <a:off x="5297537" y="2906018"/>
            <a:ext cx="3138383" cy="309562"/>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33455E"/>
                </a:solidFill>
                <a:latin typeface="Arial" pitchFamily="34" charset="0"/>
                <a:ea typeface="Arial" pitchFamily="34" charset="-122"/>
                <a:cs typeface="Arial" pitchFamily="34" charset="-120"/>
              </a:rPr>
              <a:t>19.3%</a:t>
            </a:r>
            <a:endParaRPr lang="en-US" sz="1875" dirty="0"/>
          </a:p>
        </p:txBody>
      </p:sp>
      <p:sp>
        <p:nvSpPr>
          <p:cNvPr id="24" name="Shape 22"/>
          <p:cNvSpPr/>
          <p:nvPr/>
        </p:nvSpPr>
        <p:spPr>
          <a:xfrm>
            <a:off x="8505974" y="2791718"/>
            <a:ext cx="2011561" cy="509587"/>
          </a:xfrm>
          <a:prstGeom prst="rect">
            <a:avLst/>
          </a:prstGeom>
          <a:solidFill>
            <a:srgbClr val="F1F4F7"/>
          </a:solidFill>
          <a:ln/>
        </p:spPr>
        <p:txBody>
          <a:bodyPr/>
          <a:lstStyle/>
          <a:p>
            <a:endParaRPr lang="en-US"/>
          </a:p>
        </p:txBody>
      </p:sp>
      <p:sp>
        <p:nvSpPr>
          <p:cNvPr id="25" name="Shape 23"/>
          <p:cNvSpPr/>
          <p:nvPr/>
        </p:nvSpPr>
        <p:spPr>
          <a:xfrm>
            <a:off x="8505974" y="3291780"/>
            <a:ext cx="2011561" cy="9525"/>
          </a:xfrm>
          <a:prstGeom prst="rect">
            <a:avLst/>
          </a:prstGeom>
          <a:solidFill>
            <a:srgbClr val="DCE2E9"/>
          </a:solidFill>
          <a:ln/>
        </p:spPr>
        <p:txBody>
          <a:bodyPr/>
          <a:lstStyle/>
          <a:p>
            <a:endParaRPr lang="en-US"/>
          </a:p>
        </p:txBody>
      </p:sp>
      <p:sp>
        <p:nvSpPr>
          <p:cNvPr id="26" name="Text 24"/>
          <p:cNvSpPr/>
          <p:nvPr/>
        </p:nvSpPr>
        <p:spPr>
          <a:xfrm>
            <a:off x="8677424" y="2906018"/>
            <a:ext cx="1744861" cy="309562"/>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1E2530"/>
                </a:solidFill>
                <a:latin typeface="Arial" pitchFamily="34" charset="0"/>
                <a:ea typeface="Arial" pitchFamily="34" charset="-122"/>
                <a:cs typeface="Arial" pitchFamily="34" charset="-120"/>
              </a:rPr>
              <a:t>19.8%</a:t>
            </a:r>
            <a:endParaRPr lang="en-US" sz="1875" dirty="0"/>
          </a:p>
        </p:txBody>
      </p:sp>
      <p:sp>
        <p:nvSpPr>
          <p:cNvPr id="27" name="Shape 25"/>
          <p:cNvSpPr/>
          <p:nvPr/>
        </p:nvSpPr>
        <p:spPr>
          <a:xfrm>
            <a:off x="847725" y="3806130"/>
            <a:ext cx="2774305" cy="9525"/>
          </a:xfrm>
          <a:prstGeom prst="rect">
            <a:avLst/>
          </a:prstGeom>
          <a:solidFill>
            <a:srgbClr val="DCE2E9"/>
          </a:solidFill>
          <a:ln/>
        </p:spPr>
        <p:txBody>
          <a:bodyPr/>
          <a:lstStyle/>
          <a:p>
            <a:endParaRPr lang="en-US"/>
          </a:p>
        </p:txBody>
      </p:sp>
      <p:sp>
        <p:nvSpPr>
          <p:cNvPr id="28" name="Text 26"/>
          <p:cNvSpPr/>
          <p:nvPr/>
        </p:nvSpPr>
        <p:spPr>
          <a:xfrm>
            <a:off x="1019175" y="3415605"/>
            <a:ext cx="2514634" cy="314325"/>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1E2530"/>
                </a:solidFill>
                <a:latin typeface="Arial" pitchFamily="34" charset="0"/>
                <a:ea typeface="Arial" pitchFamily="34" charset="-122"/>
                <a:cs typeface="Arial" pitchFamily="34" charset="-120"/>
              </a:rPr>
              <a:t>Houses</a:t>
            </a:r>
            <a:endParaRPr lang="en-US" sz="1875" dirty="0"/>
          </a:p>
        </p:txBody>
      </p:sp>
      <p:sp>
        <p:nvSpPr>
          <p:cNvPr id="29" name="Shape 27"/>
          <p:cNvSpPr/>
          <p:nvPr/>
        </p:nvSpPr>
        <p:spPr>
          <a:xfrm>
            <a:off x="3622030" y="3806130"/>
            <a:ext cx="1504057" cy="9525"/>
          </a:xfrm>
          <a:prstGeom prst="rect">
            <a:avLst/>
          </a:prstGeom>
          <a:solidFill>
            <a:srgbClr val="DCE2E9"/>
          </a:solidFill>
          <a:ln/>
        </p:spPr>
        <p:txBody>
          <a:bodyPr/>
          <a:lstStyle/>
          <a:p>
            <a:endParaRPr lang="en-US"/>
          </a:p>
        </p:txBody>
      </p:sp>
      <p:sp>
        <p:nvSpPr>
          <p:cNvPr id="30" name="Text 28"/>
          <p:cNvSpPr/>
          <p:nvPr/>
        </p:nvSpPr>
        <p:spPr>
          <a:xfrm>
            <a:off x="3793480" y="3415605"/>
            <a:ext cx="1237357" cy="314325"/>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1E2530"/>
                </a:solidFill>
                <a:latin typeface="Arial" pitchFamily="34" charset="0"/>
                <a:ea typeface="Arial" pitchFamily="34" charset="-122"/>
                <a:cs typeface="Arial" pitchFamily="34" charset="-120"/>
              </a:rPr>
              <a:t>25.1%</a:t>
            </a:r>
            <a:endParaRPr lang="en-US" sz="1875" dirty="0"/>
          </a:p>
        </p:txBody>
      </p:sp>
      <p:sp>
        <p:nvSpPr>
          <p:cNvPr id="31" name="Shape 29"/>
          <p:cNvSpPr/>
          <p:nvPr/>
        </p:nvSpPr>
        <p:spPr>
          <a:xfrm>
            <a:off x="5126087" y="3806130"/>
            <a:ext cx="3379887" cy="9525"/>
          </a:xfrm>
          <a:prstGeom prst="rect">
            <a:avLst/>
          </a:prstGeom>
          <a:solidFill>
            <a:srgbClr val="DCE2E9"/>
          </a:solidFill>
          <a:ln/>
        </p:spPr>
        <p:txBody>
          <a:bodyPr/>
          <a:lstStyle/>
          <a:p>
            <a:endParaRPr lang="en-US"/>
          </a:p>
        </p:txBody>
      </p:sp>
      <p:sp>
        <p:nvSpPr>
          <p:cNvPr id="32" name="Text 30"/>
          <p:cNvSpPr/>
          <p:nvPr/>
        </p:nvSpPr>
        <p:spPr>
          <a:xfrm>
            <a:off x="5297537" y="3415605"/>
            <a:ext cx="3138383" cy="314325"/>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33455E"/>
                </a:solidFill>
                <a:latin typeface="Arial" pitchFamily="34" charset="0"/>
                <a:ea typeface="Arial" pitchFamily="34" charset="-122"/>
                <a:cs typeface="Arial" pitchFamily="34" charset="-120"/>
              </a:rPr>
              <a:t>22.7%</a:t>
            </a:r>
            <a:endParaRPr lang="en-US" sz="1875" dirty="0"/>
          </a:p>
        </p:txBody>
      </p:sp>
      <p:sp>
        <p:nvSpPr>
          <p:cNvPr id="33" name="Shape 31"/>
          <p:cNvSpPr/>
          <p:nvPr/>
        </p:nvSpPr>
        <p:spPr>
          <a:xfrm>
            <a:off x="8505974" y="3806130"/>
            <a:ext cx="2011561" cy="9525"/>
          </a:xfrm>
          <a:prstGeom prst="rect">
            <a:avLst/>
          </a:prstGeom>
          <a:solidFill>
            <a:srgbClr val="DCE2E9"/>
          </a:solidFill>
          <a:ln/>
        </p:spPr>
        <p:txBody>
          <a:bodyPr/>
          <a:lstStyle/>
          <a:p>
            <a:endParaRPr lang="en-US"/>
          </a:p>
        </p:txBody>
      </p:sp>
      <p:sp>
        <p:nvSpPr>
          <p:cNvPr id="34" name="Text 32"/>
          <p:cNvSpPr/>
          <p:nvPr/>
        </p:nvSpPr>
        <p:spPr>
          <a:xfrm>
            <a:off x="8677424" y="3415605"/>
            <a:ext cx="1744861" cy="314325"/>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1E2530"/>
                </a:solidFill>
                <a:latin typeface="Arial" pitchFamily="34" charset="0"/>
                <a:ea typeface="Arial" pitchFamily="34" charset="-122"/>
                <a:cs typeface="Arial" pitchFamily="34" charset="-120"/>
              </a:rPr>
              <a:t>23.6%</a:t>
            </a:r>
            <a:endParaRPr lang="en-US" sz="1875" dirty="0"/>
          </a:p>
        </p:txBody>
      </p:sp>
      <p:sp>
        <p:nvSpPr>
          <p:cNvPr id="35" name="Shape 33"/>
          <p:cNvSpPr/>
          <p:nvPr/>
        </p:nvSpPr>
        <p:spPr>
          <a:xfrm>
            <a:off x="847725" y="3815655"/>
            <a:ext cx="2774305" cy="514350"/>
          </a:xfrm>
          <a:prstGeom prst="rect">
            <a:avLst/>
          </a:prstGeom>
          <a:solidFill>
            <a:srgbClr val="F1F4F7"/>
          </a:solidFill>
          <a:ln/>
        </p:spPr>
        <p:txBody>
          <a:bodyPr/>
          <a:lstStyle/>
          <a:p>
            <a:endParaRPr lang="en-US"/>
          </a:p>
        </p:txBody>
      </p:sp>
      <p:sp>
        <p:nvSpPr>
          <p:cNvPr id="36" name="Shape 34"/>
          <p:cNvSpPr/>
          <p:nvPr/>
        </p:nvSpPr>
        <p:spPr>
          <a:xfrm>
            <a:off x="847725" y="4320480"/>
            <a:ext cx="2774305" cy="9525"/>
          </a:xfrm>
          <a:prstGeom prst="rect">
            <a:avLst/>
          </a:prstGeom>
          <a:solidFill>
            <a:srgbClr val="DCE2E9"/>
          </a:solidFill>
          <a:ln/>
        </p:spPr>
        <p:txBody>
          <a:bodyPr/>
          <a:lstStyle/>
          <a:p>
            <a:endParaRPr lang="en-US"/>
          </a:p>
        </p:txBody>
      </p:sp>
      <p:sp>
        <p:nvSpPr>
          <p:cNvPr id="37" name="Text 35"/>
          <p:cNvSpPr/>
          <p:nvPr/>
        </p:nvSpPr>
        <p:spPr>
          <a:xfrm>
            <a:off x="1019175" y="3929955"/>
            <a:ext cx="2514634" cy="314325"/>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1E2530"/>
                </a:solidFill>
                <a:latin typeface="Arial" pitchFamily="34" charset="0"/>
                <a:ea typeface="Arial" pitchFamily="34" charset="-122"/>
                <a:cs typeface="Arial" pitchFamily="34" charset="-120"/>
              </a:rPr>
              <a:t>Vacant Lot</a:t>
            </a:r>
            <a:endParaRPr lang="en-US" sz="1875" dirty="0"/>
          </a:p>
        </p:txBody>
      </p:sp>
      <p:sp>
        <p:nvSpPr>
          <p:cNvPr id="38" name="Shape 36"/>
          <p:cNvSpPr/>
          <p:nvPr/>
        </p:nvSpPr>
        <p:spPr>
          <a:xfrm>
            <a:off x="3622030" y="3815655"/>
            <a:ext cx="1504057" cy="514350"/>
          </a:xfrm>
          <a:prstGeom prst="rect">
            <a:avLst/>
          </a:prstGeom>
          <a:solidFill>
            <a:srgbClr val="F1F4F7"/>
          </a:solidFill>
          <a:ln/>
        </p:spPr>
        <p:txBody>
          <a:bodyPr/>
          <a:lstStyle/>
          <a:p>
            <a:endParaRPr lang="en-US"/>
          </a:p>
        </p:txBody>
      </p:sp>
      <p:sp>
        <p:nvSpPr>
          <p:cNvPr id="39" name="Shape 37"/>
          <p:cNvSpPr/>
          <p:nvPr/>
        </p:nvSpPr>
        <p:spPr>
          <a:xfrm>
            <a:off x="3622030" y="4320480"/>
            <a:ext cx="1504057" cy="9525"/>
          </a:xfrm>
          <a:prstGeom prst="rect">
            <a:avLst/>
          </a:prstGeom>
          <a:solidFill>
            <a:srgbClr val="DCE2E9"/>
          </a:solidFill>
          <a:ln/>
        </p:spPr>
        <p:txBody>
          <a:bodyPr/>
          <a:lstStyle/>
          <a:p>
            <a:endParaRPr lang="en-US"/>
          </a:p>
        </p:txBody>
      </p:sp>
      <p:sp>
        <p:nvSpPr>
          <p:cNvPr id="40" name="Text 38"/>
          <p:cNvSpPr/>
          <p:nvPr/>
        </p:nvSpPr>
        <p:spPr>
          <a:xfrm>
            <a:off x="3793480" y="3929955"/>
            <a:ext cx="1237357" cy="314325"/>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1E2530"/>
                </a:solidFill>
                <a:latin typeface="Arial" pitchFamily="34" charset="0"/>
                <a:ea typeface="Arial" pitchFamily="34" charset="-122"/>
                <a:cs typeface="Arial" pitchFamily="34" charset="-120"/>
              </a:rPr>
              <a:t>44.8%</a:t>
            </a:r>
            <a:endParaRPr lang="en-US" sz="1875" dirty="0"/>
          </a:p>
        </p:txBody>
      </p:sp>
      <p:sp>
        <p:nvSpPr>
          <p:cNvPr id="41" name="Shape 39"/>
          <p:cNvSpPr/>
          <p:nvPr/>
        </p:nvSpPr>
        <p:spPr>
          <a:xfrm>
            <a:off x="5126087" y="3815655"/>
            <a:ext cx="3379887" cy="514350"/>
          </a:xfrm>
          <a:prstGeom prst="rect">
            <a:avLst/>
          </a:prstGeom>
          <a:solidFill>
            <a:srgbClr val="F1F4F7"/>
          </a:solidFill>
          <a:ln/>
        </p:spPr>
        <p:txBody>
          <a:bodyPr/>
          <a:lstStyle/>
          <a:p>
            <a:endParaRPr lang="en-US"/>
          </a:p>
        </p:txBody>
      </p:sp>
      <p:sp>
        <p:nvSpPr>
          <p:cNvPr id="42" name="Shape 40"/>
          <p:cNvSpPr/>
          <p:nvPr/>
        </p:nvSpPr>
        <p:spPr>
          <a:xfrm>
            <a:off x="5126087" y="4320480"/>
            <a:ext cx="3379887" cy="9525"/>
          </a:xfrm>
          <a:prstGeom prst="rect">
            <a:avLst/>
          </a:prstGeom>
          <a:solidFill>
            <a:srgbClr val="DCE2E9"/>
          </a:solidFill>
          <a:ln/>
        </p:spPr>
        <p:txBody>
          <a:bodyPr/>
          <a:lstStyle/>
          <a:p>
            <a:endParaRPr lang="en-US"/>
          </a:p>
        </p:txBody>
      </p:sp>
      <p:sp>
        <p:nvSpPr>
          <p:cNvPr id="43" name="Text 41"/>
          <p:cNvSpPr/>
          <p:nvPr/>
        </p:nvSpPr>
        <p:spPr>
          <a:xfrm>
            <a:off x="5297537" y="3929955"/>
            <a:ext cx="3138383" cy="314325"/>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33455E"/>
                </a:solidFill>
                <a:latin typeface="Arial" pitchFamily="34" charset="0"/>
                <a:ea typeface="Arial" pitchFamily="34" charset="-122"/>
                <a:cs typeface="Arial" pitchFamily="34" charset="-120"/>
              </a:rPr>
              <a:t>38.4%</a:t>
            </a:r>
            <a:endParaRPr lang="en-US" sz="1875" dirty="0"/>
          </a:p>
        </p:txBody>
      </p:sp>
      <p:sp>
        <p:nvSpPr>
          <p:cNvPr id="44" name="Shape 42"/>
          <p:cNvSpPr/>
          <p:nvPr/>
        </p:nvSpPr>
        <p:spPr>
          <a:xfrm>
            <a:off x="8505974" y="3815655"/>
            <a:ext cx="2011561" cy="514350"/>
          </a:xfrm>
          <a:prstGeom prst="rect">
            <a:avLst/>
          </a:prstGeom>
          <a:solidFill>
            <a:srgbClr val="F1F4F7"/>
          </a:solidFill>
          <a:ln/>
        </p:spPr>
        <p:txBody>
          <a:bodyPr/>
          <a:lstStyle/>
          <a:p>
            <a:endParaRPr lang="en-US"/>
          </a:p>
        </p:txBody>
      </p:sp>
      <p:sp>
        <p:nvSpPr>
          <p:cNvPr id="45" name="Shape 43"/>
          <p:cNvSpPr/>
          <p:nvPr/>
        </p:nvSpPr>
        <p:spPr>
          <a:xfrm>
            <a:off x="8505974" y="4320480"/>
            <a:ext cx="2011561" cy="9525"/>
          </a:xfrm>
          <a:prstGeom prst="rect">
            <a:avLst/>
          </a:prstGeom>
          <a:solidFill>
            <a:srgbClr val="DCE2E9"/>
          </a:solidFill>
          <a:ln/>
        </p:spPr>
        <p:txBody>
          <a:bodyPr/>
          <a:lstStyle/>
          <a:p>
            <a:endParaRPr lang="en-US"/>
          </a:p>
        </p:txBody>
      </p:sp>
      <p:sp>
        <p:nvSpPr>
          <p:cNvPr id="46" name="Text 44"/>
          <p:cNvSpPr/>
          <p:nvPr/>
        </p:nvSpPr>
        <p:spPr>
          <a:xfrm>
            <a:off x="8677424" y="3929955"/>
            <a:ext cx="1744861" cy="314325"/>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1E2530"/>
                </a:solidFill>
                <a:latin typeface="Arial" pitchFamily="34" charset="0"/>
                <a:ea typeface="Arial" pitchFamily="34" charset="-122"/>
                <a:cs typeface="Arial" pitchFamily="34" charset="-120"/>
              </a:rPr>
              <a:t>40.2%</a:t>
            </a:r>
            <a:endParaRPr lang="en-US" sz="1875" dirty="0"/>
          </a:p>
        </p:txBody>
      </p:sp>
      <p:sp>
        <p:nvSpPr>
          <p:cNvPr id="47" name="Text 45"/>
          <p:cNvSpPr/>
          <p:nvPr/>
        </p:nvSpPr>
        <p:spPr>
          <a:xfrm>
            <a:off x="847725" y="4487168"/>
            <a:ext cx="10636791" cy="314325"/>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33455E"/>
                </a:solidFill>
                <a:latin typeface="Arial" pitchFamily="34" charset="0"/>
                <a:ea typeface="Arial" pitchFamily="34" charset="-122"/>
                <a:cs typeface="Arial" pitchFamily="34" charset="-120"/>
              </a:rPr>
              <a:t>PE20 — share within 20% </a:t>
            </a:r>
            <a:r>
              <a:rPr lang="en-US" sz="1875" dirty="0">
                <a:solidFill>
                  <a:srgbClr val="6E7686"/>
                </a:solidFill>
                <a:latin typeface="Arial" pitchFamily="34" charset="0"/>
                <a:ea typeface="Arial" pitchFamily="34" charset="-122"/>
                <a:cs typeface="Arial" pitchFamily="34" charset="-120"/>
              </a:rPr>
              <a:t>(higher is better)</a:t>
            </a:r>
            <a:endParaRPr lang="en-US" sz="1875" dirty="0"/>
          </a:p>
        </p:txBody>
      </p:sp>
      <p:sp>
        <p:nvSpPr>
          <p:cNvPr id="48" name="Shape 46"/>
          <p:cNvSpPr/>
          <p:nvPr/>
        </p:nvSpPr>
        <p:spPr>
          <a:xfrm>
            <a:off x="847725" y="4820543"/>
            <a:ext cx="2855268" cy="523875"/>
          </a:xfrm>
          <a:prstGeom prst="rect">
            <a:avLst/>
          </a:prstGeom>
          <a:solidFill>
            <a:srgbClr val="33455E"/>
          </a:solidFill>
          <a:ln/>
        </p:spPr>
        <p:txBody>
          <a:bodyPr/>
          <a:lstStyle/>
          <a:p>
            <a:endParaRPr lang="en-US"/>
          </a:p>
        </p:txBody>
      </p:sp>
      <p:sp>
        <p:nvSpPr>
          <p:cNvPr id="49" name="Text 47"/>
          <p:cNvSpPr/>
          <p:nvPr/>
        </p:nvSpPr>
        <p:spPr>
          <a:xfrm>
            <a:off x="1019175" y="4944368"/>
            <a:ext cx="2598026" cy="314325"/>
          </a:xfrm>
          <a:prstGeom prst="rect">
            <a:avLst/>
          </a:prstGeom>
          <a:noFill/>
          <a:ln/>
        </p:spPr>
        <p:txBody>
          <a:bodyPr wrap="square" lIns="25400" tIns="25400" rIns="25400" bIns="25400" rtlCol="0" anchor="ctr">
            <a:normAutofit lnSpcReduction="10000"/>
          </a:bodyPr>
          <a:lstStyle/>
          <a:p>
            <a:pPr marL="0" indent="0" algn="l">
              <a:buNone/>
            </a:pPr>
            <a:r>
              <a:rPr lang="en-US" sz="1875" b="1" dirty="0">
                <a:solidFill>
                  <a:srgbClr val="FFFFFF"/>
                </a:solidFill>
                <a:latin typeface="Arial" pitchFamily="34" charset="0"/>
                <a:ea typeface="Arial" pitchFamily="34" charset="-122"/>
                <a:cs typeface="Arial" pitchFamily="34" charset="-120"/>
              </a:rPr>
              <a:t>Property type</a:t>
            </a:r>
            <a:endParaRPr lang="en-US" sz="1875" dirty="0"/>
          </a:p>
        </p:txBody>
      </p:sp>
      <p:sp>
        <p:nvSpPr>
          <p:cNvPr id="50" name="Shape 48"/>
          <p:cNvSpPr/>
          <p:nvPr/>
        </p:nvSpPr>
        <p:spPr>
          <a:xfrm>
            <a:off x="3702993" y="4820543"/>
            <a:ext cx="1265634" cy="523875"/>
          </a:xfrm>
          <a:prstGeom prst="rect">
            <a:avLst/>
          </a:prstGeom>
          <a:solidFill>
            <a:srgbClr val="33455E"/>
          </a:solidFill>
          <a:ln/>
        </p:spPr>
        <p:txBody>
          <a:bodyPr/>
          <a:lstStyle/>
          <a:p>
            <a:endParaRPr lang="en-US"/>
          </a:p>
        </p:txBody>
      </p:sp>
      <p:sp>
        <p:nvSpPr>
          <p:cNvPr id="51" name="Text 49"/>
          <p:cNvSpPr/>
          <p:nvPr/>
        </p:nvSpPr>
        <p:spPr>
          <a:xfrm>
            <a:off x="3874443" y="4944368"/>
            <a:ext cx="998934" cy="314325"/>
          </a:xfrm>
          <a:prstGeom prst="rect">
            <a:avLst/>
          </a:prstGeom>
          <a:noFill/>
          <a:ln/>
        </p:spPr>
        <p:txBody>
          <a:bodyPr wrap="square" lIns="25400" tIns="25400" rIns="25400" bIns="25400" rtlCol="0" anchor="ctr">
            <a:normAutofit lnSpcReduction="10000"/>
          </a:bodyPr>
          <a:lstStyle/>
          <a:p>
            <a:pPr marL="0" indent="0" algn="l">
              <a:buNone/>
            </a:pPr>
            <a:r>
              <a:rPr lang="en-US" sz="1875" b="1" dirty="0">
                <a:solidFill>
                  <a:srgbClr val="FFFFFF"/>
                </a:solidFill>
                <a:latin typeface="Arial" pitchFamily="34" charset="0"/>
                <a:ea typeface="Arial" pitchFamily="34" charset="-122"/>
                <a:cs typeface="Arial" pitchFamily="34" charset="-120"/>
              </a:rPr>
              <a:t>OLS</a:t>
            </a:r>
            <a:endParaRPr lang="en-US" sz="1875" dirty="0"/>
          </a:p>
        </p:txBody>
      </p:sp>
      <p:sp>
        <p:nvSpPr>
          <p:cNvPr id="52" name="Shape 50"/>
          <p:cNvSpPr/>
          <p:nvPr/>
        </p:nvSpPr>
        <p:spPr>
          <a:xfrm>
            <a:off x="4968627" y="4820543"/>
            <a:ext cx="3478560" cy="523875"/>
          </a:xfrm>
          <a:prstGeom prst="rect">
            <a:avLst/>
          </a:prstGeom>
          <a:solidFill>
            <a:srgbClr val="33455E"/>
          </a:solidFill>
          <a:ln/>
        </p:spPr>
        <p:txBody>
          <a:bodyPr/>
          <a:lstStyle/>
          <a:p>
            <a:endParaRPr lang="en-US"/>
          </a:p>
        </p:txBody>
      </p:sp>
      <p:sp>
        <p:nvSpPr>
          <p:cNvPr id="53" name="Text 51"/>
          <p:cNvSpPr/>
          <p:nvPr/>
        </p:nvSpPr>
        <p:spPr>
          <a:xfrm>
            <a:off x="5140077" y="4944368"/>
            <a:ext cx="3240017" cy="314325"/>
          </a:xfrm>
          <a:prstGeom prst="rect">
            <a:avLst/>
          </a:prstGeom>
          <a:noFill/>
          <a:ln/>
        </p:spPr>
        <p:txBody>
          <a:bodyPr wrap="square" lIns="25400" tIns="25400" rIns="25400" bIns="25400" rtlCol="0" anchor="ctr">
            <a:normAutofit lnSpcReduction="10000"/>
          </a:bodyPr>
          <a:lstStyle/>
          <a:p>
            <a:pPr marL="0" indent="0" algn="l">
              <a:buNone/>
            </a:pPr>
            <a:r>
              <a:rPr lang="en-US" sz="1875" b="1" dirty="0">
                <a:solidFill>
                  <a:srgbClr val="FFFFFF"/>
                </a:solidFill>
                <a:latin typeface="Arial" pitchFamily="34" charset="0"/>
                <a:ea typeface="Arial" pitchFamily="34" charset="-122"/>
                <a:cs typeface="Arial" pitchFamily="34" charset="-120"/>
              </a:rPr>
              <a:t>Random Forest †</a:t>
            </a:r>
            <a:endParaRPr lang="en-US" sz="1875" dirty="0"/>
          </a:p>
        </p:txBody>
      </p:sp>
      <p:sp>
        <p:nvSpPr>
          <p:cNvPr id="54" name="Shape 52"/>
          <p:cNvSpPr/>
          <p:nvPr/>
        </p:nvSpPr>
        <p:spPr>
          <a:xfrm>
            <a:off x="8447187" y="4820543"/>
            <a:ext cx="2070348" cy="523875"/>
          </a:xfrm>
          <a:prstGeom prst="rect">
            <a:avLst/>
          </a:prstGeom>
          <a:solidFill>
            <a:srgbClr val="33455E"/>
          </a:solidFill>
          <a:ln/>
        </p:spPr>
        <p:txBody>
          <a:bodyPr/>
          <a:lstStyle/>
          <a:p>
            <a:endParaRPr lang="en-US"/>
          </a:p>
        </p:txBody>
      </p:sp>
      <p:sp>
        <p:nvSpPr>
          <p:cNvPr id="55" name="Text 53"/>
          <p:cNvSpPr/>
          <p:nvPr/>
        </p:nvSpPr>
        <p:spPr>
          <a:xfrm>
            <a:off x="8618637" y="4944368"/>
            <a:ext cx="1803648" cy="314325"/>
          </a:xfrm>
          <a:prstGeom prst="rect">
            <a:avLst/>
          </a:prstGeom>
          <a:noFill/>
          <a:ln/>
        </p:spPr>
        <p:txBody>
          <a:bodyPr wrap="square" lIns="25400" tIns="25400" rIns="25400" bIns="25400" rtlCol="0" anchor="ctr">
            <a:normAutofit lnSpcReduction="10000"/>
          </a:bodyPr>
          <a:lstStyle/>
          <a:p>
            <a:pPr marL="0" indent="0" algn="l">
              <a:buNone/>
            </a:pPr>
            <a:r>
              <a:rPr lang="en-US" sz="1875" b="1" dirty="0">
                <a:solidFill>
                  <a:srgbClr val="FFFFFF"/>
                </a:solidFill>
                <a:latin typeface="Arial" pitchFamily="34" charset="0"/>
                <a:ea typeface="Arial" pitchFamily="34" charset="-122"/>
                <a:cs typeface="Arial" pitchFamily="34" charset="-120"/>
              </a:rPr>
              <a:t>XGBoost</a:t>
            </a:r>
            <a:endParaRPr lang="en-US" sz="1875" dirty="0"/>
          </a:p>
        </p:txBody>
      </p:sp>
      <p:sp>
        <p:nvSpPr>
          <p:cNvPr id="56" name="Shape 54"/>
          <p:cNvSpPr/>
          <p:nvPr/>
        </p:nvSpPr>
        <p:spPr>
          <a:xfrm>
            <a:off x="847725" y="5344418"/>
            <a:ext cx="2855268" cy="509587"/>
          </a:xfrm>
          <a:prstGeom prst="rect">
            <a:avLst/>
          </a:prstGeom>
          <a:solidFill>
            <a:srgbClr val="F1F4F7"/>
          </a:solidFill>
          <a:ln/>
        </p:spPr>
        <p:txBody>
          <a:bodyPr/>
          <a:lstStyle/>
          <a:p>
            <a:endParaRPr lang="en-US"/>
          </a:p>
        </p:txBody>
      </p:sp>
      <p:sp>
        <p:nvSpPr>
          <p:cNvPr id="57" name="Shape 55"/>
          <p:cNvSpPr/>
          <p:nvPr/>
        </p:nvSpPr>
        <p:spPr>
          <a:xfrm>
            <a:off x="847725" y="5844480"/>
            <a:ext cx="2855268" cy="9525"/>
          </a:xfrm>
          <a:prstGeom prst="rect">
            <a:avLst/>
          </a:prstGeom>
          <a:solidFill>
            <a:srgbClr val="DCE2E9"/>
          </a:solidFill>
          <a:ln/>
        </p:spPr>
        <p:txBody>
          <a:bodyPr/>
          <a:lstStyle/>
          <a:p>
            <a:endParaRPr lang="en-US"/>
          </a:p>
        </p:txBody>
      </p:sp>
      <p:sp>
        <p:nvSpPr>
          <p:cNvPr id="58" name="Text 56"/>
          <p:cNvSpPr/>
          <p:nvPr/>
        </p:nvSpPr>
        <p:spPr>
          <a:xfrm>
            <a:off x="1019175" y="5458718"/>
            <a:ext cx="2598026" cy="309562"/>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1E2530"/>
                </a:solidFill>
                <a:latin typeface="Arial" pitchFamily="34" charset="0"/>
                <a:ea typeface="Arial" pitchFamily="34" charset="-122"/>
                <a:cs typeface="Arial" pitchFamily="34" charset="-120"/>
              </a:rPr>
              <a:t>Condominium</a:t>
            </a:r>
            <a:endParaRPr lang="en-US" sz="1875" dirty="0"/>
          </a:p>
        </p:txBody>
      </p:sp>
      <p:sp>
        <p:nvSpPr>
          <p:cNvPr id="59" name="Shape 57"/>
          <p:cNvSpPr/>
          <p:nvPr/>
        </p:nvSpPr>
        <p:spPr>
          <a:xfrm>
            <a:off x="3702993" y="5344418"/>
            <a:ext cx="1265634" cy="509587"/>
          </a:xfrm>
          <a:prstGeom prst="rect">
            <a:avLst/>
          </a:prstGeom>
          <a:solidFill>
            <a:srgbClr val="F1F4F7"/>
          </a:solidFill>
          <a:ln/>
        </p:spPr>
        <p:txBody>
          <a:bodyPr/>
          <a:lstStyle/>
          <a:p>
            <a:endParaRPr lang="en-US"/>
          </a:p>
        </p:txBody>
      </p:sp>
      <p:sp>
        <p:nvSpPr>
          <p:cNvPr id="60" name="Shape 58"/>
          <p:cNvSpPr/>
          <p:nvPr/>
        </p:nvSpPr>
        <p:spPr>
          <a:xfrm>
            <a:off x="3702993" y="5844480"/>
            <a:ext cx="1265634" cy="9525"/>
          </a:xfrm>
          <a:prstGeom prst="rect">
            <a:avLst/>
          </a:prstGeom>
          <a:solidFill>
            <a:srgbClr val="DCE2E9"/>
          </a:solidFill>
          <a:ln/>
        </p:spPr>
        <p:txBody>
          <a:bodyPr/>
          <a:lstStyle/>
          <a:p>
            <a:endParaRPr lang="en-US"/>
          </a:p>
        </p:txBody>
      </p:sp>
      <p:sp>
        <p:nvSpPr>
          <p:cNvPr id="61" name="Text 59"/>
          <p:cNvSpPr/>
          <p:nvPr/>
        </p:nvSpPr>
        <p:spPr>
          <a:xfrm>
            <a:off x="3874443" y="5458718"/>
            <a:ext cx="998934" cy="309562"/>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1E2530"/>
                </a:solidFill>
                <a:latin typeface="Arial" pitchFamily="34" charset="0"/>
                <a:ea typeface="Arial" pitchFamily="34" charset="-122"/>
                <a:cs typeface="Arial" pitchFamily="34" charset="-120"/>
              </a:rPr>
              <a:t>40%</a:t>
            </a:r>
            <a:endParaRPr lang="en-US" sz="1875" dirty="0"/>
          </a:p>
        </p:txBody>
      </p:sp>
      <p:sp>
        <p:nvSpPr>
          <p:cNvPr id="62" name="Shape 60"/>
          <p:cNvSpPr/>
          <p:nvPr/>
        </p:nvSpPr>
        <p:spPr>
          <a:xfrm>
            <a:off x="4968627" y="5344418"/>
            <a:ext cx="3478560" cy="509587"/>
          </a:xfrm>
          <a:prstGeom prst="rect">
            <a:avLst/>
          </a:prstGeom>
          <a:solidFill>
            <a:srgbClr val="F1F4F7"/>
          </a:solidFill>
          <a:ln/>
        </p:spPr>
        <p:txBody>
          <a:bodyPr/>
          <a:lstStyle/>
          <a:p>
            <a:endParaRPr lang="en-US"/>
          </a:p>
        </p:txBody>
      </p:sp>
      <p:sp>
        <p:nvSpPr>
          <p:cNvPr id="63" name="Shape 61"/>
          <p:cNvSpPr/>
          <p:nvPr/>
        </p:nvSpPr>
        <p:spPr>
          <a:xfrm>
            <a:off x="4968627" y="5844480"/>
            <a:ext cx="3478560" cy="9525"/>
          </a:xfrm>
          <a:prstGeom prst="rect">
            <a:avLst/>
          </a:prstGeom>
          <a:solidFill>
            <a:srgbClr val="DCE2E9"/>
          </a:solidFill>
          <a:ln/>
        </p:spPr>
        <p:txBody>
          <a:bodyPr/>
          <a:lstStyle/>
          <a:p>
            <a:endParaRPr lang="en-US"/>
          </a:p>
        </p:txBody>
      </p:sp>
      <p:sp>
        <p:nvSpPr>
          <p:cNvPr id="64" name="Text 62"/>
          <p:cNvSpPr/>
          <p:nvPr/>
        </p:nvSpPr>
        <p:spPr>
          <a:xfrm>
            <a:off x="5140077" y="5458718"/>
            <a:ext cx="3240017" cy="309562"/>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33455E"/>
                </a:solidFill>
                <a:latin typeface="Arial" pitchFamily="34" charset="0"/>
                <a:ea typeface="Arial" pitchFamily="34" charset="-122"/>
                <a:cs typeface="Arial" pitchFamily="34" charset="-120"/>
              </a:rPr>
              <a:t>51%</a:t>
            </a:r>
            <a:endParaRPr lang="en-US" sz="1875" dirty="0"/>
          </a:p>
        </p:txBody>
      </p:sp>
      <p:sp>
        <p:nvSpPr>
          <p:cNvPr id="65" name="Shape 63"/>
          <p:cNvSpPr/>
          <p:nvPr/>
        </p:nvSpPr>
        <p:spPr>
          <a:xfrm>
            <a:off x="8447187" y="5344418"/>
            <a:ext cx="2070348" cy="509587"/>
          </a:xfrm>
          <a:prstGeom prst="rect">
            <a:avLst/>
          </a:prstGeom>
          <a:solidFill>
            <a:srgbClr val="F1F4F7"/>
          </a:solidFill>
          <a:ln/>
        </p:spPr>
        <p:txBody>
          <a:bodyPr/>
          <a:lstStyle/>
          <a:p>
            <a:endParaRPr lang="en-US"/>
          </a:p>
        </p:txBody>
      </p:sp>
      <p:sp>
        <p:nvSpPr>
          <p:cNvPr id="66" name="Shape 64"/>
          <p:cNvSpPr/>
          <p:nvPr/>
        </p:nvSpPr>
        <p:spPr>
          <a:xfrm>
            <a:off x="8447187" y="5844480"/>
            <a:ext cx="2070348" cy="9525"/>
          </a:xfrm>
          <a:prstGeom prst="rect">
            <a:avLst/>
          </a:prstGeom>
          <a:solidFill>
            <a:srgbClr val="DCE2E9"/>
          </a:solidFill>
          <a:ln/>
        </p:spPr>
        <p:txBody>
          <a:bodyPr/>
          <a:lstStyle/>
          <a:p>
            <a:endParaRPr lang="en-US"/>
          </a:p>
        </p:txBody>
      </p:sp>
      <p:sp>
        <p:nvSpPr>
          <p:cNvPr id="67" name="Text 65"/>
          <p:cNvSpPr/>
          <p:nvPr/>
        </p:nvSpPr>
        <p:spPr>
          <a:xfrm>
            <a:off x="8618637" y="5458718"/>
            <a:ext cx="1803648" cy="309562"/>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1E2530"/>
                </a:solidFill>
                <a:latin typeface="Arial" pitchFamily="34" charset="0"/>
                <a:ea typeface="Arial" pitchFamily="34" charset="-122"/>
                <a:cs typeface="Arial" pitchFamily="34" charset="-120"/>
              </a:rPr>
              <a:t>50%</a:t>
            </a:r>
            <a:endParaRPr lang="en-US" sz="1875" dirty="0"/>
          </a:p>
        </p:txBody>
      </p:sp>
      <p:sp>
        <p:nvSpPr>
          <p:cNvPr id="68" name="Shape 66"/>
          <p:cNvSpPr/>
          <p:nvPr/>
        </p:nvSpPr>
        <p:spPr>
          <a:xfrm>
            <a:off x="847725" y="6358830"/>
            <a:ext cx="2855268" cy="9525"/>
          </a:xfrm>
          <a:prstGeom prst="rect">
            <a:avLst/>
          </a:prstGeom>
          <a:solidFill>
            <a:srgbClr val="DCE2E9"/>
          </a:solidFill>
          <a:ln/>
        </p:spPr>
        <p:txBody>
          <a:bodyPr/>
          <a:lstStyle/>
          <a:p>
            <a:endParaRPr lang="en-US"/>
          </a:p>
        </p:txBody>
      </p:sp>
      <p:sp>
        <p:nvSpPr>
          <p:cNvPr id="69" name="Text 67"/>
          <p:cNvSpPr/>
          <p:nvPr/>
        </p:nvSpPr>
        <p:spPr>
          <a:xfrm>
            <a:off x="1019175" y="5968305"/>
            <a:ext cx="2598026" cy="314325"/>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1E2530"/>
                </a:solidFill>
                <a:latin typeface="Arial" pitchFamily="34" charset="0"/>
                <a:ea typeface="Arial" pitchFamily="34" charset="-122"/>
                <a:cs typeface="Arial" pitchFamily="34" charset="-120"/>
              </a:rPr>
              <a:t>Houses</a:t>
            </a:r>
            <a:endParaRPr lang="en-US" sz="1875" dirty="0"/>
          </a:p>
        </p:txBody>
      </p:sp>
      <p:sp>
        <p:nvSpPr>
          <p:cNvPr id="70" name="Shape 68"/>
          <p:cNvSpPr/>
          <p:nvPr/>
        </p:nvSpPr>
        <p:spPr>
          <a:xfrm>
            <a:off x="3702993" y="6358830"/>
            <a:ext cx="1265634" cy="9525"/>
          </a:xfrm>
          <a:prstGeom prst="rect">
            <a:avLst/>
          </a:prstGeom>
          <a:solidFill>
            <a:srgbClr val="DCE2E9"/>
          </a:solidFill>
          <a:ln/>
        </p:spPr>
        <p:txBody>
          <a:bodyPr/>
          <a:lstStyle/>
          <a:p>
            <a:endParaRPr lang="en-US"/>
          </a:p>
        </p:txBody>
      </p:sp>
      <p:sp>
        <p:nvSpPr>
          <p:cNvPr id="71" name="Text 69"/>
          <p:cNvSpPr/>
          <p:nvPr/>
        </p:nvSpPr>
        <p:spPr>
          <a:xfrm>
            <a:off x="3874443" y="5968305"/>
            <a:ext cx="998934" cy="314325"/>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1E2530"/>
                </a:solidFill>
                <a:latin typeface="Arial" pitchFamily="34" charset="0"/>
                <a:ea typeface="Arial" pitchFamily="34" charset="-122"/>
                <a:cs typeface="Arial" pitchFamily="34" charset="-120"/>
              </a:rPr>
              <a:t>41%</a:t>
            </a:r>
            <a:endParaRPr lang="en-US" sz="1875" dirty="0"/>
          </a:p>
        </p:txBody>
      </p:sp>
      <p:sp>
        <p:nvSpPr>
          <p:cNvPr id="72" name="Shape 70"/>
          <p:cNvSpPr/>
          <p:nvPr/>
        </p:nvSpPr>
        <p:spPr>
          <a:xfrm>
            <a:off x="4968627" y="6358830"/>
            <a:ext cx="3478560" cy="9525"/>
          </a:xfrm>
          <a:prstGeom prst="rect">
            <a:avLst/>
          </a:prstGeom>
          <a:solidFill>
            <a:srgbClr val="DCE2E9"/>
          </a:solidFill>
          <a:ln/>
        </p:spPr>
        <p:txBody>
          <a:bodyPr/>
          <a:lstStyle/>
          <a:p>
            <a:endParaRPr lang="en-US"/>
          </a:p>
        </p:txBody>
      </p:sp>
      <p:sp>
        <p:nvSpPr>
          <p:cNvPr id="73" name="Text 71"/>
          <p:cNvSpPr/>
          <p:nvPr/>
        </p:nvSpPr>
        <p:spPr>
          <a:xfrm>
            <a:off x="5140077" y="5968305"/>
            <a:ext cx="3240017" cy="314325"/>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33455E"/>
                </a:solidFill>
                <a:latin typeface="Arial" pitchFamily="34" charset="0"/>
                <a:ea typeface="Arial" pitchFamily="34" charset="-122"/>
                <a:cs typeface="Arial" pitchFamily="34" charset="-120"/>
              </a:rPr>
              <a:t>44%</a:t>
            </a:r>
            <a:endParaRPr lang="en-US" sz="1875" dirty="0"/>
          </a:p>
        </p:txBody>
      </p:sp>
      <p:sp>
        <p:nvSpPr>
          <p:cNvPr id="74" name="Shape 72"/>
          <p:cNvSpPr/>
          <p:nvPr/>
        </p:nvSpPr>
        <p:spPr>
          <a:xfrm>
            <a:off x="8447187" y="6358830"/>
            <a:ext cx="2070348" cy="9525"/>
          </a:xfrm>
          <a:prstGeom prst="rect">
            <a:avLst/>
          </a:prstGeom>
          <a:solidFill>
            <a:srgbClr val="DCE2E9"/>
          </a:solidFill>
          <a:ln/>
        </p:spPr>
        <p:txBody>
          <a:bodyPr/>
          <a:lstStyle/>
          <a:p>
            <a:endParaRPr lang="en-US"/>
          </a:p>
        </p:txBody>
      </p:sp>
      <p:sp>
        <p:nvSpPr>
          <p:cNvPr id="75" name="Text 73"/>
          <p:cNvSpPr/>
          <p:nvPr/>
        </p:nvSpPr>
        <p:spPr>
          <a:xfrm>
            <a:off x="8618637" y="5968305"/>
            <a:ext cx="1803648" cy="314325"/>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1E2530"/>
                </a:solidFill>
                <a:latin typeface="Arial" pitchFamily="34" charset="0"/>
                <a:ea typeface="Arial" pitchFamily="34" charset="-122"/>
                <a:cs typeface="Arial" pitchFamily="34" charset="-120"/>
              </a:rPr>
              <a:t>43%</a:t>
            </a:r>
            <a:endParaRPr lang="en-US" sz="1875" dirty="0"/>
          </a:p>
        </p:txBody>
      </p:sp>
      <p:sp>
        <p:nvSpPr>
          <p:cNvPr id="76" name="Shape 74"/>
          <p:cNvSpPr/>
          <p:nvPr/>
        </p:nvSpPr>
        <p:spPr>
          <a:xfrm>
            <a:off x="847725" y="6368355"/>
            <a:ext cx="2855268" cy="514350"/>
          </a:xfrm>
          <a:prstGeom prst="rect">
            <a:avLst/>
          </a:prstGeom>
          <a:solidFill>
            <a:srgbClr val="F1F4F7"/>
          </a:solidFill>
          <a:ln/>
        </p:spPr>
        <p:txBody>
          <a:bodyPr/>
          <a:lstStyle/>
          <a:p>
            <a:endParaRPr lang="en-US"/>
          </a:p>
        </p:txBody>
      </p:sp>
      <p:sp>
        <p:nvSpPr>
          <p:cNvPr id="77" name="Shape 75"/>
          <p:cNvSpPr/>
          <p:nvPr/>
        </p:nvSpPr>
        <p:spPr>
          <a:xfrm>
            <a:off x="847725" y="6873180"/>
            <a:ext cx="2855268" cy="9525"/>
          </a:xfrm>
          <a:prstGeom prst="rect">
            <a:avLst/>
          </a:prstGeom>
          <a:solidFill>
            <a:srgbClr val="DCE2E9"/>
          </a:solidFill>
          <a:ln/>
        </p:spPr>
        <p:txBody>
          <a:bodyPr/>
          <a:lstStyle/>
          <a:p>
            <a:endParaRPr lang="en-US"/>
          </a:p>
        </p:txBody>
      </p:sp>
      <p:sp>
        <p:nvSpPr>
          <p:cNvPr id="78" name="Text 76"/>
          <p:cNvSpPr/>
          <p:nvPr/>
        </p:nvSpPr>
        <p:spPr>
          <a:xfrm>
            <a:off x="1019175" y="6482655"/>
            <a:ext cx="2598026" cy="314325"/>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1E2530"/>
                </a:solidFill>
                <a:latin typeface="Arial" pitchFamily="34" charset="0"/>
                <a:ea typeface="Arial" pitchFamily="34" charset="-122"/>
                <a:cs typeface="Arial" pitchFamily="34" charset="-120"/>
              </a:rPr>
              <a:t>Vacant Lot</a:t>
            </a:r>
            <a:endParaRPr lang="en-US" sz="1875" dirty="0"/>
          </a:p>
        </p:txBody>
      </p:sp>
      <p:sp>
        <p:nvSpPr>
          <p:cNvPr id="79" name="Shape 77"/>
          <p:cNvSpPr/>
          <p:nvPr/>
        </p:nvSpPr>
        <p:spPr>
          <a:xfrm>
            <a:off x="3702993" y="6368355"/>
            <a:ext cx="1265634" cy="514350"/>
          </a:xfrm>
          <a:prstGeom prst="rect">
            <a:avLst/>
          </a:prstGeom>
          <a:solidFill>
            <a:srgbClr val="F1F4F7"/>
          </a:solidFill>
          <a:ln/>
        </p:spPr>
        <p:txBody>
          <a:bodyPr/>
          <a:lstStyle/>
          <a:p>
            <a:endParaRPr lang="en-US"/>
          </a:p>
        </p:txBody>
      </p:sp>
      <p:sp>
        <p:nvSpPr>
          <p:cNvPr id="80" name="Shape 78"/>
          <p:cNvSpPr/>
          <p:nvPr/>
        </p:nvSpPr>
        <p:spPr>
          <a:xfrm>
            <a:off x="3702993" y="6873180"/>
            <a:ext cx="1265634" cy="9525"/>
          </a:xfrm>
          <a:prstGeom prst="rect">
            <a:avLst/>
          </a:prstGeom>
          <a:solidFill>
            <a:srgbClr val="DCE2E9"/>
          </a:solidFill>
          <a:ln/>
        </p:spPr>
        <p:txBody>
          <a:bodyPr/>
          <a:lstStyle/>
          <a:p>
            <a:endParaRPr lang="en-US"/>
          </a:p>
        </p:txBody>
      </p:sp>
      <p:sp>
        <p:nvSpPr>
          <p:cNvPr id="81" name="Text 79"/>
          <p:cNvSpPr/>
          <p:nvPr/>
        </p:nvSpPr>
        <p:spPr>
          <a:xfrm>
            <a:off x="3874443" y="6482655"/>
            <a:ext cx="998934" cy="314325"/>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1E2530"/>
                </a:solidFill>
                <a:latin typeface="Arial" pitchFamily="34" charset="0"/>
                <a:ea typeface="Arial" pitchFamily="34" charset="-122"/>
                <a:cs typeface="Arial" pitchFamily="34" charset="-120"/>
              </a:rPr>
              <a:t>22%</a:t>
            </a:r>
            <a:endParaRPr lang="en-US" sz="1875" dirty="0"/>
          </a:p>
        </p:txBody>
      </p:sp>
      <p:sp>
        <p:nvSpPr>
          <p:cNvPr id="82" name="Shape 80"/>
          <p:cNvSpPr/>
          <p:nvPr/>
        </p:nvSpPr>
        <p:spPr>
          <a:xfrm>
            <a:off x="4968627" y="6368355"/>
            <a:ext cx="3478560" cy="514350"/>
          </a:xfrm>
          <a:prstGeom prst="rect">
            <a:avLst/>
          </a:prstGeom>
          <a:solidFill>
            <a:srgbClr val="F1F4F7"/>
          </a:solidFill>
          <a:ln/>
        </p:spPr>
        <p:txBody>
          <a:bodyPr/>
          <a:lstStyle/>
          <a:p>
            <a:endParaRPr lang="en-US"/>
          </a:p>
        </p:txBody>
      </p:sp>
      <p:sp>
        <p:nvSpPr>
          <p:cNvPr id="83" name="Shape 81"/>
          <p:cNvSpPr/>
          <p:nvPr/>
        </p:nvSpPr>
        <p:spPr>
          <a:xfrm>
            <a:off x="4968627" y="6873180"/>
            <a:ext cx="3478560" cy="9525"/>
          </a:xfrm>
          <a:prstGeom prst="rect">
            <a:avLst/>
          </a:prstGeom>
          <a:solidFill>
            <a:srgbClr val="DCE2E9"/>
          </a:solidFill>
          <a:ln/>
        </p:spPr>
        <p:txBody>
          <a:bodyPr/>
          <a:lstStyle/>
          <a:p>
            <a:endParaRPr lang="en-US"/>
          </a:p>
        </p:txBody>
      </p:sp>
      <p:sp>
        <p:nvSpPr>
          <p:cNvPr id="84" name="Text 82"/>
          <p:cNvSpPr/>
          <p:nvPr/>
        </p:nvSpPr>
        <p:spPr>
          <a:xfrm>
            <a:off x="5140077" y="6482655"/>
            <a:ext cx="3240017" cy="314325"/>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1E2530"/>
                </a:solidFill>
                <a:latin typeface="Arial" pitchFamily="34" charset="0"/>
                <a:ea typeface="Arial" pitchFamily="34" charset="-122"/>
                <a:cs typeface="Arial" pitchFamily="34" charset="-120"/>
              </a:rPr>
              <a:t>26%</a:t>
            </a:r>
            <a:endParaRPr lang="en-US" sz="1875" dirty="0"/>
          </a:p>
        </p:txBody>
      </p:sp>
      <p:sp>
        <p:nvSpPr>
          <p:cNvPr id="85" name="Shape 83"/>
          <p:cNvSpPr/>
          <p:nvPr/>
        </p:nvSpPr>
        <p:spPr>
          <a:xfrm>
            <a:off x="8447187" y="6368355"/>
            <a:ext cx="2070348" cy="514350"/>
          </a:xfrm>
          <a:prstGeom prst="rect">
            <a:avLst/>
          </a:prstGeom>
          <a:solidFill>
            <a:srgbClr val="F1F4F7"/>
          </a:solidFill>
          <a:ln/>
        </p:spPr>
        <p:txBody>
          <a:bodyPr/>
          <a:lstStyle/>
          <a:p>
            <a:endParaRPr lang="en-US"/>
          </a:p>
        </p:txBody>
      </p:sp>
      <p:sp>
        <p:nvSpPr>
          <p:cNvPr id="86" name="Shape 84"/>
          <p:cNvSpPr/>
          <p:nvPr/>
        </p:nvSpPr>
        <p:spPr>
          <a:xfrm>
            <a:off x="8447187" y="6873180"/>
            <a:ext cx="2070348" cy="9525"/>
          </a:xfrm>
          <a:prstGeom prst="rect">
            <a:avLst/>
          </a:prstGeom>
          <a:solidFill>
            <a:srgbClr val="DCE2E9"/>
          </a:solidFill>
          <a:ln/>
        </p:spPr>
        <p:txBody>
          <a:bodyPr/>
          <a:lstStyle/>
          <a:p>
            <a:endParaRPr lang="en-US"/>
          </a:p>
        </p:txBody>
      </p:sp>
      <p:sp>
        <p:nvSpPr>
          <p:cNvPr id="87" name="Text 85"/>
          <p:cNvSpPr/>
          <p:nvPr/>
        </p:nvSpPr>
        <p:spPr>
          <a:xfrm>
            <a:off x="8618637" y="6482655"/>
            <a:ext cx="1803648" cy="314325"/>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33455E"/>
                </a:solidFill>
                <a:latin typeface="Arial" pitchFamily="34" charset="0"/>
                <a:ea typeface="Arial" pitchFamily="34" charset="-122"/>
                <a:cs typeface="Arial" pitchFamily="34" charset="-120"/>
              </a:rPr>
              <a:t>27%</a:t>
            </a:r>
            <a:endParaRPr lang="en-US" sz="1875" dirty="0"/>
          </a:p>
        </p:txBody>
      </p:sp>
      <p:sp>
        <p:nvSpPr>
          <p:cNvPr id="88" name="Text 86"/>
          <p:cNvSpPr/>
          <p:nvPr/>
        </p:nvSpPr>
        <p:spPr>
          <a:xfrm>
            <a:off x="10993785" y="1934468"/>
            <a:ext cx="7091139" cy="333375"/>
          </a:xfrm>
          <a:prstGeom prst="rect">
            <a:avLst/>
          </a:prstGeom>
          <a:noFill/>
          <a:ln/>
        </p:spPr>
        <p:txBody>
          <a:bodyPr wrap="square" lIns="25400" tIns="25400" rIns="25400" bIns="25400" rtlCol="0" anchor="t">
            <a:normAutofit lnSpcReduction="10000"/>
          </a:bodyPr>
          <a:lstStyle/>
          <a:p>
            <a:pPr marL="0" indent="0" algn="l">
              <a:buNone/>
            </a:pPr>
            <a:r>
              <a:rPr lang="en-US" sz="2025" b="1" dirty="0">
                <a:solidFill>
                  <a:srgbClr val="33455E"/>
                </a:solidFill>
                <a:latin typeface="Arial" pitchFamily="34" charset="0"/>
                <a:ea typeface="Arial" pitchFamily="34" charset="-122"/>
                <a:cs typeface="Arial" pitchFamily="34" charset="-120"/>
              </a:rPr>
              <a:t>Reading the metrics</a:t>
            </a:r>
            <a:endParaRPr lang="en-US" sz="2025" dirty="0"/>
          </a:p>
        </p:txBody>
      </p:sp>
      <p:sp>
        <p:nvSpPr>
          <p:cNvPr id="89" name="Text 87"/>
          <p:cNvSpPr/>
          <p:nvPr/>
        </p:nvSpPr>
        <p:spPr>
          <a:xfrm>
            <a:off x="10993785" y="2439293"/>
            <a:ext cx="15723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b="1" dirty="0">
                <a:solidFill>
                  <a:srgbClr val="33455E"/>
                </a:solidFill>
                <a:latin typeface="Arial" pitchFamily="34" charset="0"/>
                <a:ea typeface="Arial" pitchFamily="34" charset="-122"/>
                <a:cs typeface="Arial" pitchFamily="34" charset="-120"/>
              </a:rPr>
              <a:t>▪</a:t>
            </a:r>
            <a:endParaRPr lang="en-US" sz="1800" dirty="0"/>
          </a:p>
        </p:txBody>
      </p:sp>
      <p:sp>
        <p:nvSpPr>
          <p:cNvPr id="90" name="Text 88"/>
          <p:cNvSpPr/>
          <p:nvPr/>
        </p:nvSpPr>
        <p:spPr>
          <a:xfrm>
            <a:off x="11208172" y="2382143"/>
            <a:ext cx="6419066" cy="817513"/>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2325" b="1" dirty="0">
                <a:solidFill>
                  <a:srgbClr val="33455E"/>
                </a:solidFill>
                <a:latin typeface="Arial" pitchFamily="34" charset="0"/>
                <a:ea typeface="Arial" pitchFamily="34" charset="-122"/>
                <a:cs typeface="Arial" pitchFamily="34" charset="-120"/>
              </a:rPr>
              <a:t>MdAPE </a:t>
            </a:r>
            <a:r>
              <a:rPr lang="en-US" sz="2325" dirty="0">
                <a:solidFill>
                  <a:srgbClr val="1E2530"/>
                </a:solidFill>
                <a:latin typeface="Arial" pitchFamily="34" charset="0"/>
                <a:ea typeface="Arial" pitchFamily="34" charset="-122"/>
                <a:cs typeface="Arial" pitchFamily="34" charset="-120"/>
              </a:rPr>
              <a:t>— median absolute % error; robust to a few extreme listings.</a:t>
            </a:r>
            <a:endParaRPr lang="en-US" sz="2325" dirty="0"/>
          </a:p>
        </p:txBody>
      </p:sp>
      <p:sp>
        <p:nvSpPr>
          <p:cNvPr id="91" name="Text 89"/>
          <p:cNvSpPr/>
          <p:nvPr/>
        </p:nvSpPr>
        <p:spPr>
          <a:xfrm>
            <a:off x="10993785" y="3371106"/>
            <a:ext cx="15723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b="1" dirty="0">
                <a:solidFill>
                  <a:srgbClr val="33455E"/>
                </a:solidFill>
                <a:latin typeface="Arial" pitchFamily="34" charset="0"/>
                <a:ea typeface="Arial" pitchFamily="34" charset="-122"/>
                <a:cs typeface="Arial" pitchFamily="34" charset="-120"/>
              </a:rPr>
              <a:t>▪</a:t>
            </a:r>
            <a:endParaRPr lang="en-US" sz="1800" dirty="0"/>
          </a:p>
        </p:txBody>
      </p:sp>
      <p:sp>
        <p:nvSpPr>
          <p:cNvPr id="92" name="Text 90"/>
          <p:cNvSpPr/>
          <p:nvPr/>
        </p:nvSpPr>
        <p:spPr>
          <a:xfrm>
            <a:off x="11208172" y="3313956"/>
            <a:ext cx="6419066" cy="817513"/>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2325" b="1" dirty="0">
                <a:solidFill>
                  <a:srgbClr val="33455E"/>
                </a:solidFill>
                <a:latin typeface="Arial" pitchFamily="34" charset="0"/>
                <a:ea typeface="Arial" pitchFamily="34" charset="-122"/>
                <a:cs typeface="Arial" pitchFamily="34" charset="-120"/>
              </a:rPr>
              <a:t>PE20 </a:t>
            </a:r>
            <a:r>
              <a:rPr lang="en-US" sz="2325" dirty="0">
                <a:solidFill>
                  <a:srgbClr val="1E2530"/>
                </a:solidFill>
                <a:latin typeface="Arial" pitchFamily="34" charset="0"/>
                <a:ea typeface="Arial" pitchFamily="34" charset="-122"/>
                <a:cs typeface="Arial" pitchFamily="34" charset="-120"/>
              </a:rPr>
              <a:t>— the share within 20% of the listing; the practical hit-rate.</a:t>
            </a:r>
            <a:endParaRPr lang="en-US" sz="2325" dirty="0"/>
          </a:p>
        </p:txBody>
      </p:sp>
      <p:sp>
        <p:nvSpPr>
          <p:cNvPr id="93" name="Text 91"/>
          <p:cNvSpPr/>
          <p:nvPr/>
        </p:nvSpPr>
        <p:spPr>
          <a:xfrm>
            <a:off x="10993785" y="4302919"/>
            <a:ext cx="15723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b="1" dirty="0">
                <a:solidFill>
                  <a:srgbClr val="33455E"/>
                </a:solidFill>
                <a:latin typeface="Arial" pitchFamily="34" charset="0"/>
                <a:ea typeface="Arial" pitchFamily="34" charset="-122"/>
                <a:cs typeface="Arial" pitchFamily="34" charset="-120"/>
              </a:rPr>
              <a:t>▪</a:t>
            </a:r>
            <a:endParaRPr lang="en-US" sz="1800" dirty="0"/>
          </a:p>
        </p:txBody>
      </p:sp>
      <p:sp>
        <p:nvSpPr>
          <p:cNvPr id="94" name="Text 92"/>
          <p:cNvSpPr/>
          <p:nvPr/>
        </p:nvSpPr>
        <p:spPr>
          <a:xfrm>
            <a:off x="11208172" y="4245769"/>
            <a:ext cx="6419066" cy="1207219"/>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2325" dirty="0">
                <a:solidFill>
                  <a:srgbClr val="1E2530"/>
                </a:solidFill>
                <a:latin typeface="Arial" pitchFamily="34" charset="0"/>
                <a:ea typeface="Arial" pitchFamily="34" charset="-122"/>
                <a:cs typeface="Arial" pitchFamily="34" charset="-120"/>
              </a:rPr>
              <a:t>Peer benchmark: comparable small-sample studies report MAPE 48–53% </a:t>
            </a:r>
            <a:r>
              <a:rPr lang="en-US" sz="2325" i="1" dirty="0">
                <a:solidFill>
                  <a:srgbClr val="979FAD"/>
                </a:solidFill>
                <a:latin typeface="Arial" pitchFamily="34" charset="0"/>
                <a:ea typeface="Arial" pitchFamily="34" charset="-122"/>
                <a:cs typeface="Arial" pitchFamily="34" charset="-120"/>
              </a:rPr>
              <a:t>(Nyanda, 2024) </a:t>
            </a:r>
            <a:r>
              <a:rPr lang="en-US" sz="2325" dirty="0">
                <a:solidFill>
                  <a:srgbClr val="1E2530"/>
                </a:solidFill>
                <a:latin typeface="Arial" pitchFamily="34" charset="0"/>
                <a:ea typeface="Arial" pitchFamily="34" charset="-122"/>
                <a:cs typeface="Arial" pitchFamily="34" charset="-120"/>
              </a:rPr>
              <a:t>— these errors are competitive.</a:t>
            </a:r>
            <a:endParaRPr lang="en-US" sz="2325" dirty="0"/>
          </a:p>
        </p:txBody>
      </p:sp>
      <p:sp>
        <p:nvSpPr>
          <p:cNvPr id="95" name="Shape 93"/>
          <p:cNvSpPr/>
          <p:nvPr/>
        </p:nvSpPr>
        <p:spPr>
          <a:xfrm>
            <a:off x="847725" y="8703618"/>
            <a:ext cx="16592550" cy="1049982"/>
          </a:xfrm>
          <a:prstGeom prst="rect">
            <a:avLst/>
          </a:prstGeom>
          <a:solidFill>
            <a:srgbClr val="EAEEF3"/>
          </a:solidFill>
          <a:ln/>
        </p:spPr>
        <p:txBody>
          <a:bodyPr/>
          <a:lstStyle/>
          <a:p>
            <a:endParaRPr lang="en-US"/>
          </a:p>
        </p:txBody>
      </p:sp>
      <p:sp>
        <p:nvSpPr>
          <p:cNvPr id="96" name="Shape 94"/>
          <p:cNvSpPr/>
          <p:nvPr/>
        </p:nvSpPr>
        <p:spPr>
          <a:xfrm>
            <a:off x="847725" y="8703618"/>
            <a:ext cx="76200" cy="1049982"/>
          </a:xfrm>
          <a:prstGeom prst="rect">
            <a:avLst/>
          </a:prstGeom>
          <a:solidFill>
            <a:srgbClr val="33455E"/>
          </a:solidFill>
          <a:ln/>
        </p:spPr>
        <p:txBody>
          <a:bodyPr/>
          <a:lstStyle/>
          <a:p>
            <a:endParaRPr lang="en-US"/>
          </a:p>
        </p:txBody>
      </p:sp>
      <p:sp>
        <p:nvSpPr>
          <p:cNvPr id="97" name="Text 95"/>
          <p:cNvSpPr/>
          <p:nvPr/>
        </p:nvSpPr>
        <p:spPr>
          <a:xfrm>
            <a:off x="1171575" y="8936980"/>
            <a:ext cx="1544285" cy="300038"/>
          </a:xfrm>
          <a:prstGeom prst="rect">
            <a:avLst/>
          </a:prstGeom>
          <a:noFill/>
          <a:ln/>
        </p:spPr>
        <p:txBody>
          <a:bodyPr wrap="square" lIns="25400" tIns="25400" rIns="25400" bIns="25400" rtlCol="0" anchor="t">
            <a:normAutofit lnSpcReduction="10000"/>
          </a:bodyPr>
          <a:lstStyle/>
          <a:p>
            <a:pPr marL="0" indent="0" algn="l">
              <a:buNone/>
            </a:pPr>
            <a:r>
              <a:rPr lang="en-US" sz="1800" b="1" kern="0" spc="144" dirty="0">
                <a:solidFill>
                  <a:srgbClr val="5B7A99"/>
                </a:solidFill>
                <a:latin typeface="Arial" pitchFamily="34" charset="0"/>
                <a:ea typeface="Arial" pitchFamily="34" charset="-122"/>
                <a:cs typeface="Arial" pitchFamily="34" charset="-120"/>
              </a:rPr>
              <a:t>TAKEAWAY</a:t>
            </a:r>
            <a:endParaRPr lang="en-US" sz="1800" dirty="0"/>
          </a:p>
        </p:txBody>
      </p:sp>
      <p:sp>
        <p:nvSpPr>
          <p:cNvPr id="98" name="Text 96"/>
          <p:cNvSpPr/>
          <p:nvPr/>
        </p:nvSpPr>
        <p:spPr>
          <a:xfrm>
            <a:off x="2727871" y="8875068"/>
            <a:ext cx="14898697" cy="745182"/>
          </a:xfrm>
          <a:prstGeom prst="rect">
            <a:avLst/>
          </a:prstGeom>
          <a:noFill/>
          <a:ln/>
        </p:spPr>
        <p:txBody>
          <a:bodyPr wrap="square" lIns="25400" tIns="25400" rIns="25400" bIns="25400" rtlCol="0" anchor="t">
            <a:normAutofit fontScale="92500" lnSpcReduction="20000"/>
          </a:bodyPr>
          <a:lstStyle/>
          <a:p>
            <a:pPr marL="0" indent="0" algn="l">
              <a:lnSpc>
                <a:spcPct val="128000"/>
              </a:lnSpc>
              <a:buNone/>
            </a:pPr>
            <a:r>
              <a:rPr lang="en-US" sz="2175" dirty="0">
                <a:solidFill>
                  <a:srgbClr val="1E2530"/>
                </a:solidFill>
                <a:latin typeface="Arial" pitchFamily="34" charset="0"/>
                <a:ea typeface="Arial" pitchFamily="34" charset="-122"/>
                <a:cs typeface="Arial" pitchFamily="34" charset="-120"/>
              </a:rPr>
              <a:t>Tree models beat OLS in every stratum; Random Forest is best-or-tied and deployed. Condos and houses estimate well; vacant lots remain weakest.</a:t>
            </a:r>
            <a:endParaRPr lang="en-US" sz="2175" dirty="0"/>
          </a:p>
        </p:txBody>
      </p:sp>
    </p:spTree>
    <p:extLst>
      <p:ext uri="{BB962C8B-B14F-4D97-AF65-F5344CB8AC3E}">
        <p14:creationId xmlns:p14="http://schemas.microsoft.com/office/powerpoint/2010/main" val="39652440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7">
    <p:bg>
      <p:bgPr>
        <a:solidFill>
          <a:srgbClr val="FAFBFC"/>
        </a:solidFill>
        <a:effectLst/>
      </p:bgPr>
    </p:bg>
    <p:spTree>
      <p:nvGrpSpPr>
        <p:cNvPr id="1" name=""/>
        <p:cNvGrpSpPr/>
        <p:nvPr/>
      </p:nvGrpSpPr>
      <p:grpSpPr>
        <a:xfrm>
          <a:off x="0" y="0"/>
          <a:ext cx="0" cy="0"/>
          <a:chOff x="0" y="0"/>
          <a:chExt cx="0" cy="0"/>
        </a:xfrm>
      </p:grpSpPr>
      <p:sp>
        <p:nvSpPr>
          <p:cNvPr id="2" name="Text 0"/>
          <p:cNvSpPr/>
          <p:nvPr/>
        </p:nvSpPr>
        <p:spPr>
          <a:xfrm>
            <a:off x="847725" y="552450"/>
            <a:ext cx="2451571" cy="347663"/>
          </a:xfrm>
          <a:prstGeom prst="rect">
            <a:avLst/>
          </a:prstGeom>
          <a:noFill/>
          <a:ln/>
        </p:spPr>
        <p:txBody>
          <a:bodyPr wrap="square" lIns="25400" tIns="25400" rIns="25400" bIns="25400" rtlCol="0" anchor="t">
            <a:normAutofit lnSpcReduction="10000"/>
          </a:bodyPr>
          <a:lstStyle/>
          <a:p>
            <a:pPr marL="0" indent="0" algn="l">
              <a:buNone/>
            </a:pPr>
            <a:r>
              <a:rPr lang="en-US" sz="2100" b="1" kern="0" spc="84" dirty="0">
                <a:solidFill>
                  <a:srgbClr val="33455E"/>
                </a:solidFill>
                <a:latin typeface="Arial" pitchFamily="34" charset="0"/>
                <a:ea typeface="Arial" pitchFamily="34" charset="-122"/>
                <a:cs typeface="Arial" pitchFamily="34" charset="-120"/>
              </a:rPr>
              <a:t>7 · EVALUATION</a:t>
            </a:r>
            <a:endParaRPr lang="en-US" sz="2100" dirty="0"/>
          </a:p>
        </p:txBody>
      </p:sp>
      <p:sp>
        <p:nvSpPr>
          <p:cNvPr id="3" name="Text 1"/>
          <p:cNvSpPr/>
          <p:nvPr/>
        </p:nvSpPr>
        <p:spPr>
          <a:xfrm>
            <a:off x="16712059" y="552450"/>
            <a:ext cx="804416" cy="314325"/>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6E7686"/>
                </a:solidFill>
                <a:latin typeface="Arial" pitchFamily="34" charset="0"/>
                <a:ea typeface="Arial" pitchFamily="34" charset="-122"/>
                <a:cs typeface="Arial" pitchFamily="34" charset="-120"/>
              </a:rPr>
              <a:t>27 / 40</a:t>
            </a:r>
            <a:endParaRPr lang="en-US" sz="1875" dirty="0"/>
          </a:p>
        </p:txBody>
      </p:sp>
      <p:sp>
        <p:nvSpPr>
          <p:cNvPr id="4" name="Shape 2"/>
          <p:cNvSpPr/>
          <p:nvPr/>
        </p:nvSpPr>
        <p:spPr>
          <a:xfrm>
            <a:off x="847725" y="985838"/>
            <a:ext cx="16592550" cy="28575"/>
          </a:xfrm>
          <a:prstGeom prst="rect">
            <a:avLst/>
          </a:prstGeom>
          <a:solidFill>
            <a:srgbClr val="33455E"/>
          </a:solidFill>
          <a:ln/>
        </p:spPr>
        <p:txBody>
          <a:bodyPr/>
          <a:lstStyle/>
          <a:p>
            <a:endParaRPr lang="en-US"/>
          </a:p>
        </p:txBody>
      </p:sp>
      <p:sp>
        <p:nvSpPr>
          <p:cNvPr id="5" name="Text 3"/>
          <p:cNvSpPr/>
          <p:nvPr/>
        </p:nvSpPr>
        <p:spPr>
          <a:xfrm>
            <a:off x="847725" y="1243013"/>
            <a:ext cx="18251805" cy="55810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3900" b="1" dirty="0">
                <a:solidFill>
                  <a:srgbClr val="1E2530"/>
                </a:solidFill>
                <a:latin typeface="Arial" pitchFamily="34" charset="0"/>
                <a:ea typeface="Arial" pitchFamily="34" charset="-122"/>
                <a:cs typeface="Arial" pitchFamily="34" charset="-120"/>
              </a:rPr>
              <a:t>Which model performed best? (RQ2)</a:t>
            </a:r>
            <a:endParaRPr lang="en-US" sz="3900" dirty="0"/>
          </a:p>
        </p:txBody>
      </p:sp>
      <p:sp>
        <p:nvSpPr>
          <p:cNvPr id="6" name="Text 4"/>
          <p:cNvSpPr/>
          <p:nvPr/>
        </p:nvSpPr>
        <p:spPr>
          <a:xfrm>
            <a:off x="847725" y="4218533"/>
            <a:ext cx="15723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b="1" dirty="0">
                <a:solidFill>
                  <a:srgbClr val="33455E"/>
                </a:solidFill>
                <a:latin typeface="Arial" pitchFamily="34" charset="0"/>
                <a:ea typeface="Arial" pitchFamily="34" charset="-122"/>
                <a:cs typeface="Arial" pitchFamily="34" charset="-120"/>
              </a:rPr>
              <a:t>▪</a:t>
            </a:r>
            <a:endParaRPr lang="en-US" sz="1800" dirty="0"/>
          </a:p>
        </p:txBody>
      </p:sp>
      <p:sp>
        <p:nvSpPr>
          <p:cNvPr id="7" name="Text 5"/>
          <p:cNvSpPr/>
          <p:nvPr/>
        </p:nvSpPr>
        <p:spPr>
          <a:xfrm>
            <a:off x="1062112" y="4161383"/>
            <a:ext cx="8491127" cy="817513"/>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2325" dirty="0">
                <a:solidFill>
                  <a:srgbClr val="1E2530"/>
                </a:solidFill>
                <a:latin typeface="Arial" pitchFamily="34" charset="0"/>
                <a:ea typeface="Arial" pitchFamily="34" charset="-122"/>
                <a:cs typeface="Arial" pitchFamily="34" charset="-120"/>
              </a:rPr>
              <a:t>Under identical leak-free folds, </a:t>
            </a:r>
            <a:r>
              <a:rPr lang="en-US" sz="2325" b="1" dirty="0">
                <a:solidFill>
                  <a:srgbClr val="33455E"/>
                </a:solidFill>
                <a:latin typeface="Arial" pitchFamily="34" charset="0"/>
                <a:ea typeface="Arial" pitchFamily="34" charset="-122"/>
                <a:cs typeface="Arial" pitchFamily="34" charset="-120"/>
              </a:rPr>
              <a:t>both tree models beat the OLS baseline </a:t>
            </a:r>
            <a:r>
              <a:rPr lang="en-US" sz="2325" dirty="0">
                <a:solidFill>
                  <a:srgbClr val="1E2530"/>
                </a:solidFill>
                <a:latin typeface="Arial" pitchFamily="34" charset="0"/>
                <a:ea typeface="Arial" pitchFamily="34" charset="-122"/>
                <a:cs typeface="Arial" pitchFamily="34" charset="-120"/>
              </a:rPr>
              <a:t>in every stratum.</a:t>
            </a:r>
            <a:endParaRPr lang="en-US" sz="2325" dirty="0"/>
          </a:p>
        </p:txBody>
      </p:sp>
      <p:sp>
        <p:nvSpPr>
          <p:cNvPr id="8" name="Text 6"/>
          <p:cNvSpPr/>
          <p:nvPr/>
        </p:nvSpPr>
        <p:spPr>
          <a:xfrm>
            <a:off x="847725" y="5150346"/>
            <a:ext cx="15723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b="1" dirty="0">
                <a:solidFill>
                  <a:srgbClr val="33455E"/>
                </a:solidFill>
                <a:latin typeface="Arial" pitchFamily="34" charset="0"/>
                <a:ea typeface="Arial" pitchFamily="34" charset="-122"/>
                <a:cs typeface="Arial" pitchFamily="34" charset="-120"/>
              </a:rPr>
              <a:t>▪</a:t>
            </a:r>
            <a:endParaRPr lang="en-US" sz="1800" dirty="0"/>
          </a:p>
        </p:txBody>
      </p:sp>
      <p:sp>
        <p:nvSpPr>
          <p:cNvPr id="9" name="Text 7"/>
          <p:cNvSpPr/>
          <p:nvPr/>
        </p:nvSpPr>
        <p:spPr>
          <a:xfrm>
            <a:off x="1062112" y="5093196"/>
            <a:ext cx="8491127" cy="817513"/>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2325" dirty="0">
                <a:solidFill>
                  <a:srgbClr val="1E2530"/>
                </a:solidFill>
                <a:latin typeface="Arial" pitchFamily="34" charset="0"/>
                <a:ea typeface="Arial" pitchFamily="34" charset="-122"/>
                <a:cs typeface="Arial" pitchFamily="34" charset="-120"/>
              </a:rPr>
              <a:t>RF and XGBoost are close; RF edges it on the deployed grouped-CV (19.3 vs 19.8 / 22.7 vs 23.6 / 38.4 vs 40.2).</a:t>
            </a:r>
            <a:endParaRPr lang="en-US" sz="2325" dirty="0"/>
          </a:p>
        </p:txBody>
      </p:sp>
      <p:sp>
        <p:nvSpPr>
          <p:cNvPr id="10" name="Text 8"/>
          <p:cNvSpPr/>
          <p:nvPr/>
        </p:nvSpPr>
        <p:spPr>
          <a:xfrm>
            <a:off x="847725" y="6082159"/>
            <a:ext cx="15723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b="1" dirty="0">
                <a:solidFill>
                  <a:srgbClr val="33455E"/>
                </a:solidFill>
                <a:latin typeface="Arial" pitchFamily="34" charset="0"/>
                <a:ea typeface="Arial" pitchFamily="34" charset="-122"/>
                <a:cs typeface="Arial" pitchFamily="34" charset="-120"/>
              </a:rPr>
              <a:t>▪</a:t>
            </a:r>
            <a:endParaRPr lang="en-US" sz="1800" dirty="0"/>
          </a:p>
        </p:txBody>
      </p:sp>
      <p:sp>
        <p:nvSpPr>
          <p:cNvPr id="11" name="Text 9"/>
          <p:cNvSpPr/>
          <p:nvPr/>
        </p:nvSpPr>
        <p:spPr>
          <a:xfrm>
            <a:off x="1062112" y="6025009"/>
            <a:ext cx="8491127" cy="817513"/>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2325" dirty="0">
                <a:solidFill>
                  <a:srgbClr val="1E2530"/>
                </a:solidFill>
                <a:latin typeface="Arial" pitchFamily="34" charset="0"/>
                <a:ea typeface="Arial" pitchFamily="34" charset="-122"/>
                <a:cs typeface="Arial" pitchFamily="34" charset="-120"/>
              </a:rPr>
              <a:t>Because the tree models are so close, the fair reading is "RF best-or-tied."</a:t>
            </a:r>
            <a:endParaRPr lang="en-US" sz="2325" dirty="0"/>
          </a:p>
        </p:txBody>
      </p:sp>
      <p:sp>
        <p:nvSpPr>
          <p:cNvPr id="12" name="Text 10"/>
          <p:cNvSpPr/>
          <p:nvPr/>
        </p:nvSpPr>
        <p:spPr>
          <a:xfrm>
            <a:off x="847725" y="7013972"/>
            <a:ext cx="15723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b="1" dirty="0">
                <a:solidFill>
                  <a:srgbClr val="33455E"/>
                </a:solidFill>
                <a:latin typeface="Arial" pitchFamily="34" charset="0"/>
                <a:ea typeface="Arial" pitchFamily="34" charset="-122"/>
                <a:cs typeface="Arial" pitchFamily="34" charset="-120"/>
              </a:rPr>
              <a:t>▪</a:t>
            </a:r>
            <a:endParaRPr lang="en-US" sz="1800" dirty="0"/>
          </a:p>
        </p:txBody>
      </p:sp>
      <p:sp>
        <p:nvSpPr>
          <p:cNvPr id="13" name="Text 11"/>
          <p:cNvSpPr/>
          <p:nvPr/>
        </p:nvSpPr>
        <p:spPr>
          <a:xfrm>
            <a:off x="1062112" y="6956822"/>
            <a:ext cx="8491127" cy="817513"/>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2325" b="1" dirty="0">
                <a:solidFill>
                  <a:srgbClr val="33455E"/>
                </a:solidFill>
                <a:latin typeface="Arial" pitchFamily="34" charset="0"/>
                <a:ea typeface="Arial" pitchFamily="34" charset="-122"/>
                <a:cs typeface="Arial" pitchFamily="34" charset="-120"/>
              </a:rPr>
              <a:t>Random Forest was deployed </a:t>
            </a:r>
            <a:r>
              <a:rPr lang="en-US" sz="2325" dirty="0">
                <a:solidFill>
                  <a:srgbClr val="1E2530"/>
                </a:solidFill>
                <a:latin typeface="Arial" pitchFamily="34" charset="0"/>
                <a:ea typeface="Arial" pitchFamily="34" charset="-122"/>
                <a:cs typeface="Arial" pitchFamily="34" charset="-120"/>
              </a:rPr>
              <a:t>— robust on small samples, and simpler to maintain.</a:t>
            </a:r>
            <a:endParaRPr lang="en-US" sz="2325" dirty="0"/>
          </a:p>
        </p:txBody>
      </p:sp>
      <p:sp>
        <p:nvSpPr>
          <p:cNvPr id="14" name="Shape 12"/>
          <p:cNvSpPr/>
          <p:nvPr/>
        </p:nvSpPr>
        <p:spPr>
          <a:xfrm>
            <a:off x="9820275" y="1991618"/>
            <a:ext cx="7620000" cy="7761982"/>
          </a:xfrm>
          <a:prstGeom prst="roundRect">
            <a:avLst>
              <a:gd name="adj" fmla="val 750"/>
            </a:avLst>
          </a:prstGeom>
          <a:solidFill>
            <a:srgbClr val="FFFFFF"/>
          </a:solidFill>
          <a:ln w="9525">
            <a:solidFill>
              <a:srgbClr val="DCE2E9"/>
            </a:solidFill>
            <a:prstDash val="solid"/>
          </a:ln>
        </p:spPr>
        <p:txBody>
          <a:bodyPr/>
          <a:lstStyle/>
          <a:p>
            <a:endParaRPr lang="en-US"/>
          </a:p>
        </p:txBody>
      </p:sp>
      <p:pic>
        <p:nvPicPr>
          <p:cNvPr id="15" name="Image 0" descr="preencoded.png"/>
          <p:cNvPicPr>
            <a:picLocks noChangeAspect="1"/>
          </p:cNvPicPr>
          <p:nvPr/>
        </p:nvPicPr>
        <p:blipFill>
          <a:blip r:embed="rId3"/>
          <a:srcRect t="-40418" b="-40418"/>
          <a:stretch/>
        </p:blipFill>
        <p:spPr>
          <a:xfrm>
            <a:off x="9944100" y="2115443"/>
            <a:ext cx="7372350" cy="7514332"/>
          </a:xfrm>
          <a:prstGeom prst="rect">
            <a:avLst/>
          </a:prstGeom>
        </p:spPr>
      </p:pic>
    </p:spTree>
    <p:extLst>
      <p:ext uri="{BB962C8B-B14F-4D97-AF65-F5344CB8AC3E}">
        <p14:creationId xmlns:p14="http://schemas.microsoft.com/office/powerpoint/2010/main" val="31149102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8">
    <p:bg>
      <p:bgPr>
        <a:solidFill>
          <a:srgbClr val="FAFBFC"/>
        </a:solidFill>
        <a:effectLst/>
      </p:bgPr>
    </p:bg>
    <p:spTree>
      <p:nvGrpSpPr>
        <p:cNvPr id="1" name=""/>
        <p:cNvGrpSpPr/>
        <p:nvPr/>
      </p:nvGrpSpPr>
      <p:grpSpPr>
        <a:xfrm>
          <a:off x="0" y="0"/>
          <a:ext cx="0" cy="0"/>
          <a:chOff x="0" y="0"/>
          <a:chExt cx="0" cy="0"/>
        </a:xfrm>
      </p:grpSpPr>
      <p:sp>
        <p:nvSpPr>
          <p:cNvPr id="2" name="Text 0"/>
          <p:cNvSpPr/>
          <p:nvPr/>
        </p:nvSpPr>
        <p:spPr>
          <a:xfrm>
            <a:off x="847725" y="552450"/>
            <a:ext cx="2451571" cy="347663"/>
          </a:xfrm>
          <a:prstGeom prst="rect">
            <a:avLst/>
          </a:prstGeom>
          <a:noFill/>
          <a:ln/>
        </p:spPr>
        <p:txBody>
          <a:bodyPr wrap="square" lIns="25400" tIns="25400" rIns="25400" bIns="25400" rtlCol="0" anchor="t">
            <a:normAutofit lnSpcReduction="10000"/>
          </a:bodyPr>
          <a:lstStyle/>
          <a:p>
            <a:pPr marL="0" indent="0" algn="l">
              <a:buNone/>
            </a:pPr>
            <a:r>
              <a:rPr lang="en-US" sz="2100" b="1" kern="0" spc="84" dirty="0">
                <a:solidFill>
                  <a:srgbClr val="33455E"/>
                </a:solidFill>
                <a:latin typeface="Arial" pitchFamily="34" charset="0"/>
                <a:ea typeface="Arial" pitchFamily="34" charset="-122"/>
                <a:cs typeface="Arial" pitchFamily="34" charset="-120"/>
              </a:rPr>
              <a:t>7 · EVALUATION</a:t>
            </a:r>
            <a:endParaRPr lang="en-US" sz="2100" dirty="0"/>
          </a:p>
        </p:txBody>
      </p:sp>
      <p:sp>
        <p:nvSpPr>
          <p:cNvPr id="3" name="Text 1"/>
          <p:cNvSpPr/>
          <p:nvPr/>
        </p:nvSpPr>
        <p:spPr>
          <a:xfrm>
            <a:off x="16712059" y="552450"/>
            <a:ext cx="804416" cy="314325"/>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6E7686"/>
                </a:solidFill>
                <a:latin typeface="Arial" pitchFamily="34" charset="0"/>
                <a:ea typeface="Arial" pitchFamily="34" charset="-122"/>
                <a:cs typeface="Arial" pitchFamily="34" charset="-120"/>
              </a:rPr>
              <a:t>28 / 40</a:t>
            </a:r>
            <a:endParaRPr lang="en-US" sz="1875" dirty="0"/>
          </a:p>
        </p:txBody>
      </p:sp>
      <p:sp>
        <p:nvSpPr>
          <p:cNvPr id="4" name="Shape 2"/>
          <p:cNvSpPr/>
          <p:nvPr/>
        </p:nvSpPr>
        <p:spPr>
          <a:xfrm>
            <a:off x="847725" y="985838"/>
            <a:ext cx="16592550" cy="28575"/>
          </a:xfrm>
          <a:prstGeom prst="rect">
            <a:avLst/>
          </a:prstGeom>
          <a:solidFill>
            <a:srgbClr val="33455E"/>
          </a:solidFill>
          <a:ln/>
        </p:spPr>
        <p:txBody>
          <a:bodyPr/>
          <a:lstStyle/>
          <a:p>
            <a:endParaRPr lang="en-US"/>
          </a:p>
        </p:txBody>
      </p:sp>
      <p:sp>
        <p:nvSpPr>
          <p:cNvPr id="5" name="Text 3"/>
          <p:cNvSpPr/>
          <p:nvPr/>
        </p:nvSpPr>
        <p:spPr>
          <a:xfrm>
            <a:off x="847725" y="1243013"/>
            <a:ext cx="18251805" cy="55810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3900" b="1" dirty="0">
                <a:solidFill>
                  <a:srgbClr val="1E2530"/>
                </a:solidFill>
                <a:latin typeface="Arial" pitchFamily="34" charset="0"/>
                <a:ea typeface="Arial" pitchFamily="34" charset="-122"/>
                <a:cs typeface="Arial" pitchFamily="34" charset="-120"/>
              </a:rPr>
              <a:t>Do geospatial features earn their place? (RQ3)</a:t>
            </a:r>
            <a:endParaRPr lang="en-US" sz="3900" dirty="0"/>
          </a:p>
        </p:txBody>
      </p:sp>
      <p:sp>
        <p:nvSpPr>
          <p:cNvPr id="6" name="Text 4"/>
          <p:cNvSpPr/>
          <p:nvPr/>
        </p:nvSpPr>
        <p:spPr>
          <a:xfrm>
            <a:off x="847725" y="2124968"/>
            <a:ext cx="15723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b="1" dirty="0">
                <a:solidFill>
                  <a:srgbClr val="33455E"/>
                </a:solidFill>
                <a:latin typeface="Arial" pitchFamily="34" charset="0"/>
                <a:ea typeface="Arial" pitchFamily="34" charset="-122"/>
                <a:cs typeface="Arial" pitchFamily="34" charset="-120"/>
              </a:rPr>
              <a:t>▪</a:t>
            </a:r>
            <a:endParaRPr lang="en-US" sz="1800" dirty="0"/>
          </a:p>
        </p:txBody>
      </p:sp>
      <p:sp>
        <p:nvSpPr>
          <p:cNvPr id="7" name="Text 5"/>
          <p:cNvSpPr/>
          <p:nvPr/>
        </p:nvSpPr>
        <p:spPr>
          <a:xfrm>
            <a:off x="1062112" y="2067818"/>
            <a:ext cx="8059454" cy="817513"/>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2325" dirty="0">
                <a:solidFill>
                  <a:srgbClr val="1E2530"/>
                </a:solidFill>
                <a:latin typeface="Arial" pitchFamily="34" charset="0"/>
                <a:ea typeface="Arial" pitchFamily="34" charset="-122"/>
                <a:cs typeface="Arial" pitchFamily="34" charset="-120"/>
              </a:rPr>
              <a:t>Three-tier ablation: Structural → + Administrative → + Geospatial.</a:t>
            </a:r>
            <a:endParaRPr lang="en-US" sz="2325" dirty="0"/>
          </a:p>
        </p:txBody>
      </p:sp>
      <p:sp>
        <p:nvSpPr>
          <p:cNvPr id="8" name="Text 6"/>
          <p:cNvSpPr/>
          <p:nvPr/>
        </p:nvSpPr>
        <p:spPr>
          <a:xfrm>
            <a:off x="847725" y="3056781"/>
            <a:ext cx="15723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b="1" dirty="0">
                <a:solidFill>
                  <a:srgbClr val="33455E"/>
                </a:solidFill>
                <a:latin typeface="Arial" pitchFamily="34" charset="0"/>
                <a:ea typeface="Arial" pitchFamily="34" charset="-122"/>
                <a:cs typeface="Arial" pitchFamily="34" charset="-120"/>
              </a:rPr>
              <a:t>▪</a:t>
            </a:r>
            <a:endParaRPr lang="en-US" sz="1800" dirty="0"/>
          </a:p>
        </p:txBody>
      </p:sp>
      <p:sp>
        <p:nvSpPr>
          <p:cNvPr id="9" name="Text 7"/>
          <p:cNvSpPr/>
          <p:nvPr/>
        </p:nvSpPr>
        <p:spPr>
          <a:xfrm>
            <a:off x="1062112" y="2999631"/>
            <a:ext cx="8059454" cy="817513"/>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2325" dirty="0">
                <a:solidFill>
                  <a:srgbClr val="1E2530"/>
                </a:solidFill>
                <a:latin typeface="Arial" pitchFamily="34" charset="0"/>
                <a:ea typeface="Arial" pitchFamily="34" charset="-122"/>
                <a:cs typeface="Arial" pitchFamily="34" charset="-120"/>
              </a:rPr>
              <a:t>Geospatial improves </a:t>
            </a:r>
            <a:r>
              <a:rPr lang="en-US" sz="2325" b="1" dirty="0">
                <a:solidFill>
                  <a:srgbClr val="33455E"/>
                </a:solidFill>
                <a:latin typeface="Arial" pitchFamily="34" charset="0"/>
                <a:ea typeface="Arial" pitchFamily="34" charset="-122"/>
                <a:cs typeface="Arial" pitchFamily="34" charset="-120"/>
              </a:rPr>
              <a:t>every </a:t>
            </a:r>
            <a:r>
              <a:rPr lang="en-US" sz="2325" dirty="0">
                <a:solidFill>
                  <a:srgbClr val="1E2530"/>
                </a:solidFill>
                <a:latin typeface="Arial" pitchFamily="34" charset="0"/>
                <a:ea typeface="Arial" pitchFamily="34" charset="-122"/>
                <a:cs typeface="Arial" pitchFamily="34" charset="-120"/>
              </a:rPr>
              <a:t>stratum vs structural-only: condo +5.7, houses +4.2, lot +13.0 pts.</a:t>
            </a:r>
            <a:endParaRPr lang="en-US" sz="2325" dirty="0"/>
          </a:p>
        </p:txBody>
      </p:sp>
      <p:sp>
        <p:nvSpPr>
          <p:cNvPr id="10" name="Text 8"/>
          <p:cNvSpPr/>
          <p:nvPr/>
        </p:nvSpPr>
        <p:spPr>
          <a:xfrm>
            <a:off x="847725" y="3988594"/>
            <a:ext cx="15723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b="1" dirty="0">
                <a:solidFill>
                  <a:srgbClr val="33455E"/>
                </a:solidFill>
                <a:latin typeface="Arial" pitchFamily="34" charset="0"/>
                <a:ea typeface="Arial" pitchFamily="34" charset="-122"/>
                <a:cs typeface="Arial" pitchFamily="34" charset="-120"/>
              </a:rPr>
              <a:t>▪</a:t>
            </a:r>
            <a:endParaRPr lang="en-US" sz="1800" dirty="0"/>
          </a:p>
        </p:txBody>
      </p:sp>
      <p:sp>
        <p:nvSpPr>
          <p:cNvPr id="11" name="Text 9"/>
          <p:cNvSpPr/>
          <p:nvPr/>
        </p:nvSpPr>
        <p:spPr>
          <a:xfrm>
            <a:off x="1062112" y="3931444"/>
            <a:ext cx="8059454" cy="817513"/>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2325" dirty="0">
                <a:solidFill>
                  <a:srgbClr val="1E2530"/>
                </a:solidFill>
                <a:latin typeface="Arial" pitchFamily="34" charset="0"/>
                <a:ea typeface="Arial" pitchFamily="34" charset="-122"/>
                <a:cs typeface="Arial" pitchFamily="34" charset="-120"/>
              </a:rPr>
              <a:t>They add the most where benchmarks are weakest — condos and bare land.</a:t>
            </a:r>
            <a:endParaRPr lang="en-US" sz="2325" dirty="0"/>
          </a:p>
        </p:txBody>
      </p:sp>
      <p:sp>
        <p:nvSpPr>
          <p:cNvPr id="12" name="Shape 10"/>
          <p:cNvSpPr/>
          <p:nvPr/>
        </p:nvSpPr>
        <p:spPr>
          <a:xfrm>
            <a:off x="847725" y="4825157"/>
            <a:ext cx="8039100" cy="4928443"/>
          </a:xfrm>
          <a:prstGeom prst="roundRect">
            <a:avLst>
              <a:gd name="adj" fmla="val 1160"/>
            </a:avLst>
          </a:prstGeom>
          <a:solidFill>
            <a:srgbClr val="FFFFFF"/>
          </a:solidFill>
          <a:ln w="9525">
            <a:solidFill>
              <a:srgbClr val="DCE2E9"/>
            </a:solidFill>
            <a:prstDash val="solid"/>
          </a:ln>
        </p:spPr>
        <p:txBody>
          <a:bodyPr/>
          <a:lstStyle/>
          <a:p>
            <a:endParaRPr lang="en-US"/>
          </a:p>
        </p:txBody>
      </p:sp>
      <p:pic>
        <p:nvPicPr>
          <p:cNvPr id="13" name="Image 0" descr="preencoded.png"/>
          <p:cNvPicPr>
            <a:picLocks noChangeAspect="1"/>
          </p:cNvPicPr>
          <p:nvPr/>
        </p:nvPicPr>
        <p:blipFill>
          <a:blip r:embed="rId3"/>
          <a:srcRect t="-3466" b="-3466"/>
          <a:stretch/>
        </p:blipFill>
        <p:spPr>
          <a:xfrm>
            <a:off x="952500" y="4929932"/>
            <a:ext cx="7829550" cy="4718893"/>
          </a:xfrm>
          <a:prstGeom prst="rect">
            <a:avLst/>
          </a:prstGeom>
        </p:spPr>
      </p:pic>
      <p:sp>
        <p:nvSpPr>
          <p:cNvPr id="14" name="Text 11"/>
          <p:cNvSpPr/>
          <p:nvPr/>
        </p:nvSpPr>
        <p:spPr>
          <a:xfrm>
            <a:off x="9401175" y="1915418"/>
            <a:ext cx="8843010" cy="333375"/>
          </a:xfrm>
          <a:prstGeom prst="rect">
            <a:avLst/>
          </a:prstGeom>
          <a:noFill/>
          <a:ln/>
        </p:spPr>
        <p:txBody>
          <a:bodyPr wrap="square" lIns="25400" tIns="25400" rIns="25400" bIns="25400" rtlCol="0" anchor="t">
            <a:normAutofit lnSpcReduction="10000"/>
          </a:bodyPr>
          <a:lstStyle/>
          <a:p>
            <a:pPr marL="0" indent="0" algn="l">
              <a:buNone/>
            </a:pPr>
            <a:r>
              <a:rPr lang="en-US" sz="2025" b="1" dirty="0">
                <a:solidFill>
                  <a:srgbClr val="33455E"/>
                </a:solidFill>
                <a:latin typeface="Arial" pitchFamily="34" charset="0"/>
                <a:ea typeface="Arial" pitchFamily="34" charset="-122"/>
                <a:cs typeface="Arial" pitchFamily="34" charset="-120"/>
              </a:rPr>
              <a:t>Where the model errs</a:t>
            </a:r>
            <a:endParaRPr lang="en-US" sz="2025" dirty="0"/>
          </a:p>
        </p:txBody>
      </p:sp>
      <p:sp>
        <p:nvSpPr>
          <p:cNvPr id="15" name="Text 12"/>
          <p:cNvSpPr/>
          <p:nvPr/>
        </p:nvSpPr>
        <p:spPr>
          <a:xfrm>
            <a:off x="9401175" y="2420243"/>
            <a:ext cx="15723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b="1" dirty="0">
                <a:solidFill>
                  <a:srgbClr val="33455E"/>
                </a:solidFill>
                <a:latin typeface="Arial" pitchFamily="34" charset="0"/>
                <a:ea typeface="Arial" pitchFamily="34" charset="-122"/>
                <a:cs typeface="Arial" pitchFamily="34" charset="-120"/>
              </a:rPr>
              <a:t>▪</a:t>
            </a:r>
            <a:endParaRPr lang="en-US" sz="1800" dirty="0"/>
          </a:p>
        </p:txBody>
      </p:sp>
      <p:sp>
        <p:nvSpPr>
          <p:cNvPr id="16" name="Text 13"/>
          <p:cNvSpPr/>
          <p:nvPr/>
        </p:nvSpPr>
        <p:spPr>
          <a:xfrm>
            <a:off x="9615562" y="2363093"/>
            <a:ext cx="8059454" cy="1207219"/>
          </a:xfrm>
          <a:prstGeom prst="rect">
            <a:avLst/>
          </a:prstGeom>
          <a:noFill/>
          <a:ln/>
        </p:spPr>
        <p:txBody>
          <a:bodyPr wrap="square" lIns="25400" tIns="25400" rIns="25400" bIns="25400" rtlCol="0" anchor="t">
            <a:normAutofit fontScale="92500"/>
          </a:bodyPr>
          <a:lstStyle/>
          <a:p>
            <a:pPr marL="0" indent="0" algn="l">
              <a:lnSpc>
                <a:spcPct val="132000"/>
              </a:lnSpc>
              <a:buNone/>
            </a:pPr>
            <a:r>
              <a:rPr lang="en-US" sz="2325" dirty="0">
                <a:solidFill>
                  <a:srgbClr val="1E2530"/>
                </a:solidFill>
                <a:latin typeface="Arial" pitchFamily="34" charset="0"/>
                <a:ea typeface="Arial" pitchFamily="34" charset="-122"/>
                <a:cs typeface="Arial" pitchFamily="34" charset="-120"/>
              </a:rPr>
              <a:t>At the </a:t>
            </a:r>
            <a:r>
              <a:rPr lang="en-US" sz="2325" b="1" dirty="0">
                <a:solidFill>
                  <a:srgbClr val="33455E"/>
                </a:solidFill>
                <a:latin typeface="Arial" pitchFamily="34" charset="0"/>
                <a:ea typeface="Arial" pitchFamily="34" charset="-122"/>
                <a:cs typeface="Arial" pitchFamily="34" charset="-120"/>
              </a:rPr>
              <a:t>center </a:t>
            </a:r>
            <a:r>
              <a:rPr lang="en-US" sz="2325" dirty="0">
                <a:solidFill>
                  <a:srgbClr val="1E2530"/>
                </a:solidFill>
                <a:latin typeface="Arial" pitchFamily="34" charset="0"/>
                <a:ea typeface="Arial" pitchFamily="34" charset="-122"/>
                <a:cs typeface="Arial" pitchFamily="34" charset="-120"/>
              </a:rPr>
              <a:t>of the distribution the models are near-unbiased — median signed error within a few percent of zero.</a:t>
            </a:r>
            <a:endParaRPr lang="en-US" sz="2325" dirty="0"/>
          </a:p>
        </p:txBody>
      </p:sp>
      <p:sp>
        <p:nvSpPr>
          <p:cNvPr id="17" name="Text 14"/>
          <p:cNvSpPr/>
          <p:nvPr/>
        </p:nvSpPr>
        <p:spPr>
          <a:xfrm>
            <a:off x="9401175" y="3741762"/>
            <a:ext cx="15723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b="1" dirty="0">
                <a:solidFill>
                  <a:srgbClr val="33455E"/>
                </a:solidFill>
                <a:latin typeface="Arial" pitchFamily="34" charset="0"/>
                <a:ea typeface="Arial" pitchFamily="34" charset="-122"/>
                <a:cs typeface="Arial" pitchFamily="34" charset="-120"/>
              </a:rPr>
              <a:t>▪</a:t>
            </a:r>
            <a:endParaRPr lang="en-US" sz="1800" dirty="0"/>
          </a:p>
        </p:txBody>
      </p:sp>
      <p:sp>
        <p:nvSpPr>
          <p:cNvPr id="18" name="Text 15"/>
          <p:cNvSpPr/>
          <p:nvPr/>
        </p:nvSpPr>
        <p:spPr>
          <a:xfrm>
            <a:off x="9615562" y="3684612"/>
            <a:ext cx="8059454" cy="817513"/>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2325" dirty="0">
                <a:solidFill>
                  <a:srgbClr val="1E2530"/>
                </a:solidFill>
                <a:latin typeface="Arial" pitchFamily="34" charset="0"/>
                <a:ea typeface="Arial" pitchFamily="34" charset="-122"/>
                <a:cs typeface="Arial" pitchFamily="34" charset="-120"/>
              </a:rPr>
              <a:t>The damage is in the </a:t>
            </a:r>
            <a:r>
              <a:rPr lang="en-US" sz="2325" b="1" dirty="0">
                <a:solidFill>
                  <a:srgbClr val="33455E"/>
                </a:solidFill>
                <a:latin typeface="Arial" pitchFamily="34" charset="0"/>
                <a:ea typeface="Arial" pitchFamily="34" charset="-122"/>
                <a:cs typeface="Arial" pitchFamily="34" charset="-120"/>
              </a:rPr>
              <a:t>tails </a:t>
            </a:r>
            <a:r>
              <a:rPr lang="en-US" sz="2325" dirty="0">
                <a:solidFill>
                  <a:srgbClr val="1E2530"/>
                </a:solidFill>
                <a:latin typeface="Arial" pitchFamily="34" charset="0"/>
                <a:ea typeface="Arial" pitchFamily="34" charset="-122"/>
                <a:cs typeface="Arial" pitchFamily="34" charset="-120"/>
              </a:rPr>
              <a:t>: a few extreme misses, not broad bias.</a:t>
            </a:r>
            <a:endParaRPr lang="en-US" sz="2325" dirty="0"/>
          </a:p>
        </p:txBody>
      </p:sp>
      <p:sp>
        <p:nvSpPr>
          <p:cNvPr id="19" name="Text 16"/>
          <p:cNvSpPr/>
          <p:nvPr/>
        </p:nvSpPr>
        <p:spPr>
          <a:xfrm>
            <a:off x="9401175" y="4673575"/>
            <a:ext cx="15723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b="1" dirty="0">
                <a:solidFill>
                  <a:srgbClr val="33455E"/>
                </a:solidFill>
                <a:latin typeface="Arial" pitchFamily="34" charset="0"/>
                <a:ea typeface="Arial" pitchFamily="34" charset="-122"/>
                <a:cs typeface="Arial" pitchFamily="34" charset="-120"/>
              </a:rPr>
              <a:t>▪</a:t>
            </a:r>
            <a:endParaRPr lang="en-US" sz="1800" dirty="0"/>
          </a:p>
        </p:txBody>
      </p:sp>
      <p:sp>
        <p:nvSpPr>
          <p:cNvPr id="20" name="Text 17"/>
          <p:cNvSpPr/>
          <p:nvPr/>
        </p:nvSpPr>
        <p:spPr>
          <a:xfrm>
            <a:off x="9615562" y="4616425"/>
            <a:ext cx="8059454" cy="817513"/>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2325" dirty="0">
                <a:solidFill>
                  <a:srgbClr val="1E2530"/>
                </a:solidFill>
                <a:latin typeface="Arial" pitchFamily="34" charset="0"/>
                <a:ea typeface="Arial" pitchFamily="34" charset="-122"/>
                <a:cs typeface="Arial" pitchFamily="34" charset="-120"/>
              </a:rPr>
              <a:t>Those misses are atypically cheap listings — condition, title issues, distressed pricing, or terrain the data never records.</a:t>
            </a:r>
            <a:endParaRPr lang="en-US" sz="2325" dirty="0"/>
          </a:p>
        </p:txBody>
      </p:sp>
      <p:sp>
        <p:nvSpPr>
          <p:cNvPr id="21" name="Shape 18"/>
          <p:cNvSpPr/>
          <p:nvPr/>
        </p:nvSpPr>
        <p:spPr>
          <a:xfrm>
            <a:off x="9401175" y="5624438"/>
            <a:ext cx="8039100" cy="1049982"/>
          </a:xfrm>
          <a:prstGeom prst="rect">
            <a:avLst/>
          </a:prstGeom>
          <a:solidFill>
            <a:srgbClr val="EAEEF3"/>
          </a:solidFill>
          <a:ln/>
        </p:spPr>
        <p:txBody>
          <a:bodyPr/>
          <a:lstStyle/>
          <a:p>
            <a:endParaRPr lang="en-US"/>
          </a:p>
        </p:txBody>
      </p:sp>
      <p:sp>
        <p:nvSpPr>
          <p:cNvPr id="22" name="Shape 19"/>
          <p:cNvSpPr/>
          <p:nvPr/>
        </p:nvSpPr>
        <p:spPr>
          <a:xfrm>
            <a:off x="9401175" y="5624438"/>
            <a:ext cx="76200" cy="1049982"/>
          </a:xfrm>
          <a:prstGeom prst="rect">
            <a:avLst/>
          </a:prstGeom>
          <a:solidFill>
            <a:srgbClr val="33455E"/>
          </a:solidFill>
          <a:ln/>
        </p:spPr>
        <p:txBody>
          <a:bodyPr/>
          <a:lstStyle/>
          <a:p>
            <a:endParaRPr lang="en-US"/>
          </a:p>
        </p:txBody>
      </p:sp>
      <p:sp>
        <p:nvSpPr>
          <p:cNvPr id="23" name="Text 20"/>
          <p:cNvSpPr/>
          <p:nvPr/>
        </p:nvSpPr>
        <p:spPr>
          <a:xfrm>
            <a:off x="9725025" y="5857801"/>
            <a:ext cx="1544285" cy="300038"/>
          </a:xfrm>
          <a:prstGeom prst="rect">
            <a:avLst/>
          </a:prstGeom>
          <a:noFill/>
          <a:ln/>
        </p:spPr>
        <p:txBody>
          <a:bodyPr wrap="square" lIns="25400" tIns="25400" rIns="25400" bIns="25400" rtlCol="0" anchor="t">
            <a:normAutofit lnSpcReduction="10000"/>
          </a:bodyPr>
          <a:lstStyle/>
          <a:p>
            <a:pPr marL="0" indent="0" algn="l">
              <a:buNone/>
            </a:pPr>
            <a:r>
              <a:rPr lang="en-US" sz="1800" b="1" kern="0" spc="144" dirty="0">
                <a:solidFill>
                  <a:srgbClr val="5B7A99"/>
                </a:solidFill>
                <a:latin typeface="Arial" pitchFamily="34" charset="0"/>
                <a:ea typeface="Arial" pitchFamily="34" charset="-122"/>
                <a:cs typeface="Arial" pitchFamily="34" charset="-120"/>
              </a:rPr>
              <a:t>TAKEAWAY</a:t>
            </a:r>
            <a:endParaRPr lang="en-US" sz="1800" dirty="0"/>
          </a:p>
        </p:txBody>
      </p:sp>
      <p:sp>
        <p:nvSpPr>
          <p:cNvPr id="24" name="Text 21"/>
          <p:cNvSpPr/>
          <p:nvPr/>
        </p:nvSpPr>
        <p:spPr>
          <a:xfrm>
            <a:off x="11281321" y="5795888"/>
            <a:ext cx="6088643" cy="745182"/>
          </a:xfrm>
          <a:prstGeom prst="rect">
            <a:avLst/>
          </a:prstGeom>
          <a:noFill/>
          <a:ln/>
        </p:spPr>
        <p:txBody>
          <a:bodyPr wrap="square" lIns="25400" tIns="25400" rIns="25400" bIns="25400" rtlCol="0" anchor="t">
            <a:normAutofit fontScale="92500" lnSpcReduction="20000"/>
          </a:bodyPr>
          <a:lstStyle/>
          <a:p>
            <a:pPr marL="0" indent="0" algn="l">
              <a:lnSpc>
                <a:spcPct val="128000"/>
              </a:lnSpc>
              <a:buNone/>
            </a:pPr>
            <a:r>
              <a:rPr lang="en-US" sz="2175" dirty="0">
                <a:solidFill>
                  <a:srgbClr val="1E2530"/>
                </a:solidFill>
                <a:latin typeface="Arial" pitchFamily="34" charset="0"/>
                <a:ea typeface="Arial" pitchFamily="34" charset="-122"/>
                <a:cs typeface="Arial" pitchFamily="34" charset="-120"/>
              </a:rPr>
              <a:t>Reliable for typical properties; it cannot price what the data never captured.</a:t>
            </a:r>
            <a:endParaRPr lang="en-US" sz="2175" dirty="0"/>
          </a:p>
        </p:txBody>
      </p:sp>
    </p:spTree>
    <p:extLst>
      <p:ext uri="{BB962C8B-B14F-4D97-AF65-F5344CB8AC3E}">
        <p14:creationId xmlns:p14="http://schemas.microsoft.com/office/powerpoint/2010/main" val="21414440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9">
    <p:bg>
      <p:bgPr>
        <a:solidFill>
          <a:srgbClr val="33455E"/>
        </a:solidFill>
        <a:effectLst/>
      </p:bgPr>
    </p:bg>
    <p:spTree>
      <p:nvGrpSpPr>
        <p:cNvPr id="1" name=""/>
        <p:cNvGrpSpPr/>
        <p:nvPr/>
      </p:nvGrpSpPr>
      <p:grpSpPr>
        <a:xfrm>
          <a:off x="0" y="0"/>
          <a:ext cx="0" cy="0"/>
          <a:chOff x="0" y="0"/>
          <a:chExt cx="0" cy="0"/>
        </a:xfrm>
      </p:grpSpPr>
      <p:sp>
        <p:nvSpPr>
          <p:cNvPr id="2" name="Text 0"/>
          <p:cNvSpPr/>
          <p:nvPr/>
        </p:nvSpPr>
        <p:spPr>
          <a:xfrm>
            <a:off x="1238250" y="3826669"/>
            <a:ext cx="17392650" cy="914400"/>
          </a:xfrm>
          <a:prstGeom prst="rect">
            <a:avLst/>
          </a:prstGeom>
          <a:noFill/>
          <a:ln/>
        </p:spPr>
        <p:txBody>
          <a:bodyPr wrap="square" lIns="25400" tIns="25400" rIns="25400" bIns="25400" rtlCol="0" anchor="t">
            <a:normAutofit lnSpcReduction="10000"/>
          </a:bodyPr>
          <a:lstStyle/>
          <a:p>
            <a:pPr marL="0" indent="0" algn="l">
              <a:buNone/>
            </a:pPr>
            <a:r>
              <a:rPr lang="en-US" sz="6000" b="1" dirty="0">
                <a:solidFill>
                  <a:srgbClr val="5B7A99"/>
                </a:solidFill>
                <a:latin typeface="Arial" pitchFamily="34" charset="0"/>
                <a:ea typeface="Arial" pitchFamily="34" charset="-122"/>
                <a:cs typeface="Arial" pitchFamily="34" charset="-120"/>
              </a:rPr>
              <a:t>08</a:t>
            </a:r>
            <a:endParaRPr lang="en-US" sz="6000" dirty="0"/>
          </a:p>
        </p:txBody>
      </p:sp>
      <p:sp>
        <p:nvSpPr>
          <p:cNvPr id="3" name="Text 1"/>
          <p:cNvSpPr/>
          <p:nvPr/>
        </p:nvSpPr>
        <p:spPr>
          <a:xfrm>
            <a:off x="1238250" y="4779169"/>
            <a:ext cx="17392650" cy="1133475"/>
          </a:xfrm>
          <a:prstGeom prst="rect">
            <a:avLst/>
          </a:prstGeom>
          <a:noFill/>
          <a:ln/>
        </p:spPr>
        <p:txBody>
          <a:bodyPr wrap="square" lIns="25400" tIns="25400" rIns="25400" bIns="25400" rtlCol="0" anchor="t">
            <a:normAutofit lnSpcReduction="10000"/>
          </a:bodyPr>
          <a:lstStyle/>
          <a:p>
            <a:pPr marL="0" indent="0" algn="l">
              <a:buNone/>
            </a:pPr>
            <a:r>
              <a:rPr lang="en-US" sz="7500" b="1" dirty="0">
                <a:solidFill>
                  <a:srgbClr val="FFFFFF"/>
                </a:solidFill>
                <a:latin typeface="Arial" pitchFamily="34" charset="0"/>
                <a:ea typeface="Arial" pitchFamily="34" charset="-122"/>
                <a:cs typeface="Arial" pitchFamily="34" charset="-120"/>
              </a:rPr>
              <a:t>Results and Discussion</a:t>
            </a:r>
            <a:endParaRPr lang="en-US" sz="7500" dirty="0"/>
          </a:p>
        </p:txBody>
      </p:sp>
      <p:sp>
        <p:nvSpPr>
          <p:cNvPr id="4" name="Text 2"/>
          <p:cNvSpPr/>
          <p:nvPr/>
        </p:nvSpPr>
        <p:spPr>
          <a:xfrm>
            <a:off x="1238250" y="6045994"/>
            <a:ext cx="17392650" cy="452438"/>
          </a:xfrm>
          <a:prstGeom prst="rect">
            <a:avLst/>
          </a:prstGeom>
          <a:noFill/>
          <a:ln/>
        </p:spPr>
        <p:txBody>
          <a:bodyPr wrap="square" lIns="25400" tIns="25400" rIns="25400" bIns="25400" rtlCol="0" anchor="t">
            <a:normAutofit lnSpcReduction="10000"/>
          </a:bodyPr>
          <a:lstStyle/>
          <a:p>
            <a:pPr marL="0" indent="0" algn="l">
              <a:buNone/>
            </a:pPr>
            <a:r>
              <a:rPr lang="en-US" sz="2850" dirty="0">
                <a:solidFill>
                  <a:srgbClr val="C5D2DF"/>
                </a:solidFill>
                <a:latin typeface="Arial" pitchFamily="34" charset="0"/>
                <a:ea typeface="Arial" pitchFamily="34" charset="-122"/>
                <a:cs typeface="Arial" pitchFamily="34" charset="-120"/>
              </a:rPr>
              <a:t>Drivers and spatial structure</a:t>
            </a:r>
            <a:endParaRPr lang="en-US" sz="2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0">
    <p:bg>
      <p:bgPr>
        <a:solidFill>
          <a:srgbClr val="FAFBFC"/>
        </a:solidFill>
        <a:effectLst/>
      </p:bgPr>
    </p:bg>
    <p:spTree>
      <p:nvGrpSpPr>
        <p:cNvPr id="1" name=""/>
        <p:cNvGrpSpPr/>
        <p:nvPr/>
      </p:nvGrpSpPr>
      <p:grpSpPr>
        <a:xfrm>
          <a:off x="0" y="0"/>
          <a:ext cx="0" cy="0"/>
          <a:chOff x="0" y="0"/>
          <a:chExt cx="0" cy="0"/>
        </a:xfrm>
      </p:grpSpPr>
      <p:sp>
        <p:nvSpPr>
          <p:cNvPr id="2" name="Text 0"/>
          <p:cNvSpPr/>
          <p:nvPr/>
        </p:nvSpPr>
        <p:spPr>
          <a:xfrm>
            <a:off x="847725" y="552450"/>
            <a:ext cx="4253456" cy="347663"/>
          </a:xfrm>
          <a:prstGeom prst="rect">
            <a:avLst/>
          </a:prstGeom>
          <a:noFill/>
          <a:ln/>
        </p:spPr>
        <p:txBody>
          <a:bodyPr wrap="square" lIns="25400" tIns="25400" rIns="25400" bIns="25400" rtlCol="0" anchor="t">
            <a:normAutofit lnSpcReduction="10000"/>
          </a:bodyPr>
          <a:lstStyle/>
          <a:p>
            <a:pPr marL="0" indent="0" algn="l">
              <a:buNone/>
            </a:pPr>
            <a:r>
              <a:rPr lang="en-US" sz="2100" b="1" kern="0" spc="84" dirty="0">
                <a:solidFill>
                  <a:srgbClr val="33455E"/>
                </a:solidFill>
                <a:latin typeface="Arial" pitchFamily="34" charset="0"/>
                <a:ea typeface="Arial" pitchFamily="34" charset="-122"/>
                <a:cs typeface="Arial" pitchFamily="34" charset="-120"/>
              </a:rPr>
              <a:t>8 · RESULTS &amp; DISCUSSION</a:t>
            </a:r>
            <a:endParaRPr lang="en-US" sz="2100" dirty="0"/>
          </a:p>
        </p:txBody>
      </p:sp>
      <p:sp>
        <p:nvSpPr>
          <p:cNvPr id="3" name="Text 1"/>
          <p:cNvSpPr/>
          <p:nvPr/>
        </p:nvSpPr>
        <p:spPr>
          <a:xfrm>
            <a:off x="16712059" y="552450"/>
            <a:ext cx="804416" cy="314325"/>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6E7686"/>
                </a:solidFill>
                <a:latin typeface="Arial" pitchFamily="34" charset="0"/>
                <a:ea typeface="Arial" pitchFamily="34" charset="-122"/>
                <a:cs typeface="Arial" pitchFamily="34" charset="-120"/>
              </a:rPr>
              <a:t>30 / 40</a:t>
            </a:r>
            <a:endParaRPr lang="en-US" sz="1875" dirty="0"/>
          </a:p>
        </p:txBody>
      </p:sp>
      <p:sp>
        <p:nvSpPr>
          <p:cNvPr id="4" name="Shape 2"/>
          <p:cNvSpPr/>
          <p:nvPr/>
        </p:nvSpPr>
        <p:spPr>
          <a:xfrm>
            <a:off x="847725" y="985838"/>
            <a:ext cx="16592550" cy="28575"/>
          </a:xfrm>
          <a:prstGeom prst="rect">
            <a:avLst/>
          </a:prstGeom>
          <a:solidFill>
            <a:srgbClr val="33455E"/>
          </a:solidFill>
          <a:ln/>
        </p:spPr>
        <p:txBody>
          <a:bodyPr/>
          <a:lstStyle/>
          <a:p>
            <a:endParaRPr lang="en-US"/>
          </a:p>
        </p:txBody>
      </p:sp>
      <p:sp>
        <p:nvSpPr>
          <p:cNvPr id="5" name="Text 3"/>
          <p:cNvSpPr/>
          <p:nvPr/>
        </p:nvSpPr>
        <p:spPr>
          <a:xfrm>
            <a:off x="847725" y="1243013"/>
            <a:ext cx="18251805" cy="55810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3900" b="1" dirty="0">
                <a:solidFill>
                  <a:srgbClr val="1E2530"/>
                </a:solidFill>
                <a:latin typeface="Arial" pitchFamily="34" charset="0"/>
                <a:ea typeface="Arial" pitchFamily="34" charset="-122"/>
                <a:cs typeface="Arial" pitchFamily="34" charset="-120"/>
              </a:rPr>
              <a:t>What drives price — three findings</a:t>
            </a:r>
            <a:endParaRPr lang="en-US" sz="3900" dirty="0"/>
          </a:p>
        </p:txBody>
      </p:sp>
      <p:sp>
        <p:nvSpPr>
          <p:cNvPr id="6" name="Text 4"/>
          <p:cNvSpPr/>
          <p:nvPr/>
        </p:nvSpPr>
        <p:spPr>
          <a:xfrm>
            <a:off x="847725" y="1934468"/>
            <a:ext cx="256356" cy="866329"/>
          </a:xfrm>
          <a:prstGeom prst="rect">
            <a:avLst/>
          </a:prstGeom>
          <a:noFill/>
          <a:ln/>
        </p:spPr>
        <p:txBody>
          <a:bodyPr wrap="square" lIns="25400" tIns="25400" rIns="25400" bIns="25400" rtlCol="0" anchor="t">
            <a:normAutofit/>
          </a:bodyPr>
          <a:lstStyle/>
          <a:p>
            <a:pPr marL="0" indent="0" algn="l">
              <a:buNone/>
            </a:pPr>
            <a:r>
              <a:rPr lang="en-US" sz="2550" b="1" dirty="0">
                <a:solidFill>
                  <a:srgbClr val="5B7A99"/>
                </a:solidFill>
                <a:latin typeface="Arial" pitchFamily="34" charset="0"/>
                <a:ea typeface="Arial" pitchFamily="34" charset="-122"/>
                <a:cs typeface="Arial" pitchFamily="34" charset="-120"/>
              </a:rPr>
              <a:t>1</a:t>
            </a:r>
            <a:endParaRPr lang="en-US" sz="2550" dirty="0"/>
          </a:p>
        </p:txBody>
      </p:sp>
      <p:sp>
        <p:nvSpPr>
          <p:cNvPr id="7" name="Text 5"/>
          <p:cNvSpPr/>
          <p:nvPr/>
        </p:nvSpPr>
        <p:spPr>
          <a:xfrm>
            <a:off x="1161231" y="1934468"/>
            <a:ext cx="5571411" cy="314325"/>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33455E"/>
                </a:solidFill>
                <a:latin typeface="Arial" pitchFamily="34" charset="0"/>
                <a:ea typeface="Arial" pitchFamily="34" charset="-122"/>
                <a:cs typeface="Arial" pitchFamily="34" charset="-120"/>
              </a:rPr>
              <a:t>Location dominates</a:t>
            </a:r>
            <a:endParaRPr lang="en-US" sz="1875" dirty="0"/>
          </a:p>
        </p:txBody>
      </p:sp>
      <p:sp>
        <p:nvSpPr>
          <p:cNvPr id="8" name="Text 6"/>
          <p:cNvSpPr/>
          <p:nvPr/>
        </p:nvSpPr>
        <p:spPr>
          <a:xfrm>
            <a:off x="1161231" y="2210693"/>
            <a:ext cx="5216866" cy="590104"/>
          </a:xfrm>
          <a:prstGeom prst="rect">
            <a:avLst/>
          </a:prstGeom>
          <a:noFill/>
          <a:ln/>
        </p:spPr>
        <p:txBody>
          <a:bodyPr wrap="square" lIns="25400" tIns="25400" rIns="25400" bIns="25400" rtlCol="0" anchor="t">
            <a:normAutofit fontScale="92500" lnSpcReduction="20000"/>
          </a:bodyPr>
          <a:lstStyle/>
          <a:p>
            <a:pPr marL="0" indent="0" algn="l">
              <a:lnSpc>
                <a:spcPct val="126000"/>
              </a:lnSpc>
              <a:buNone/>
            </a:pPr>
            <a:r>
              <a:rPr lang="en-US" sz="1725" dirty="0">
                <a:solidFill>
                  <a:srgbClr val="1E2530"/>
                </a:solidFill>
                <a:latin typeface="Arial" pitchFamily="34" charset="0"/>
                <a:ea typeface="Arial" pitchFamily="34" charset="-122"/>
                <a:cs typeface="Arial" pitchFamily="34" charset="-120"/>
              </a:rPr>
              <a:t>Geospatial features carry most SHAP attribution across every stratum.</a:t>
            </a:r>
            <a:endParaRPr lang="en-US" sz="1725" dirty="0"/>
          </a:p>
        </p:txBody>
      </p:sp>
      <p:sp>
        <p:nvSpPr>
          <p:cNvPr id="9" name="Text 7"/>
          <p:cNvSpPr/>
          <p:nvPr/>
        </p:nvSpPr>
        <p:spPr>
          <a:xfrm>
            <a:off x="6454750" y="1934468"/>
            <a:ext cx="256356" cy="866329"/>
          </a:xfrm>
          <a:prstGeom prst="rect">
            <a:avLst/>
          </a:prstGeom>
          <a:noFill/>
          <a:ln/>
        </p:spPr>
        <p:txBody>
          <a:bodyPr wrap="square" lIns="25400" tIns="25400" rIns="25400" bIns="25400" rtlCol="0" anchor="t">
            <a:normAutofit/>
          </a:bodyPr>
          <a:lstStyle/>
          <a:p>
            <a:pPr marL="0" indent="0" algn="l">
              <a:buNone/>
            </a:pPr>
            <a:r>
              <a:rPr lang="en-US" sz="2550" b="1" dirty="0">
                <a:solidFill>
                  <a:srgbClr val="5B7A99"/>
                </a:solidFill>
                <a:latin typeface="Arial" pitchFamily="34" charset="0"/>
                <a:ea typeface="Arial" pitchFamily="34" charset="-122"/>
                <a:cs typeface="Arial" pitchFamily="34" charset="-120"/>
              </a:rPr>
              <a:t>2</a:t>
            </a:r>
            <a:endParaRPr lang="en-US" sz="2550" dirty="0"/>
          </a:p>
        </p:txBody>
      </p:sp>
      <p:sp>
        <p:nvSpPr>
          <p:cNvPr id="10" name="Text 8"/>
          <p:cNvSpPr/>
          <p:nvPr/>
        </p:nvSpPr>
        <p:spPr>
          <a:xfrm>
            <a:off x="6768257" y="1934468"/>
            <a:ext cx="5571492" cy="314325"/>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33455E"/>
                </a:solidFill>
                <a:latin typeface="Arial" pitchFamily="34" charset="0"/>
                <a:ea typeface="Arial" pitchFamily="34" charset="-122"/>
                <a:cs typeface="Arial" pitchFamily="34" charset="-120"/>
              </a:rPr>
              <a:t>Drivers differ by type</a:t>
            </a:r>
            <a:endParaRPr lang="en-US" sz="1875" dirty="0"/>
          </a:p>
        </p:txBody>
      </p:sp>
      <p:sp>
        <p:nvSpPr>
          <p:cNvPr id="11" name="Text 9"/>
          <p:cNvSpPr/>
          <p:nvPr/>
        </p:nvSpPr>
        <p:spPr>
          <a:xfrm>
            <a:off x="6768257" y="2210693"/>
            <a:ext cx="5216943" cy="590104"/>
          </a:xfrm>
          <a:prstGeom prst="rect">
            <a:avLst/>
          </a:prstGeom>
          <a:noFill/>
          <a:ln/>
        </p:spPr>
        <p:txBody>
          <a:bodyPr wrap="square" lIns="25400" tIns="25400" rIns="25400" bIns="25400" rtlCol="0" anchor="t">
            <a:normAutofit fontScale="92500" lnSpcReduction="20000"/>
          </a:bodyPr>
          <a:lstStyle/>
          <a:p>
            <a:pPr marL="0" indent="0" algn="l">
              <a:lnSpc>
                <a:spcPct val="126000"/>
              </a:lnSpc>
              <a:buNone/>
            </a:pPr>
            <a:r>
              <a:rPr lang="en-US" sz="1725" dirty="0">
                <a:solidFill>
                  <a:srgbClr val="1E2530"/>
                </a:solidFill>
                <a:latin typeface="Arial" pitchFamily="34" charset="0"/>
                <a:ea typeface="Arial" pitchFamily="34" charset="-122"/>
                <a:cs typeface="Arial" pitchFamily="34" charset="-120"/>
              </a:rPr>
              <a:t>The strata behave differently — validating a separate model for each.</a:t>
            </a:r>
            <a:endParaRPr lang="en-US" sz="1725" dirty="0"/>
          </a:p>
        </p:txBody>
      </p:sp>
      <p:sp>
        <p:nvSpPr>
          <p:cNvPr id="12" name="Text 10"/>
          <p:cNvSpPr/>
          <p:nvPr/>
        </p:nvSpPr>
        <p:spPr>
          <a:xfrm>
            <a:off x="12061850" y="1934468"/>
            <a:ext cx="256356" cy="866329"/>
          </a:xfrm>
          <a:prstGeom prst="rect">
            <a:avLst/>
          </a:prstGeom>
          <a:noFill/>
          <a:ln/>
        </p:spPr>
        <p:txBody>
          <a:bodyPr wrap="square" lIns="25400" tIns="25400" rIns="25400" bIns="25400" rtlCol="0" anchor="t">
            <a:normAutofit/>
          </a:bodyPr>
          <a:lstStyle/>
          <a:p>
            <a:pPr marL="0" indent="0" algn="l">
              <a:buNone/>
            </a:pPr>
            <a:r>
              <a:rPr lang="en-US" sz="2550" b="1" dirty="0">
                <a:solidFill>
                  <a:srgbClr val="5B7A99"/>
                </a:solidFill>
                <a:latin typeface="Arial" pitchFamily="34" charset="0"/>
                <a:ea typeface="Arial" pitchFamily="34" charset="-122"/>
                <a:cs typeface="Arial" pitchFamily="34" charset="-120"/>
              </a:rPr>
              <a:t>3</a:t>
            </a:r>
            <a:endParaRPr lang="en-US" sz="2550" dirty="0"/>
          </a:p>
        </p:txBody>
      </p:sp>
      <p:sp>
        <p:nvSpPr>
          <p:cNvPr id="13" name="Text 11"/>
          <p:cNvSpPr/>
          <p:nvPr/>
        </p:nvSpPr>
        <p:spPr>
          <a:xfrm>
            <a:off x="12375356" y="1934468"/>
            <a:ext cx="5571411" cy="314325"/>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33455E"/>
                </a:solidFill>
                <a:latin typeface="Arial" pitchFamily="34" charset="0"/>
                <a:ea typeface="Arial" pitchFamily="34" charset="-122"/>
                <a:cs typeface="Arial" pitchFamily="34" charset="-120"/>
              </a:rPr>
              <a:t>MCRAI is selective</a:t>
            </a:r>
            <a:endParaRPr lang="en-US" sz="1875" dirty="0"/>
          </a:p>
        </p:txBody>
      </p:sp>
      <p:sp>
        <p:nvSpPr>
          <p:cNvPr id="14" name="Text 12"/>
          <p:cNvSpPr/>
          <p:nvPr/>
        </p:nvSpPr>
        <p:spPr>
          <a:xfrm>
            <a:off x="12375356" y="2210693"/>
            <a:ext cx="5216866" cy="590104"/>
          </a:xfrm>
          <a:prstGeom prst="rect">
            <a:avLst/>
          </a:prstGeom>
          <a:noFill/>
          <a:ln/>
        </p:spPr>
        <p:txBody>
          <a:bodyPr wrap="square" lIns="25400" tIns="25400" rIns="25400" bIns="25400" rtlCol="0" anchor="t">
            <a:normAutofit fontScale="92500" lnSpcReduction="20000"/>
          </a:bodyPr>
          <a:lstStyle/>
          <a:p>
            <a:pPr marL="0" indent="0" algn="l">
              <a:lnSpc>
                <a:spcPct val="126000"/>
              </a:lnSpc>
              <a:buNone/>
            </a:pPr>
            <a:r>
              <a:rPr lang="en-US" sz="1725" dirty="0">
                <a:solidFill>
                  <a:srgbClr val="1E2530"/>
                </a:solidFill>
                <a:latin typeface="Arial" pitchFamily="34" charset="0"/>
                <a:ea typeface="Arial" pitchFamily="34" charset="-122"/>
                <a:cs typeface="Arial" pitchFamily="34" charset="-120"/>
              </a:rPr>
              <a:t>Education, grocery, recreation add value; security, tourism, retail are diagnostic.</a:t>
            </a:r>
            <a:endParaRPr lang="en-US" sz="1725" dirty="0"/>
          </a:p>
        </p:txBody>
      </p:sp>
      <p:sp>
        <p:nvSpPr>
          <p:cNvPr id="15" name="Shape 13"/>
          <p:cNvSpPr/>
          <p:nvPr/>
        </p:nvSpPr>
        <p:spPr>
          <a:xfrm>
            <a:off x="847725" y="2934146"/>
            <a:ext cx="5378425" cy="6242745"/>
          </a:xfrm>
          <a:prstGeom prst="roundRect">
            <a:avLst>
              <a:gd name="adj" fmla="val 1063"/>
            </a:avLst>
          </a:prstGeom>
          <a:solidFill>
            <a:srgbClr val="FFFFFF"/>
          </a:solidFill>
          <a:ln w="9525">
            <a:solidFill>
              <a:srgbClr val="DCE2E9"/>
            </a:solidFill>
            <a:prstDash val="solid"/>
          </a:ln>
        </p:spPr>
        <p:txBody>
          <a:bodyPr/>
          <a:lstStyle/>
          <a:p>
            <a:endParaRPr lang="en-US"/>
          </a:p>
        </p:txBody>
      </p:sp>
      <p:pic>
        <p:nvPicPr>
          <p:cNvPr id="16" name="Image 0" descr="preencoded.png"/>
          <p:cNvPicPr>
            <a:picLocks noChangeAspect="1"/>
          </p:cNvPicPr>
          <p:nvPr/>
        </p:nvPicPr>
        <p:blipFill>
          <a:blip r:embed="rId3"/>
          <a:srcRect t="-37956" b="-37956"/>
          <a:stretch/>
        </p:blipFill>
        <p:spPr>
          <a:xfrm>
            <a:off x="933450" y="3019871"/>
            <a:ext cx="5206975" cy="6071295"/>
          </a:xfrm>
          <a:prstGeom prst="rect">
            <a:avLst/>
          </a:prstGeom>
        </p:spPr>
      </p:pic>
      <p:sp>
        <p:nvSpPr>
          <p:cNvPr id="17" name="Text 14"/>
          <p:cNvSpPr/>
          <p:nvPr/>
        </p:nvSpPr>
        <p:spPr>
          <a:xfrm>
            <a:off x="847725" y="9234041"/>
            <a:ext cx="5539778" cy="557659"/>
          </a:xfrm>
          <a:prstGeom prst="rect">
            <a:avLst/>
          </a:prstGeom>
          <a:noFill/>
          <a:ln/>
        </p:spPr>
        <p:txBody>
          <a:bodyPr wrap="square" lIns="25400" tIns="25400" rIns="25400" bIns="25400" rtlCol="0" anchor="t">
            <a:normAutofit fontScale="92500" lnSpcReduction="10000"/>
          </a:bodyPr>
          <a:lstStyle/>
          <a:p>
            <a:pPr marL="0" indent="0" algn="l">
              <a:lnSpc>
                <a:spcPct val="124000"/>
              </a:lnSpc>
              <a:buNone/>
            </a:pPr>
            <a:r>
              <a:rPr lang="en-US" sz="1650" b="1" dirty="0">
                <a:solidFill>
                  <a:srgbClr val="33455E"/>
                </a:solidFill>
                <a:latin typeface="Arial" pitchFamily="34" charset="0"/>
                <a:ea typeface="Arial" pitchFamily="34" charset="-122"/>
                <a:cs typeface="Arial" pitchFamily="34" charset="-120"/>
              </a:rPr>
              <a:t>Condominiums </a:t>
            </a:r>
            <a:r>
              <a:rPr lang="en-US" sz="1650" dirty="0">
                <a:solidFill>
                  <a:srgbClr val="1E2530"/>
                </a:solidFill>
                <a:latin typeface="Arial" pitchFamily="34" charset="0"/>
                <a:ea typeface="Arial" pitchFamily="34" charset="-122"/>
                <a:cs typeface="Arial" pitchFamily="34" charset="-120"/>
              </a:rPr>
              <a:t>— neighborhood price (spatial lag) leads; weight spreads across several nodes.</a:t>
            </a:r>
            <a:endParaRPr lang="en-US" sz="1650" dirty="0"/>
          </a:p>
        </p:txBody>
      </p:sp>
      <p:sp>
        <p:nvSpPr>
          <p:cNvPr id="18" name="Shape 15"/>
          <p:cNvSpPr/>
          <p:nvPr/>
        </p:nvSpPr>
        <p:spPr>
          <a:xfrm>
            <a:off x="6454750" y="2934146"/>
            <a:ext cx="5378500" cy="6242745"/>
          </a:xfrm>
          <a:prstGeom prst="roundRect">
            <a:avLst>
              <a:gd name="adj" fmla="val 1063"/>
            </a:avLst>
          </a:prstGeom>
          <a:solidFill>
            <a:srgbClr val="FFFFFF"/>
          </a:solidFill>
          <a:ln w="9525">
            <a:solidFill>
              <a:srgbClr val="DCE2E9"/>
            </a:solidFill>
            <a:prstDash val="solid"/>
          </a:ln>
        </p:spPr>
        <p:txBody>
          <a:bodyPr/>
          <a:lstStyle/>
          <a:p>
            <a:endParaRPr lang="en-US"/>
          </a:p>
        </p:txBody>
      </p:sp>
      <p:pic>
        <p:nvPicPr>
          <p:cNvPr id="19" name="Image 1" descr="preencoded.png"/>
          <p:cNvPicPr>
            <a:picLocks noChangeAspect="1"/>
          </p:cNvPicPr>
          <p:nvPr/>
        </p:nvPicPr>
        <p:blipFill>
          <a:blip r:embed="rId4"/>
          <a:srcRect t="-37898" b="-37898"/>
          <a:stretch/>
        </p:blipFill>
        <p:spPr>
          <a:xfrm>
            <a:off x="6540475" y="3019871"/>
            <a:ext cx="5207050" cy="6071295"/>
          </a:xfrm>
          <a:prstGeom prst="rect">
            <a:avLst/>
          </a:prstGeom>
        </p:spPr>
      </p:pic>
      <p:sp>
        <p:nvSpPr>
          <p:cNvPr id="20" name="Text 16"/>
          <p:cNvSpPr/>
          <p:nvPr/>
        </p:nvSpPr>
        <p:spPr>
          <a:xfrm>
            <a:off x="6454750" y="9234041"/>
            <a:ext cx="5539855" cy="557659"/>
          </a:xfrm>
          <a:prstGeom prst="rect">
            <a:avLst/>
          </a:prstGeom>
          <a:noFill/>
          <a:ln/>
        </p:spPr>
        <p:txBody>
          <a:bodyPr wrap="square" lIns="25400" tIns="25400" rIns="25400" bIns="25400" rtlCol="0" anchor="t">
            <a:normAutofit fontScale="92500" lnSpcReduction="10000"/>
          </a:bodyPr>
          <a:lstStyle/>
          <a:p>
            <a:pPr marL="0" indent="0" algn="l">
              <a:lnSpc>
                <a:spcPct val="124000"/>
              </a:lnSpc>
              <a:buNone/>
            </a:pPr>
            <a:r>
              <a:rPr lang="en-US" sz="1650" b="1" dirty="0">
                <a:solidFill>
                  <a:srgbClr val="33455E"/>
                </a:solidFill>
                <a:latin typeface="Arial" pitchFamily="34" charset="0"/>
                <a:ea typeface="Arial" pitchFamily="34" charset="-122"/>
                <a:cs typeface="Arial" pitchFamily="34" charset="-120"/>
              </a:rPr>
              <a:t>Houses </a:t>
            </a:r>
            <a:r>
              <a:rPr lang="en-US" sz="1650" dirty="0">
                <a:solidFill>
                  <a:srgbClr val="1E2530"/>
                </a:solidFill>
                <a:latin typeface="Arial" pitchFamily="34" charset="0"/>
                <a:ea typeface="Arial" pitchFamily="34" charset="-122"/>
                <a:cs typeface="Arial" pitchFamily="34" charset="-120"/>
              </a:rPr>
              <a:t>— distance to Cebu Business Park is the single strongest driver; classic bid-rent.</a:t>
            </a:r>
            <a:endParaRPr lang="en-US" sz="1650" dirty="0"/>
          </a:p>
        </p:txBody>
      </p:sp>
      <p:sp>
        <p:nvSpPr>
          <p:cNvPr id="21" name="Shape 17"/>
          <p:cNvSpPr/>
          <p:nvPr/>
        </p:nvSpPr>
        <p:spPr>
          <a:xfrm>
            <a:off x="12061850" y="2934146"/>
            <a:ext cx="5378425" cy="6242745"/>
          </a:xfrm>
          <a:prstGeom prst="roundRect">
            <a:avLst>
              <a:gd name="adj" fmla="val 1063"/>
            </a:avLst>
          </a:prstGeom>
          <a:solidFill>
            <a:srgbClr val="FFFFFF"/>
          </a:solidFill>
          <a:ln w="9525">
            <a:solidFill>
              <a:srgbClr val="DCE2E9"/>
            </a:solidFill>
            <a:prstDash val="solid"/>
          </a:ln>
        </p:spPr>
        <p:txBody>
          <a:bodyPr/>
          <a:lstStyle/>
          <a:p>
            <a:endParaRPr lang="en-US"/>
          </a:p>
        </p:txBody>
      </p:sp>
      <p:pic>
        <p:nvPicPr>
          <p:cNvPr id="22" name="Image 2" descr="preencoded.png"/>
          <p:cNvPicPr>
            <a:picLocks noChangeAspect="1"/>
          </p:cNvPicPr>
          <p:nvPr/>
        </p:nvPicPr>
        <p:blipFill>
          <a:blip r:embed="rId5"/>
          <a:srcRect t="-37900" b="-37900"/>
          <a:stretch/>
        </p:blipFill>
        <p:spPr>
          <a:xfrm>
            <a:off x="12147575" y="3019871"/>
            <a:ext cx="5206975" cy="6071295"/>
          </a:xfrm>
          <a:prstGeom prst="rect">
            <a:avLst/>
          </a:prstGeom>
        </p:spPr>
      </p:pic>
      <p:sp>
        <p:nvSpPr>
          <p:cNvPr id="23" name="Text 18"/>
          <p:cNvSpPr/>
          <p:nvPr/>
        </p:nvSpPr>
        <p:spPr>
          <a:xfrm>
            <a:off x="12061850" y="9234041"/>
            <a:ext cx="5539778" cy="557659"/>
          </a:xfrm>
          <a:prstGeom prst="rect">
            <a:avLst/>
          </a:prstGeom>
          <a:noFill/>
          <a:ln/>
        </p:spPr>
        <p:txBody>
          <a:bodyPr wrap="square" lIns="25400" tIns="25400" rIns="25400" bIns="25400" rtlCol="0" anchor="t">
            <a:normAutofit fontScale="92500" lnSpcReduction="10000"/>
          </a:bodyPr>
          <a:lstStyle/>
          <a:p>
            <a:pPr marL="0" indent="0" algn="l">
              <a:lnSpc>
                <a:spcPct val="124000"/>
              </a:lnSpc>
              <a:buNone/>
            </a:pPr>
            <a:r>
              <a:rPr lang="en-US" sz="1650" b="1" dirty="0">
                <a:solidFill>
                  <a:srgbClr val="33455E"/>
                </a:solidFill>
                <a:latin typeface="Arial" pitchFamily="34" charset="0"/>
                <a:ea typeface="Arial" pitchFamily="34" charset="-122"/>
                <a:cs typeface="Arial" pitchFamily="34" charset="-120"/>
              </a:rPr>
              <a:t>Vacant lots </a:t>
            </a:r>
            <a:r>
              <a:rPr lang="en-US" sz="1650" dirty="0">
                <a:solidFill>
                  <a:srgbClr val="1E2530"/>
                </a:solidFill>
                <a:latin typeface="Arial" pitchFamily="34" charset="0"/>
                <a:ea typeface="Arial" pitchFamily="34" charset="-122"/>
                <a:cs typeface="Arial" pitchFamily="34" charset="-120"/>
              </a:rPr>
              <a:t>— CBP distance leads; individual amenity categories are second.</a:t>
            </a:r>
            <a:endParaRPr lang="en-US" sz="1650" dirty="0"/>
          </a:p>
        </p:txBody>
      </p:sp>
    </p:spTree>
    <p:extLst>
      <p:ext uri="{BB962C8B-B14F-4D97-AF65-F5344CB8AC3E}">
        <p14:creationId xmlns:p14="http://schemas.microsoft.com/office/powerpoint/2010/main" val="2063593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1">
    <p:bg>
      <p:bgPr>
        <a:solidFill>
          <a:srgbClr val="FAFBFC"/>
        </a:solidFill>
        <a:effectLst/>
      </p:bgPr>
    </p:bg>
    <p:spTree>
      <p:nvGrpSpPr>
        <p:cNvPr id="1" name=""/>
        <p:cNvGrpSpPr/>
        <p:nvPr/>
      </p:nvGrpSpPr>
      <p:grpSpPr>
        <a:xfrm>
          <a:off x="0" y="0"/>
          <a:ext cx="0" cy="0"/>
          <a:chOff x="0" y="0"/>
          <a:chExt cx="0" cy="0"/>
        </a:xfrm>
      </p:grpSpPr>
      <p:sp>
        <p:nvSpPr>
          <p:cNvPr id="2" name="Text 0"/>
          <p:cNvSpPr/>
          <p:nvPr/>
        </p:nvSpPr>
        <p:spPr>
          <a:xfrm>
            <a:off x="847725" y="552450"/>
            <a:ext cx="4253456" cy="347663"/>
          </a:xfrm>
          <a:prstGeom prst="rect">
            <a:avLst/>
          </a:prstGeom>
          <a:noFill/>
          <a:ln/>
        </p:spPr>
        <p:txBody>
          <a:bodyPr wrap="square" lIns="25400" tIns="25400" rIns="25400" bIns="25400" rtlCol="0" anchor="t">
            <a:normAutofit lnSpcReduction="10000"/>
          </a:bodyPr>
          <a:lstStyle/>
          <a:p>
            <a:pPr marL="0" indent="0" algn="l">
              <a:buNone/>
            </a:pPr>
            <a:r>
              <a:rPr lang="en-US" sz="2100" b="1" kern="0" spc="84" dirty="0">
                <a:solidFill>
                  <a:srgbClr val="33455E"/>
                </a:solidFill>
                <a:latin typeface="Arial" pitchFamily="34" charset="0"/>
                <a:ea typeface="Arial" pitchFamily="34" charset="-122"/>
                <a:cs typeface="Arial" pitchFamily="34" charset="-120"/>
              </a:rPr>
              <a:t>8 · RESULTS &amp; DISCUSSION</a:t>
            </a:r>
            <a:endParaRPr lang="en-US" sz="2100" dirty="0"/>
          </a:p>
        </p:txBody>
      </p:sp>
      <p:sp>
        <p:nvSpPr>
          <p:cNvPr id="3" name="Text 1"/>
          <p:cNvSpPr/>
          <p:nvPr/>
        </p:nvSpPr>
        <p:spPr>
          <a:xfrm>
            <a:off x="16712059" y="552450"/>
            <a:ext cx="804416" cy="314325"/>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6E7686"/>
                </a:solidFill>
                <a:latin typeface="Arial" pitchFamily="34" charset="0"/>
                <a:ea typeface="Arial" pitchFamily="34" charset="-122"/>
                <a:cs typeface="Arial" pitchFamily="34" charset="-120"/>
              </a:rPr>
              <a:t>31 / 40</a:t>
            </a:r>
            <a:endParaRPr lang="en-US" sz="1875" dirty="0"/>
          </a:p>
        </p:txBody>
      </p:sp>
      <p:sp>
        <p:nvSpPr>
          <p:cNvPr id="4" name="Shape 2"/>
          <p:cNvSpPr/>
          <p:nvPr/>
        </p:nvSpPr>
        <p:spPr>
          <a:xfrm>
            <a:off x="847725" y="985838"/>
            <a:ext cx="16592550" cy="28575"/>
          </a:xfrm>
          <a:prstGeom prst="rect">
            <a:avLst/>
          </a:prstGeom>
          <a:solidFill>
            <a:srgbClr val="33455E"/>
          </a:solidFill>
          <a:ln/>
        </p:spPr>
        <p:txBody>
          <a:bodyPr/>
          <a:lstStyle/>
          <a:p>
            <a:endParaRPr lang="en-US"/>
          </a:p>
        </p:txBody>
      </p:sp>
      <p:sp>
        <p:nvSpPr>
          <p:cNvPr id="5" name="Text 3"/>
          <p:cNvSpPr/>
          <p:nvPr/>
        </p:nvSpPr>
        <p:spPr>
          <a:xfrm>
            <a:off x="847725" y="1243013"/>
            <a:ext cx="18251805" cy="55810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3900" b="1" dirty="0">
                <a:solidFill>
                  <a:srgbClr val="1E2530"/>
                </a:solidFill>
                <a:latin typeface="Arial" pitchFamily="34" charset="0"/>
                <a:ea typeface="Arial" pitchFamily="34" charset="-122"/>
                <a:cs typeface="Arial" pitchFamily="34" charset="-120"/>
              </a:rPr>
              <a:t>A polycentric price surface</a:t>
            </a:r>
            <a:endParaRPr lang="en-US" sz="3900" dirty="0"/>
          </a:p>
        </p:txBody>
      </p:sp>
      <p:sp>
        <p:nvSpPr>
          <p:cNvPr id="6" name="Text 4"/>
          <p:cNvSpPr/>
          <p:nvPr/>
        </p:nvSpPr>
        <p:spPr>
          <a:xfrm>
            <a:off x="847725" y="2010668"/>
            <a:ext cx="8843010" cy="333375"/>
          </a:xfrm>
          <a:prstGeom prst="rect">
            <a:avLst/>
          </a:prstGeom>
          <a:noFill/>
          <a:ln/>
        </p:spPr>
        <p:txBody>
          <a:bodyPr wrap="square" lIns="25400" tIns="25400" rIns="25400" bIns="25400" rtlCol="0" anchor="t">
            <a:normAutofit lnSpcReduction="10000"/>
          </a:bodyPr>
          <a:lstStyle/>
          <a:p>
            <a:pPr marL="0" indent="0" algn="l">
              <a:buNone/>
            </a:pPr>
            <a:r>
              <a:rPr lang="en-US" sz="2025" b="1" dirty="0">
                <a:solidFill>
                  <a:srgbClr val="33455E"/>
                </a:solidFill>
                <a:latin typeface="Arial" pitchFamily="34" charset="0"/>
                <a:ea typeface="Arial" pitchFamily="34" charset="-122"/>
                <a:cs typeface="Arial" pitchFamily="34" charset="-120"/>
              </a:rPr>
              <a:t>Polycentric, not monocentric</a:t>
            </a:r>
            <a:endParaRPr lang="en-US" sz="2025" dirty="0"/>
          </a:p>
        </p:txBody>
      </p:sp>
      <p:sp>
        <p:nvSpPr>
          <p:cNvPr id="7" name="Text 5"/>
          <p:cNvSpPr/>
          <p:nvPr/>
        </p:nvSpPr>
        <p:spPr>
          <a:xfrm>
            <a:off x="847725" y="2515493"/>
            <a:ext cx="15723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b="1" dirty="0">
                <a:solidFill>
                  <a:srgbClr val="33455E"/>
                </a:solidFill>
                <a:latin typeface="Arial" pitchFamily="34" charset="0"/>
                <a:ea typeface="Arial" pitchFamily="34" charset="-122"/>
                <a:cs typeface="Arial" pitchFamily="34" charset="-120"/>
              </a:rPr>
              <a:t>▪</a:t>
            </a:r>
            <a:endParaRPr lang="en-US" sz="1800" dirty="0"/>
          </a:p>
        </p:txBody>
      </p:sp>
      <p:sp>
        <p:nvSpPr>
          <p:cNvPr id="8" name="Text 6"/>
          <p:cNvSpPr/>
          <p:nvPr/>
        </p:nvSpPr>
        <p:spPr>
          <a:xfrm>
            <a:off x="1062112" y="2458343"/>
            <a:ext cx="8059454" cy="817513"/>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2325" dirty="0">
                <a:solidFill>
                  <a:srgbClr val="1E2530"/>
                </a:solidFill>
                <a:latin typeface="Arial" pitchFamily="34" charset="0"/>
                <a:ea typeface="Arial" pitchFamily="34" charset="-122"/>
                <a:cs typeface="Arial" pitchFamily="34" charset="-120"/>
              </a:rPr>
              <a:t>CBP still anchors land and detached housing — the historic core matters most there.</a:t>
            </a:r>
            <a:endParaRPr lang="en-US" sz="2325" dirty="0"/>
          </a:p>
        </p:txBody>
      </p:sp>
      <p:sp>
        <p:nvSpPr>
          <p:cNvPr id="9" name="Text 7"/>
          <p:cNvSpPr/>
          <p:nvPr/>
        </p:nvSpPr>
        <p:spPr>
          <a:xfrm>
            <a:off x="847725" y="3447306"/>
            <a:ext cx="15723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b="1" dirty="0">
                <a:solidFill>
                  <a:srgbClr val="33455E"/>
                </a:solidFill>
                <a:latin typeface="Arial" pitchFamily="34" charset="0"/>
                <a:ea typeface="Arial" pitchFamily="34" charset="-122"/>
                <a:cs typeface="Arial" pitchFamily="34" charset="-120"/>
              </a:rPr>
              <a:t>▪</a:t>
            </a:r>
            <a:endParaRPr lang="en-US" sz="1800" dirty="0"/>
          </a:p>
        </p:txBody>
      </p:sp>
      <p:sp>
        <p:nvSpPr>
          <p:cNvPr id="10" name="Text 8"/>
          <p:cNvSpPr/>
          <p:nvPr/>
        </p:nvSpPr>
        <p:spPr>
          <a:xfrm>
            <a:off x="1062112" y="3390156"/>
            <a:ext cx="8059454" cy="1207219"/>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2325" dirty="0">
                <a:solidFill>
                  <a:srgbClr val="1E2530"/>
                </a:solidFill>
                <a:latin typeface="Arial" pitchFamily="34" charset="0"/>
                <a:ea typeface="Arial" pitchFamily="34" charset="-122"/>
                <a:cs typeface="Arial" pitchFamily="34" charset="-120"/>
              </a:rPr>
              <a:t>But it does not stand alone: condo weight spreads across the Mactan/airport corridor and the northern Mandaue–Consolacion nodes.</a:t>
            </a:r>
            <a:endParaRPr lang="en-US" sz="2325" dirty="0"/>
          </a:p>
        </p:txBody>
      </p:sp>
      <p:sp>
        <p:nvSpPr>
          <p:cNvPr id="11" name="Text 9"/>
          <p:cNvSpPr/>
          <p:nvPr/>
        </p:nvSpPr>
        <p:spPr>
          <a:xfrm>
            <a:off x="847725" y="4768825"/>
            <a:ext cx="15723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b="1" dirty="0">
                <a:solidFill>
                  <a:srgbClr val="33455E"/>
                </a:solidFill>
                <a:latin typeface="Arial" pitchFamily="34" charset="0"/>
                <a:ea typeface="Arial" pitchFamily="34" charset="-122"/>
                <a:cs typeface="Arial" pitchFamily="34" charset="-120"/>
              </a:rPr>
              <a:t>▪</a:t>
            </a:r>
            <a:endParaRPr lang="en-US" sz="1800" dirty="0"/>
          </a:p>
        </p:txBody>
      </p:sp>
      <p:sp>
        <p:nvSpPr>
          <p:cNvPr id="12" name="Text 10"/>
          <p:cNvSpPr/>
          <p:nvPr/>
        </p:nvSpPr>
        <p:spPr>
          <a:xfrm>
            <a:off x="1062112" y="4711675"/>
            <a:ext cx="8059454" cy="1207219"/>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2325" dirty="0">
                <a:solidFill>
                  <a:srgbClr val="1E2530"/>
                </a:solidFill>
                <a:latin typeface="Arial" pitchFamily="34" charset="0"/>
                <a:ea typeface="Arial" pitchFamily="34" charset="-122"/>
                <a:cs typeface="Arial" pitchFamily="34" charset="-120"/>
              </a:rPr>
              <a:t>The reading is a </a:t>
            </a:r>
            <a:r>
              <a:rPr lang="en-US" sz="2325" b="1" dirty="0">
                <a:solidFill>
                  <a:srgbClr val="33455E"/>
                </a:solidFill>
                <a:latin typeface="Arial" pitchFamily="34" charset="0"/>
                <a:ea typeface="Arial" pitchFamily="34" charset="-122"/>
                <a:cs typeface="Arial" pitchFamily="34" charset="-120"/>
              </a:rPr>
              <a:t>corridor of linked centers </a:t>
            </a:r>
            <a:r>
              <a:rPr lang="en-US" sz="2325" dirty="0">
                <a:solidFill>
                  <a:srgbClr val="1E2530"/>
                </a:solidFill>
                <a:latin typeface="Arial" pitchFamily="34" charset="0"/>
                <a:ea typeface="Arial" pitchFamily="34" charset="-122"/>
                <a:cs typeface="Arial" pitchFamily="34" charset="-120"/>
              </a:rPr>
              <a:t>, consistent with the JICA roadmap and polycentric theory. </a:t>
            </a:r>
            <a:r>
              <a:rPr lang="en-US" sz="2325" i="1" dirty="0">
                <a:solidFill>
                  <a:srgbClr val="979FAD"/>
                </a:solidFill>
                <a:latin typeface="Arial" pitchFamily="34" charset="0"/>
                <a:ea typeface="Arial" pitchFamily="34" charset="-122"/>
                <a:cs typeface="Arial" pitchFamily="34" charset="-120"/>
              </a:rPr>
              <a:t>(Giuliano &amp; Small, 1991; McMillen, 2003)</a:t>
            </a:r>
            <a:endParaRPr lang="en-US" sz="2325" dirty="0"/>
          </a:p>
        </p:txBody>
      </p:sp>
      <p:sp>
        <p:nvSpPr>
          <p:cNvPr id="13" name="Text 11"/>
          <p:cNvSpPr/>
          <p:nvPr/>
        </p:nvSpPr>
        <p:spPr>
          <a:xfrm>
            <a:off x="9401175" y="2010668"/>
            <a:ext cx="8843010" cy="333375"/>
          </a:xfrm>
          <a:prstGeom prst="rect">
            <a:avLst/>
          </a:prstGeom>
          <a:noFill/>
          <a:ln/>
        </p:spPr>
        <p:txBody>
          <a:bodyPr wrap="square" lIns="25400" tIns="25400" rIns="25400" bIns="25400" rtlCol="0" anchor="t">
            <a:normAutofit lnSpcReduction="10000"/>
          </a:bodyPr>
          <a:lstStyle/>
          <a:p>
            <a:pPr marL="0" indent="0" algn="l">
              <a:buNone/>
            </a:pPr>
            <a:r>
              <a:rPr lang="en-US" sz="2025" b="1" dirty="0">
                <a:solidFill>
                  <a:srgbClr val="33455E"/>
                </a:solidFill>
                <a:latin typeface="Arial" pitchFamily="34" charset="0"/>
                <a:ea typeface="Arial" pitchFamily="34" charset="-122"/>
                <a:cs typeface="Arial" pitchFamily="34" charset="-120"/>
              </a:rPr>
              <a:t>The Mactan submarket &amp; spatial sorting</a:t>
            </a:r>
            <a:endParaRPr lang="en-US" sz="2025" dirty="0"/>
          </a:p>
        </p:txBody>
      </p:sp>
      <p:sp>
        <p:nvSpPr>
          <p:cNvPr id="14" name="Text 12"/>
          <p:cNvSpPr/>
          <p:nvPr/>
        </p:nvSpPr>
        <p:spPr>
          <a:xfrm>
            <a:off x="9401175" y="2515493"/>
            <a:ext cx="15723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b="1" dirty="0">
                <a:solidFill>
                  <a:srgbClr val="33455E"/>
                </a:solidFill>
                <a:latin typeface="Arial" pitchFamily="34" charset="0"/>
                <a:ea typeface="Arial" pitchFamily="34" charset="-122"/>
                <a:cs typeface="Arial" pitchFamily="34" charset="-120"/>
              </a:rPr>
              <a:t>▪</a:t>
            </a:r>
            <a:endParaRPr lang="en-US" sz="1800" dirty="0"/>
          </a:p>
        </p:txBody>
      </p:sp>
      <p:sp>
        <p:nvSpPr>
          <p:cNvPr id="15" name="Text 13"/>
          <p:cNvSpPr/>
          <p:nvPr/>
        </p:nvSpPr>
        <p:spPr>
          <a:xfrm>
            <a:off x="9615562" y="2458343"/>
            <a:ext cx="8059454" cy="1207219"/>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2325" dirty="0">
                <a:solidFill>
                  <a:srgbClr val="1E2530"/>
                </a:solidFill>
                <a:latin typeface="Arial" pitchFamily="34" charset="0"/>
                <a:ea typeface="Arial" pitchFamily="34" charset="-122"/>
                <a:cs typeface="Arial" pitchFamily="34" charset="-120"/>
              </a:rPr>
              <a:t>The Mactan signal comes through the </a:t>
            </a:r>
            <a:r>
              <a:rPr lang="en-US" sz="2325" b="1" dirty="0">
                <a:solidFill>
                  <a:srgbClr val="33455E"/>
                </a:solidFill>
                <a:latin typeface="Arial" pitchFamily="34" charset="0"/>
                <a:ea typeface="Arial" pitchFamily="34" charset="-122"/>
                <a:cs typeface="Arial" pitchFamily="34" charset="-120"/>
              </a:rPr>
              <a:t>condominium </a:t>
            </a:r>
            <a:r>
              <a:rPr lang="en-US" sz="2325" dirty="0">
                <a:solidFill>
                  <a:srgbClr val="1E2530"/>
                </a:solidFill>
                <a:latin typeface="Arial" pitchFamily="34" charset="0"/>
                <a:ea typeface="Arial" pitchFamily="34" charset="-122"/>
                <a:cs typeface="Arial" pitchFamily="34" charset="-120"/>
              </a:rPr>
              <a:t>stratum, via airport and Mactan-CBD distance — a submarket bundle, not a raw island premium.</a:t>
            </a:r>
            <a:endParaRPr lang="en-US" sz="2325" dirty="0"/>
          </a:p>
        </p:txBody>
      </p:sp>
      <p:sp>
        <p:nvSpPr>
          <p:cNvPr id="16" name="Text 14"/>
          <p:cNvSpPr/>
          <p:nvPr/>
        </p:nvSpPr>
        <p:spPr>
          <a:xfrm>
            <a:off x="9401175" y="3837012"/>
            <a:ext cx="15723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b="1" dirty="0">
                <a:solidFill>
                  <a:srgbClr val="33455E"/>
                </a:solidFill>
                <a:latin typeface="Arial" pitchFamily="34" charset="0"/>
                <a:ea typeface="Arial" pitchFamily="34" charset="-122"/>
                <a:cs typeface="Arial" pitchFamily="34" charset="-120"/>
              </a:rPr>
              <a:t>▪</a:t>
            </a:r>
            <a:endParaRPr lang="en-US" sz="1800" dirty="0"/>
          </a:p>
        </p:txBody>
      </p:sp>
      <p:sp>
        <p:nvSpPr>
          <p:cNvPr id="17" name="Text 15"/>
          <p:cNvSpPr/>
          <p:nvPr/>
        </p:nvSpPr>
        <p:spPr>
          <a:xfrm>
            <a:off x="9615562" y="3779862"/>
            <a:ext cx="8059454" cy="817513"/>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2325" dirty="0">
                <a:solidFill>
                  <a:srgbClr val="1E2530"/>
                </a:solidFill>
                <a:latin typeface="Arial" pitchFamily="34" charset="0"/>
                <a:ea typeface="Arial" pitchFamily="34" charset="-122"/>
                <a:cs typeface="Arial" pitchFamily="34" charset="-120"/>
              </a:rPr>
              <a:t>Negative signs on security, tourism, and retail are </a:t>
            </a:r>
            <a:r>
              <a:rPr lang="en-US" sz="2325" b="1" dirty="0">
                <a:solidFill>
                  <a:srgbClr val="33455E"/>
                </a:solidFill>
                <a:latin typeface="Arial" pitchFamily="34" charset="0"/>
                <a:ea typeface="Arial" pitchFamily="34" charset="-122"/>
                <a:cs typeface="Arial" pitchFamily="34" charset="-120"/>
              </a:rPr>
              <a:t>not </a:t>
            </a:r>
            <a:r>
              <a:rPr lang="en-US" sz="2325" dirty="0">
                <a:solidFill>
                  <a:srgbClr val="1E2530"/>
                </a:solidFill>
                <a:latin typeface="Arial" pitchFamily="34" charset="0"/>
                <a:ea typeface="Arial" pitchFamily="34" charset="-122"/>
                <a:cs typeface="Arial" pitchFamily="34" charset="-120"/>
              </a:rPr>
              <a:t>proof of harm.</a:t>
            </a:r>
            <a:endParaRPr lang="en-US" sz="2325" dirty="0"/>
          </a:p>
        </p:txBody>
      </p:sp>
      <p:sp>
        <p:nvSpPr>
          <p:cNvPr id="18" name="Text 16"/>
          <p:cNvSpPr/>
          <p:nvPr/>
        </p:nvSpPr>
        <p:spPr>
          <a:xfrm>
            <a:off x="9401175" y="4768825"/>
            <a:ext cx="15723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b="1" dirty="0">
                <a:solidFill>
                  <a:srgbClr val="33455E"/>
                </a:solidFill>
                <a:latin typeface="Arial" pitchFamily="34" charset="0"/>
                <a:ea typeface="Arial" pitchFamily="34" charset="-122"/>
                <a:cs typeface="Arial" pitchFamily="34" charset="-120"/>
              </a:rPr>
              <a:t>▪</a:t>
            </a:r>
            <a:endParaRPr lang="en-US" sz="1800" dirty="0"/>
          </a:p>
        </p:txBody>
      </p:sp>
      <p:sp>
        <p:nvSpPr>
          <p:cNvPr id="19" name="Text 17"/>
          <p:cNvSpPr/>
          <p:nvPr/>
        </p:nvSpPr>
        <p:spPr>
          <a:xfrm>
            <a:off x="9615562" y="4711675"/>
            <a:ext cx="8059454" cy="1207219"/>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2325" dirty="0">
                <a:solidFill>
                  <a:srgbClr val="1E2530"/>
                </a:solidFill>
                <a:latin typeface="Arial" pitchFamily="34" charset="0"/>
                <a:ea typeface="Arial" pitchFamily="34" charset="-122"/>
                <a:cs typeface="Arial" pitchFamily="34" charset="-120"/>
              </a:rPr>
              <a:t>They reflect </a:t>
            </a:r>
            <a:r>
              <a:rPr lang="en-US" sz="2325" b="1" dirty="0">
                <a:solidFill>
                  <a:srgbClr val="33455E"/>
                </a:solidFill>
                <a:latin typeface="Arial" pitchFamily="34" charset="0"/>
                <a:ea typeface="Arial" pitchFamily="34" charset="-122"/>
                <a:cs typeface="Arial" pitchFamily="34" charset="-120"/>
              </a:rPr>
              <a:t>spatial sorting </a:t>
            </a:r>
            <a:r>
              <a:rPr lang="en-US" sz="2325" dirty="0">
                <a:solidFill>
                  <a:srgbClr val="1E2530"/>
                </a:solidFill>
                <a:latin typeface="Arial" pitchFamily="34" charset="0"/>
                <a:ea typeface="Arial" pitchFamily="34" charset="-122"/>
                <a:cs typeface="Arial" pitchFamily="34" charset="-120"/>
              </a:rPr>
              <a:t>— these uses cluster where congestion deters some buyers. </a:t>
            </a:r>
            <a:r>
              <a:rPr lang="en-US" sz="2325" i="1" dirty="0">
                <a:solidFill>
                  <a:srgbClr val="979FAD"/>
                </a:solidFill>
                <a:latin typeface="Arial" pitchFamily="34" charset="0"/>
                <a:ea typeface="Arial" pitchFamily="34" charset="-122"/>
                <a:cs typeface="Arial" pitchFamily="34" charset="-120"/>
              </a:rPr>
              <a:t>(Tiebout, 1956; Bayer &amp; McMillan, 2012)</a:t>
            </a:r>
            <a:endParaRPr lang="en-US" sz="2325" dirty="0"/>
          </a:p>
        </p:txBody>
      </p:sp>
    </p:spTree>
    <p:extLst>
      <p:ext uri="{BB962C8B-B14F-4D97-AF65-F5344CB8AC3E}">
        <p14:creationId xmlns:p14="http://schemas.microsoft.com/office/powerpoint/2010/main" val="4603231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2">
    <p:bg>
      <p:bgPr>
        <a:solidFill>
          <a:srgbClr val="FAFBFC"/>
        </a:solidFill>
        <a:effectLst/>
      </p:bgPr>
    </p:bg>
    <p:spTree>
      <p:nvGrpSpPr>
        <p:cNvPr id="1" name=""/>
        <p:cNvGrpSpPr/>
        <p:nvPr/>
      </p:nvGrpSpPr>
      <p:grpSpPr>
        <a:xfrm>
          <a:off x="0" y="0"/>
          <a:ext cx="0" cy="0"/>
          <a:chOff x="0" y="0"/>
          <a:chExt cx="0" cy="0"/>
        </a:xfrm>
      </p:grpSpPr>
      <p:sp>
        <p:nvSpPr>
          <p:cNvPr id="2" name="Text 0"/>
          <p:cNvSpPr/>
          <p:nvPr/>
        </p:nvSpPr>
        <p:spPr>
          <a:xfrm>
            <a:off x="847725" y="552450"/>
            <a:ext cx="4253456" cy="347663"/>
          </a:xfrm>
          <a:prstGeom prst="rect">
            <a:avLst/>
          </a:prstGeom>
          <a:noFill/>
          <a:ln/>
        </p:spPr>
        <p:txBody>
          <a:bodyPr wrap="square" lIns="25400" tIns="25400" rIns="25400" bIns="25400" rtlCol="0" anchor="t">
            <a:normAutofit lnSpcReduction="10000"/>
          </a:bodyPr>
          <a:lstStyle/>
          <a:p>
            <a:pPr marL="0" indent="0" algn="l">
              <a:buNone/>
            </a:pPr>
            <a:r>
              <a:rPr lang="en-US" sz="2100" b="1" kern="0" spc="84" dirty="0">
                <a:solidFill>
                  <a:srgbClr val="33455E"/>
                </a:solidFill>
                <a:latin typeface="Arial" pitchFamily="34" charset="0"/>
                <a:ea typeface="Arial" pitchFamily="34" charset="-122"/>
                <a:cs typeface="Arial" pitchFamily="34" charset="-120"/>
              </a:rPr>
              <a:t>8 · RESULTS &amp; DISCUSSION</a:t>
            </a:r>
            <a:endParaRPr lang="en-US" sz="2100" dirty="0"/>
          </a:p>
        </p:txBody>
      </p:sp>
      <p:sp>
        <p:nvSpPr>
          <p:cNvPr id="3" name="Text 1"/>
          <p:cNvSpPr/>
          <p:nvPr/>
        </p:nvSpPr>
        <p:spPr>
          <a:xfrm>
            <a:off x="16712059" y="552450"/>
            <a:ext cx="804416" cy="314325"/>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6E7686"/>
                </a:solidFill>
                <a:latin typeface="Arial" pitchFamily="34" charset="0"/>
                <a:ea typeface="Arial" pitchFamily="34" charset="-122"/>
                <a:cs typeface="Arial" pitchFamily="34" charset="-120"/>
              </a:rPr>
              <a:t>32 / 40</a:t>
            </a:r>
            <a:endParaRPr lang="en-US" sz="1875" dirty="0"/>
          </a:p>
        </p:txBody>
      </p:sp>
      <p:sp>
        <p:nvSpPr>
          <p:cNvPr id="4" name="Shape 2"/>
          <p:cNvSpPr/>
          <p:nvPr/>
        </p:nvSpPr>
        <p:spPr>
          <a:xfrm>
            <a:off x="847725" y="985838"/>
            <a:ext cx="16592550" cy="28575"/>
          </a:xfrm>
          <a:prstGeom prst="rect">
            <a:avLst/>
          </a:prstGeom>
          <a:solidFill>
            <a:srgbClr val="33455E"/>
          </a:solidFill>
          <a:ln/>
        </p:spPr>
        <p:txBody>
          <a:bodyPr/>
          <a:lstStyle/>
          <a:p>
            <a:endParaRPr lang="en-US"/>
          </a:p>
        </p:txBody>
      </p:sp>
      <p:sp>
        <p:nvSpPr>
          <p:cNvPr id="5" name="Text 3"/>
          <p:cNvSpPr/>
          <p:nvPr/>
        </p:nvSpPr>
        <p:spPr>
          <a:xfrm>
            <a:off x="847725" y="1243013"/>
            <a:ext cx="18251805" cy="55810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3900" b="1" dirty="0">
                <a:solidFill>
                  <a:srgbClr val="1E2530"/>
                </a:solidFill>
                <a:latin typeface="Arial" pitchFamily="34" charset="0"/>
                <a:ea typeface="Arial" pitchFamily="34" charset="-122"/>
                <a:cs typeface="Arial" pitchFamily="34" charset="-120"/>
              </a:rPr>
              <a:t>The valuation gap (RQ4)</a:t>
            </a:r>
            <a:endParaRPr lang="en-US" sz="3900" dirty="0"/>
          </a:p>
        </p:txBody>
      </p:sp>
      <p:sp>
        <p:nvSpPr>
          <p:cNvPr id="6" name="Text 4"/>
          <p:cNvSpPr/>
          <p:nvPr/>
        </p:nvSpPr>
        <p:spPr>
          <a:xfrm>
            <a:off x="847725" y="2124968"/>
            <a:ext cx="15723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b="1" dirty="0">
                <a:solidFill>
                  <a:srgbClr val="33455E"/>
                </a:solidFill>
                <a:latin typeface="Arial" pitchFamily="34" charset="0"/>
                <a:ea typeface="Arial" pitchFamily="34" charset="-122"/>
                <a:cs typeface="Arial" pitchFamily="34" charset="-120"/>
              </a:rPr>
              <a:t>▪</a:t>
            </a:r>
            <a:endParaRPr lang="en-US" sz="1800" dirty="0"/>
          </a:p>
        </p:txBody>
      </p:sp>
      <p:sp>
        <p:nvSpPr>
          <p:cNvPr id="7" name="Text 5"/>
          <p:cNvSpPr/>
          <p:nvPr/>
        </p:nvSpPr>
        <p:spPr>
          <a:xfrm>
            <a:off x="1062112" y="2067818"/>
            <a:ext cx="8059454" cy="817513"/>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2325" dirty="0">
                <a:solidFill>
                  <a:srgbClr val="1E2530"/>
                </a:solidFill>
                <a:latin typeface="Arial" pitchFamily="34" charset="0"/>
                <a:ea typeface="Arial" pitchFamily="34" charset="-122"/>
                <a:cs typeface="Arial" pitchFamily="34" charset="-120"/>
              </a:rPr>
              <a:t>On the clean land-to-land comparison, vacant-lot market price runs </a:t>
            </a:r>
            <a:r>
              <a:rPr lang="en-US" sz="2325" b="1" dirty="0">
                <a:solidFill>
                  <a:srgbClr val="33455E"/>
                </a:solidFill>
                <a:latin typeface="Arial" pitchFamily="34" charset="0"/>
                <a:ea typeface="Arial" pitchFamily="34" charset="-122"/>
                <a:cs typeface="Arial" pitchFamily="34" charset="-120"/>
              </a:rPr>
              <a:t>~3× the BIR benchmark </a:t>
            </a:r>
            <a:r>
              <a:rPr lang="en-US" sz="2325" dirty="0">
                <a:solidFill>
                  <a:srgbClr val="1E2530"/>
                </a:solidFill>
                <a:latin typeface="Arial" pitchFamily="34" charset="0"/>
                <a:ea typeface="Arial" pitchFamily="34" charset="-122"/>
                <a:cs typeface="Arial" pitchFamily="34" charset="-120"/>
              </a:rPr>
              <a:t>overall.</a:t>
            </a:r>
            <a:endParaRPr lang="en-US" sz="2325" dirty="0"/>
          </a:p>
        </p:txBody>
      </p:sp>
      <p:sp>
        <p:nvSpPr>
          <p:cNvPr id="8" name="Text 6"/>
          <p:cNvSpPr/>
          <p:nvPr/>
        </p:nvSpPr>
        <p:spPr>
          <a:xfrm>
            <a:off x="847725" y="3056781"/>
            <a:ext cx="15723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b="1" dirty="0">
                <a:solidFill>
                  <a:srgbClr val="33455E"/>
                </a:solidFill>
                <a:latin typeface="Arial" pitchFamily="34" charset="0"/>
                <a:ea typeface="Arial" pitchFamily="34" charset="-122"/>
                <a:cs typeface="Arial" pitchFamily="34" charset="-120"/>
              </a:rPr>
              <a:t>▪</a:t>
            </a:r>
            <a:endParaRPr lang="en-US" sz="1800" dirty="0"/>
          </a:p>
        </p:txBody>
      </p:sp>
      <p:sp>
        <p:nvSpPr>
          <p:cNvPr id="9" name="Text 7"/>
          <p:cNvSpPr/>
          <p:nvPr/>
        </p:nvSpPr>
        <p:spPr>
          <a:xfrm>
            <a:off x="1062112" y="2999631"/>
            <a:ext cx="8059454" cy="817513"/>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2325" dirty="0">
                <a:solidFill>
                  <a:srgbClr val="1E2530"/>
                </a:solidFill>
                <a:latin typeface="Arial" pitchFamily="34" charset="0"/>
                <a:ea typeface="Arial" pitchFamily="34" charset="-122"/>
                <a:cs typeface="Arial" pitchFamily="34" charset="-120"/>
              </a:rPr>
              <a:t>From </a:t>
            </a:r>
            <a:r>
              <a:rPr lang="en-US" sz="2325" b="1" dirty="0">
                <a:solidFill>
                  <a:srgbClr val="33455E"/>
                </a:solidFill>
                <a:latin typeface="Arial" pitchFamily="34" charset="0"/>
                <a:ea typeface="Arial" pitchFamily="34" charset="-122"/>
                <a:cs typeface="Arial" pitchFamily="34" charset="-120"/>
              </a:rPr>
              <a:t>~2.2× in Cebu City to ~4.8× in Mandaue </a:t>
            </a:r>
            <a:r>
              <a:rPr lang="en-US" sz="2325" dirty="0">
                <a:solidFill>
                  <a:srgbClr val="1E2530"/>
                </a:solidFill>
                <a:latin typeface="Arial" pitchFamily="34" charset="0"/>
                <a:ea typeface="Arial" pitchFamily="34" charset="-122"/>
                <a:cs typeface="Arial" pitchFamily="34" charset="-120"/>
              </a:rPr>
              <a:t>; listings exceed the benchmark in nearly every LGU.</a:t>
            </a:r>
            <a:endParaRPr lang="en-US" sz="2325" dirty="0"/>
          </a:p>
        </p:txBody>
      </p:sp>
      <p:sp>
        <p:nvSpPr>
          <p:cNvPr id="10" name="Text 8"/>
          <p:cNvSpPr/>
          <p:nvPr/>
        </p:nvSpPr>
        <p:spPr>
          <a:xfrm>
            <a:off x="847725" y="3988594"/>
            <a:ext cx="15723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b="1" dirty="0">
                <a:solidFill>
                  <a:srgbClr val="33455E"/>
                </a:solidFill>
                <a:latin typeface="Arial" pitchFamily="34" charset="0"/>
                <a:ea typeface="Arial" pitchFamily="34" charset="-122"/>
                <a:cs typeface="Arial" pitchFamily="34" charset="-120"/>
              </a:rPr>
              <a:t>▪</a:t>
            </a:r>
            <a:endParaRPr lang="en-US" sz="1800" dirty="0"/>
          </a:p>
        </p:txBody>
      </p:sp>
      <p:sp>
        <p:nvSpPr>
          <p:cNvPr id="11" name="Text 9"/>
          <p:cNvSpPr/>
          <p:nvPr/>
        </p:nvSpPr>
        <p:spPr>
          <a:xfrm>
            <a:off x="1062112" y="3931444"/>
            <a:ext cx="8059454" cy="817513"/>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2325" dirty="0">
                <a:solidFill>
                  <a:srgbClr val="1E2530"/>
                </a:solidFill>
                <a:latin typeface="Arial" pitchFamily="34" charset="0"/>
                <a:ea typeface="Arial" pitchFamily="34" charset="-122"/>
                <a:cs typeface="Arial" pitchFamily="34" charset="-120"/>
              </a:rPr>
              <a:t>Read it as a </a:t>
            </a:r>
            <a:r>
              <a:rPr lang="en-US" sz="2325" b="1" dirty="0">
                <a:solidFill>
                  <a:srgbClr val="33455E"/>
                </a:solidFill>
                <a:latin typeface="Arial" pitchFamily="34" charset="0"/>
                <a:ea typeface="Arial" pitchFamily="34" charset="-122"/>
                <a:cs typeface="Arial" pitchFamily="34" charset="-120"/>
              </a:rPr>
              <a:t>research signal that benchmarks are stale </a:t>
            </a:r>
            <a:r>
              <a:rPr lang="en-US" sz="2325" dirty="0">
                <a:solidFill>
                  <a:srgbClr val="1E2530"/>
                </a:solidFill>
                <a:latin typeface="Arial" pitchFamily="34" charset="0"/>
                <a:ea typeface="Arial" pitchFamily="34" charset="-122"/>
                <a:cs typeface="Arial" pitchFamily="34" charset="-120"/>
              </a:rPr>
              <a:t>— not a correction factor to apply.</a:t>
            </a:r>
            <a:endParaRPr lang="en-US" sz="2325" dirty="0"/>
          </a:p>
        </p:txBody>
      </p:sp>
      <p:sp>
        <p:nvSpPr>
          <p:cNvPr id="12" name="Shape 10"/>
          <p:cNvSpPr/>
          <p:nvPr/>
        </p:nvSpPr>
        <p:spPr>
          <a:xfrm>
            <a:off x="847725" y="4825157"/>
            <a:ext cx="8039100" cy="4928443"/>
          </a:xfrm>
          <a:prstGeom prst="roundRect">
            <a:avLst>
              <a:gd name="adj" fmla="val 1160"/>
            </a:avLst>
          </a:prstGeom>
          <a:solidFill>
            <a:srgbClr val="FFFFFF"/>
          </a:solidFill>
          <a:ln w="9525">
            <a:solidFill>
              <a:srgbClr val="DCE2E9"/>
            </a:solidFill>
            <a:prstDash val="solid"/>
          </a:ln>
        </p:spPr>
        <p:txBody>
          <a:bodyPr/>
          <a:lstStyle/>
          <a:p>
            <a:endParaRPr lang="en-US"/>
          </a:p>
        </p:txBody>
      </p:sp>
      <p:pic>
        <p:nvPicPr>
          <p:cNvPr id="13" name="Image 0" descr="preencoded.png"/>
          <p:cNvPicPr>
            <a:picLocks noChangeAspect="1"/>
          </p:cNvPicPr>
          <p:nvPr/>
        </p:nvPicPr>
        <p:blipFill>
          <a:blip r:embed="rId3"/>
          <a:srcRect t="-3466" b="-3466"/>
          <a:stretch/>
        </p:blipFill>
        <p:spPr>
          <a:xfrm>
            <a:off x="952500" y="4929932"/>
            <a:ext cx="7829550" cy="4718893"/>
          </a:xfrm>
          <a:prstGeom prst="rect">
            <a:avLst/>
          </a:prstGeom>
        </p:spPr>
      </p:pic>
      <p:sp>
        <p:nvSpPr>
          <p:cNvPr id="14" name="Text 11"/>
          <p:cNvSpPr/>
          <p:nvPr/>
        </p:nvSpPr>
        <p:spPr>
          <a:xfrm>
            <a:off x="9401175" y="1915418"/>
            <a:ext cx="8843010" cy="333375"/>
          </a:xfrm>
          <a:prstGeom prst="rect">
            <a:avLst/>
          </a:prstGeom>
          <a:noFill/>
          <a:ln/>
        </p:spPr>
        <p:txBody>
          <a:bodyPr wrap="square" lIns="25400" tIns="25400" rIns="25400" bIns="25400" rtlCol="0" anchor="t">
            <a:normAutofit lnSpcReduction="10000"/>
          </a:bodyPr>
          <a:lstStyle/>
          <a:p>
            <a:pPr marL="0" indent="0" algn="l">
              <a:buNone/>
            </a:pPr>
            <a:r>
              <a:rPr lang="en-US" sz="2025" b="1" dirty="0">
                <a:solidFill>
                  <a:srgbClr val="33455E"/>
                </a:solidFill>
                <a:latin typeface="Arial" pitchFamily="34" charset="0"/>
                <a:ea typeface="Arial" pitchFamily="34" charset="-122"/>
                <a:cs typeface="Arial" pitchFamily="34" charset="-120"/>
              </a:rPr>
              <a:t>Is the model good enough?</a:t>
            </a:r>
            <a:endParaRPr lang="en-US" sz="2025" dirty="0"/>
          </a:p>
        </p:txBody>
      </p:sp>
      <p:sp>
        <p:nvSpPr>
          <p:cNvPr id="15" name="Text 12"/>
          <p:cNvSpPr/>
          <p:nvPr/>
        </p:nvSpPr>
        <p:spPr>
          <a:xfrm>
            <a:off x="9401175" y="2267843"/>
            <a:ext cx="8280273" cy="756196"/>
          </a:xfrm>
          <a:prstGeom prst="rect">
            <a:avLst/>
          </a:prstGeom>
          <a:noFill/>
          <a:ln/>
        </p:spPr>
        <p:txBody>
          <a:bodyPr wrap="square" lIns="25400" tIns="25400" rIns="25400" bIns="25400" rtlCol="0" anchor="t">
            <a:normAutofit fontScale="92500"/>
          </a:bodyPr>
          <a:lstStyle/>
          <a:p>
            <a:pPr marL="0" indent="0" algn="l">
              <a:lnSpc>
                <a:spcPct val="130000"/>
              </a:lnSpc>
              <a:buNone/>
            </a:pPr>
            <a:r>
              <a:rPr lang="en-US" sz="2175" dirty="0">
                <a:solidFill>
                  <a:srgbClr val="1E2530"/>
                </a:solidFill>
                <a:latin typeface="Arial" pitchFamily="34" charset="0"/>
                <a:ea typeface="Arial" pitchFamily="34" charset="-122"/>
                <a:cs typeface="Arial" pitchFamily="34" charset="-120"/>
              </a:rPr>
              <a:t>Yes — as a </a:t>
            </a:r>
            <a:r>
              <a:rPr lang="en-US" sz="2175" b="1" dirty="0">
                <a:solidFill>
                  <a:srgbClr val="33455E"/>
                </a:solidFill>
                <a:latin typeface="Arial" pitchFamily="34" charset="0"/>
                <a:ea typeface="Arial" pitchFamily="34" charset="-122"/>
                <a:cs typeface="Arial" pitchFamily="34" charset="-120"/>
              </a:rPr>
              <a:t>reference for triangulating price </a:t>
            </a:r>
            <a:r>
              <a:rPr lang="en-US" sz="2175" dirty="0">
                <a:solidFill>
                  <a:srgbClr val="1E2530"/>
                </a:solidFill>
                <a:latin typeface="Arial" pitchFamily="34" charset="0"/>
                <a:ea typeface="Arial" pitchFamily="34" charset="-122"/>
                <a:cs typeface="Arial" pitchFamily="34" charset="-120"/>
              </a:rPr>
              <a:t>, and within clear limits.</a:t>
            </a:r>
            <a:endParaRPr lang="en-US" sz="2175" dirty="0"/>
          </a:p>
        </p:txBody>
      </p:sp>
      <p:sp>
        <p:nvSpPr>
          <p:cNvPr id="16" name="Text 13"/>
          <p:cNvSpPr/>
          <p:nvPr/>
        </p:nvSpPr>
        <p:spPr>
          <a:xfrm>
            <a:off x="9401175" y="3195489"/>
            <a:ext cx="15723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b="1" dirty="0">
                <a:solidFill>
                  <a:srgbClr val="33455E"/>
                </a:solidFill>
                <a:latin typeface="Arial" pitchFamily="34" charset="0"/>
                <a:ea typeface="Arial" pitchFamily="34" charset="-122"/>
                <a:cs typeface="Arial" pitchFamily="34" charset="-120"/>
              </a:rPr>
              <a:t>▪</a:t>
            </a:r>
            <a:endParaRPr lang="en-US" sz="1800" dirty="0"/>
          </a:p>
        </p:txBody>
      </p:sp>
      <p:sp>
        <p:nvSpPr>
          <p:cNvPr id="17" name="Text 14"/>
          <p:cNvSpPr/>
          <p:nvPr/>
        </p:nvSpPr>
        <p:spPr>
          <a:xfrm>
            <a:off x="9615562" y="3138339"/>
            <a:ext cx="8059454" cy="817513"/>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2325" dirty="0">
                <a:solidFill>
                  <a:srgbClr val="1E2530"/>
                </a:solidFill>
                <a:latin typeface="Arial" pitchFamily="34" charset="0"/>
                <a:ea typeface="Arial" pitchFamily="34" charset="-122"/>
                <a:cs typeface="Arial" pitchFamily="34" charset="-120"/>
              </a:rPr>
              <a:t>Typical error stays substantial even in the best strata — it informs a valuation judgment rather than settling it.</a:t>
            </a:r>
            <a:endParaRPr lang="en-US" sz="2325" dirty="0"/>
          </a:p>
        </p:txBody>
      </p:sp>
      <p:sp>
        <p:nvSpPr>
          <p:cNvPr id="18" name="Text 15"/>
          <p:cNvSpPr/>
          <p:nvPr/>
        </p:nvSpPr>
        <p:spPr>
          <a:xfrm>
            <a:off x="9401175" y="4127302"/>
            <a:ext cx="15723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b="1" dirty="0">
                <a:solidFill>
                  <a:srgbClr val="33455E"/>
                </a:solidFill>
                <a:latin typeface="Arial" pitchFamily="34" charset="0"/>
                <a:ea typeface="Arial" pitchFamily="34" charset="-122"/>
                <a:cs typeface="Arial" pitchFamily="34" charset="-120"/>
              </a:rPr>
              <a:t>▪</a:t>
            </a:r>
            <a:endParaRPr lang="en-US" sz="1800" dirty="0"/>
          </a:p>
        </p:txBody>
      </p:sp>
      <p:sp>
        <p:nvSpPr>
          <p:cNvPr id="19" name="Text 16"/>
          <p:cNvSpPr/>
          <p:nvPr/>
        </p:nvSpPr>
        <p:spPr>
          <a:xfrm>
            <a:off x="9615562" y="4070152"/>
            <a:ext cx="8059454" cy="817513"/>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2325" dirty="0">
                <a:solidFill>
                  <a:srgbClr val="1E2530"/>
                </a:solidFill>
                <a:latin typeface="Arial" pitchFamily="34" charset="0"/>
                <a:ea typeface="Arial" pitchFamily="34" charset="-122"/>
                <a:cs typeface="Arial" pitchFamily="34" charset="-120"/>
              </a:rPr>
              <a:t>Strongest for condos and houses; only indicative for vacant lots and thin LGU×type cells.</a:t>
            </a:r>
            <a:endParaRPr lang="en-US" sz="2325" dirty="0"/>
          </a:p>
        </p:txBody>
      </p:sp>
      <p:sp>
        <p:nvSpPr>
          <p:cNvPr id="20" name="Text 17"/>
          <p:cNvSpPr/>
          <p:nvPr/>
        </p:nvSpPr>
        <p:spPr>
          <a:xfrm>
            <a:off x="9401175" y="5059114"/>
            <a:ext cx="15723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b="1" dirty="0">
                <a:solidFill>
                  <a:srgbClr val="33455E"/>
                </a:solidFill>
                <a:latin typeface="Arial" pitchFamily="34" charset="0"/>
                <a:ea typeface="Arial" pitchFamily="34" charset="-122"/>
                <a:cs typeface="Arial" pitchFamily="34" charset="-120"/>
              </a:rPr>
              <a:t>▪</a:t>
            </a:r>
            <a:endParaRPr lang="en-US" sz="1800" dirty="0"/>
          </a:p>
        </p:txBody>
      </p:sp>
      <p:sp>
        <p:nvSpPr>
          <p:cNvPr id="21" name="Text 18"/>
          <p:cNvSpPr/>
          <p:nvPr/>
        </p:nvSpPr>
        <p:spPr>
          <a:xfrm>
            <a:off x="9615562" y="5001964"/>
            <a:ext cx="8059454" cy="817513"/>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2325" dirty="0">
                <a:solidFill>
                  <a:srgbClr val="1E2530"/>
                </a:solidFill>
                <a:latin typeface="Arial" pitchFamily="34" charset="0"/>
                <a:ea typeface="Arial" pitchFamily="34" charset="-122"/>
                <a:cs typeface="Arial" pitchFamily="34" charset="-120"/>
              </a:rPr>
              <a:t>It complements professional appraisal judgment; it does not replace it.</a:t>
            </a:r>
            <a:endParaRPr lang="en-US" sz="2325" dirty="0"/>
          </a:p>
        </p:txBody>
      </p:sp>
    </p:spTree>
    <p:extLst>
      <p:ext uri="{BB962C8B-B14F-4D97-AF65-F5344CB8AC3E}">
        <p14:creationId xmlns:p14="http://schemas.microsoft.com/office/powerpoint/2010/main" val="37741586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3">
    <p:bg>
      <p:bgPr>
        <a:solidFill>
          <a:srgbClr val="33455E"/>
        </a:solidFill>
        <a:effectLst/>
      </p:bgPr>
    </p:bg>
    <p:spTree>
      <p:nvGrpSpPr>
        <p:cNvPr id="1" name=""/>
        <p:cNvGrpSpPr/>
        <p:nvPr/>
      </p:nvGrpSpPr>
      <p:grpSpPr>
        <a:xfrm>
          <a:off x="0" y="0"/>
          <a:ext cx="0" cy="0"/>
          <a:chOff x="0" y="0"/>
          <a:chExt cx="0" cy="0"/>
        </a:xfrm>
      </p:grpSpPr>
      <p:sp>
        <p:nvSpPr>
          <p:cNvPr id="2" name="Text 0"/>
          <p:cNvSpPr/>
          <p:nvPr/>
        </p:nvSpPr>
        <p:spPr>
          <a:xfrm>
            <a:off x="1238250" y="3864769"/>
            <a:ext cx="17392650" cy="838200"/>
          </a:xfrm>
          <a:prstGeom prst="rect">
            <a:avLst/>
          </a:prstGeom>
          <a:noFill/>
          <a:ln/>
        </p:spPr>
        <p:txBody>
          <a:bodyPr wrap="square" lIns="25400" tIns="25400" rIns="25400" bIns="25400" rtlCol="0" anchor="t">
            <a:normAutofit lnSpcReduction="10000"/>
          </a:bodyPr>
          <a:lstStyle/>
          <a:p>
            <a:pPr marL="0" indent="0" algn="l">
              <a:buNone/>
            </a:pPr>
            <a:r>
              <a:rPr lang="en-US" sz="5250" b="1" dirty="0">
                <a:solidFill>
                  <a:srgbClr val="5B7A99"/>
                </a:solidFill>
                <a:latin typeface="Arial" pitchFamily="34" charset="0"/>
                <a:ea typeface="Arial" pitchFamily="34" charset="-122"/>
                <a:cs typeface="Arial" pitchFamily="34" charset="-120"/>
              </a:rPr>
              <a:t>▸</a:t>
            </a:r>
            <a:endParaRPr lang="en-US" sz="5250" dirty="0"/>
          </a:p>
        </p:txBody>
      </p:sp>
      <p:sp>
        <p:nvSpPr>
          <p:cNvPr id="3" name="Text 1"/>
          <p:cNvSpPr/>
          <p:nvPr/>
        </p:nvSpPr>
        <p:spPr>
          <a:xfrm>
            <a:off x="1238250" y="4741069"/>
            <a:ext cx="17392650" cy="1133475"/>
          </a:xfrm>
          <a:prstGeom prst="rect">
            <a:avLst/>
          </a:prstGeom>
          <a:noFill/>
          <a:ln/>
        </p:spPr>
        <p:txBody>
          <a:bodyPr wrap="square" lIns="25400" tIns="25400" rIns="25400" bIns="25400" rtlCol="0" anchor="t">
            <a:normAutofit lnSpcReduction="10000"/>
          </a:bodyPr>
          <a:lstStyle/>
          <a:p>
            <a:pPr marL="0" indent="0" algn="l">
              <a:buNone/>
            </a:pPr>
            <a:r>
              <a:rPr lang="en-US" sz="7500" b="1" dirty="0">
                <a:solidFill>
                  <a:srgbClr val="FFFFFF"/>
                </a:solidFill>
                <a:latin typeface="Arial" pitchFamily="34" charset="0"/>
                <a:ea typeface="Arial" pitchFamily="34" charset="-122"/>
                <a:cs typeface="Arial" pitchFamily="34" charset="-120"/>
              </a:rPr>
              <a:t>The Decision-Support Tool</a:t>
            </a:r>
            <a:endParaRPr lang="en-US" sz="7500" dirty="0"/>
          </a:p>
        </p:txBody>
      </p:sp>
      <p:sp>
        <p:nvSpPr>
          <p:cNvPr id="4" name="Text 2"/>
          <p:cNvSpPr/>
          <p:nvPr/>
        </p:nvSpPr>
        <p:spPr>
          <a:xfrm>
            <a:off x="1238250" y="6007894"/>
            <a:ext cx="17392650" cy="452438"/>
          </a:xfrm>
          <a:prstGeom prst="rect">
            <a:avLst/>
          </a:prstGeom>
          <a:noFill/>
          <a:ln/>
        </p:spPr>
        <p:txBody>
          <a:bodyPr wrap="square" lIns="25400" tIns="25400" rIns="25400" bIns="25400" rtlCol="0" anchor="t">
            <a:normAutofit lnSpcReduction="10000"/>
          </a:bodyPr>
          <a:lstStyle/>
          <a:p>
            <a:pPr marL="0" indent="0" algn="l">
              <a:buNone/>
            </a:pPr>
            <a:r>
              <a:rPr lang="en-US" sz="2850" dirty="0">
                <a:solidFill>
                  <a:srgbClr val="C5D2DF"/>
                </a:solidFill>
                <a:latin typeface="Arial" pitchFamily="34" charset="0"/>
                <a:ea typeface="Arial" pitchFamily="34" charset="-122"/>
                <a:cs typeface="Arial" pitchFamily="34" charset="-120"/>
              </a:rPr>
              <a:t>The applied deliverable</a:t>
            </a:r>
            <a:endParaRPr lang="en-US" sz="2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4">
    <p:bg>
      <p:bgPr>
        <a:solidFill>
          <a:srgbClr val="FAFBFC"/>
        </a:solidFill>
        <a:effectLst/>
      </p:bgPr>
    </p:bg>
    <p:spTree>
      <p:nvGrpSpPr>
        <p:cNvPr id="1" name=""/>
        <p:cNvGrpSpPr/>
        <p:nvPr/>
      </p:nvGrpSpPr>
      <p:grpSpPr>
        <a:xfrm>
          <a:off x="0" y="0"/>
          <a:ext cx="0" cy="0"/>
          <a:chOff x="0" y="0"/>
          <a:chExt cx="0" cy="0"/>
        </a:xfrm>
      </p:grpSpPr>
      <p:sp>
        <p:nvSpPr>
          <p:cNvPr id="2" name="Text 0"/>
          <p:cNvSpPr/>
          <p:nvPr/>
        </p:nvSpPr>
        <p:spPr>
          <a:xfrm>
            <a:off x="847725" y="552450"/>
            <a:ext cx="4786662" cy="347663"/>
          </a:xfrm>
          <a:prstGeom prst="rect">
            <a:avLst/>
          </a:prstGeom>
          <a:noFill/>
          <a:ln/>
        </p:spPr>
        <p:txBody>
          <a:bodyPr wrap="square" lIns="25400" tIns="25400" rIns="25400" bIns="25400" rtlCol="0" anchor="t">
            <a:normAutofit lnSpcReduction="10000"/>
          </a:bodyPr>
          <a:lstStyle/>
          <a:p>
            <a:pPr marL="0" indent="0" algn="l">
              <a:buNone/>
            </a:pPr>
            <a:r>
              <a:rPr lang="en-US" sz="2100" b="1" kern="0" spc="84" dirty="0">
                <a:solidFill>
                  <a:srgbClr val="33455E"/>
                </a:solidFill>
                <a:latin typeface="Arial" pitchFamily="34" charset="0"/>
                <a:ea typeface="Arial" pitchFamily="34" charset="-122"/>
                <a:cs typeface="Arial" pitchFamily="34" charset="-120"/>
              </a:rPr>
              <a:t>THE DECISION-SUPPORT TOOL</a:t>
            </a:r>
            <a:endParaRPr lang="en-US" sz="2100" dirty="0"/>
          </a:p>
        </p:txBody>
      </p:sp>
      <p:sp>
        <p:nvSpPr>
          <p:cNvPr id="3" name="Text 1"/>
          <p:cNvSpPr/>
          <p:nvPr/>
        </p:nvSpPr>
        <p:spPr>
          <a:xfrm>
            <a:off x="16712059" y="552450"/>
            <a:ext cx="804416" cy="314325"/>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6E7686"/>
                </a:solidFill>
                <a:latin typeface="Arial" pitchFamily="34" charset="0"/>
                <a:ea typeface="Arial" pitchFamily="34" charset="-122"/>
                <a:cs typeface="Arial" pitchFamily="34" charset="-120"/>
              </a:rPr>
              <a:t>34 / 40</a:t>
            </a:r>
            <a:endParaRPr lang="en-US" sz="1875" dirty="0"/>
          </a:p>
        </p:txBody>
      </p:sp>
      <p:sp>
        <p:nvSpPr>
          <p:cNvPr id="4" name="Shape 2"/>
          <p:cNvSpPr/>
          <p:nvPr/>
        </p:nvSpPr>
        <p:spPr>
          <a:xfrm>
            <a:off x="847725" y="985838"/>
            <a:ext cx="16592550" cy="28575"/>
          </a:xfrm>
          <a:prstGeom prst="rect">
            <a:avLst/>
          </a:prstGeom>
          <a:solidFill>
            <a:srgbClr val="33455E"/>
          </a:solidFill>
          <a:ln/>
        </p:spPr>
        <p:txBody>
          <a:bodyPr/>
          <a:lstStyle/>
          <a:p>
            <a:endParaRPr lang="en-US"/>
          </a:p>
        </p:txBody>
      </p:sp>
      <p:sp>
        <p:nvSpPr>
          <p:cNvPr id="5" name="Text 3"/>
          <p:cNvSpPr/>
          <p:nvPr/>
        </p:nvSpPr>
        <p:spPr>
          <a:xfrm>
            <a:off x="847725" y="1243013"/>
            <a:ext cx="18251805" cy="55810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3900" b="1" dirty="0">
                <a:solidFill>
                  <a:srgbClr val="1E2530"/>
                </a:solidFill>
                <a:latin typeface="Arial" pitchFamily="34" charset="0"/>
                <a:ea typeface="Arial" pitchFamily="34" charset="-122"/>
                <a:cs typeface="Arial" pitchFamily="34" charset="-120"/>
              </a:rPr>
              <a:t>The decision-support tool</a:t>
            </a:r>
            <a:endParaRPr lang="en-US" sz="3900" dirty="0"/>
          </a:p>
        </p:txBody>
      </p:sp>
      <p:sp>
        <p:nvSpPr>
          <p:cNvPr id="6" name="Text 4"/>
          <p:cNvSpPr/>
          <p:nvPr/>
        </p:nvSpPr>
        <p:spPr>
          <a:xfrm>
            <a:off x="847725" y="2747516"/>
            <a:ext cx="5494020" cy="1546622"/>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2250" dirty="0">
                <a:solidFill>
                  <a:srgbClr val="1E2530"/>
                </a:solidFill>
                <a:latin typeface="Arial" pitchFamily="34" charset="0"/>
                <a:ea typeface="Arial" pitchFamily="34" charset="-122"/>
                <a:cs typeface="Arial" pitchFamily="34" charset="-120"/>
              </a:rPr>
              <a:t>A prototype web app where the backend runs the </a:t>
            </a:r>
            <a:r>
              <a:rPr lang="en-US" sz="2250" b="1" dirty="0">
                <a:solidFill>
                  <a:srgbClr val="33455E"/>
                </a:solidFill>
                <a:latin typeface="Arial" pitchFamily="34" charset="0"/>
                <a:ea typeface="Arial" pitchFamily="34" charset="-122"/>
                <a:cs typeface="Arial" pitchFamily="34" charset="-120"/>
              </a:rPr>
              <a:t>exact deployed models </a:t>
            </a:r>
            <a:r>
              <a:rPr lang="en-US" sz="2250" dirty="0">
                <a:solidFill>
                  <a:srgbClr val="1E2530"/>
                </a:solidFill>
                <a:latin typeface="Arial" pitchFamily="34" charset="0"/>
                <a:ea typeface="Arial" pitchFamily="34" charset="-122"/>
                <a:cs typeface="Arial" pitchFamily="34" charset="-120"/>
              </a:rPr>
              <a:t>— listings, predictions, and the valuation gap in one place.</a:t>
            </a:r>
            <a:endParaRPr lang="en-US" sz="2250" dirty="0"/>
          </a:p>
        </p:txBody>
      </p:sp>
      <p:sp>
        <p:nvSpPr>
          <p:cNvPr id="7" name="Text 5"/>
          <p:cNvSpPr/>
          <p:nvPr/>
        </p:nvSpPr>
        <p:spPr>
          <a:xfrm>
            <a:off x="847725" y="4541788"/>
            <a:ext cx="5867400" cy="333375"/>
          </a:xfrm>
          <a:prstGeom prst="rect">
            <a:avLst/>
          </a:prstGeom>
          <a:noFill/>
          <a:ln/>
        </p:spPr>
        <p:txBody>
          <a:bodyPr wrap="square" lIns="25400" tIns="25400" rIns="25400" bIns="25400" rtlCol="0" anchor="t">
            <a:normAutofit lnSpcReduction="10000"/>
          </a:bodyPr>
          <a:lstStyle/>
          <a:p>
            <a:pPr marL="0" indent="0" algn="l">
              <a:buNone/>
            </a:pPr>
            <a:r>
              <a:rPr lang="en-US" sz="2025" b="1" dirty="0">
                <a:solidFill>
                  <a:srgbClr val="33455E"/>
                </a:solidFill>
                <a:latin typeface="Arial" pitchFamily="34" charset="0"/>
                <a:ea typeface="Arial" pitchFamily="34" charset="-122"/>
                <a:cs typeface="Arial" pitchFamily="34" charset="-120"/>
              </a:rPr>
              <a:t>Live demo</a:t>
            </a:r>
            <a:endParaRPr lang="en-US" sz="2025" dirty="0"/>
          </a:p>
        </p:txBody>
      </p:sp>
      <p:sp>
        <p:nvSpPr>
          <p:cNvPr id="8" name="Text 6"/>
          <p:cNvSpPr/>
          <p:nvPr/>
        </p:nvSpPr>
        <p:spPr>
          <a:xfrm>
            <a:off x="847725" y="5103763"/>
            <a:ext cx="15723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b="1" dirty="0">
                <a:solidFill>
                  <a:srgbClr val="33455E"/>
                </a:solidFill>
                <a:latin typeface="Arial" pitchFamily="34" charset="0"/>
                <a:ea typeface="Arial" pitchFamily="34" charset="-122"/>
                <a:cs typeface="Arial" pitchFamily="34" charset="-120"/>
              </a:rPr>
              <a:t>▪</a:t>
            </a:r>
            <a:endParaRPr lang="en-US" sz="1800" dirty="0"/>
          </a:p>
        </p:txBody>
      </p:sp>
      <p:sp>
        <p:nvSpPr>
          <p:cNvPr id="9" name="Text 7"/>
          <p:cNvSpPr/>
          <p:nvPr/>
        </p:nvSpPr>
        <p:spPr>
          <a:xfrm>
            <a:off x="1062112" y="5046613"/>
            <a:ext cx="5273201" cy="1207219"/>
          </a:xfrm>
          <a:prstGeom prst="rect">
            <a:avLst/>
          </a:prstGeom>
          <a:noFill/>
          <a:ln/>
        </p:spPr>
        <p:txBody>
          <a:bodyPr wrap="square" lIns="25400" tIns="25400" rIns="25400" bIns="25400" rtlCol="0" anchor="t">
            <a:normAutofit fontScale="92500"/>
          </a:bodyPr>
          <a:lstStyle/>
          <a:p>
            <a:pPr marL="0" indent="0" algn="l">
              <a:lnSpc>
                <a:spcPct val="132000"/>
              </a:lnSpc>
              <a:buNone/>
            </a:pPr>
            <a:r>
              <a:rPr lang="en-US" sz="2325" b="1" dirty="0">
                <a:solidFill>
                  <a:srgbClr val="33455E"/>
                </a:solidFill>
                <a:latin typeface="Arial" pitchFamily="34" charset="0"/>
                <a:ea typeface="Arial" pitchFamily="34" charset="-122"/>
                <a:cs typeface="Arial" pitchFamily="34" charset="-120"/>
              </a:rPr>
              <a:t>Market Map </a:t>
            </a:r>
            <a:r>
              <a:rPr lang="en-US" sz="2325" dirty="0">
                <a:solidFill>
                  <a:srgbClr val="1E2530"/>
                </a:solidFill>
                <a:latin typeface="Arial" pitchFamily="34" charset="0"/>
                <a:ea typeface="Arial" pitchFamily="34" charset="-122"/>
                <a:cs typeface="Arial" pitchFamily="34" charset="-120"/>
              </a:rPr>
              <a:t>— open-market listings with filters and market-intelligence summaries.</a:t>
            </a:r>
            <a:endParaRPr lang="en-US" sz="2325" dirty="0"/>
          </a:p>
        </p:txBody>
      </p:sp>
      <p:sp>
        <p:nvSpPr>
          <p:cNvPr id="10" name="Text 8"/>
          <p:cNvSpPr/>
          <p:nvPr/>
        </p:nvSpPr>
        <p:spPr>
          <a:xfrm>
            <a:off x="847725" y="6425282"/>
            <a:ext cx="15723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b="1" dirty="0">
                <a:solidFill>
                  <a:srgbClr val="33455E"/>
                </a:solidFill>
                <a:latin typeface="Arial" pitchFamily="34" charset="0"/>
                <a:ea typeface="Arial" pitchFamily="34" charset="-122"/>
                <a:cs typeface="Arial" pitchFamily="34" charset="-120"/>
              </a:rPr>
              <a:t>▪</a:t>
            </a:r>
            <a:endParaRPr lang="en-US" sz="1800" dirty="0"/>
          </a:p>
        </p:txBody>
      </p:sp>
      <p:sp>
        <p:nvSpPr>
          <p:cNvPr id="11" name="Text 9"/>
          <p:cNvSpPr/>
          <p:nvPr/>
        </p:nvSpPr>
        <p:spPr>
          <a:xfrm>
            <a:off x="1062112" y="6368132"/>
            <a:ext cx="5273201" cy="1207219"/>
          </a:xfrm>
          <a:prstGeom prst="rect">
            <a:avLst/>
          </a:prstGeom>
          <a:noFill/>
          <a:ln/>
        </p:spPr>
        <p:txBody>
          <a:bodyPr wrap="square" lIns="25400" tIns="25400" rIns="25400" bIns="25400" rtlCol="0" anchor="t">
            <a:normAutofit fontScale="92500"/>
          </a:bodyPr>
          <a:lstStyle/>
          <a:p>
            <a:pPr marL="0" indent="0" algn="l">
              <a:lnSpc>
                <a:spcPct val="132000"/>
              </a:lnSpc>
              <a:buNone/>
            </a:pPr>
            <a:r>
              <a:rPr lang="en-US" sz="2325" b="1" dirty="0">
                <a:solidFill>
                  <a:srgbClr val="33455E"/>
                </a:solidFill>
                <a:latin typeface="Arial" pitchFamily="34" charset="0"/>
                <a:ea typeface="Arial" pitchFamily="34" charset="-122"/>
                <a:cs typeface="Arial" pitchFamily="34" charset="-120"/>
              </a:rPr>
              <a:t>Price Surface </a:t>
            </a:r>
            <a:r>
              <a:rPr lang="en-US" sz="2325" dirty="0">
                <a:solidFill>
                  <a:srgbClr val="1E2530"/>
                </a:solidFill>
                <a:latin typeface="Arial" pitchFamily="34" charset="0"/>
                <a:ea typeface="Arial" pitchFamily="34" charset="-122"/>
                <a:cs typeface="Arial" pitchFamily="34" charset="-120"/>
              </a:rPr>
              <a:t>— the predicted price-per-m² surface, aggregated by barangay.</a:t>
            </a:r>
            <a:endParaRPr lang="en-US" sz="2325" dirty="0"/>
          </a:p>
        </p:txBody>
      </p:sp>
      <p:sp>
        <p:nvSpPr>
          <p:cNvPr id="12" name="Text 10"/>
          <p:cNvSpPr/>
          <p:nvPr/>
        </p:nvSpPr>
        <p:spPr>
          <a:xfrm>
            <a:off x="847725" y="7746802"/>
            <a:ext cx="15723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b="1" dirty="0">
                <a:solidFill>
                  <a:srgbClr val="33455E"/>
                </a:solidFill>
                <a:latin typeface="Arial" pitchFamily="34" charset="0"/>
                <a:ea typeface="Arial" pitchFamily="34" charset="-122"/>
                <a:cs typeface="Arial" pitchFamily="34" charset="-120"/>
              </a:rPr>
              <a:t>▪</a:t>
            </a:r>
            <a:endParaRPr lang="en-US" sz="1800" dirty="0"/>
          </a:p>
        </p:txBody>
      </p:sp>
      <p:sp>
        <p:nvSpPr>
          <p:cNvPr id="13" name="Text 11"/>
          <p:cNvSpPr/>
          <p:nvPr/>
        </p:nvSpPr>
        <p:spPr>
          <a:xfrm>
            <a:off x="1062112" y="7689652"/>
            <a:ext cx="5273201" cy="817513"/>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2325" b="1" dirty="0">
                <a:solidFill>
                  <a:srgbClr val="33455E"/>
                </a:solidFill>
                <a:latin typeface="Arial" pitchFamily="34" charset="0"/>
                <a:ea typeface="Arial" pitchFamily="34" charset="-122"/>
                <a:cs typeface="Arial" pitchFamily="34" charset="-120"/>
              </a:rPr>
              <a:t>Property Predictor </a:t>
            </a:r>
            <a:r>
              <a:rPr lang="en-US" sz="2325" dirty="0">
                <a:solidFill>
                  <a:srgbClr val="1E2530"/>
                </a:solidFill>
                <a:latin typeface="Arial" pitchFamily="34" charset="0"/>
                <a:ea typeface="Arial" pitchFamily="34" charset="-122"/>
                <a:cs typeface="Arial" pitchFamily="34" charset="-120"/>
              </a:rPr>
              <a:t>— a property-level estimate with its SHAP breakdown.</a:t>
            </a:r>
            <a:endParaRPr lang="en-US" sz="2325" dirty="0"/>
          </a:p>
        </p:txBody>
      </p:sp>
      <p:sp>
        <p:nvSpPr>
          <p:cNvPr id="14" name="Text 12"/>
          <p:cNvSpPr/>
          <p:nvPr/>
        </p:nvSpPr>
        <p:spPr>
          <a:xfrm>
            <a:off x="847725" y="8716714"/>
            <a:ext cx="5867400" cy="300038"/>
          </a:xfrm>
          <a:prstGeom prst="rect">
            <a:avLst/>
          </a:prstGeom>
          <a:noFill/>
          <a:ln/>
        </p:spPr>
        <p:txBody>
          <a:bodyPr wrap="square" lIns="25400" tIns="25400" rIns="25400" bIns="25400" rtlCol="0" anchor="t">
            <a:normAutofit lnSpcReduction="10000"/>
          </a:bodyPr>
          <a:lstStyle/>
          <a:p>
            <a:pPr marL="0" indent="0" algn="l">
              <a:buNone/>
            </a:pPr>
            <a:r>
              <a:rPr lang="en-US" sz="1800" i="1" dirty="0">
                <a:solidFill>
                  <a:srgbClr val="6E7686"/>
                </a:solidFill>
                <a:latin typeface="Arial" pitchFamily="34" charset="0"/>
                <a:ea typeface="Arial" pitchFamily="34" charset="-122"/>
                <a:cs typeface="Arial" pitchFamily="34" charset="-120"/>
              </a:rPr>
              <a:t>Switching to the live application for a walkthrough.</a:t>
            </a:r>
            <a:endParaRPr lang="en-US" sz="1800" dirty="0"/>
          </a:p>
        </p:txBody>
      </p:sp>
      <p:sp>
        <p:nvSpPr>
          <p:cNvPr id="15" name="Text 13"/>
          <p:cNvSpPr/>
          <p:nvPr/>
        </p:nvSpPr>
        <p:spPr>
          <a:xfrm>
            <a:off x="6696075" y="1972568"/>
            <a:ext cx="11818620" cy="333375"/>
          </a:xfrm>
          <a:prstGeom prst="rect">
            <a:avLst/>
          </a:prstGeom>
          <a:noFill/>
          <a:ln/>
        </p:spPr>
        <p:txBody>
          <a:bodyPr wrap="square" lIns="25400" tIns="25400" rIns="25400" bIns="25400" rtlCol="0" anchor="t">
            <a:normAutofit lnSpcReduction="10000"/>
          </a:bodyPr>
          <a:lstStyle/>
          <a:p>
            <a:pPr marL="0" indent="0" algn="l">
              <a:buNone/>
            </a:pPr>
            <a:r>
              <a:rPr lang="en-US" sz="2025" b="1" dirty="0">
                <a:solidFill>
                  <a:srgbClr val="33455E"/>
                </a:solidFill>
                <a:latin typeface="Arial" pitchFamily="34" charset="0"/>
                <a:ea typeface="Arial" pitchFamily="34" charset="-122"/>
                <a:cs typeface="Arial" pitchFamily="34" charset="-120"/>
              </a:rPr>
              <a:t>Market Map</a:t>
            </a:r>
            <a:endParaRPr lang="en-US" sz="2025" dirty="0"/>
          </a:p>
        </p:txBody>
      </p:sp>
      <p:sp>
        <p:nvSpPr>
          <p:cNvPr id="16" name="Shape 14"/>
          <p:cNvSpPr/>
          <p:nvPr/>
        </p:nvSpPr>
        <p:spPr>
          <a:xfrm>
            <a:off x="6696075" y="2401193"/>
            <a:ext cx="10744200" cy="7352407"/>
          </a:xfrm>
          <a:prstGeom prst="roundRect">
            <a:avLst>
              <a:gd name="adj" fmla="val 777"/>
            </a:avLst>
          </a:prstGeom>
          <a:solidFill>
            <a:srgbClr val="FFFFFF"/>
          </a:solidFill>
          <a:ln w="9525">
            <a:solidFill>
              <a:srgbClr val="DCE2E9"/>
            </a:solidFill>
            <a:prstDash val="solid"/>
          </a:ln>
        </p:spPr>
        <p:txBody>
          <a:bodyPr/>
          <a:lstStyle/>
          <a:p>
            <a:endParaRPr lang="en-US"/>
          </a:p>
        </p:txBody>
      </p:sp>
      <p:pic>
        <p:nvPicPr>
          <p:cNvPr id="17" name="Image 0" descr="preencoded.png"/>
          <p:cNvPicPr>
            <a:picLocks noChangeAspect="1"/>
          </p:cNvPicPr>
          <p:nvPr/>
        </p:nvPicPr>
        <p:blipFill>
          <a:blip r:embed="rId3"/>
          <a:srcRect t="-4700" b="-4700"/>
          <a:stretch/>
        </p:blipFill>
        <p:spPr>
          <a:xfrm>
            <a:off x="6705600" y="2410718"/>
            <a:ext cx="10725150" cy="7333357"/>
          </a:xfrm>
          <a:prstGeom prst="rect">
            <a:avLst/>
          </a:prstGeom>
        </p:spPr>
      </p:pic>
    </p:spTree>
    <p:extLst>
      <p:ext uri="{BB962C8B-B14F-4D97-AF65-F5344CB8AC3E}">
        <p14:creationId xmlns:p14="http://schemas.microsoft.com/office/powerpoint/2010/main" val="372047119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5">
    <p:bg>
      <p:bgPr>
        <a:solidFill>
          <a:srgbClr val="33455E"/>
        </a:solidFill>
        <a:effectLst/>
      </p:bgPr>
    </p:bg>
    <p:spTree>
      <p:nvGrpSpPr>
        <p:cNvPr id="1" name=""/>
        <p:cNvGrpSpPr/>
        <p:nvPr/>
      </p:nvGrpSpPr>
      <p:grpSpPr>
        <a:xfrm>
          <a:off x="0" y="0"/>
          <a:ext cx="0" cy="0"/>
          <a:chOff x="0" y="0"/>
          <a:chExt cx="0" cy="0"/>
        </a:xfrm>
      </p:grpSpPr>
      <p:sp>
        <p:nvSpPr>
          <p:cNvPr id="2" name="Text 0"/>
          <p:cNvSpPr/>
          <p:nvPr/>
        </p:nvSpPr>
        <p:spPr>
          <a:xfrm>
            <a:off x="1238250" y="3826669"/>
            <a:ext cx="17392650" cy="914400"/>
          </a:xfrm>
          <a:prstGeom prst="rect">
            <a:avLst/>
          </a:prstGeom>
          <a:noFill/>
          <a:ln/>
        </p:spPr>
        <p:txBody>
          <a:bodyPr wrap="square" lIns="25400" tIns="25400" rIns="25400" bIns="25400" rtlCol="0" anchor="t">
            <a:normAutofit lnSpcReduction="10000"/>
          </a:bodyPr>
          <a:lstStyle/>
          <a:p>
            <a:pPr marL="0" indent="0" algn="l">
              <a:buNone/>
            </a:pPr>
            <a:r>
              <a:rPr lang="en-US" sz="6000" b="1" dirty="0">
                <a:solidFill>
                  <a:srgbClr val="5B7A99"/>
                </a:solidFill>
                <a:latin typeface="Arial" pitchFamily="34" charset="0"/>
                <a:ea typeface="Arial" pitchFamily="34" charset="-122"/>
                <a:cs typeface="Arial" pitchFamily="34" charset="-120"/>
              </a:rPr>
              <a:t>09</a:t>
            </a:r>
            <a:endParaRPr lang="en-US" sz="6000" dirty="0"/>
          </a:p>
        </p:txBody>
      </p:sp>
      <p:sp>
        <p:nvSpPr>
          <p:cNvPr id="3" name="Text 1"/>
          <p:cNvSpPr/>
          <p:nvPr/>
        </p:nvSpPr>
        <p:spPr>
          <a:xfrm>
            <a:off x="1238250" y="4779169"/>
            <a:ext cx="17392650" cy="1133475"/>
          </a:xfrm>
          <a:prstGeom prst="rect">
            <a:avLst/>
          </a:prstGeom>
          <a:noFill/>
          <a:ln/>
        </p:spPr>
        <p:txBody>
          <a:bodyPr wrap="square" lIns="25400" tIns="25400" rIns="25400" bIns="25400" rtlCol="0" anchor="t">
            <a:normAutofit lnSpcReduction="10000"/>
          </a:bodyPr>
          <a:lstStyle/>
          <a:p>
            <a:pPr marL="0" indent="0" algn="l">
              <a:buNone/>
            </a:pPr>
            <a:r>
              <a:rPr lang="en-US" sz="7500" b="1" dirty="0">
                <a:solidFill>
                  <a:srgbClr val="FFFFFF"/>
                </a:solidFill>
                <a:latin typeface="Arial" pitchFamily="34" charset="0"/>
                <a:ea typeface="Arial" pitchFamily="34" charset="-122"/>
                <a:cs typeface="Arial" pitchFamily="34" charset="-120"/>
              </a:rPr>
              <a:t>Conclusions</a:t>
            </a:r>
            <a:endParaRPr lang="en-US" sz="7500" dirty="0"/>
          </a:p>
        </p:txBody>
      </p:sp>
      <p:sp>
        <p:nvSpPr>
          <p:cNvPr id="4" name="Text 2"/>
          <p:cNvSpPr/>
          <p:nvPr/>
        </p:nvSpPr>
        <p:spPr>
          <a:xfrm>
            <a:off x="1238250" y="6045994"/>
            <a:ext cx="17392650" cy="452438"/>
          </a:xfrm>
          <a:prstGeom prst="rect">
            <a:avLst/>
          </a:prstGeom>
          <a:noFill/>
          <a:ln/>
        </p:spPr>
        <p:txBody>
          <a:bodyPr wrap="square" lIns="25400" tIns="25400" rIns="25400" bIns="25400" rtlCol="0" anchor="t">
            <a:normAutofit lnSpcReduction="10000"/>
          </a:bodyPr>
          <a:lstStyle/>
          <a:p>
            <a:pPr marL="0" indent="0" algn="l">
              <a:buNone/>
            </a:pPr>
            <a:r>
              <a:rPr lang="en-US" sz="2850" dirty="0">
                <a:solidFill>
                  <a:srgbClr val="C5D2DF"/>
                </a:solidFill>
                <a:latin typeface="Arial" pitchFamily="34" charset="0"/>
                <a:ea typeface="Arial" pitchFamily="34" charset="-122"/>
                <a:cs typeface="Arial" pitchFamily="34" charset="-120"/>
              </a:rPr>
              <a:t>Answers, contributions, limits</a:t>
            </a:r>
            <a:endParaRPr lang="en-US" sz="2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6">
    <p:bg>
      <p:bgPr>
        <a:solidFill>
          <a:srgbClr val="FAFBFC"/>
        </a:solidFill>
        <a:effectLst/>
      </p:bgPr>
    </p:bg>
    <p:spTree>
      <p:nvGrpSpPr>
        <p:cNvPr id="1" name=""/>
        <p:cNvGrpSpPr/>
        <p:nvPr/>
      </p:nvGrpSpPr>
      <p:grpSpPr>
        <a:xfrm>
          <a:off x="0" y="0"/>
          <a:ext cx="0" cy="0"/>
          <a:chOff x="0" y="0"/>
          <a:chExt cx="0" cy="0"/>
        </a:xfrm>
      </p:grpSpPr>
      <p:sp>
        <p:nvSpPr>
          <p:cNvPr id="2" name="Text 0"/>
          <p:cNvSpPr/>
          <p:nvPr/>
        </p:nvSpPr>
        <p:spPr>
          <a:xfrm>
            <a:off x="847725" y="552450"/>
            <a:ext cx="2767697" cy="347663"/>
          </a:xfrm>
          <a:prstGeom prst="rect">
            <a:avLst/>
          </a:prstGeom>
          <a:noFill/>
          <a:ln/>
        </p:spPr>
        <p:txBody>
          <a:bodyPr wrap="square" lIns="25400" tIns="25400" rIns="25400" bIns="25400" rtlCol="0" anchor="t">
            <a:normAutofit lnSpcReduction="10000"/>
          </a:bodyPr>
          <a:lstStyle/>
          <a:p>
            <a:pPr marL="0" indent="0" algn="l">
              <a:buNone/>
            </a:pPr>
            <a:r>
              <a:rPr lang="en-US" sz="2100" b="1" kern="0" spc="84" dirty="0">
                <a:solidFill>
                  <a:srgbClr val="33455E"/>
                </a:solidFill>
                <a:latin typeface="Arial" pitchFamily="34" charset="0"/>
                <a:ea typeface="Arial" pitchFamily="34" charset="-122"/>
                <a:cs typeface="Arial" pitchFamily="34" charset="-120"/>
              </a:rPr>
              <a:t>9 · CONCLUSIONS</a:t>
            </a:r>
            <a:endParaRPr lang="en-US" sz="2100" dirty="0"/>
          </a:p>
        </p:txBody>
      </p:sp>
      <p:sp>
        <p:nvSpPr>
          <p:cNvPr id="3" name="Text 1"/>
          <p:cNvSpPr/>
          <p:nvPr/>
        </p:nvSpPr>
        <p:spPr>
          <a:xfrm>
            <a:off x="16712059" y="552450"/>
            <a:ext cx="804416" cy="314325"/>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6E7686"/>
                </a:solidFill>
                <a:latin typeface="Arial" pitchFamily="34" charset="0"/>
                <a:ea typeface="Arial" pitchFamily="34" charset="-122"/>
                <a:cs typeface="Arial" pitchFamily="34" charset="-120"/>
              </a:rPr>
              <a:t>36 / 40</a:t>
            </a:r>
            <a:endParaRPr lang="en-US" sz="1875" dirty="0"/>
          </a:p>
        </p:txBody>
      </p:sp>
      <p:sp>
        <p:nvSpPr>
          <p:cNvPr id="4" name="Shape 2"/>
          <p:cNvSpPr/>
          <p:nvPr/>
        </p:nvSpPr>
        <p:spPr>
          <a:xfrm>
            <a:off x="847725" y="985838"/>
            <a:ext cx="16592550" cy="28575"/>
          </a:xfrm>
          <a:prstGeom prst="rect">
            <a:avLst/>
          </a:prstGeom>
          <a:solidFill>
            <a:srgbClr val="33455E"/>
          </a:solidFill>
          <a:ln/>
        </p:spPr>
        <p:txBody>
          <a:bodyPr/>
          <a:lstStyle/>
          <a:p>
            <a:endParaRPr lang="en-US"/>
          </a:p>
        </p:txBody>
      </p:sp>
      <p:sp>
        <p:nvSpPr>
          <p:cNvPr id="5" name="Text 3"/>
          <p:cNvSpPr/>
          <p:nvPr/>
        </p:nvSpPr>
        <p:spPr>
          <a:xfrm>
            <a:off x="847725" y="1243013"/>
            <a:ext cx="18251805" cy="55810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3900" b="1" dirty="0">
                <a:solidFill>
                  <a:srgbClr val="1E2530"/>
                </a:solidFill>
                <a:latin typeface="Arial" pitchFamily="34" charset="0"/>
                <a:ea typeface="Arial" pitchFamily="34" charset="-122"/>
                <a:cs typeface="Arial" pitchFamily="34" charset="-120"/>
              </a:rPr>
              <a:t>Answers, contributions, limits</a:t>
            </a:r>
            <a:endParaRPr lang="en-US" sz="3900" dirty="0"/>
          </a:p>
        </p:txBody>
      </p:sp>
      <p:sp>
        <p:nvSpPr>
          <p:cNvPr id="6" name="Shape 4"/>
          <p:cNvSpPr/>
          <p:nvPr/>
        </p:nvSpPr>
        <p:spPr>
          <a:xfrm>
            <a:off x="847725" y="1934468"/>
            <a:ext cx="4019550" cy="1108770"/>
          </a:xfrm>
          <a:prstGeom prst="roundRect">
            <a:avLst>
              <a:gd name="adj" fmla="val 5154"/>
            </a:avLst>
          </a:prstGeom>
          <a:solidFill>
            <a:srgbClr val="FFFFFF"/>
          </a:solidFill>
          <a:ln/>
        </p:spPr>
        <p:txBody>
          <a:bodyPr/>
          <a:lstStyle/>
          <a:p>
            <a:endParaRPr lang="en-US"/>
          </a:p>
        </p:txBody>
      </p:sp>
      <p:sp>
        <p:nvSpPr>
          <p:cNvPr id="7" name="Shape 5"/>
          <p:cNvSpPr/>
          <p:nvPr/>
        </p:nvSpPr>
        <p:spPr>
          <a:xfrm>
            <a:off x="847725" y="3033713"/>
            <a:ext cx="4019550" cy="9525"/>
          </a:xfrm>
          <a:prstGeom prst="rect">
            <a:avLst/>
          </a:prstGeom>
          <a:solidFill>
            <a:srgbClr val="DCE2E9"/>
          </a:solidFill>
          <a:ln/>
        </p:spPr>
        <p:txBody>
          <a:bodyPr/>
          <a:lstStyle/>
          <a:p>
            <a:endParaRPr lang="en-US"/>
          </a:p>
        </p:txBody>
      </p:sp>
      <p:sp>
        <p:nvSpPr>
          <p:cNvPr id="8" name="Shape 6"/>
          <p:cNvSpPr/>
          <p:nvPr/>
        </p:nvSpPr>
        <p:spPr>
          <a:xfrm>
            <a:off x="847725" y="1934468"/>
            <a:ext cx="4019550" cy="47625"/>
          </a:xfrm>
          <a:prstGeom prst="rect">
            <a:avLst/>
          </a:prstGeom>
          <a:solidFill>
            <a:srgbClr val="33455E"/>
          </a:solidFill>
          <a:ln/>
        </p:spPr>
        <p:txBody>
          <a:bodyPr/>
          <a:lstStyle/>
          <a:p>
            <a:endParaRPr lang="en-US"/>
          </a:p>
        </p:txBody>
      </p:sp>
      <p:sp>
        <p:nvSpPr>
          <p:cNvPr id="9" name="Shape 7"/>
          <p:cNvSpPr/>
          <p:nvPr/>
        </p:nvSpPr>
        <p:spPr>
          <a:xfrm>
            <a:off x="847725" y="1934468"/>
            <a:ext cx="9525" cy="1108770"/>
          </a:xfrm>
          <a:prstGeom prst="rect">
            <a:avLst/>
          </a:prstGeom>
          <a:solidFill>
            <a:srgbClr val="DCE2E9"/>
          </a:solidFill>
          <a:ln/>
        </p:spPr>
        <p:txBody>
          <a:bodyPr/>
          <a:lstStyle/>
          <a:p>
            <a:endParaRPr lang="en-US"/>
          </a:p>
        </p:txBody>
      </p:sp>
      <p:sp>
        <p:nvSpPr>
          <p:cNvPr id="10" name="Shape 8"/>
          <p:cNvSpPr/>
          <p:nvPr/>
        </p:nvSpPr>
        <p:spPr>
          <a:xfrm>
            <a:off x="4857750" y="1934468"/>
            <a:ext cx="9525" cy="1108770"/>
          </a:xfrm>
          <a:prstGeom prst="rect">
            <a:avLst/>
          </a:prstGeom>
          <a:solidFill>
            <a:srgbClr val="DCE2E9"/>
          </a:solidFill>
          <a:ln/>
        </p:spPr>
        <p:txBody>
          <a:bodyPr/>
          <a:lstStyle/>
          <a:p>
            <a:endParaRPr lang="en-US"/>
          </a:p>
        </p:txBody>
      </p:sp>
      <p:sp>
        <p:nvSpPr>
          <p:cNvPr id="11" name="Text 9"/>
          <p:cNvSpPr/>
          <p:nvPr/>
        </p:nvSpPr>
        <p:spPr>
          <a:xfrm>
            <a:off x="1009650" y="2096393"/>
            <a:ext cx="4065270" cy="300038"/>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5B7A99"/>
                </a:solidFill>
                <a:latin typeface="Arial" pitchFamily="34" charset="0"/>
                <a:ea typeface="Arial" pitchFamily="34" charset="-122"/>
                <a:cs typeface="Arial" pitchFamily="34" charset="-120"/>
              </a:rPr>
              <a:t>RQ1 · Location dominates</a:t>
            </a:r>
            <a:endParaRPr lang="en-US" sz="1800" dirty="0"/>
          </a:p>
        </p:txBody>
      </p:sp>
      <p:sp>
        <p:nvSpPr>
          <p:cNvPr id="12" name="Text 10"/>
          <p:cNvSpPr/>
          <p:nvPr/>
        </p:nvSpPr>
        <p:spPr>
          <a:xfrm>
            <a:off x="1009650" y="2415480"/>
            <a:ext cx="3806571" cy="542032"/>
          </a:xfrm>
          <a:prstGeom prst="rect">
            <a:avLst/>
          </a:prstGeom>
          <a:noFill/>
          <a:ln/>
        </p:spPr>
        <p:txBody>
          <a:bodyPr wrap="square" lIns="25400" tIns="25400" rIns="25400" bIns="25400" rtlCol="0" anchor="t">
            <a:normAutofit fontScale="92500" lnSpcReduction="20000"/>
          </a:bodyPr>
          <a:lstStyle/>
          <a:p>
            <a:pPr marL="0" indent="0" algn="l">
              <a:lnSpc>
                <a:spcPct val="126000"/>
              </a:lnSpc>
              <a:buNone/>
            </a:pPr>
            <a:r>
              <a:rPr lang="en-US" sz="1575" dirty="0">
                <a:solidFill>
                  <a:srgbClr val="1E2530"/>
                </a:solidFill>
                <a:latin typeface="Arial" pitchFamily="34" charset="0"/>
                <a:ea typeface="Arial" pitchFamily="34" charset="-122"/>
                <a:cs typeface="Arial" pitchFamily="34" charset="-120"/>
              </a:rPr>
              <a:t>Spatial lag for condos; CBP distance for houses and lots; amenities for bare land.</a:t>
            </a:r>
            <a:endParaRPr lang="en-US" sz="1575" dirty="0"/>
          </a:p>
        </p:txBody>
      </p:sp>
      <p:sp>
        <p:nvSpPr>
          <p:cNvPr id="13" name="Shape 11"/>
          <p:cNvSpPr/>
          <p:nvPr/>
        </p:nvSpPr>
        <p:spPr>
          <a:xfrm>
            <a:off x="5038725" y="1934468"/>
            <a:ext cx="4019550" cy="1108770"/>
          </a:xfrm>
          <a:prstGeom prst="roundRect">
            <a:avLst>
              <a:gd name="adj" fmla="val 5154"/>
            </a:avLst>
          </a:prstGeom>
          <a:solidFill>
            <a:srgbClr val="FFFFFF"/>
          </a:solidFill>
          <a:ln/>
        </p:spPr>
        <p:txBody>
          <a:bodyPr/>
          <a:lstStyle/>
          <a:p>
            <a:endParaRPr lang="en-US"/>
          </a:p>
        </p:txBody>
      </p:sp>
      <p:sp>
        <p:nvSpPr>
          <p:cNvPr id="14" name="Shape 12"/>
          <p:cNvSpPr/>
          <p:nvPr/>
        </p:nvSpPr>
        <p:spPr>
          <a:xfrm>
            <a:off x="5038725" y="3033713"/>
            <a:ext cx="4019550" cy="9525"/>
          </a:xfrm>
          <a:prstGeom prst="rect">
            <a:avLst/>
          </a:prstGeom>
          <a:solidFill>
            <a:srgbClr val="DCE2E9"/>
          </a:solidFill>
          <a:ln/>
        </p:spPr>
        <p:txBody>
          <a:bodyPr/>
          <a:lstStyle/>
          <a:p>
            <a:endParaRPr lang="en-US"/>
          </a:p>
        </p:txBody>
      </p:sp>
      <p:sp>
        <p:nvSpPr>
          <p:cNvPr id="15" name="Shape 13"/>
          <p:cNvSpPr/>
          <p:nvPr/>
        </p:nvSpPr>
        <p:spPr>
          <a:xfrm>
            <a:off x="5038725" y="1934468"/>
            <a:ext cx="4019550" cy="47625"/>
          </a:xfrm>
          <a:prstGeom prst="rect">
            <a:avLst/>
          </a:prstGeom>
          <a:solidFill>
            <a:srgbClr val="33455E"/>
          </a:solidFill>
          <a:ln/>
        </p:spPr>
        <p:txBody>
          <a:bodyPr/>
          <a:lstStyle/>
          <a:p>
            <a:endParaRPr lang="en-US"/>
          </a:p>
        </p:txBody>
      </p:sp>
      <p:sp>
        <p:nvSpPr>
          <p:cNvPr id="16" name="Shape 14"/>
          <p:cNvSpPr/>
          <p:nvPr/>
        </p:nvSpPr>
        <p:spPr>
          <a:xfrm>
            <a:off x="5038725" y="1934468"/>
            <a:ext cx="9525" cy="1108770"/>
          </a:xfrm>
          <a:prstGeom prst="rect">
            <a:avLst/>
          </a:prstGeom>
          <a:solidFill>
            <a:srgbClr val="DCE2E9"/>
          </a:solidFill>
          <a:ln/>
        </p:spPr>
        <p:txBody>
          <a:bodyPr/>
          <a:lstStyle/>
          <a:p>
            <a:endParaRPr lang="en-US"/>
          </a:p>
        </p:txBody>
      </p:sp>
      <p:sp>
        <p:nvSpPr>
          <p:cNvPr id="17" name="Shape 15"/>
          <p:cNvSpPr/>
          <p:nvPr/>
        </p:nvSpPr>
        <p:spPr>
          <a:xfrm>
            <a:off x="9048750" y="1934468"/>
            <a:ext cx="9525" cy="1108770"/>
          </a:xfrm>
          <a:prstGeom prst="rect">
            <a:avLst/>
          </a:prstGeom>
          <a:solidFill>
            <a:srgbClr val="DCE2E9"/>
          </a:solidFill>
          <a:ln/>
        </p:spPr>
        <p:txBody>
          <a:bodyPr/>
          <a:lstStyle/>
          <a:p>
            <a:endParaRPr lang="en-US"/>
          </a:p>
        </p:txBody>
      </p:sp>
      <p:sp>
        <p:nvSpPr>
          <p:cNvPr id="18" name="Text 16"/>
          <p:cNvSpPr/>
          <p:nvPr/>
        </p:nvSpPr>
        <p:spPr>
          <a:xfrm>
            <a:off x="5200650" y="2096393"/>
            <a:ext cx="4065270" cy="300038"/>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5B7A99"/>
                </a:solidFill>
                <a:latin typeface="Arial" pitchFamily="34" charset="0"/>
                <a:ea typeface="Arial" pitchFamily="34" charset="-122"/>
                <a:cs typeface="Arial" pitchFamily="34" charset="-120"/>
              </a:rPr>
              <a:t>RQ2 · Tree models win</a:t>
            </a:r>
            <a:endParaRPr lang="en-US" sz="1800" dirty="0"/>
          </a:p>
        </p:txBody>
      </p:sp>
      <p:sp>
        <p:nvSpPr>
          <p:cNvPr id="19" name="Text 17"/>
          <p:cNvSpPr/>
          <p:nvPr/>
        </p:nvSpPr>
        <p:spPr>
          <a:xfrm>
            <a:off x="5200650" y="2415480"/>
            <a:ext cx="3806571" cy="542032"/>
          </a:xfrm>
          <a:prstGeom prst="rect">
            <a:avLst/>
          </a:prstGeom>
          <a:noFill/>
          <a:ln/>
        </p:spPr>
        <p:txBody>
          <a:bodyPr wrap="square" lIns="25400" tIns="25400" rIns="25400" bIns="25400" rtlCol="0" anchor="t">
            <a:normAutofit fontScale="92500" lnSpcReduction="20000"/>
          </a:bodyPr>
          <a:lstStyle/>
          <a:p>
            <a:pPr marL="0" indent="0" algn="l">
              <a:lnSpc>
                <a:spcPct val="126000"/>
              </a:lnSpc>
              <a:buNone/>
            </a:pPr>
            <a:r>
              <a:rPr lang="en-US" sz="1575" dirty="0">
                <a:solidFill>
                  <a:srgbClr val="1E2530"/>
                </a:solidFill>
                <a:latin typeface="Arial" pitchFamily="34" charset="0"/>
                <a:ea typeface="Arial" pitchFamily="34" charset="-122"/>
                <a:cs typeface="Arial" pitchFamily="34" charset="-120"/>
              </a:rPr>
              <a:t>Beat OLS everywhere; Random Forest best-or-tied and simpler to deploy.</a:t>
            </a:r>
            <a:endParaRPr lang="en-US" sz="1575" dirty="0"/>
          </a:p>
        </p:txBody>
      </p:sp>
      <p:sp>
        <p:nvSpPr>
          <p:cNvPr id="20" name="Shape 18"/>
          <p:cNvSpPr/>
          <p:nvPr/>
        </p:nvSpPr>
        <p:spPr>
          <a:xfrm>
            <a:off x="9229725" y="1934468"/>
            <a:ext cx="4019550" cy="1108770"/>
          </a:xfrm>
          <a:prstGeom prst="roundRect">
            <a:avLst>
              <a:gd name="adj" fmla="val 5154"/>
            </a:avLst>
          </a:prstGeom>
          <a:solidFill>
            <a:srgbClr val="FFFFFF"/>
          </a:solidFill>
          <a:ln/>
        </p:spPr>
        <p:txBody>
          <a:bodyPr/>
          <a:lstStyle/>
          <a:p>
            <a:endParaRPr lang="en-US"/>
          </a:p>
        </p:txBody>
      </p:sp>
      <p:sp>
        <p:nvSpPr>
          <p:cNvPr id="21" name="Shape 19"/>
          <p:cNvSpPr/>
          <p:nvPr/>
        </p:nvSpPr>
        <p:spPr>
          <a:xfrm>
            <a:off x="9229725" y="3033713"/>
            <a:ext cx="4019550" cy="9525"/>
          </a:xfrm>
          <a:prstGeom prst="rect">
            <a:avLst/>
          </a:prstGeom>
          <a:solidFill>
            <a:srgbClr val="DCE2E9"/>
          </a:solidFill>
          <a:ln/>
        </p:spPr>
        <p:txBody>
          <a:bodyPr/>
          <a:lstStyle/>
          <a:p>
            <a:endParaRPr lang="en-US"/>
          </a:p>
        </p:txBody>
      </p:sp>
      <p:sp>
        <p:nvSpPr>
          <p:cNvPr id="22" name="Shape 20"/>
          <p:cNvSpPr/>
          <p:nvPr/>
        </p:nvSpPr>
        <p:spPr>
          <a:xfrm>
            <a:off x="9229725" y="1934468"/>
            <a:ext cx="4019550" cy="47625"/>
          </a:xfrm>
          <a:prstGeom prst="rect">
            <a:avLst/>
          </a:prstGeom>
          <a:solidFill>
            <a:srgbClr val="33455E"/>
          </a:solidFill>
          <a:ln/>
        </p:spPr>
        <p:txBody>
          <a:bodyPr/>
          <a:lstStyle/>
          <a:p>
            <a:endParaRPr lang="en-US"/>
          </a:p>
        </p:txBody>
      </p:sp>
      <p:sp>
        <p:nvSpPr>
          <p:cNvPr id="23" name="Shape 21"/>
          <p:cNvSpPr/>
          <p:nvPr/>
        </p:nvSpPr>
        <p:spPr>
          <a:xfrm>
            <a:off x="9229725" y="1934468"/>
            <a:ext cx="9525" cy="1108770"/>
          </a:xfrm>
          <a:prstGeom prst="rect">
            <a:avLst/>
          </a:prstGeom>
          <a:solidFill>
            <a:srgbClr val="DCE2E9"/>
          </a:solidFill>
          <a:ln/>
        </p:spPr>
        <p:txBody>
          <a:bodyPr/>
          <a:lstStyle/>
          <a:p>
            <a:endParaRPr lang="en-US"/>
          </a:p>
        </p:txBody>
      </p:sp>
      <p:sp>
        <p:nvSpPr>
          <p:cNvPr id="24" name="Shape 22"/>
          <p:cNvSpPr/>
          <p:nvPr/>
        </p:nvSpPr>
        <p:spPr>
          <a:xfrm>
            <a:off x="13239750" y="1934468"/>
            <a:ext cx="9525" cy="1108770"/>
          </a:xfrm>
          <a:prstGeom prst="rect">
            <a:avLst/>
          </a:prstGeom>
          <a:solidFill>
            <a:srgbClr val="DCE2E9"/>
          </a:solidFill>
          <a:ln/>
        </p:spPr>
        <p:txBody>
          <a:bodyPr/>
          <a:lstStyle/>
          <a:p>
            <a:endParaRPr lang="en-US"/>
          </a:p>
        </p:txBody>
      </p:sp>
      <p:sp>
        <p:nvSpPr>
          <p:cNvPr id="25" name="Text 23"/>
          <p:cNvSpPr/>
          <p:nvPr/>
        </p:nvSpPr>
        <p:spPr>
          <a:xfrm>
            <a:off x="9391650" y="2096393"/>
            <a:ext cx="4065270" cy="300038"/>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5B7A99"/>
                </a:solidFill>
                <a:latin typeface="Arial" pitchFamily="34" charset="0"/>
                <a:ea typeface="Arial" pitchFamily="34" charset="-122"/>
                <a:cs typeface="Arial" pitchFamily="34" charset="-120"/>
              </a:rPr>
              <a:t>RQ3 · Geospatial helps</a:t>
            </a:r>
            <a:endParaRPr lang="en-US" sz="1800" dirty="0"/>
          </a:p>
        </p:txBody>
      </p:sp>
      <p:sp>
        <p:nvSpPr>
          <p:cNvPr id="26" name="Text 24"/>
          <p:cNvSpPr/>
          <p:nvPr/>
        </p:nvSpPr>
        <p:spPr>
          <a:xfrm>
            <a:off x="9391650" y="2415480"/>
            <a:ext cx="3806571" cy="542032"/>
          </a:xfrm>
          <a:prstGeom prst="rect">
            <a:avLst/>
          </a:prstGeom>
          <a:noFill/>
          <a:ln/>
        </p:spPr>
        <p:txBody>
          <a:bodyPr wrap="square" lIns="25400" tIns="25400" rIns="25400" bIns="25400" rtlCol="0" anchor="t">
            <a:normAutofit fontScale="92500" lnSpcReduction="20000"/>
          </a:bodyPr>
          <a:lstStyle/>
          <a:p>
            <a:pPr marL="0" indent="0" algn="l">
              <a:lnSpc>
                <a:spcPct val="126000"/>
              </a:lnSpc>
              <a:buNone/>
            </a:pPr>
            <a:r>
              <a:rPr lang="en-US" sz="1575" dirty="0">
                <a:solidFill>
                  <a:srgbClr val="1E2530"/>
                </a:solidFill>
                <a:latin typeface="Arial" pitchFamily="34" charset="0"/>
                <a:ea typeface="Arial" pitchFamily="34" charset="-122"/>
                <a:cs typeface="Arial" pitchFamily="34" charset="-120"/>
              </a:rPr>
              <a:t>Material uplift, especially where administrative benchmarks are weakest.</a:t>
            </a:r>
            <a:endParaRPr lang="en-US" sz="1575" dirty="0"/>
          </a:p>
        </p:txBody>
      </p:sp>
      <p:sp>
        <p:nvSpPr>
          <p:cNvPr id="27" name="Shape 25"/>
          <p:cNvSpPr/>
          <p:nvPr/>
        </p:nvSpPr>
        <p:spPr>
          <a:xfrm>
            <a:off x="13420725" y="1934468"/>
            <a:ext cx="4019550" cy="1108770"/>
          </a:xfrm>
          <a:prstGeom prst="roundRect">
            <a:avLst>
              <a:gd name="adj" fmla="val 5154"/>
            </a:avLst>
          </a:prstGeom>
          <a:solidFill>
            <a:srgbClr val="FFFFFF"/>
          </a:solidFill>
          <a:ln/>
        </p:spPr>
        <p:txBody>
          <a:bodyPr/>
          <a:lstStyle/>
          <a:p>
            <a:endParaRPr lang="en-US"/>
          </a:p>
        </p:txBody>
      </p:sp>
      <p:sp>
        <p:nvSpPr>
          <p:cNvPr id="28" name="Shape 26"/>
          <p:cNvSpPr/>
          <p:nvPr/>
        </p:nvSpPr>
        <p:spPr>
          <a:xfrm>
            <a:off x="13420725" y="3033713"/>
            <a:ext cx="4019550" cy="9525"/>
          </a:xfrm>
          <a:prstGeom prst="rect">
            <a:avLst/>
          </a:prstGeom>
          <a:solidFill>
            <a:srgbClr val="DCE2E9"/>
          </a:solidFill>
          <a:ln/>
        </p:spPr>
        <p:txBody>
          <a:bodyPr/>
          <a:lstStyle/>
          <a:p>
            <a:endParaRPr lang="en-US"/>
          </a:p>
        </p:txBody>
      </p:sp>
      <p:sp>
        <p:nvSpPr>
          <p:cNvPr id="29" name="Shape 27"/>
          <p:cNvSpPr/>
          <p:nvPr/>
        </p:nvSpPr>
        <p:spPr>
          <a:xfrm>
            <a:off x="13420725" y="1934468"/>
            <a:ext cx="4019550" cy="47625"/>
          </a:xfrm>
          <a:prstGeom prst="rect">
            <a:avLst/>
          </a:prstGeom>
          <a:solidFill>
            <a:srgbClr val="33455E"/>
          </a:solidFill>
          <a:ln/>
        </p:spPr>
        <p:txBody>
          <a:bodyPr/>
          <a:lstStyle/>
          <a:p>
            <a:endParaRPr lang="en-US"/>
          </a:p>
        </p:txBody>
      </p:sp>
      <p:sp>
        <p:nvSpPr>
          <p:cNvPr id="30" name="Shape 28"/>
          <p:cNvSpPr/>
          <p:nvPr/>
        </p:nvSpPr>
        <p:spPr>
          <a:xfrm>
            <a:off x="13420725" y="1934468"/>
            <a:ext cx="9525" cy="1108770"/>
          </a:xfrm>
          <a:prstGeom prst="rect">
            <a:avLst/>
          </a:prstGeom>
          <a:solidFill>
            <a:srgbClr val="DCE2E9"/>
          </a:solidFill>
          <a:ln/>
        </p:spPr>
        <p:txBody>
          <a:bodyPr/>
          <a:lstStyle/>
          <a:p>
            <a:endParaRPr lang="en-US"/>
          </a:p>
        </p:txBody>
      </p:sp>
      <p:sp>
        <p:nvSpPr>
          <p:cNvPr id="31" name="Shape 29"/>
          <p:cNvSpPr/>
          <p:nvPr/>
        </p:nvSpPr>
        <p:spPr>
          <a:xfrm>
            <a:off x="17430750" y="1934468"/>
            <a:ext cx="9525" cy="1108770"/>
          </a:xfrm>
          <a:prstGeom prst="rect">
            <a:avLst/>
          </a:prstGeom>
          <a:solidFill>
            <a:srgbClr val="DCE2E9"/>
          </a:solidFill>
          <a:ln/>
        </p:spPr>
        <p:txBody>
          <a:bodyPr/>
          <a:lstStyle/>
          <a:p>
            <a:endParaRPr lang="en-US"/>
          </a:p>
        </p:txBody>
      </p:sp>
      <p:sp>
        <p:nvSpPr>
          <p:cNvPr id="32" name="Text 30"/>
          <p:cNvSpPr/>
          <p:nvPr/>
        </p:nvSpPr>
        <p:spPr>
          <a:xfrm>
            <a:off x="13582650" y="2096393"/>
            <a:ext cx="4065270" cy="300038"/>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5B7A99"/>
                </a:solidFill>
                <a:latin typeface="Arial" pitchFamily="34" charset="0"/>
                <a:ea typeface="Arial" pitchFamily="34" charset="-122"/>
                <a:cs typeface="Arial" pitchFamily="34" charset="-120"/>
              </a:rPr>
              <a:t>RQ4 · BIR gap systematic</a:t>
            </a:r>
            <a:endParaRPr lang="en-US" sz="1800" dirty="0"/>
          </a:p>
        </p:txBody>
      </p:sp>
      <p:sp>
        <p:nvSpPr>
          <p:cNvPr id="33" name="Text 31"/>
          <p:cNvSpPr/>
          <p:nvPr/>
        </p:nvSpPr>
        <p:spPr>
          <a:xfrm>
            <a:off x="13582650" y="2415480"/>
            <a:ext cx="3806571" cy="542032"/>
          </a:xfrm>
          <a:prstGeom prst="rect">
            <a:avLst/>
          </a:prstGeom>
          <a:noFill/>
          <a:ln/>
        </p:spPr>
        <p:txBody>
          <a:bodyPr wrap="square" lIns="25400" tIns="25400" rIns="25400" bIns="25400" rtlCol="0" anchor="t">
            <a:normAutofit fontScale="92500" lnSpcReduction="20000"/>
          </a:bodyPr>
          <a:lstStyle/>
          <a:p>
            <a:pPr marL="0" indent="0" algn="l">
              <a:lnSpc>
                <a:spcPct val="126000"/>
              </a:lnSpc>
              <a:buNone/>
            </a:pPr>
            <a:r>
              <a:rPr lang="en-US" sz="1575" dirty="0">
                <a:solidFill>
                  <a:srgbClr val="1E2530"/>
                </a:solidFill>
                <a:latin typeface="Arial" pitchFamily="34" charset="0"/>
                <a:ea typeface="Arial" pitchFamily="34" charset="-122"/>
                <a:cs typeface="Arial" pitchFamily="34" charset="-120"/>
              </a:rPr>
              <a:t>Large, positive, systematic — about 3× on the clean lot comparison.</a:t>
            </a:r>
            <a:endParaRPr lang="en-US" sz="1575" dirty="0"/>
          </a:p>
        </p:txBody>
      </p:sp>
      <p:sp>
        <p:nvSpPr>
          <p:cNvPr id="34" name="Text 32"/>
          <p:cNvSpPr/>
          <p:nvPr/>
        </p:nvSpPr>
        <p:spPr>
          <a:xfrm>
            <a:off x="847725" y="3252788"/>
            <a:ext cx="8843010" cy="333375"/>
          </a:xfrm>
          <a:prstGeom prst="rect">
            <a:avLst/>
          </a:prstGeom>
          <a:noFill/>
          <a:ln/>
        </p:spPr>
        <p:txBody>
          <a:bodyPr wrap="square" lIns="25400" tIns="25400" rIns="25400" bIns="25400" rtlCol="0" anchor="t">
            <a:normAutofit lnSpcReduction="10000"/>
          </a:bodyPr>
          <a:lstStyle/>
          <a:p>
            <a:pPr marL="0" indent="0" algn="l">
              <a:buNone/>
            </a:pPr>
            <a:r>
              <a:rPr lang="en-US" sz="2025" b="1" dirty="0">
                <a:solidFill>
                  <a:srgbClr val="33455E"/>
                </a:solidFill>
                <a:latin typeface="Arial" pitchFamily="34" charset="0"/>
                <a:ea typeface="Arial" pitchFamily="34" charset="-122"/>
                <a:cs typeface="Arial" pitchFamily="34" charset="-120"/>
              </a:rPr>
              <a:t>Contributions</a:t>
            </a:r>
            <a:endParaRPr lang="en-US" sz="2025" dirty="0"/>
          </a:p>
        </p:txBody>
      </p:sp>
      <p:sp>
        <p:nvSpPr>
          <p:cNvPr id="35" name="Text 33"/>
          <p:cNvSpPr/>
          <p:nvPr/>
        </p:nvSpPr>
        <p:spPr>
          <a:xfrm>
            <a:off x="847725" y="3757613"/>
            <a:ext cx="15723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b="1" dirty="0">
                <a:solidFill>
                  <a:srgbClr val="33455E"/>
                </a:solidFill>
                <a:latin typeface="Arial" pitchFamily="34" charset="0"/>
                <a:ea typeface="Arial" pitchFamily="34" charset="-122"/>
                <a:cs typeface="Arial" pitchFamily="34" charset="-120"/>
              </a:rPr>
              <a:t>▪</a:t>
            </a:r>
            <a:endParaRPr lang="en-US" sz="1800" dirty="0"/>
          </a:p>
        </p:txBody>
      </p:sp>
      <p:sp>
        <p:nvSpPr>
          <p:cNvPr id="36" name="Text 34"/>
          <p:cNvSpPr/>
          <p:nvPr/>
        </p:nvSpPr>
        <p:spPr>
          <a:xfrm>
            <a:off x="1062112" y="3700463"/>
            <a:ext cx="8059454" cy="1207219"/>
          </a:xfrm>
          <a:prstGeom prst="rect">
            <a:avLst/>
          </a:prstGeom>
          <a:noFill/>
          <a:ln/>
        </p:spPr>
        <p:txBody>
          <a:bodyPr wrap="square" lIns="25400" tIns="25400" rIns="25400" bIns="25400" rtlCol="0" anchor="t">
            <a:normAutofit/>
          </a:bodyPr>
          <a:lstStyle/>
          <a:p>
            <a:pPr marL="0" indent="0" algn="l">
              <a:lnSpc>
                <a:spcPct val="132000"/>
              </a:lnSpc>
              <a:buNone/>
            </a:pPr>
            <a:r>
              <a:rPr lang="en-US" sz="2325" dirty="0">
                <a:solidFill>
                  <a:srgbClr val="1E2530"/>
                </a:solidFill>
                <a:latin typeface="Arial" pitchFamily="34" charset="0"/>
                <a:ea typeface="Arial" pitchFamily="34" charset="-122"/>
                <a:cs typeface="Arial" pitchFamily="34" charset="-120"/>
              </a:rPr>
              <a:t>Per-type modeling with evidence-based feature selection, and a polycentric distance set — not a single-CBD measure.</a:t>
            </a:r>
            <a:endParaRPr lang="en-US" sz="2325" dirty="0"/>
          </a:p>
        </p:txBody>
      </p:sp>
      <p:sp>
        <p:nvSpPr>
          <p:cNvPr id="37" name="Text 35"/>
          <p:cNvSpPr/>
          <p:nvPr/>
        </p:nvSpPr>
        <p:spPr>
          <a:xfrm>
            <a:off x="847725" y="5079132"/>
            <a:ext cx="15723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b="1" dirty="0">
                <a:solidFill>
                  <a:srgbClr val="33455E"/>
                </a:solidFill>
                <a:latin typeface="Arial" pitchFamily="34" charset="0"/>
                <a:ea typeface="Arial" pitchFamily="34" charset="-122"/>
                <a:cs typeface="Arial" pitchFamily="34" charset="-120"/>
              </a:rPr>
              <a:t>▪</a:t>
            </a:r>
            <a:endParaRPr lang="en-US" sz="1800" dirty="0"/>
          </a:p>
        </p:txBody>
      </p:sp>
      <p:sp>
        <p:nvSpPr>
          <p:cNvPr id="38" name="Text 36"/>
          <p:cNvSpPr/>
          <p:nvPr/>
        </p:nvSpPr>
        <p:spPr>
          <a:xfrm>
            <a:off x="1062112" y="5021982"/>
            <a:ext cx="8059454" cy="1207219"/>
          </a:xfrm>
          <a:prstGeom prst="rect">
            <a:avLst/>
          </a:prstGeom>
          <a:noFill/>
          <a:ln/>
        </p:spPr>
        <p:txBody>
          <a:bodyPr wrap="square" lIns="25400" tIns="25400" rIns="25400" bIns="25400" rtlCol="0" anchor="t">
            <a:normAutofit fontScale="92500"/>
          </a:bodyPr>
          <a:lstStyle/>
          <a:p>
            <a:pPr marL="0" indent="0" algn="l">
              <a:lnSpc>
                <a:spcPct val="132000"/>
              </a:lnSpc>
              <a:buNone/>
            </a:pPr>
            <a:r>
              <a:rPr lang="en-US" sz="2325" dirty="0">
                <a:solidFill>
                  <a:srgbClr val="1E2530"/>
                </a:solidFill>
                <a:latin typeface="Arial" pitchFamily="34" charset="0"/>
                <a:ea typeface="Arial" pitchFamily="34" charset="-122"/>
                <a:cs typeface="Arial" pitchFamily="34" charset="-120"/>
              </a:rPr>
              <a:t>A two-stage MCRAI (OLS signs screen categories; positive-only composite), with all headline results under leak-free grouped CV.</a:t>
            </a:r>
            <a:endParaRPr lang="en-US" sz="2325" dirty="0"/>
          </a:p>
        </p:txBody>
      </p:sp>
      <p:sp>
        <p:nvSpPr>
          <p:cNvPr id="39" name="Text 37"/>
          <p:cNvSpPr/>
          <p:nvPr/>
        </p:nvSpPr>
        <p:spPr>
          <a:xfrm>
            <a:off x="847725" y="6400651"/>
            <a:ext cx="15723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b="1" dirty="0">
                <a:solidFill>
                  <a:srgbClr val="33455E"/>
                </a:solidFill>
                <a:latin typeface="Arial" pitchFamily="34" charset="0"/>
                <a:ea typeface="Arial" pitchFamily="34" charset="-122"/>
                <a:cs typeface="Arial" pitchFamily="34" charset="-120"/>
              </a:rPr>
              <a:t>▪</a:t>
            </a:r>
            <a:endParaRPr lang="en-US" sz="1800" dirty="0"/>
          </a:p>
        </p:txBody>
      </p:sp>
      <p:sp>
        <p:nvSpPr>
          <p:cNvPr id="40" name="Text 38"/>
          <p:cNvSpPr/>
          <p:nvPr/>
        </p:nvSpPr>
        <p:spPr>
          <a:xfrm>
            <a:off x="1062112" y="6343501"/>
            <a:ext cx="8059454" cy="817513"/>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2325" dirty="0">
                <a:solidFill>
                  <a:srgbClr val="1E2530"/>
                </a:solidFill>
                <a:latin typeface="Arial" pitchFamily="34" charset="0"/>
                <a:ea typeface="Arial" pitchFamily="34" charset="-122"/>
                <a:cs typeface="Arial" pitchFamily="34" charset="-120"/>
              </a:rPr>
              <a:t>A reproducible, explainable web prototype — TypeScript + Leaflet over a Python service running the deployed models.</a:t>
            </a:r>
            <a:endParaRPr lang="en-US" sz="2325" dirty="0"/>
          </a:p>
        </p:txBody>
      </p:sp>
      <p:sp>
        <p:nvSpPr>
          <p:cNvPr id="41" name="Text 39"/>
          <p:cNvSpPr/>
          <p:nvPr/>
        </p:nvSpPr>
        <p:spPr>
          <a:xfrm>
            <a:off x="9401175" y="3252788"/>
            <a:ext cx="8843010" cy="333375"/>
          </a:xfrm>
          <a:prstGeom prst="rect">
            <a:avLst/>
          </a:prstGeom>
          <a:noFill/>
          <a:ln/>
        </p:spPr>
        <p:txBody>
          <a:bodyPr wrap="square" lIns="25400" tIns="25400" rIns="25400" bIns="25400" rtlCol="0" anchor="t">
            <a:normAutofit lnSpcReduction="10000"/>
          </a:bodyPr>
          <a:lstStyle/>
          <a:p>
            <a:pPr marL="0" indent="0" algn="l">
              <a:buNone/>
            </a:pPr>
            <a:r>
              <a:rPr lang="en-US" sz="2025" b="1" dirty="0">
                <a:solidFill>
                  <a:srgbClr val="33455E"/>
                </a:solidFill>
                <a:latin typeface="Arial" pitchFamily="34" charset="0"/>
                <a:ea typeface="Arial" pitchFamily="34" charset="-122"/>
                <a:cs typeface="Arial" pitchFamily="34" charset="-120"/>
              </a:rPr>
              <a:t>Limitations</a:t>
            </a:r>
            <a:endParaRPr lang="en-US" sz="2025" dirty="0"/>
          </a:p>
        </p:txBody>
      </p:sp>
      <p:sp>
        <p:nvSpPr>
          <p:cNvPr id="42" name="Text 40"/>
          <p:cNvSpPr/>
          <p:nvPr/>
        </p:nvSpPr>
        <p:spPr>
          <a:xfrm>
            <a:off x="9401175" y="3757613"/>
            <a:ext cx="15723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b="1" dirty="0">
                <a:solidFill>
                  <a:srgbClr val="33455E"/>
                </a:solidFill>
                <a:latin typeface="Arial" pitchFamily="34" charset="0"/>
                <a:ea typeface="Arial" pitchFamily="34" charset="-122"/>
                <a:cs typeface="Arial" pitchFamily="34" charset="-120"/>
              </a:rPr>
              <a:t>▪</a:t>
            </a:r>
            <a:endParaRPr lang="en-US" sz="1800" dirty="0"/>
          </a:p>
        </p:txBody>
      </p:sp>
      <p:sp>
        <p:nvSpPr>
          <p:cNvPr id="43" name="Text 41"/>
          <p:cNvSpPr/>
          <p:nvPr/>
        </p:nvSpPr>
        <p:spPr>
          <a:xfrm>
            <a:off x="9615562" y="3700463"/>
            <a:ext cx="8059454" cy="817513"/>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2325" b="1" dirty="0">
                <a:solidFill>
                  <a:srgbClr val="33455E"/>
                </a:solidFill>
                <a:latin typeface="Arial" pitchFamily="34" charset="0"/>
                <a:ea typeface="Arial" pitchFamily="34" charset="-122"/>
                <a:cs typeface="Arial" pitchFamily="34" charset="-120"/>
              </a:rPr>
              <a:t>Asking-price ceiling </a:t>
            </a:r>
            <a:r>
              <a:rPr lang="en-US" sz="2325" dirty="0">
                <a:solidFill>
                  <a:srgbClr val="1E2530"/>
                </a:solidFill>
                <a:latin typeface="Arial" pitchFamily="34" charset="0"/>
                <a:ea typeface="Arial" pitchFamily="34" charset="-122"/>
                <a:cs typeface="Arial" pitchFamily="34" charset="-120"/>
              </a:rPr>
              <a:t>— trained on listings, not verified deed-of-sale transactions.</a:t>
            </a:r>
            <a:endParaRPr lang="en-US" sz="2325" dirty="0"/>
          </a:p>
        </p:txBody>
      </p:sp>
      <p:sp>
        <p:nvSpPr>
          <p:cNvPr id="44" name="Text 42"/>
          <p:cNvSpPr/>
          <p:nvPr/>
        </p:nvSpPr>
        <p:spPr>
          <a:xfrm>
            <a:off x="9401175" y="4689425"/>
            <a:ext cx="15723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b="1" dirty="0">
                <a:solidFill>
                  <a:srgbClr val="33455E"/>
                </a:solidFill>
                <a:latin typeface="Arial" pitchFamily="34" charset="0"/>
                <a:ea typeface="Arial" pitchFamily="34" charset="-122"/>
                <a:cs typeface="Arial" pitchFamily="34" charset="-120"/>
              </a:rPr>
              <a:t>▪</a:t>
            </a:r>
            <a:endParaRPr lang="en-US" sz="1800" dirty="0"/>
          </a:p>
        </p:txBody>
      </p:sp>
      <p:sp>
        <p:nvSpPr>
          <p:cNvPr id="45" name="Text 43"/>
          <p:cNvSpPr/>
          <p:nvPr/>
        </p:nvSpPr>
        <p:spPr>
          <a:xfrm>
            <a:off x="9615562" y="4632275"/>
            <a:ext cx="8059454" cy="817513"/>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2325" b="1" dirty="0">
                <a:solidFill>
                  <a:srgbClr val="33455E"/>
                </a:solidFill>
                <a:latin typeface="Arial" pitchFamily="34" charset="0"/>
                <a:ea typeface="Arial" pitchFamily="34" charset="-122"/>
                <a:cs typeface="Arial" pitchFamily="34" charset="-120"/>
              </a:rPr>
              <a:t>Cross-sectional snapshot </a:t>
            </a:r>
            <a:r>
              <a:rPr lang="en-US" sz="2325" dirty="0">
                <a:solidFill>
                  <a:srgbClr val="1E2530"/>
                </a:solidFill>
                <a:latin typeface="Arial" pitchFamily="34" charset="0"/>
                <a:ea typeface="Arial" pitchFamily="34" charset="-122"/>
                <a:cs typeface="Arial" pitchFamily="34" charset="-120"/>
              </a:rPr>
              <a:t>— a late-2025 view; no temporal modeling.</a:t>
            </a:r>
            <a:endParaRPr lang="en-US" sz="2325" dirty="0"/>
          </a:p>
        </p:txBody>
      </p:sp>
      <p:sp>
        <p:nvSpPr>
          <p:cNvPr id="46" name="Text 44"/>
          <p:cNvSpPr/>
          <p:nvPr/>
        </p:nvSpPr>
        <p:spPr>
          <a:xfrm>
            <a:off x="9401175" y="5621238"/>
            <a:ext cx="15723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b="1" dirty="0">
                <a:solidFill>
                  <a:srgbClr val="33455E"/>
                </a:solidFill>
                <a:latin typeface="Arial" pitchFamily="34" charset="0"/>
                <a:ea typeface="Arial" pitchFamily="34" charset="-122"/>
                <a:cs typeface="Arial" pitchFamily="34" charset="-120"/>
              </a:rPr>
              <a:t>▪</a:t>
            </a:r>
            <a:endParaRPr lang="en-US" sz="1800" dirty="0"/>
          </a:p>
        </p:txBody>
      </p:sp>
      <p:sp>
        <p:nvSpPr>
          <p:cNvPr id="47" name="Text 45"/>
          <p:cNvSpPr/>
          <p:nvPr/>
        </p:nvSpPr>
        <p:spPr>
          <a:xfrm>
            <a:off x="9615562" y="5564088"/>
            <a:ext cx="8059454" cy="1207219"/>
          </a:xfrm>
          <a:prstGeom prst="rect">
            <a:avLst/>
          </a:prstGeom>
          <a:noFill/>
          <a:ln/>
        </p:spPr>
        <p:txBody>
          <a:bodyPr wrap="square" lIns="25400" tIns="25400" rIns="25400" bIns="25400" rtlCol="0" anchor="t">
            <a:normAutofit/>
          </a:bodyPr>
          <a:lstStyle/>
          <a:p>
            <a:pPr marL="0" indent="0" algn="l">
              <a:lnSpc>
                <a:spcPct val="132000"/>
              </a:lnSpc>
              <a:buNone/>
            </a:pPr>
            <a:r>
              <a:rPr lang="en-US" sz="2325" b="1" dirty="0">
                <a:solidFill>
                  <a:srgbClr val="33455E"/>
                </a:solidFill>
                <a:latin typeface="Arial" pitchFamily="34" charset="0"/>
                <a:ea typeface="Arial" pitchFamily="34" charset="-122"/>
                <a:cs typeface="Arial" pitchFamily="34" charset="-120"/>
              </a:rPr>
              <a:t>Vacant-lot data ceiling </a:t>
            </a:r>
            <a:r>
              <a:rPr lang="en-US" sz="2325" dirty="0">
                <a:solidFill>
                  <a:srgbClr val="1E2530"/>
                </a:solidFill>
                <a:latin typeface="Arial" pitchFamily="34" charset="0"/>
                <a:ea typeface="Arial" pitchFamily="34" charset="-122"/>
                <a:cs typeface="Arial" pitchFamily="34" charset="-120"/>
              </a:rPr>
              <a:t>and </a:t>
            </a:r>
            <a:r>
              <a:rPr lang="en-US" sz="2325" b="1" dirty="0">
                <a:solidFill>
                  <a:srgbClr val="33455E"/>
                </a:solidFill>
                <a:latin typeface="Arial" pitchFamily="34" charset="0"/>
                <a:ea typeface="Arial" pitchFamily="34" charset="-122"/>
                <a:cs typeface="Arial" pitchFamily="34" charset="-120"/>
              </a:rPr>
              <a:t>thin cells </a:t>
            </a:r>
            <a:r>
              <a:rPr lang="en-US" sz="2325" dirty="0">
                <a:solidFill>
                  <a:srgbClr val="1E2530"/>
                </a:solidFill>
                <a:latin typeface="Arial" pitchFamily="34" charset="0"/>
                <a:ea typeface="Arial" pitchFamily="34" charset="-122"/>
                <a:cs typeface="Arial" pitchFamily="34" charset="-120"/>
              </a:rPr>
              <a:t>— some LGU×type combinations are too sparse for reliable single-cell estimates.</a:t>
            </a:r>
            <a:endParaRPr lang="en-US" sz="2325" dirty="0"/>
          </a:p>
        </p:txBody>
      </p:sp>
    </p:spTree>
    <p:extLst>
      <p:ext uri="{BB962C8B-B14F-4D97-AF65-F5344CB8AC3E}">
        <p14:creationId xmlns:p14="http://schemas.microsoft.com/office/powerpoint/2010/main" val="75475587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7">
    <p:bg>
      <p:bgPr>
        <a:solidFill>
          <a:srgbClr val="33455E"/>
        </a:solidFill>
        <a:effectLst/>
      </p:bgPr>
    </p:bg>
    <p:spTree>
      <p:nvGrpSpPr>
        <p:cNvPr id="1" name=""/>
        <p:cNvGrpSpPr/>
        <p:nvPr/>
      </p:nvGrpSpPr>
      <p:grpSpPr>
        <a:xfrm>
          <a:off x="0" y="0"/>
          <a:ext cx="0" cy="0"/>
          <a:chOff x="0" y="0"/>
          <a:chExt cx="0" cy="0"/>
        </a:xfrm>
      </p:grpSpPr>
      <p:sp>
        <p:nvSpPr>
          <p:cNvPr id="2" name="Text 0"/>
          <p:cNvSpPr/>
          <p:nvPr/>
        </p:nvSpPr>
        <p:spPr>
          <a:xfrm>
            <a:off x="1238250" y="3826669"/>
            <a:ext cx="17392650" cy="914400"/>
          </a:xfrm>
          <a:prstGeom prst="rect">
            <a:avLst/>
          </a:prstGeom>
          <a:noFill/>
          <a:ln/>
        </p:spPr>
        <p:txBody>
          <a:bodyPr wrap="square" lIns="25400" tIns="25400" rIns="25400" bIns="25400" rtlCol="0" anchor="t">
            <a:normAutofit lnSpcReduction="10000"/>
          </a:bodyPr>
          <a:lstStyle/>
          <a:p>
            <a:pPr marL="0" indent="0" algn="l">
              <a:buNone/>
            </a:pPr>
            <a:r>
              <a:rPr lang="en-US" sz="6000" b="1" dirty="0">
                <a:solidFill>
                  <a:srgbClr val="5B7A99"/>
                </a:solidFill>
                <a:latin typeface="Arial" pitchFamily="34" charset="0"/>
                <a:ea typeface="Arial" pitchFamily="34" charset="-122"/>
                <a:cs typeface="Arial" pitchFamily="34" charset="-120"/>
              </a:rPr>
              <a:t>10</a:t>
            </a:r>
            <a:endParaRPr lang="en-US" sz="6000" dirty="0"/>
          </a:p>
        </p:txBody>
      </p:sp>
      <p:sp>
        <p:nvSpPr>
          <p:cNvPr id="3" name="Text 1"/>
          <p:cNvSpPr/>
          <p:nvPr/>
        </p:nvSpPr>
        <p:spPr>
          <a:xfrm>
            <a:off x="1238250" y="4779169"/>
            <a:ext cx="17392650" cy="1133475"/>
          </a:xfrm>
          <a:prstGeom prst="rect">
            <a:avLst/>
          </a:prstGeom>
          <a:noFill/>
          <a:ln/>
        </p:spPr>
        <p:txBody>
          <a:bodyPr wrap="square" lIns="25400" tIns="25400" rIns="25400" bIns="25400" rtlCol="0" anchor="t">
            <a:normAutofit lnSpcReduction="10000"/>
          </a:bodyPr>
          <a:lstStyle/>
          <a:p>
            <a:pPr marL="0" indent="0" algn="l">
              <a:buNone/>
            </a:pPr>
            <a:r>
              <a:rPr lang="en-US" sz="7500" b="1" dirty="0">
                <a:solidFill>
                  <a:srgbClr val="FFFFFF"/>
                </a:solidFill>
                <a:latin typeface="Arial" pitchFamily="34" charset="0"/>
                <a:ea typeface="Arial" pitchFamily="34" charset="-122"/>
                <a:cs typeface="Arial" pitchFamily="34" charset="-120"/>
              </a:rPr>
              <a:t>Recommendations</a:t>
            </a:r>
            <a:endParaRPr lang="en-US" sz="7500" dirty="0"/>
          </a:p>
        </p:txBody>
      </p:sp>
      <p:sp>
        <p:nvSpPr>
          <p:cNvPr id="4" name="Text 2"/>
          <p:cNvSpPr/>
          <p:nvPr/>
        </p:nvSpPr>
        <p:spPr>
          <a:xfrm>
            <a:off x="1238250" y="6045994"/>
            <a:ext cx="17392650" cy="452438"/>
          </a:xfrm>
          <a:prstGeom prst="rect">
            <a:avLst/>
          </a:prstGeom>
          <a:noFill/>
          <a:ln/>
        </p:spPr>
        <p:txBody>
          <a:bodyPr wrap="square" lIns="25400" tIns="25400" rIns="25400" bIns="25400" rtlCol="0" anchor="t">
            <a:normAutofit lnSpcReduction="10000"/>
          </a:bodyPr>
          <a:lstStyle/>
          <a:p>
            <a:pPr marL="0" indent="0" algn="l">
              <a:buNone/>
            </a:pPr>
            <a:r>
              <a:rPr lang="en-US" sz="2850" dirty="0">
                <a:solidFill>
                  <a:srgbClr val="C5D2DF"/>
                </a:solidFill>
                <a:latin typeface="Arial" pitchFamily="34" charset="0"/>
                <a:ea typeface="Arial" pitchFamily="34" charset="-122"/>
                <a:cs typeface="Arial" pitchFamily="34" charset="-120"/>
              </a:rPr>
              <a:t>Practice, policy, future work</a:t>
            </a:r>
            <a:endParaRPr lang="en-US" sz="2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8">
    <p:bg>
      <p:bgPr>
        <a:solidFill>
          <a:srgbClr val="FAFBFC"/>
        </a:solidFill>
        <a:effectLst/>
      </p:bgPr>
    </p:bg>
    <p:spTree>
      <p:nvGrpSpPr>
        <p:cNvPr id="1" name=""/>
        <p:cNvGrpSpPr/>
        <p:nvPr/>
      </p:nvGrpSpPr>
      <p:grpSpPr>
        <a:xfrm>
          <a:off x="0" y="0"/>
          <a:ext cx="0" cy="0"/>
          <a:chOff x="0" y="0"/>
          <a:chExt cx="0" cy="0"/>
        </a:xfrm>
      </p:grpSpPr>
      <p:sp>
        <p:nvSpPr>
          <p:cNvPr id="2" name="Text 0"/>
          <p:cNvSpPr/>
          <p:nvPr/>
        </p:nvSpPr>
        <p:spPr>
          <a:xfrm>
            <a:off x="847725" y="552450"/>
            <a:ext cx="3864069" cy="347663"/>
          </a:xfrm>
          <a:prstGeom prst="rect">
            <a:avLst/>
          </a:prstGeom>
          <a:noFill/>
          <a:ln/>
        </p:spPr>
        <p:txBody>
          <a:bodyPr wrap="square" lIns="25400" tIns="25400" rIns="25400" bIns="25400" rtlCol="0" anchor="t">
            <a:normAutofit lnSpcReduction="10000"/>
          </a:bodyPr>
          <a:lstStyle/>
          <a:p>
            <a:pPr marL="0" indent="0" algn="l">
              <a:buNone/>
            </a:pPr>
            <a:r>
              <a:rPr lang="en-US" sz="2100" b="1" kern="0" spc="84" dirty="0">
                <a:solidFill>
                  <a:srgbClr val="33455E"/>
                </a:solidFill>
                <a:latin typeface="Arial" pitchFamily="34" charset="0"/>
                <a:ea typeface="Arial" pitchFamily="34" charset="-122"/>
                <a:cs typeface="Arial" pitchFamily="34" charset="-120"/>
              </a:rPr>
              <a:t>10 · RECOMMENDATIONS</a:t>
            </a:r>
            <a:endParaRPr lang="en-US" sz="2100" dirty="0"/>
          </a:p>
        </p:txBody>
      </p:sp>
      <p:sp>
        <p:nvSpPr>
          <p:cNvPr id="3" name="Text 1"/>
          <p:cNvSpPr/>
          <p:nvPr/>
        </p:nvSpPr>
        <p:spPr>
          <a:xfrm>
            <a:off x="16712059" y="552450"/>
            <a:ext cx="804416" cy="314325"/>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6E7686"/>
                </a:solidFill>
                <a:latin typeface="Arial" pitchFamily="34" charset="0"/>
                <a:ea typeface="Arial" pitchFamily="34" charset="-122"/>
                <a:cs typeface="Arial" pitchFamily="34" charset="-120"/>
              </a:rPr>
              <a:t>38 / 40</a:t>
            </a:r>
            <a:endParaRPr lang="en-US" sz="1875" dirty="0"/>
          </a:p>
        </p:txBody>
      </p:sp>
      <p:sp>
        <p:nvSpPr>
          <p:cNvPr id="4" name="Shape 2"/>
          <p:cNvSpPr/>
          <p:nvPr/>
        </p:nvSpPr>
        <p:spPr>
          <a:xfrm>
            <a:off x="847725" y="985838"/>
            <a:ext cx="16592550" cy="28575"/>
          </a:xfrm>
          <a:prstGeom prst="rect">
            <a:avLst/>
          </a:prstGeom>
          <a:solidFill>
            <a:srgbClr val="33455E"/>
          </a:solidFill>
          <a:ln/>
        </p:spPr>
        <p:txBody>
          <a:bodyPr/>
          <a:lstStyle/>
          <a:p>
            <a:endParaRPr lang="en-US"/>
          </a:p>
        </p:txBody>
      </p:sp>
      <p:sp>
        <p:nvSpPr>
          <p:cNvPr id="5" name="Text 3"/>
          <p:cNvSpPr/>
          <p:nvPr/>
        </p:nvSpPr>
        <p:spPr>
          <a:xfrm>
            <a:off x="847725" y="1243013"/>
            <a:ext cx="18251805" cy="55810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3900" b="1" dirty="0">
                <a:solidFill>
                  <a:srgbClr val="1E2530"/>
                </a:solidFill>
                <a:latin typeface="Arial" pitchFamily="34" charset="0"/>
                <a:ea typeface="Arial" pitchFamily="34" charset="-122"/>
                <a:cs typeface="Arial" pitchFamily="34" charset="-120"/>
              </a:rPr>
              <a:t>For practice and policy</a:t>
            </a:r>
            <a:endParaRPr lang="en-US" sz="3900" dirty="0"/>
          </a:p>
        </p:txBody>
      </p:sp>
      <p:sp>
        <p:nvSpPr>
          <p:cNvPr id="6" name="Text 4"/>
          <p:cNvSpPr/>
          <p:nvPr/>
        </p:nvSpPr>
        <p:spPr>
          <a:xfrm>
            <a:off x="847725" y="2010668"/>
            <a:ext cx="8843010" cy="333375"/>
          </a:xfrm>
          <a:prstGeom prst="rect">
            <a:avLst/>
          </a:prstGeom>
          <a:noFill/>
          <a:ln/>
        </p:spPr>
        <p:txBody>
          <a:bodyPr wrap="square" lIns="25400" tIns="25400" rIns="25400" bIns="25400" rtlCol="0" anchor="t">
            <a:normAutofit lnSpcReduction="10000"/>
          </a:bodyPr>
          <a:lstStyle/>
          <a:p>
            <a:pPr marL="0" indent="0" algn="l">
              <a:buNone/>
            </a:pPr>
            <a:r>
              <a:rPr lang="en-US" sz="2025" b="1" dirty="0">
                <a:solidFill>
                  <a:srgbClr val="33455E"/>
                </a:solidFill>
                <a:latin typeface="Arial" pitchFamily="34" charset="0"/>
                <a:ea typeface="Arial" pitchFamily="34" charset="-122"/>
                <a:cs typeface="Arial" pitchFamily="34" charset="-120"/>
              </a:rPr>
              <a:t>Practice</a:t>
            </a:r>
            <a:endParaRPr lang="en-US" sz="2025" dirty="0"/>
          </a:p>
        </p:txBody>
      </p:sp>
      <p:sp>
        <p:nvSpPr>
          <p:cNvPr id="7" name="Text 5"/>
          <p:cNvSpPr/>
          <p:nvPr/>
        </p:nvSpPr>
        <p:spPr>
          <a:xfrm>
            <a:off x="847725" y="2515493"/>
            <a:ext cx="15723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b="1" dirty="0">
                <a:solidFill>
                  <a:srgbClr val="33455E"/>
                </a:solidFill>
                <a:latin typeface="Arial" pitchFamily="34" charset="0"/>
                <a:ea typeface="Arial" pitchFamily="34" charset="-122"/>
                <a:cs typeface="Arial" pitchFamily="34" charset="-120"/>
              </a:rPr>
              <a:t>▪</a:t>
            </a:r>
            <a:endParaRPr lang="en-US" sz="1800" dirty="0"/>
          </a:p>
        </p:txBody>
      </p:sp>
      <p:sp>
        <p:nvSpPr>
          <p:cNvPr id="8" name="Text 6"/>
          <p:cNvSpPr/>
          <p:nvPr/>
        </p:nvSpPr>
        <p:spPr>
          <a:xfrm>
            <a:off x="1062112" y="2458343"/>
            <a:ext cx="8059454" cy="817513"/>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2325" dirty="0">
                <a:solidFill>
                  <a:srgbClr val="1E2530"/>
                </a:solidFill>
                <a:latin typeface="Arial" pitchFamily="34" charset="0"/>
                <a:ea typeface="Arial" pitchFamily="34" charset="-122"/>
                <a:cs typeface="Arial" pitchFamily="34" charset="-120"/>
              </a:rPr>
              <a:t>Read the surface as a triangulation tool, alongside zonal values and comparables — not a final appraisal.</a:t>
            </a:r>
            <a:endParaRPr lang="en-US" sz="2325" dirty="0"/>
          </a:p>
        </p:txBody>
      </p:sp>
      <p:sp>
        <p:nvSpPr>
          <p:cNvPr id="9" name="Text 7"/>
          <p:cNvSpPr/>
          <p:nvPr/>
        </p:nvSpPr>
        <p:spPr>
          <a:xfrm>
            <a:off x="847725" y="3447306"/>
            <a:ext cx="15723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b="1" dirty="0">
                <a:solidFill>
                  <a:srgbClr val="33455E"/>
                </a:solidFill>
                <a:latin typeface="Arial" pitchFamily="34" charset="0"/>
                <a:ea typeface="Arial" pitchFamily="34" charset="-122"/>
                <a:cs typeface="Arial" pitchFamily="34" charset="-120"/>
              </a:rPr>
              <a:t>▪</a:t>
            </a:r>
            <a:endParaRPr lang="en-US" sz="1800" dirty="0"/>
          </a:p>
        </p:txBody>
      </p:sp>
      <p:sp>
        <p:nvSpPr>
          <p:cNvPr id="10" name="Text 8"/>
          <p:cNvSpPr/>
          <p:nvPr/>
        </p:nvSpPr>
        <p:spPr>
          <a:xfrm>
            <a:off x="1062112" y="3390156"/>
            <a:ext cx="8059454" cy="817513"/>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2325" dirty="0">
                <a:solidFill>
                  <a:srgbClr val="1E2530"/>
                </a:solidFill>
                <a:latin typeface="Arial" pitchFamily="34" charset="0"/>
                <a:ea typeface="Arial" pitchFamily="34" charset="-122"/>
                <a:cs typeface="Arial" pitchFamily="34" charset="-120"/>
              </a:rPr>
              <a:t>Weight polycentric distance and property type ahead of the amenity composite.</a:t>
            </a:r>
            <a:endParaRPr lang="en-US" sz="2325" dirty="0"/>
          </a:p>
        </p:txBody>
      </p:sp>
      <p:sp>
        <p:nvSpPr>
          <p:cNvPr id="11" name="Text 9"/>
          <p:cNvSpPr/>
          <p:nvPr/>
        </p:nvSpPr>
        <p:spPr>
          <a:xfrm>
            <a:off x="847725" y="4379119"/>
            <a:ext cx="15723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b="1" dirty="0">
                <a:solidFill>
                  <a:srgbClr val="33455E"/>
                </a:solidFill>
                <a:latin typeface="Arial" pitchFamily="34" charset="0"/>
                <a:ea typeface="Arial" pitchFamily="34" charset="-122"/>
                <a:cs typeface="Arial" pitchFamily="34" charset="-120"/>
              </a:rPr>
              <a:t>▪</a:t>
            </a:r>
            <a:endParaRPr lang="en-US" sz="1800" dirty="0"/>
          </a:p>
        </p:txBody>
      </p:sp>
      <p:sp>
        <p:nvSpPr>
          <p:cNvPr id="12" name="Text 10"/>
          <p:cNvSpPr/>
          <p:nvPr/>
        </p:nvSpPr>
        <p:spPr>
          <a:xfrm>
            <a:off x="1062112" y="4321969"/>
            <a:ext cx="8059454" cy="817513"/>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2325" dirty="0">
                <a:solidFill>
                  <a:srgbClr val="1E2530"/>
                </a:solidFill>
                <a:latin typeface="Arial" pitchFamily="34" charset="0"/>
                <a:ea typeface="Arial" pitchFamily="34" charset="-122"/>
                <a:cs typeface="Arial" pitchFamily="34" charset="-120"/>
              </a:rPr>
              <a:t>Treat the valuation gap as a research signal; validate against transactions before any operational use.</a:t>
            </a:r>
            <a:endParaRPr lang="en-US" sz="2325" dirty="0"/>
          </a:p>
        </p:txBody>
      </p:sp>
      <p:sp>
        <p:nvSpPr>
          <p:cNvPr id="13" name="Text 11"/>
          <p:cNvSpPr/>
          <p:nvPr/>
        </p:nvSpPr>
        <p:spPr>
          <a:xfrm>
            <a:off x="9401175" y="2010668"/>
            <a:ext cx="8843010" cy="333375"/>
          </a:xfrm>
          <a:prstGeom prst="rect">
            <a:avLst/>
          </a:prstGeom>
          <a:noFill/>
          <a:ln/>
        </p:spPr>
        <p:txBody>
          <a:bodyPr wrap="square" lIns="25400" tIns="25400" rIns="25400" bIns="25400" rtlCol="0" anchor="t">
            <a:normAutofit lnSpcReduction="10000"/>
          </a:bodyPr>
          <a:lstStyle/>
          <a:p>
            <a:pPr marL="0" indent="0" algn="l">
              <a:buNone/>
            </a:pPr>
            <a:r>
              <a:rPr lang="en-US" sz="2025" b="1" dirty="0">
                <a:solidFill>
                  <a:srgbClr val="33455E"/>
                </a:solidFill>
                <a:latin typeface="Arial" pitchFamily="34" charset="0"/>
                <a:ea typeface="Arial" pitchFamily="34" charset="-122"/>
                <a:cs typeface="Arial" pitchFamily="34" charset="-120"/>
              </a:rPr>
              <a:t>Policy</a:t>
            </a:r>
            <a:endParaRPr lang="en-US" sz="2025" dirty="0"/>
          </a:p>
        </p:txBody>
      </p:sp>
      <p:sp>
        <p:nvSpPr>
          <p:cNvPr id="14" name="Text 12"/>
          <p:cNvSpPr/>
          <p:nvPr/>
        </p:nvSpPr>
        <p:spPr>
          <a:xfrm>
            <a:off x="9401175" y="2515493"/>
            <a:ext cx="15723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b="1" dirty="0">
                <a:solidFill>
                  <a:srgbClr val="33455E"/>
                </a:solidFill>
                <a:latin typeface="Arial" pitchFamily="34" charset="0"/>
                <a:ea typeface="Arial" pitchFamily="34" charset="-122"/>
                <a:cs typeface="Arial" pitchFamily="34" charset="-120"/>
              </a:rPr>
              <a:t>▪</a:t>
            </a:r>
            <a:endParaRPr lang="en-US" sz="1800" dirty="0"/>
          </a:p>
        </p:txBody>
      </p:sp>
      <p:sp>
        <p:nvSpPr>
          <p:cNvPr id="15" name="Text 13"/>
          <p:cNvSpPr/>
          <p:nvPr/>
        </p:nvSpPr>
        <p:spPr>
          <a:xfrm>
            <a:off x="9615562" y="2458343"/>
            <a:ext cx="8059454" cy="817513"/>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2325" dirty="0">
                <a:solidFill>
                  <a:srgbClr val="1E2530"/>
                </a:solidFill>
                <a:latin typeface="Arial" pitchFamily="34" charset="0"/>
                <a:ea typeface="Arial" pitchFamily="34" charset="-122"/>
                <a:cs typeface="Arial" pitchFamily="34" charset="-120"/>
              </a:rPr>
              <a:t>Keep recognizing secondary and corridor subcenters (Mactan, Consolacion, Naga), not just CBP.</a:t>
            </a:r>
            <a:endParaRPr lang="en-US" sz="2325" dirty="0"/>
          </a:p>
        </p:txBody>
      </p:sp>
      <p:sp>
        <p:nvSpPr>
          <p:cNvPr id="16" name="Text 14"/>
          <p:cNvSpPr/>
          <p:nvPr/>
        </p:nvSpPr>
        <p:spPr>
          <a:xfrm>
            <a:off x="9401175" y="3447306"/>
            <a:ext cx="15723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b="1" dirty="0">
                <a:solidFill>
                  <a:srgbClr val="33455E"/>
                </a:solidFill>
                <a:latin typeface="Arial" pitchFamily="34" charset="0"/>
                <a:ea typeface="Arial" pitchFamily="34" charset="-122"/>
                <a:cs typeface="Arial" pitchFamily="34" charset="-120"/>
              </a:rPr>
              <a:t>▪</a:t>
            </a:r>
            <a:endParaRPr lang="en-US" sz="1800" dirty="0"/>
          </a:p>
        </p:txBody>
      </p:sp>
      <p:sp>
        <p:nvSpPr>
          <p:cNvPr id="17" name="Text 15"/>
          <p:cNvSpPr/>
          <p:nvPr/>
        </p:nvSpPr>
        <p:spPr>
          <a:xfrm>
            <a:off x="9615562" y="3390156"/>
            <a:ext cx="8521973" cy="427806"/>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2325" dirty="0">
                <a:solidFill>
                  <a:srgbClr val="1E2530"/>
                </a:solidFill>
                <a:latin typeface="Arial" pitchFamily="34" charset="0"/>
                <a:ea typeface="Arial" pitchFamily="34" charset="-122"/>
                <a:cs typeface="Arial" pitchFamily="34" charset="-120"/>
              </a:rPr>
              <a:t>Use MCRAI as an adaptable template, not a finished index.</a:t>
            </a:r>
            <a:endParaRPr lang="en-US" sz="2325" dirty="0"/>
          </a:p>
        </p:txBody>
      </p:sp>
      <p:sp>
        <p:nvSpPr>
          <p:cNvPr id="18" name="Text 16"/>
          <p:cNvSpPr/>
          <p:nvPr/>
        </p:nvSpPr>
        <p:spPr>
          <a:xfrm>
            <a:off x="9401175" y="3989412"/>
            <a:ext cx="15723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b="1" dirty="0">
                <a:solidFill>
                  <a:srgbClr val="33455E"/>
                </a:solidFill>
                <a:latin typeface="Arial" pitchFamily="34" charset="0"/>
                <a:ea typeface="Arial" pitchFamily="34" charset="-122"/>
                <a:cs typeface="Arial" pitchFamily="34" charset="-120"/>
              </a:rPr>
              <a:t>▪</a:t>
            </a:r>
            <a:endParaRPr lang="en-US" sz="1800" dirty="0"/>
          </a:p>
        </p:txBody>
      </p:sp>
      <p:sp>
        <p:nvSpPr>
          <p:cNvPr id="19" name="Text 17"/>
          <p:cNvSpPr/>
          <p:nvPr/>
        </p:nvSpPr>
        <p:spPr>
          <a:xfrm>
            <a:off x="9615562" y="3932262"/>
            <a:ext cx="8059454" cy="817513"/>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2325" dirty="0">
                <a:solidFill>
                  <a:srgbClr val="1E2530"/>
                </a:solidFill>
                <a:latin typeface="Arial" pitchFamily="34" charset="0"/>
                <a:ea typeface="Arial" pitchFamily="34" charset="-122"/>
                <a:cs typeface="Arial" pitchFamily="34" charset="-120"/>
              </a:rPr>
              <a:t>On deployment: the prototype shows its open-market-only scope and should be refreshed as data drifts.</a:t>
            </a:r>
            <a:endParaRPr lang="en-US" sz="2325" dirty="0"/>
          </a:p>
        </p:txBody>
      </p:sp>
    </p:spTree>
    <p:extLst>
      <p:ext uri="{BB962C8B-B14F-4D97-AF65-F5344CB8AC3E}">
        <p14:creationId xmlns:p14="http://schemas.microsoft.com/office/powerpoint/2010/main" val="79716230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9">
    <p:bg>
      <p:bgPr>
        <a:solidFill>
          <a:srgbClr val="FAFBFC"/>
        </a:solidFill>
        <a:effectLst/>
      </p:bgPr>
    </p:bg>
    <p:spTree>
      <p:nvGrpSpPr>
        <p:cNvPr id="1" name=""/>
        <p:cNvGrpSpPr/>
        <p:nvPr/>
      </p:nvGrpSpPr>
      <p:grpSpPr>
        <a:xfrm>
          <a:off x="0" y="0"/>
          <a:ext cx="0" cy="0"/>
          <a:chOff x="0" y="0"/>
          <a:chExt cx="0" cy="0"/>
        </a:xfrm>
      </p:grpSpPr>
      <p:sp>
        <p:nvSpPr>
          <p:cNvPr id="2" name="Text 0"/>
          <p:cNvSpPr/>
          <p:nvPr/>
        </p:nvSpPr>
        <p:spPr>
          <a:xfrm>
            <a:off x="847725" y="552450"/>
            <a:ext cx="3864069" cy="347663"/>
          </a:xfrm>
          <a:prstGeom prst="rect">
            <a:avLst/>
          </a:prstGeom>
          <a:noFill/>
          <a:ln/>
        </p:spPr>
        <p:txBody>
          <a:bodyPr wrap="square" lIns="25400" tIns="25400" rIns="25400" bIns="25400" rtlCol="0" anchor="t">
            <a:normAutofit lnSpcReduction="10000"/>
          </a:bodyPr>
          <a:lstStyle/>
          <a:p>
            <a:pPr marL="0" indent="0" algn="l">
              <a:buNone/>
            </a:pPr>
            <a:r>
              <a:rPr lang="en-US" sz="2100" b="1" kern="0" spc="84" dirty="0">
                <a:solidFill>
                  <a:srgbClr val="33455E"/>
                </a:solidFill>
                <a:latin typeface="Arial" pitchFamily="34" charset="0"/>
                <a:ea typeface="Arial" pitchFamily="34" charset="-122"/>
                <a:cs typeface="Arial" pitchFamily="34" charset="-120"/>
              </a:rPr>
              <a:t>10 · RECOMMENDATIONS</a:t>
            </a:r>
            <a:endParaRPr lang="en-US" sz="2100" dirty="0"/>
          </a:p>
        </p:txBody>
      </p:sp>
      <p:sp>
        <p:nvSpPr>
          <p:cNvPr id="3" name="Text 1"/>
          <p:cNvSpPr/>
          <p:nvPr/>
        </p:nvSpPr>
        <p:spPr>
          <a:xfrm>
            <a:off x="16712059" y="552450"/>
            <a:ext cx="804416" cy="314325"/>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6E7686"/>
                </a:solidFill>
                <a:latin typeface="Arial" pitchFamily="34" charset="0"/>
                <a:ea typeface="Arial" pitchFamily="34" charset="-122"/>
                <a:cs typeface="Arial" pitchFamily="34" charset="-120"/>
              </a:rPr>
              <a:t>39 / 40</a:t>
            </a:r>
            <a:endParaRPr lang="en-US" sz="1875" dirty="0"/>
          </a:p>
        </p:txBody>
      </p:sp>
      <p:sp>
        <p:nvSpPr>
          <p:cNvPr id="4" name="Shape 2"/>
          <p:cNvSpPr/>
          <p:nvPr/>
        </p:nvSpPr>
        <p:spPr>
          <a:xfrm>
            <a:off x="847725" y="985838"/>
            <a:ext cx="16592550" cy="28575"/>
          </a:xfrm>
          <a:prstGeom prst="rect">
            <a:avLst/>
          </a:prstGeom>
          <a:solidFill>
            <a:srgbClr val="33455E"/>
          </a:solidFill>
          <a:ln/>
        </p:spPr>
        <p:txBody>
          <a:bodyPr/>
          <a:lstStyle/>
          <a:p>
            <a:endParaRPr lang="en-US"/>
          </a:p>
        </p:txBody>
      </p:sp>
      <p:sp>
        <p:nvSpPr>
          <p:cNvPr id="5" name="Text 3"/>
          <p:cNvSpPr/>
          <p:nvPr/>
        </p:nvSpPr>
        <p:spPr>
          <a:xfrm>
            <a:off x="847725" y="1243013"/>
            <a:ext cx="18251805" cy="55810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3900" b="1" dirty="0">
                <a:solidFill>
                  <a:srgbClr val="1E2530"/>
                </a:solidFill>
                <a:latin typeface="Arial" pitchFamily="34" charset="0"/>
                <a:ea typeface="Arial" pitchFamily="34" charset="-122"/>
                <a:cs typeface="Arial" pitchFamily="34" charset="-120"/>
              </a:rPr>
              <a:t>For future research</a:t>
            </a:r>
            <a:endParaRPr lang="en-US" sz="3900" dirty="0"/>
          </a:p>
        </p:txBody>
      </p:sp>
      <p:sp>
        <p:nvSpPr>
          <p:cNvPr id="6" name="Text 4"/>
          <p:cNvSpPr/>
          <p:nvPr/>
        </p:nvSpPr>
        <p:spPr>
          <a:xfrm>
            <a:off x="847725" y="2220218"/>
            <a:ext cx="15723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b="1" dirty="0">
                <a:solidFill>
                  <a:srgbClr val="33455E"/>
                </a:solidFill>
                <a:latin typeface="Arial" pitchFamily="34" charset="0"/>
                <a:ea typeface="Arial" pitchFamily="34" charset="-122"/>
                <a:cs typeface="Arial" pitchFamily="34" charset="-120"/>
              </a:rPr>
              <a:t>▪</a:t>
            </a:r>
            <a:endParaRPr lang="en-US" sz="1800" dirty="0"/>
          </a:p>
        </p:txBody>
      </p:sp>
      <p:sp>
        <p:nvSpPr>
          <p:cNvPr id="7" name="Text 5"/>
          <p:cNvSpPr/>
          <p:nvPr/>
        </p:nvSpPr>
        <p:spPr>
          <a:xfrm>
            <a:off x="1062112" y="2163068"/>
            <a:ext cx="10257062" cy="817513"/>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2325" dirty="0">
                <a:solidFill>
                  <a:srgbClr val="1E2530"/>
                </a:solidFill>
                <a:latin typeface="Arial" pitchFamily="34" charset="0"/>
                <a:ea typeface="Arial" pitchFamily="34" charset="-122"/>
                <a:cs typeface="Arial" pitchFamily="34" charset="-120"/>
              </a:rPr>
              <a:t>Put MCRAI on an empirical footing — estimate the decay rate, radii, and weights from data rather than fixing them.</a:t>
            </a:r>
            <a:endParaRPr lang="en-US" sz="2325" dirty="0"/>
          </a:p>
        </p:txBody>
      </p:sp>
      <p:sp>
        <p:nvSpPr>
          <p:cNvPr id="8" name="Text 6"/>
          <p:cNvSpPr/>
          <p:nvPr/>
        </p:nvSpPr>
        <p:spPr>
          <a:xfrm>
            <a:off x="847725" y="3152031"/>
            <a:ext cx="15723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b="1" dirty="0">
                <a:solidFill>
                  <a:srgbClr val="33455E"/>
                </a:solidFill>
                <a:latin typeface="Arial" pitchFamily="34" charset="0"/>
                <a:ea typeface="Arial" pitchFamily="34" charset="-122"/>
                <a:cs typeface="Arial" pitchFamily="34" charset="-120"/>
              </a:rPr>
              <a:t>▪</a:t>
            </a:r>
            <a:endParaRPr lang="en-US" sz="1800" dirty="0"/>
          </a:p>
        </p:txBody>
      </p:sp>
      <p:sp>
        <p:nvSpPr>
          <p:cNvPr id="9" name="Text 7"/>
          <p:cNvSpPr/>
          <p:nvPr/>
        </p:nvSpPr>
        <p:spPr>
          <a:xfrm>
            <a:off x="1062112" y="3094881"/>
            <a:ext cx="10257062" cy="817513"/>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2325" dirty="0">
                <a:solidFill>
                  <a:srgbClr val="1E2530"/>
                </a:solidFill>
                <a:latin typeface="Arial" pitchFamily="34" charset="0"/>
                <a:ea typeface="Arial" pitchFamily="34" charset="-122"/>
                <a:cs typeface="Arial" pitchFamily="34" charset="-120"/>
              </a:rPr>
              <a:t>Test spatial heterogeneity directly with Geographically Weighted Regression (GWR / MGWR).</a:t>
            </a:r>
            <a:endParaRPr lang="en-US" sz="2325" dirty="0"/>
          </a:p>
        </p:txBody>
      </p:sp>
      <p:sp>
        <p:nvSpPr>
          <p:cNvPr id="10" name="Text 8"/>
          <p:cNvSpPr/>
          <p:nvPr/>
        </p:nvSpPr>
        <p:spPr>
          <a:xfrm>
            <a:off x="847725" y="4083844"/>
            <a:ext cx="15723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b="1" dirty="0">
                <a:solidFill>
                  <a:srgbClr val="33455E"/>
                </a:solidFill>
                <a:latin typeface="Arial" pitchFamily="34" charset="0"/>
                <a:ea typeface="Arial" pitchFamily="34" charset="-122"/>
                <a:cs typeface="Arial" pitchFamily="34" charset="-120"/>
              </a:rPr>
              <a:t>▪</a:t>
            </a:r>
            <a:endParaRPr lang="en-US" sz="1800" dirty="0"/>
          </a:p>
        </p:txBody>
      </p:sp>
      <p:sp>
        <p:nvSpPr>
          <p:cNvPr id="11" name="Text 9"/>
          <p:cNvSpPr/>
          <p:nvPr/>
        </p:nvSpPr>
        <p:spPr>
          <a:xfrm>
            <a:off x="1062112" y="4026694"/>
            <a:ext cx="10257062" cy="817513"/>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2325" dirty="0">
                <a:solidFill>
                  <a:srgbClr val="1E2530"/>
                </a:solidFill>
                <a:latin typeface="Arial" pitchFamily="34" charset="0"/>
                <a:ea typeface="Arial" pitchFamily="34" charset="-122"/>
                <a:cs typeface="Arial" pitchFamily="34" charset="-120"/>
              </a:rPr>
              <a:t>Enrich inputs — parcel attributes (frontage, corner-lot), a time dimension, and macro indicators. </a:t>
            </a:r>
            <a:r>
              <a:rPr lang="en-US" sz="2325" i="1" dirty="0">
                <a:solidFill>
                  <a:srgbClr val="979FAD"/>
                </a:solidFill>
                <a:latin typeface="Arial" pitchFamily="34" charset="0"/>
                <a:ea typeface="Arial" pitchFamily="34" charset="-122"/>
                <a:cs typeface="Arial" pitchFamily="34" charset="-120"/>
              </a:rPr>
              <a:t>(Udomsap &amp; Abid, 2020)</a:t>
            </a:r>
            <a:endParaRPr lang="en-US" sz="2325" dirty="0"/>
          </a:p>
        </p:txBody>
      </p:sp>
      <p:sp>
        <p:nvSpPr>
          <p:cNvPr id="12" name="Text 10"/>
          <p:cNvSpPr/>
          <p:nvPr/>
        </p:nvSpPr>
        <p:spPr>
          <a:xfrm>
            <a:off x="847725" y="5015657"/>
            <a:ext cx="15723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b="1" dirty="0">
                <a:solidFill>
                  <a:srgbClr val="33455E"/>
                </a:solidFill>
                <a:latin typeface="Arial" pitchFamily="34" charset="0"/>
                <a:ea typeface="Arial" pitchFamily="34" charset="-122"/>
                <a:cs typeface="Arial" pitchFamily="34" charset="-120"/>
              </a:rPr>
              <a:t>▪</a:t>
            </a:r>
            <a:endParaRPr lang="en-US" sz="1800" dirty="0"/>
          </a:p>
        </p:txBody>
      </p:sp>
      <p:sp>
        <p:nvSpPr>
          <p:cNvPr id="13" name="Text 11"/>
          <p:cNvSpPr/>
          <p:nvPr/>
        </p:nvSpPr>
        <p:spPr>
          <a:xfrm>
            <a:off x="1062112" y="4958507"/>
            <a:ext cx="10257062" cy="817513"/>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2325" dirty="0">
                <a:solidFill>
                  <a:srgbClr val="1E2530"/>
                </a:solidFill>
                <a:latin typeface="Arial" pitchFamily="34" charset="0"/>
                <a:ea typeface="Arial" pitchFamily="34" charset="-122"/>
                <a:cs typeface="Arial" pitchFamily="34" charset="-120"/>
              </a:rPr>
              <a:t>Triangulate against complementary reference prices instead of a single market-facing target.</a:t>
            </a:r>
            <a:endParaRPr lang="en-US" sz="2325" dirty="0"/>
          </a:p>
        </p:txBody>
      </p:sp>
      <p:sp>
        <p:nvSpPr>
          <p:cNvPr id="14" name="Shape 12"/>
          <p:cNvSpPr/>
          <p:nvPr/>
        </p:nvSpPr>
        <p:spPr>
          <a:xfrm>
            <a:off x="11534775" y="2010668"/>
            <a:ext cx="5905500" cy="7742932"/>
          </a:xfrm>
          <a:prstGeom prst="roundRect">
            <a:avLst>
              <a:gd name="adj" fmla="val 1290"/>
            </a:avLst>
          </a:prstGeom>
          <a:solidFill>
            <a:srgbClr val="33455E"/>
          </a:solidFill>
          <a:ln/>
        </p:spPr>
        <p:txBody>
          <a:bodyPr/>
          <a:lstStyle/>
          <a:p>
            <a:endParaRPr lang="en-US"/>
          </a:p>
        </p:txBody>
      </p:sp>
      <p:sp>
        <p:nvSpPr>
          <p:cNvPr id="15" name="Text 13"/>
          <p:cNvSpPr/>
          <p:nvPr/>
        </p:nvSpPr>
        <p:spPr>
          <a:xfrm>
            <a:off x="11877675" y="3747269"/>
            <a:ext cx="5741670" cy="323850"/>
          </a:xfrm>
          <a:prstGeom prst="rect">
            <a:avLst/>
          </a:prstGeom>
          <a:noFill/>
          <a:ln/>
        </p:spPr>
        <p:txBody>
          <a:bodyPr wrap="square" lIns="25400" tIns="25400" rIns="25400" bIns="25400" rtlCol="0" anchor="t">
            <a:normAutofit lnSpcReduction="10000"/>
          </a:bodyPr>
          <a:lstStyle/>
          <a:p>
            <a:pPr marL="0" indent="0" algn="l">
              <a:buNone/>
            </a:pPr>
            <a:r>
              <a:rPr lang="en-US" sz="1950" b="1" kern="0" spc="117" dirty="0">
                <a:solidFill>
                  <a:srgbClr val="C5D2DF"/>
                </a:solidFill>
                <a:latin typeface="Arial" pitchFamily="34" charset="0"/>
                <a:ea typeface="Arial" pitchFamily="34" charset="-122"/>
                <a:cs typeface="Arial" pitchFamily="34" charset="-120"/>
              </a:rPr>
              <a:t>CLOSING</a:t>
            </a:r>
            <a:endParaRPr lang="en-US" sz="1950" dirty="0"/>
          </a:p>
        </p:txBody>
      </p:sp>
      <p:sp>
        <p:nvSpPr>
          <p:cNvPr id="16" name="Text 14"/>
          <p:cNvSpPr/>
          <p:nvPr/>
        </p:nvSpPr>
        <p:spPr>
          <a:xfrm>
            <a:off x="11877675" y="4166369"/>
            <a:ext cx="5376291" cy="2718122"/>
          </a:xfrm>
          <a:prstGeom prst="rect">
            <a:avLst/>
          </a:prstGeom>
          <a:noFill/>
          <a:ln/>
        </p:spPr>
        <p:txBody>
          <a:bodyPr wrap="square" lIns="25400" tIns="25400" rIns="25400" bIns="25400" rtlCol="0" anchor="t">
            <a:normAutofit fontScale="92500" lnSpcReduction="20000"/>
          </a:bodyPr>
          <a:lstStyle/>
          <a:p>
            <a:pPr marL="0" indent="0" algn="l">
              <a:lnSpc>
                <a:spcPct val="134000"/>
              </a:lnSpc>
              <a:buNone/>
            </a:pPr>
            <a:r>
              <a:rPr lang="en-US" sz="2250" dirty="0">
                <a:solidFill>
                  <a:srgbClr val="FFFFFF"/>
                </a:solidFill>
                <a:latin typeface="Arial" pitchFamily="34" charset="0"/>
                <a:ea typeface="Arial" pitchFamily="34" charset="-122"/>
                <a:cs typeface="Arial" pitchFamily="34" charset="-120"/>
              </a:rPr>
              <a:t>This thesis is a </a:t>
            </a:r>
            <a:r>
              <a:rPr lang="en-US" sz="2250" b="1" dirty="0">
                <a:solidFill>
                  <a:srgbClr val="FFFFFF"/>
                </a:solidFill>
                <a:latin typeface="Arial" pitchFamily="34" charset="0"/>
                <a:ea typeface="Arial" pitchFamily="34" charset="-122"/>
                <a:cs typeface="Arial" pitchFamily="34" charset="-120"/>
              </a:rPr>
              <a:t>demonstrated, reproducible workflow </a:t>
            </a:r>
            <a:r>
              <a:rPr lang="en-US" sz="2250" dirty="0">
                <a:solidFill>
                  <a:srgbClr val="FFFFFF"/>
                </a:solidFill>
                <a:latin typeface="Arial" pitchFamily="34" charset="0"/>
                <a:ea typeface="Arial" pitchFamily="34" charset="-122"/>
                <a:cs typeface="Arial" pitchFamily="34" charset="-120"/>
              </a:rPr>
              <a:t>more than a finished product — a custom MCRAI, a polycentric distance set, and a Random Forest + SHAP pipeline that can be rebuilt, checked, and adapted for other Philippine secondary cities.</a:t>
            </a:r>
            <a:endParaRPr lang="en-US" sz="2250" dirty="0"/>
          </a:p>
        </p:txBody>
      </p:sp>
      <p:sp>
        <p:nvSpPr>
          <p:cNvPr id="17" name="Text 15"/>
          <p:cNvSpPr/>
          <p:nvPr/>
        </p:nvSpPr>
        <p:spPr>
          <a:xfrm>
            <a:off x="11877675" y="6998791"/>
            <a:ext cx="5376291" cy="1056308"/>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2025" dirty="0">
                <a:solidFill>
                  <a:srgbClr val="C5D2DF"/>
                </a:solidFill>
                <a:latin typeface="Arial" pitchFamily="34" charset="0"/>
                <a:ea typeface="Arial" pitchFamily="34" charset="-122"/>
                <a:cs typeface="Arial" pitchFamily="34" charset="-120"/>
              </a:rPr>
              <a:t>A defensible template for local valuation analytics — a clearer starting point for the family deciding what a home is worth.</a:t>
            </a:r>
            <a:endParaRPr lang="en-US" sz="2025" dirty="0"/>
          </a:p>
        </p:txBody>
      </p:sp>
    </p:spTree>
    <p:extLst>
      <p:ext uri="{BB962C8B-B14F-4D97-AF65-F5344CB8AC3E}">
        <p14:creationId xmlns:p14="http://schemas.microsoft.com/office/powerpoint/2010/main" val="341973854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0">
    <p:bg>
      <p:bgPr>
        <a:solidFill>
          <a:srgbClr val="FAFBFC"/>
        </a:solidFill>
        <a:effectLst/>
      </p:bgPr>
    </p:bg>
    <p:spTree>
      <p:nvGrpSpPr>
        <p:cNvPr id="1" name=""/>
        <p:cNvGrpSpPr/>
        <p:nvPr/>
      </p:nvGrpSpPr>
      <p:grpSpPr>
        <a:xfrm>
          <a:off x="0" y="0"/>
          <a:ext cx="0" cy="0"/>
          <a:chOff x="0" y="0"/>
          <a:chExt cx="0" cy="0"/>
        </a:xfrm>
      </p:grpSpPr>
      <p:sp>
        <p:nvSpPr>
          <p:cNvPr id="2" name="Text 0"/>
          <p:cNvSpPr/>
          <p:nvPr/>
        </p:nvSpPr>
        <p:spPr>
          <a:xfrm>
            <a:off x="847725" y="552450"/>
            <a:ext cx="2122430" cy="347663"/>
          </a:xfrm>
          <a:prstGeom prst="rect">
            <a:avLst/>
          </a:prstGeom>
          <a:noFill/>
          <a:ln/>
        </p:spPr>
        <p:txBody>
          <a:bodyPr wrap="square" lIns="25400" tIns="25400" rIns="25400" bIns="25400" rtlCol="0" anchor="t">
            <a:normAutofit lnSpcReduction="10000"/>
          </a:bodyPr>
          <a:lstStyle/>
          <a:p>
            <a:pPr marL="0" indent="0" algn="l">
              <a:buNone/>
            </a:pPr>
            <a:r>
              <a:rPr lang="en-US" sz="2100" b="1" kern="0" spc="84" dirty="0">
                <a:solidFill>
                  <a:srgbClr val="33455E"/>
                </a:solidFill>
                <a:latin typeface="Arial" pitchFamily="34" charset="0"/>
                <a:ea typeface="Arial" pitchFamily="34" charset="-122"/>
                <a:cs typeface="Arial" pitchFamily="34" charset="-120"/>
              </a:rPr>
              <a:t>REFERENCES</a:t>
            </a:r>
            <a:endParaRPr lang="en-US" sz="2100" dirty="0"/>
          </a:p>
        </p:txBody>
      </p:sp>
      <p:sp>
        <p:nvSpPr>
          <p:cNvPr id="3" name="Text 1"/>
          <p:cNvSpPr/>
          <p:nvPr/>
        </p:nvSpPr>
        <p:spPr>
          <a:xfrm>
            <a:off x="16712059" y="552450"/>
            <a:ext cx="804416" cy="314325"/>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6E7686"/>
                </a:solidFill>
                <a:latin typeface="Arial" pitchFamily="34" charset="0"/>
                <a:ea typeface="Arial" pitchFamily="34" charset="-122"/>
                <a:cs typeface="Arial" pitchFamily="34" charset="-120"/>
              </a:rPr>
              <a:t>40 / 40</a:t>
            </a:r>
            <a:endParaRPr lang="en-US" sz="1875" dirty="0"/>
          </a:p>
        </p:txBody>
      </p:sp>
      <p:sp>
        <p:nvSpPr>
          <p:cNvPr id="4" name="Shape 2"/>
          <p:cNvSpPr/>
          <p:nvPr/>
        </p:nvSpPr>
        <p:spPr>
          <a:xfrm>
            <a:off x="847725" y="985838"/>
            <a:ext cx="16592550" cy="28575"/>
          </a:xfrm>
          <a:prstGeom prst="rect">
            <a:avLst/>
          </a:prstGeom>
          <a:solidFill>
            <a:srgbClr val="33455E"/>
          </a:solidFill>
          <a:ln/>
        </p:spPr>
        <p:txBody>
          <a:bodyPr/>
          <a:lstStyle/>
          <a:p>
            <a:endParaRPr lang="en-US"/>
          </a:p>
        </p:txBody>
      </p:sp>
      <p:sp>
        <p:nvSpPr>
          <p:cNvPr id="5" name="Text 3"/>
          <p:cNvSpPr/>
          <p:nvPr/>
        </p:nvSpPr>
        <p:spPr>
          <a:xfrm>
            <a:off x="847725" y="4277692"/>
            <a:ext cx="5448300" cy="898178"/>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6450" b="1" dirty="0">
                <a:solidFill>
                  <a:srgbClr val="1E2530"/>
                </a:solidFill>
                <a:latin typeface="Arial" pitchFamily="34" charset="0"/>
                <a:ea typeface="Arial" pitchFamily="34" charset="-122"/>
                <a:cs typeface="Arial" pitchFamily="34" charset="-120"/>
              </a:rPr>
              <a:t>Thank you</a:t>
            </a:r>
            <a:endParaRPr lang="en-US" sz="6450" dirty="0"/>
          </a:p>
        </p:txBody>
      </p:sp>
      <p:sp>
        <p:nvSpPr>
          <p:cNvPr id="6" name="Shape 4"/>
          <p:cNvSpPr/>
          <p:nvPr/>
        </p:nvSpPr>
        <p:spPr>
          <a:xfrm>
            <a:off x="847725" y="5404470"/>
            <a:ext cx="1047750" cy="47625"/>
          </a:xfrm>
          <a:prstGeom prst="rect">
            <a:avLst/>
          </a:prstGeom>
          <a:solidFill>
            <a:srgbClr val="33455E"/>
          </a:solidFill>
          <a:ln/>
        </p:spPr>
        <p:txBody>
          <a:bodyPr/>
          <a:lstStyle/>
          <a:p>
            <a:endParaRPr lang="en-US"/>
          </a:p>
        </p:txBody>
      </p:sp>
      <p:sp>
        <p:nvSpPr>
          <p:cNvPr id="7" name="Text 5"/>
          <p:cNvSpPr/>
          <p:nvPr/>
        </p:nvSpPr>
        <p:spPr>
          <a:xfrm>
            <a:off x="847725" y="5699745"/>
            <a:ext cx="5448300" cy="409575"/>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1E2530"/>
                </a:solidFill>
                <a:latin typeface="Arial" pitchFamily="34" charset="0"/>
                <a:ea typeface="Arial" pitchFamily="34" charset="-122"/>
                <a:cs typeface="Arial" pitchFamily="34" charset="-120"/>
              </a:rPr>
              <a:t>Chris Dominic Estreba</a:t>
            </a:r>
            <a:endParaRPr lang="en-US" sz="2550" dirty="0"/>
          </a:p>
        </p:txBody>
      </p:sp>
      <p:sp>
        <p:nvSpPr>
          <p:cNvPr id="8" name="Text 6"/>
          <p:cNvSpPr/>
          <p:nvPr/>
        </p:nvSpPr>
        <p:spPr>
          <a:xfrm>
            <a:off x="847725" y="6128370"/>
            <a:ext cx="5101590" cy="628650"/>
          </a:xfrm>
          <a:prstGeom prst="rect">
            <a:avLst/>
          </a:prstGeom>
          <a:noFill/>
          <a:ln/>
        </p:spPr>
        <p:txBody>
          <a:bodyPr wrap="square" lIns="25400" tIns="25400" rIns="25400" bIns="25400" rtlCol="0" anchor="t">
            <a:normAutofit lnSpcReduction="10000"/>
          </a:bodyPr>
          <a:lstStyle/>
          <a:p>
            <a:pPr marL="0" indent="0" algn="l">
              <a:buNone/>
            </a:pPr>
            <a:r>
              <a:rPr lang="en-US" sz="2025" dirty="0">
                <a:solidFill>
                  <a:srgbClr val="6E7686"/>
                </a:solidFill>
                <a:latin typeface="Arial" pitchFamily="34" charset="0"/>
                <a:ea typeface="Arial" pitchFamily="34" charset="-122"/>
                <a:cs typeface="Arial" pitchFamily="34" charset="-120"/>
              </a:rPr>
              <a:t>BS Data Science · University of Asia and the Pacific</a:t>
            </a:r>
            <a:endParaRPr lang="en-US" sz="2025" dirty="0"/>
          </a:p>
        </p:txBody>
      </p:sp>
      <p:sp>
        <p:nvSpPr>
          <p:cNvPr id="9" name="Text 7"/>
          <p:cNvSpPr/>
          <p:nvPr/>
        </p:nvSpPr>
        <p:spPr>
          <a:xfrm>
            <a:off x="6315075" y="1262063"/>
            <a:ext cx="12237720" cy="333375"/>
          </a:xfrm>
          <a:prstGeom prst="rect">
            <a:avLst/>
          </a:prstGeom>
          <a:noFill/>
          <a:ln/>
        </p:spPr>
        <p:txBody>
          <a:bodyPr wrap="square" lIns="25400" tIns="25400" rIns="25400" bIns="25400" rtlCol="0" anchor="t">
            <a:normAutofit lnSpcReduction="10000"/>
          </a:bodyPr>
          <a:lstStyle/>
          <a:p>
            <a:pPr marL="0" indent="0" algn="l">
              <a:buNone/>
            </a:pPr>
            <a:r>
              <a:rPr lang="en-US" sz="2025" b="1" dirty="0">
                <a:solidFill>
                  <a:srgbClr val="33455E"/>
                </a:solidFill>
                <a:latin typeface="Arial" pitchFamily="34" charset="0"/>
                <a:ea typeface="Arial" pitchFamily="34" charset="-122"/>
                <a:cs typeface="Arial" pitchFamily="34" charset="-120"/>
              </a:rPr>
              <a:t>References</a:t>
            </a:r>
            <a:endParaRPr lang="en-US" sz="2025" dirty="0"/>
          </a:p>
        </p:txBody>
      </p:sp>
      <p:sp>
        <p:nvSpPr>
          <p:cNvPr id="10" name="Shape 8"/>
          <p:cNvSpPr/>
          <p:nvPr/>
        </p:nvSpPr>
        <p:spPr>
          <a:xfrm>
            <a:off x="6315075" y="1690688"/>
            <a:ext cx="11125200" cy="8043863"/>
          </a:xfrm>
          <a:prstGeom prst="roundRect">
            <a:avLst>
              <a:gd name="adj" fmla="val 710"/>
            </a:avLst>
          </a:prstGeom>
          <a:solidFill>
            <a:srgbClr val="FFFFFF"/>
          </a:solidFill>
          <a:ln w="9525">
            <a:solidFill>
              <a:srgbClr val="DCE2E9"/>
            </a:solidFill>
            <a:prstDash val="solid"/>
          </a:ln>
        </p:spPr>
        <p:txBody>
          <a:bodyPr/>
          <a:lstStyle/>
          <a:p>
            <a:endParaRPr lang="en-US"/>
          </a:p>
        </p:txBody>
      </p:sp>
      <p:pic>
        <p:nvPicPr>
          <p:cNvPr id="11" name="Image 0" descr="preencoded.png"/>
          <p:cNvPicPr>
            <a:picLocks noChangeAspect="1"/>
          </p:cNvPicPr>
          <p:nvPr/>
        </p:nvPicPr>
        <p:blipFill>
          <a:blip r:embed="rId3"/>
          <a:srcRect/>
          <a:stretch/>
        </p:blipFill>
        <p:spPr>
          <a:xfrm>
            <a:off x="6419850" y="1795463"/>
            <a:ext cx="10915650" cy="783431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6599B048-A0B7-F94B-9446-E083AE3C3A31}">
  <we:reference id="WA200010215" version="2.0.0.0" store="Omex" storeType="OMEX"/>
  <we:alternateReferences>
    <we:reference id="WA200010215" version="2.0.0.0" store="WA200010215"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154</TotalTime>
  <Words>6422</Words>
  <Application>Microsoft Macintosh PowerPoint</Application>
  <PresentationFormat>Custom</PresentationFormat>
  <Paragraphs>658</Paragraphs>
  <Slides>42</Slides>
  <Notes>42</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42</vt:i4>
      </vt:variant>
    </vt:vector>
  </HeadingPairs>
  <TitlesOfParts>
    <vt:vector size="44"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Chris Dominic  Estreba</cp:lastModifiedBy>
  <cp:revision>4</cp:revision>
  <dcterms:created xsi:type="dcterms:W3CDTF">2026-06-19T21:54:32Z</dcterms:created>
  <dcterms:modified xsi:type="dcterms:W3CDTF">2026-06-20T02:29:41Z</dcterms:modified>
</cp:coreProperties>
</file>